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96" r:id="rId2"/>
    <p:sldId id="410" r:id="rId3"/>
    <p:sldId id="414" r:id="rId4"/>
    <p:sldId id="412" r:id="rId5"/>
    <p:sldId id="368" r:id="rId6"/>
    <p:sldId id="409" r:id="rId7"/>
    <p:sldId id="374" r:id="rId8"/>
    <p:sldId id="375" r:id="rId9"/>
    <p:sldId id="376" r:id="rId10"/>
    <p:sldId id="377" r:id="rId11"/>
    <p:sldId id="379" r:id="rId12"/>
    <p:sldId id="378" r:id="rId13"/>
    <p:sldId id="380" r:id="rId14"/>
    <p:sldId id="381" r:id="rId15"/>
    <p:sldId id="382" r:id="rId16"/>
    <p:sldId id="383" r:id="rId17"/>
    <p:sldId id="384" r:id="rId18"/>
    <p:sldId id="385" r:id="rId19"/>
    <p:sldId id="386" r:id="rId20"/>
    <p:sldId id="388" r:id="rId21"/>
    <p:sldId id="387" r:id="rId22"/>
    <p:sldId id="389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1" r:id="rId34"/>
    <p:sldId id="402" r:id="rId35"/>
    <p:sldId id="403" r:id="rId36"/>
    <p:sldId id="400" r:id="rId37"/>
    <p:sldId id="405" r:id="rId38"/>
    <p:sldId id="408" r:id="rId39"/>
    <p:sldId id="407" r:id="rId40"/>
    <p:sldId id="413" r:id="rId41"/>
    <p:sldId id="411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  <p14:sldId id="410"/>
            <p14:sldId id="414"/>
            <p14:sldId id="412"/>
          </p14:sldIdLst>
        </p14:section>
        <p14:section name="Лирическое отступление в блочные шифры" id="{166FB796-C804-494D-81E1-46F5EBC53402}">
          <p14:sldIdLst>
            <p14:sldId id="368"/>
            <p14:sldId id="409"/>
          </p14:sldIdLst>
        </p14:section>
        <p14:section name="гибридная конструкция" id="{8D7119DD-8269-4067-B041-CBC75DC9F3BE}">
          <p14:sldIdLst>
            <p14:sldId id="374"/>
            <p14:sldId id="375"/>
            <p14:sldId id="376"/>
            <p14:sldId id="377"/>
            <p14:sldId id="379"/>
            <p14:sldId id="378"/>
            <p14:sldId id="380"/>
            <p14:sldId id="381"/>
            <p14:sldId id="382"/>
            <p14:sldId id="383"/>
            <p14:sldId id="384"/>
          </p14:sldIdLst>
        </p14:section>
        <p14:section name="Рандомизированный CRT режим" id="{2C77A2BA-BD35-45BF-901F-8D54177E878C}">
          <p14:sldIdLst>
            <p14:sldId id="385"/>
            <p14:sldId id="386"/>
            <p14:sldId id="388"/>
            <p14:sldId id="387"/>
            <p14:sldId id="389"/>
            <p14:sldId id="390"/>
            <p14:sldId id="391"/>
            <p14:sldId id="392"/>
            <p14:sldId id="393"/>
            <p14:sldId id="394"/>
            <p14:sldId id="395"/>
          </p14:sldIdLst>
        </p14:section>
        <p14:section name="CBC" id="{C4CD0A65-B822-46E5-B632-31A9388536BE}">
          <p14:sldIdLst>
            <p14:sldId id="396"/>
            <p14:sldId id="397"/>
            <p14:sldId id="398"/>
            <p14:sldId id="399"/>
            <p14:sldId id="401"/>
            <p14:sldId id="402"/>
            <p14:sldId id="403"/>
            <p14:sldId id="400"/>
            <p14:sldId id="405"/>
          </p14:sldIdLst>
        </p14:section>
        <p14:section name="Практические аспекты" id="{0532A29F-7973-4F7E-84F6-C56353BBD596}">
          <p14:sldIdLst>
            <p14:sldId id="408"/>
            <p14:sldId id="407"/>
            <p14:sldId id="413"/>
          </p14:sldIdLst>
        </p14:section>
        <p14:section name="тесты" id="{7AE8E877-5DA7-464C-B1A0-6D7A6DFD43E7}">
          <p14:sldIdLst>
            <p14:sldId id="4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1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7" Type="http://schemas.openxmlformats.org/officeDocument/2006/relationships/image" Target="../media/image472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60.png"/><Relationship Id="rId9" Type="http://schemas.openxmlformats.org/officeDocument/2006/relationships/image" Target="../media/image4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.png"/><Relationship Id="rId3" Type="http://schemas.openxmlformats.org/officeDocument/2006/relationships/image" Target="../media/image59.png"/><Relationship Id="rId12" Type="http://schemas.openxmlformats.org/officeDocument/2006/relationships/image" Target="../media/image6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80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3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image" Target="../media/image690.png"/><Relationship Id="rId3" Type="http://schemas.openxmlformats.org/officeDocument/2006/relationships/image" Target="../media/image590.png"/><Relationship Id="rId7" Type="http://schemas.openxmlformats.org/officeDocument/2006/relationships/image" Target="../media/image411.png"/><Relationship Id="rId12" Type="http://schemas.openxmlformats.org/officeDocument/2006/relationships/image" Target="../media/image6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0.png"/><Relationship Id="rId5" Type="http://schemas.openxmlformats.org/officeDocument/2006/relationships/image" Target="../media/image610.png"/><Relationship Id="rId10" Type="http://schemas.openxmlformats.org/officeDocument/2006/relationships/image" Target="../media/image511.png"/><Relationship Id="rId4" Type="http://schemas.openxmlformats.org/officeDocument/2006/relationships/image" Target="../media/image600.png"/><Relationship Id="rId9" Type="http://schemas.openxmlformats.org/officeDocument/2006/relationships/image" Target="../media/image650.png"/><Relationship Id="rId14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7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71.png"/><Relationship Id="rId7" Type="http://schemas.openxmlformats.org/officeDocument/2006/relationships/image" Target="../media/image10.png"/><Relationship Id="rId12" Type="http://schemas.openxmlformats.org/officeDocument/2006/relationships/image" Target="../media/image6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7.png"/><Relationship Id="rId9" Type="http://schemas.openxmlformats.org/officeDocument/2006/relationships/image" Target="../media/image4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700.png"/><Relationship Id="rId12" Type="http://schemas.openxmlformats.org/officeDocument/2006/relationships/image" Target="../media/image6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71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700.png"/><Relationship Id="rId12" Type="http://schemas.openxmlformats.org/officeDocument/2006/relationships/image" Target="../media/image69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7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700.png"/><Relationship Id="rId12" Type="http://schemas.openxmlformats.org/officeDocument/2006/relationships/image" Target="../media/image69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6.png"/><Relationship Id="rId7" Type="http://schemas.openxmlformats.org/officeDocument/2006/relationships/image" Target="../media/image700.png"/><Relationship Id="rId12" Type="http://schemas.openxmlformats.org/officeDocument/2006/relationships/image" Target="../media/image6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en-US" dirty="0"/>
              <a:t>CPA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/>
              <a:t>МИФИ 202</a:t>
            </a:r>
            <a:r>
              <a:rPr lang="ru-RU" dirty="0"/>
              <a:t>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C688E6-CAA3-48E8-B759-4A9F3226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483" y="3429000"/>
            <a:ext cx="18954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185371" y="1408578"/>
                <a:ext cx="5318614" cy="20928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dirty="0"/>
                  <a:t>Пусть задана игра на стойкость </a:t>
                </a:r>
                <a:r>
                  <a:rPr lang="en-US" sz="2600" dirty="0"/>
                  <a:t>CPA </a:t>
                </a:r>
                <a:r>
                  <a:rPr lang="ru-RU" sz="2600" dirty="0"/>
                  <a:t>стойкость шифра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dirty="0"/>
                  <a:t> для противника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4 </a:t>
                </a:r>
                <a:r>
                  <a:rPr lang="ru-RU" sz="2600" dirty="0"/>
                  <a:t>вопроса. </a:t>
                </a: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1" y="1408578"/>
                <a:ext cx="5318614" cy="2092881"/>
              </a:xfrm>
              <a:prstGeom prst="rect">
                <a:avLst/>
              </a:prstGeom>
              <a:blipFill>
                <a:blip r:embed="rId2"/>
                <a:stretch>
                  <a:fillRect l="-2062" t="-2332" r="-115" b="-69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06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309180" y="2051254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458801" y="1687070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7720318" y="2090908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20318" y="2090908"/>
                <a:ext cx="1295400" cy="1628071"/>
              </a:xfrm>
              <a:prstGeom prst="rect">
                <a:avLst/>
              </a:prstGeom>
              <a:blipFill rotWithShape="0">
                <a:blip r:embed="rId2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8368018" y="3758975"/>
            <a:ext cx="1570040" cy="678656"/>
            <a:chOff x="4560" y="2842"/>
            <a:chExt cx="989" cy="570"/>
          </a:xfrm>
        </p:grpSpPr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1209441" y="1911609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309180" y="2503543"/>
            <a:ext cx="2991440" cy="933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b="0" dirty="0"/>
              <a:t>1-???</a:t>
            </a:r>
            <a:endParaRPr lang="en-US" sz="3200" dirty="0"/>
          </a:p>
          <a:p>
            <a:endParaRPr lang="en-US" b="1" baseline="-25000" dirty="0">
              <a:cs typeface="Arial" charset="0"/>
              <a:sym typeface="Symbol" pitchFamily="18" charset="2"/>
            </a:endParaRPr>
          </a:p>
          <a:p>
            <a:endParaRPr lang="en-US" sz="1600" b="1" baseline="-25000" dirty="0">
              <a:cs typeface="Arial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6"/>
              <p:cNvSpPr txBox="1">
                <a:spLocks noChangeArrowheads="1"/>
              </p:cNvSpPr>
              <p:nvPr/>
            </p:nvSpPr>
            <p:spPr bwMode="auto">
              <a:xfrm>
                <a:off x="2458801" y="1456238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8801" y="1456238"/>
                <a:ext cx="42704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656446" y="2550641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2-???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/>
              <p:cNvSpPr/>
              <p:nvPr/>
            </p:nvSpPr>
            <p:spPr>
              <a:xfrm>
                <a:off x="1209441" y="4015911"/>
                <a:ext cx="32503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𝐶𝑃𝐴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3−???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2" name="Прямоугольник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441" y="4015911"/>
                <a:ext cx="3250313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09441" y="4643753"/>
                <a:ext cx="82607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4 – </a:t>
                </a:r>
                <a:r>
                  <a:rPr lang="ru-RU" sz="2400" dirty="0"/>
                  <a:t>является 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b="1" dirty="0"/>
                  <a:t>CPA </a:t>
                </a:r>
                <a:r>
                  <a:rPr lang="ru-RU" sz="2400" b="1" dirty="0"/>
                  <a:t>стойкий </a:t>
                </a:r>
                <a:r>
                  <a:rPr lang="ru-RU" sz="2400" dirty="0"/>
                  <a:t>шифр </a:t>
                </a:r>
                <a:r>
                  <a:rPr lang="ru-RU" sz="2400" b="1" dirty="0"/>
                  <a:t>Семантически стойким</a:t>
                </a:r>
                <a:r>
                  <a:rPr lang="ru-RU" sz="2400" dirty="0"/>
                  <a:t>?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441" y="4643753"/>
                <a:ext cx="8260788" cy="461665"/>
              </a:xfrm>
              <a:prstGeom prst="rect">
                <a:avLst/>
              </a:prstGeom>
              <a:blipFill>
                <a:blip r:embed="rId10"/>
                <a:stretch>
                  <a:fillRect l="-1106" t="-10526" r="-221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73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9633" y="375503"/>
            <a:ext cx="5811715" cy="2847914"/>
          </a:xfrm>
        </p:spPr>
        <p:txBody>
          <a:bodyPr>
            <a:noAutofit/>
          </a:bodyPr>
          <a:lstStyle/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  <a:r>
              <a:rPr lang="en-US" sz="15000" dirty="0">
                <a:solidFill>
                  <a:schemeClr val="bg1"/>
                </a:solidFill>
              </a:rPr>
              <a:t> </a:t>
            </a:r>
            <a:endParaRPr lang="ru-RU" sz="15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17512" y="3223417"/>
            <a:ext cx="3145924" cy="2704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UP</a:t>
            </a:r>
            <a:endParaRPr lang="ru-RU" sz="20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005482" y="1189831"/>
            <a:ext cx="307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sz="20000" dirty="0">
                <a:solidFill>
                  <a:schemeClr val="bg1"/>
                </a:solidFill>
              </a:rPr>
              <a:t> </a:t>
            </a:r>
            <a:endParaRPr lang="ru-RU" sz="2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3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7692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Шифр называется </a:t>
                </a:r>
                <a:r>
                  <a:rPr lang="en-US" dirty="0"/>
                  <a:t>CPA </a:t>
                </a:r>
                <a:r>
                  <a:rPr lang="ru-RU" dirty="0"/>
                  <a:t>стойким, если для любого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𝐶𝑃𝐴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</a:p>
              <a:p>
                <a:r>
                  <a:rPr lang="ru-RU" dirty="0"/>
                  <a:t>Детерминированный шифр не может быть </a:t>
                </a:r>
                <a:r>
                  <a:rPr lang="en-US" dirty="0"/>
                  <a:t>CPA </a:t>
                </a:r>
                <a:r>
                  <a:rPr lang="ru-RU" dirty="0"/>
                  <a:t>стойким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7692"/>
                <a:ext cx="10515600" cy="4351338"/>
              </a:xfrm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328369"/>
            <a:ext cx="3733800" cy="506017"/>
            <a:chOff x="1776" y="2005"/>
            <a:chExt cx="2352" cy="425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6" y="2005"/>
                  <a:ext cx="1072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6" y="2005"/>
                  <a:ext cx="1072" cy="425"/>
                </a:xfrm>
                <a:prstGeom prst="rect">
                  <a:avLst/>
                </a:prstGeom>
                <a:blipFill>
                  <a:blip r:embed="rId6"/>
                  <a:stretch>
                    <a:fillRect r="-3226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508286"/>
            <a:ext cx="3733800" cy="510780"/>
            <a:chOff x="1776" y="1993"/>
            <a:chExt cx="2352" cy="429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9" y="1993"/>
                  <a:ext cx="1048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9" y="1993"/>
                  <a:ext cx="1048" cy="429"/>
                </a:xfrm>
                <a:prstGeom prst="rect">
                  <a:avLst/>
                </a:prstGeom>
                <a:blipFill>
                  <a:blip r:embed="rId9"/>
                  <a:stretch>
                    <a:fillRect r="-2564" b="-216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632609" cy="423129"/>
              </a:xfrm>
              <a:prstGeom prst="rect">
                <a:avLst/>
              </a:prstGeom>
              <a:blipFill rotWithShape="0">
                <a:blip r:embed="rId11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88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множества ключей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называется семантически стойким при использовании множества ключей, если  величина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3"/>
              <p:cNvSpPr txBox="1">
                <a:spLocks noChangeArrowheads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blipFill rotWithShape="0">
                <a:blip r:embed="rId6"/>
                <a:stretch>
                  <a:fillRect r="-40625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285510"/>
            <a:ext cx="3733800" cy="525068"/>
            <a:chOff x="1776" y="1969"/>
            <a:chExt cx="2352" cy="441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56" y="1969"/>
                  <a:ext cx="1139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6" y="1969"/>
                  <a:ext cx="1139" cy="425"/>
                </a:xfrm>
                <a:prstGeom prst="rect">
                  <a:avLst/>
                </a:prstGeom>
                <a:blipFill>
                  <a:blip r:embed="rId7"/>
                  <a:stretch>
                    <a:fillRect r="-2703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491616"/>
            <a:ext cx="3733800" cy="513161"/>
            <a:chOff x="1776" y="1979"/>
            <a:chExt cx="2352" cy="431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7" y="1979"/>
                  <a:ext cx="1095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7" y="1979"/>
                  <a:ext cx="1095" cy="429"/>
                </a:xfrm>
                <a:prstGeom prst="rect">
                  <a:avLst/>
                </a:prstGeom>
                <a:blipFill>
                  <a:blip r:embed="rId10"/>
                  <a:stretch>
                    <a:fillRect r="-3158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blipFill rotWithShape="0">
                <a:blip r:embed="rId12"/>
                <a:stretch>
                  <a:fillRect r="-40152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/>
              <p:cNvSpPr/>
              <p:nvPr/>
            </p:nvSpPr>
            <p:spPr>
              <a:xfrm>
                <a:off x="4132089" y="3160598"/>
                <a:ext cx="36559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089" y="3160598"/>
                <a:ext cx="3655937" cy="369332"/>
              </a:xfrm>
              <a:prstGeom prst="rect">
                <a:avLst/>
              </a:prstGeom>
              <a:blipFill rotWithShape="0">
                <a:blip r:embed="rId14"/>
                <a:stretch>
                  <a:fillRect t="-8197" r="-500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27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CPA </a:t>
            </a:r>
            <a:r>
              <a:rPr lang="ru-RU" dirty="0"/>
              <a:t>шифров из семантически стойких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Попробуем построить </a:t>
                </a:r>
                <a:r>
                  <a:rPr lang="en-US" dirty="0"/>
                  <a:t>CPA </a:t>
                </a:r>
                <a:r>
                  <a:rPr lang="ru-RU" dirty="0"/>
                  <a:t>стойкий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используя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Ключом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для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будет ключ для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. Для шифрования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 выбирается случайный вход для </a:t>
                </a:r>
                <a:r>
                  <a:rPr lang="en-US" dirty="0"/>
                  <a:t>PRF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/>
                  <a:t>. Далее вычисляется ключ для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. Затем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b="0" dirty="0"/>
                  <a:t> шифруется с использование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. Шифр текстом</a:t>
                </a:r>
                <a:r>
                  <a:rPr lang="ru-RU" dirty="0"/>
                  <a:t> является пара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output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Называется – </a:t>
                </a:r>
                <a:r>
                  <a:rPr lang="ru-RU" b="1" dirty="0"/>
                  <a:t>гибридная конструкция</a:t>
                </a:r>
                <a:r>
                  <a:rPr lang="ru-RU" dirty="0"/>
                  <a:t>.</a:t>
                </a:r>
                <a:endParaRPr lang="en-US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0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CPA </a:t>
            </a:r>
            <a:r>
              <a:rPr lang="ru-RU" dirty="0"/>
              <a:t>шифров из семантически стойких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7.1.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семантически стойкий шифр,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 err="1"/>
                  <a:t>сверх-полиномиальная</a:t>
                </a:r>
                <a:r>
                  <a:rPr lang="ru-RU" dirty="0"/>
                  <a:t>, то введённый ранее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- CPA </a:t>
                </a:r>
                <a:r>
                  <a:rPr lang="ru-RU" dirty="0"/>
                  <a:t>стойкий шифр. В частности для любого противника в </a:t>
                </a:r>
                <a:r>
                  <a:rPr lang="en-US" dirty="0"/>
                  <a:t>CPA </a:t>
                </a:r>
                <a:r>
                  <a:rPr lang="ru-RU" dirty="0"/>
                  <a:t>игре,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существует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 </a:t>
                </a:r>
                <a:r>
                  <a:rPr lang="ru-RU" dirty="0"/>
                  <a:t>и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ru-RU" dirty="0"/>
                  <a:t> в игре на семантическую стойкость, причём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0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CPA </a:t>
            </a:r>
            <a:r>
              <a:rPr lang="ru-RU" dirty="0"/>
              <a:t>шифров из семантически стойких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⊳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Перепишем формулу выше через альтернативные определения на угадывание бита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𝐶𝑃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Основная идея доказательства – определим игру 0 между противником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и претендентом в игре против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. Определим игры 1, 2, 3. В каждый из них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будет играть против разных претендентов.</a:t>
                </a:r>
                <a:r>
                  <a:rPr lang="en-US" dirty="0"/>
                  <a:t> </a:t>
                </a:r>
                <a:r>
                  <a:rPr lang="ru-RU" dirty="0"/>
                  <a:t>Покажем переходы между этими играми.</a:t>
                </a:r>
              </a:p>
              <a:p>
                <a:pPr marL="0" indent="0">
                  <a:buNone/>
                </a:pPr>
                <a:r>
                  <a:rPr lang="ru-RU" dirty="0"/>
                  <a:t>Определим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71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игры, введённой ниже, имеем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451617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0471" y="4528725"/>
            <a:ext cx="3813175" cy="401241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661063" y="4922237"/>
            <a:ext cx="3733801" cy="510780"/>
            <a:chOff x="1776" y="1981"/>
            <a:chExt cx="2352" cy="429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),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blipFill>
                  <a:blip r:embed="rId6"/>
                  <a:stretch>
                    <a:fillRect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807435" cy="1084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/>
                  <a:t>k’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807435" cy="1084721"/>
              </a:xfrm>
              <a:prstGeom prst="rect">
                <a:avLst/>
              </a:prstGeom>
              <a:blipFill>
                <a:blip r:embed="rId9"/>
                <a:stretch>
                  <a:fillRect l="-1684" b="-168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9645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1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390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Введём игру 1, отличающуюся от игры 0, заменой псевдослучайной функции на случайную.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Покажем, что существует противник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 игре против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𝑃𝑅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3900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451617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0471" y="4528725"/>
            <a:ext cx="3813175" cy="401241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661063" y="4922237"/>
            <a:ext cx="3733801" cy="510780"/>
            <a:chOff x="1776" y="1981"/>
            <a:chExt cx="2352" cy="429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),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blipFill>
                  <a:blip r:embed="rId6"/>
                  <a:stretch>
                    <a:fillRect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807435" cy="1084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b="0" i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600" b="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807435" cy="1084721"/>
              </a:xfrm>
              <a:prstGeom prst="rect">
                <a:avLst/>
              </a:prstGeom>
              <a:blipFill>
                <a:blip r:embed="rId9"/>
                <a:stretch>
                  <a:fillRect l="-1684" b="-168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8262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Структура противника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5860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Рассмотрим структуру противника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, имеющим доступ к противнику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CPA </a:t>
                </a:r>
                <a:r>
                  <a:rPr lang="ru-RU" dirty="0"/>
                  <a:t>(игры 0-1).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58609"/>
              </a:xfrm>
              <a:blipFill>
                <a:blip r:embed="rId3"/>
                <a:stretch>
                  <a:fillRect l="-1043" t="-16000" r="-696" b="-17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497" y="2584234"/>
            <a:ext cx="6103464" cy="38816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2872902"/>
                <a:ext cx="4877297" cy="38485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После получений пары сообщений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выбирает случайный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получая его образ от претендента (случайный или псевдослучайный). Затем он случайно выбирает одно из сообщений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и шифрует его на полученном образе.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После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итераций он выдаёт результат</a:t>
                </a:r>
                <a:r>
                  <a:rPr lang="en-US" dirty="0"/>
                  <a:t> </a:t>
                </a:r>
                <a:r>
                  <a:rPr lang="ru-RU" dirty="0"/>
                  <a:t>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72902"/>
                <a:ext cx="4877297" cy="3848573"/>
              </a:xfrm>
              <a:prstGeom prst="rect">
                <a:avLst/>
              </a:prstGeom>
              <a:blipFill>
                <a:blip r:embed="rId5"/>
                <a:stretch>
                  <a:fillRect l="-2000" t="-2215" r="-1500" b="-33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42739" y="6409012"/>
                <a:ext cx="27864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:0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739" y="6409012"/>
                <a:ext cx="278646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517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0882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игру, реализующую случайную функцию. Функция будет генерировать случайные входы на новых значениях, запоминая их. На старых (уже полученных ранее значениях) будет выдаваться результат, полученный ранее.</a:t>
                </a:r>
                <a:r>
                  <a:rPr lang="en-US" dirty="0"/>
                  <a:t> </a:t>
                </a:r>
                <a:r>
                  <a:rPr lang="ru-RU" dirty="0"/>
                  <a:t>Очевидно, что это просто «переопределение» игры</a:t>
                </a:r>
                <a:r>
                  <a:rPr lang="en-US" dirty="0"/>
                  <a:t> 1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0882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451617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0471" y="4528725"/>
            <a:ext cx="3813175" cy="401241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661063" y="4922237"/>
            <a:ext cx="3733801" cy="510780"/>
            <a:chOff x="1776" y="1981"/>
            <a:chExt cx="2352" cy="429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),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blipFill>
                  <a:blip r:embed="rId6"/>
                  <a:stretch>
                    <a:fillRect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807435" cy="1285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</a:endParaRPr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6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ru-RU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807435" cy="1285993"/>
              </a:xfrm>
              <a:prstGeom prst="rect">
                <a:avLst/>
              </a:prstGeom>
              <a:blipFill>
                <a:blip r:embed="rId9"/>
                <a:stretch>
                  <a:fillRect l="-1684" b="-9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2150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831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«забывчивую» версию игры 2, в которой претендент не запоминает полученные величины. Заметим, что игры идентичны, если все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различны.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dirty="0"/>
                  <a:t> событие того,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dirty="0"/>
                  <a:t>. Тогда по </a:t>
                </a:r>
                <a:r>
                  <a:rPr lang="ru-RU" b="1" dirty="0"/>
                  <a:t>Теореме</a:t>
                </a:r>
                <a:r>
                  <a:rPr lang="ru-RU" dirty="0"/>
                  <a:t> </a:t>
                </a:r>
                <a:r>
                  <a:rPr lang="ru-RU" b="1" dirty="0"/>
                  <a:t>6.1.1.1</a:t>
                </a:r>
                <a:r>
                  <a:rPr lang="en-US" dirty="0"/>
                  <a:t> </a:t>
                </a:r>
                <a:r>
                  <a:rPr lang="ru-RU" dirty="0"/>
                  <a:t>и рассуждениям, аналогичным </a:t>
                </a:r>
                <a:r>
                  <a:rPr lang="ru-RU" b="1" dirty="0"/>
                  <a:t>Теореме 6.1.1 </a:t>
                </a:r>
                <a:r>
                  <a:rPr lang="ru-RU" dirty="0"/>
                  <a:t>имеем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независимых событий с вероятностью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каждое)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8317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451617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0471" y="4528725"/>
            <a:ext cx="3813175" cy="401241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661063" y="4922237"/>
            <a:ext cx="3733801" cy="510780"/>
            <a:chOff x="1776" y="1981"/>
            <a:chExt cx="2352" cy="429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),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blipFill>
                  <a:blip r:embed="rId6"/>
                  <a:stretch>
                    <a:fillRect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807435" cy="1000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0" i="1" dirty="0"/>
              </a:p>
              <a:p>
                <a:endParaRPr lang="ru-RU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807435" cy="1000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490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814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Заметим, что в игре 3 используются независимые ключи шифрования, для каждого сообщения. Отсюда имеем шифрование на множестве независимых ключей и по определению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𝑀𝑆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 противник, делающий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противнику в игре на семантическую стойкость, при использовании множества ключей.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8149"/>
                <a:ext cx="10515600" cy="4351338"/>
              </a:xfrm>
              <a:blipFill>
                <a:blip r:embed="rId2"/>
                <a:stretch>
                  <a:fillRect l="-1043" t="-210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451617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0471" y="4528725"/>
            <a:ext cx="3813175" cy="401241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661063" y="4922237"/>
            <a:ext cx="3733801" cy="510780"/>
            <a:chOff x="1776" y="1981"/>
            <a:chExt cx="2352" cy="429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),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blipFill>
                  <a:blip r:embed="rId6"/>
                  <a:stretch>
                    <a:fillRect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5397626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807435" cy="1000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0" i="1" dirty="0"/>
              </a:p>
              <a:p>
                <a:endParaRPr lang="ru-RU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807435" cy="1000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30075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Структра противника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177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структуру противника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в игре на семантическую стойкость, при использовании множества ключей, имеющим доступ к противнику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CPA</a:t>
                </a:r>
                <a:r>
                  <a:rPr lang="ru-RU" dirty="0"/>
                  <a:t> (игра 3).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1775"/>
                <a:ext cx="10515600" cy="4351338"/>
              </a:xfrm>
              <a:blipFill>
                <a:blip r:embed="rId3"/>
                <a:stretch>
                  <a:fillRect l="-1043" t="-2101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031" y="2593074"/>
            <a:ext cx="6043454" cy="3763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2872902"/>
                <a:ext cx="4877297" cy="38485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После получений пары сообщений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Прозрачно отправляет их своему претенденту. После получения зашифрования одного из них, выбирает случайный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, и отправляет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После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итераций он выдаёт результат</a:t>
                </a:r>
                <a:r>
                  <a:rPr lang="en-US" dirty="0"/>
                  <a:t> </a:t>
                </a:r>
                <a:r>
                  <a:rPr lang="ru-RU" dirty="0"/>
                  <a:t>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72902"/>
                <a:ext cx="4877297" cy="3848573"/>
              </a:xfrm>
              <a:prstGeom prst="rect">
                <a:avLst/>
              </a:prstGeom>
              <a:blipFill>
                <a:blip r:embed="rId5"/>
                <a:stretch>
                  <a:fillRect l="-2250" t="-2373" r="-28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887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CPA </a:t>
            </a:r>
            <a:r>
              <a:rPr lang="ru-RU" dirty="0"/>
              <a:t>шифров из семантически стойких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По теореме 6.4 </a:t>
                </a:r>
                <a:r>
                  <a:rPr lang="ru-RU" dirty="0"/>
                  <a:t>имеем,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ru-RU" dirty="0"/>
                  <a:t> противник в игре на семантическую стойкость.</a:t>
                </a:r>
              </a:p>
              <a:p>
                <a:pPr marL="0" indent="0">
                  <a:buNone/>
                </a:pPr>
                <a:r>
                  <a:rPr lang="ru-RU" dirty="0"/>
                  <a:t>Итого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Игра 3 является игрой на использование множества ключей в семантическом стойком шифре, и преимущество противника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 в ней отличается от игры на семантическую</a:t>
                </a:r>
                <a:r>
                  <a:rPr lang="en-US" dirty="0"/>
                  <a:t> </a:t>
                </a:r>
                <a:r>
                  <a:rPr lang="ru-RU" dirty="0"/>
                  <a:t>для некого противника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ru-RU" dirty="0"/>
                  <a:t> в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раз </a:t>
                </a:r>
              </a:p>
              <a:p>
                <a:r>
                  <a:rPr lang="ru-RU" dirty="0"/>
                  <a:t>Игра 2 –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отличаются не более чем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,</a:t>
                </a:r>
              </a:p>
              <a:p>
                <a:r>
                  <a:rPr lang="ru-RU" dirty="0"/>
                  <a:t>Игра 2 является переопределением игры 1</a:t>
                </a:r>
              </a:p>
              <a:p>
                <a:r>
                  <a:rPr lang="ru-RU" dirty="0"/>
                  <a:t>Игра 1 –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противник </a:t>
                </a:r>
                <a:r>
                  <a:rPr lang="en-US" dirty="0"/>
                  <a:t>B</a:t>
                </a:r>
                <a:r>
                  <a:rPr lang="ru-RU" dirty="0"/>
                  <a:t> в игре на стойкость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b="0" dirty="0"/>
                  <a:t> </a:t>
                </a:r>
                <a:r>
                  <a:rPr lang="ru-RU" dirty="0"/>
                  <a:t>его </a:t>
                </a:r>
                <a:r>
                  <a:rPr lang="ru-RU" b="0" dirty="0"/>
                  <a:t>преимущество состоит из </a:t>
                </a:r>
                <a:r>
                  <a:rPr lang="ru-RU" b="0" dirty="0">
                    <a:solidFill>
                      <a:srgbClr val="00B050"/>
                    </a:solidFill>
                  </a:rPr>
                  <a:t>разности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b="0" dirty="0"/>
                  <a:t> 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b="0" dirty="0"/>
                  <a:t>. </a:t>
                </a:r>
                <a:endParaRPr lang="en-US" b="0" dirty="0"/>
              </a:p>
              <a:p>
                <a:r>
                  <a:rPr lang="ru-RU" dirty="0"/>
                  <a:t>Игра </a:t>
                </a:r>
                <a:r>
                  <a:rPr lang="ru-RU" dirty="0">
                    <a:solidFill>
                      <a:srgbClr val="00B050"/>
                    </a:solidFill>
                  </a:rPr>
                  <a:t>0</a:t>
                </a:r>
                <a:r>
                  <a:rPr lang="ru-RU" dirty="0"/>
                  <a:t> – игра на стойкость </a:t>
                </a:r>
                <a:r>
                  <a:rPr lang="en-US" dirty="0"/>
                  <a:t>CPA</a:t>
                </a:r>
                <a:r>
                  <a:rPr lang="ru-RU" dirty="0"/>
                  <a:t> (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𝐶𝑃</m:t>
                    </m:r>
                    <m:sSubSup>
                      <m:sSub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r>
                  <a:rPr lang="ru-RU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𝐶𝑃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⊲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928" t="-2363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47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ещё один способ построения – на основе </a:t>
                </a:r>
                <a:r>
                  <a:rPr lang="en-US" dirty="0"/>
                  <a:t>CTR </a:t>
                </a:r>
                <a:r>
                  <a:rPr lang="ru-RU" dirty="0"/>
                  <a:t>режима.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={0,…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.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следующим образом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29" y="4030189"/>
            <a:ext cx="6571404" cy="23261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334" y="4176215"/>
            <a:ext cx="5993666" cy="17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06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233" y="1231504"/>
            <a:ext cx="5381767" cy="53074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644487" cy="4351338"/>
          </a:xfrm>
        </p:spPr>
        <p:txBody>
          <a:bodyPr/>
          <a:lstStyle/>
          <a:p>
            <a:r>
              <a:rPr lang="ru-RU" dirty="0"/>
              <a:t>Шифр похож на детерминированный </a:t>
            </a:r>
            <a:r>
              <a:rPr lang="en-US" dirty="0"/>
              <a:t>CTR </a:t>
            </a:r>
            <a:r>
              <a:rPr lang="ru-RU" dirty="0"/>
              <a:t>режим, с той лишь разницей, что мы используем не фиксированное начальное значение счётчика, а выбираем его случайно равновероятно, а затем используем шифр аналогично детерминированному алгоритму.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9280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7.2.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ограниченная, то введённый ранее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- CPA </a:t>
                </a:r>
                <a:r>
                  <a:rPr lang="ru-RU" dirty="0"/>
                  <a:t>стойкий шифр. В частности для любого противника в </a:t>
                </a:r>
                <a:r>
                  <a:rPr lang="en-US" dirty="0"/>
                  <a:t>CPA </a:t>
                </a:r>
                <a:r>
                  <a:rPr lang="ru-RU" dirty="0"/>
                  <a:t>игре,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существует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 </a:t>
                </a:r>
                <a:r>
                  <a:rPr lang="ru-RU" dirty="0"/>
                  <a:t>причём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836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⊳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Перепишем формулу выше через альтернативные определения на угадывание бита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𝐶𝑃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Основная идея доказательства – определим игру 0 между противником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и претендентом в игре против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. Определим игры 1, 2, 3. В каждый из них противник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будет играть против разных претендентов.</a:t>
                </a:r>
                <a:r>
                  <a:rPr lang="en-US" dirty="0"/>
                  <a:t> </a:t>
                </a:r>
                <a:r>
                  <a:rPr lang="ru-RU" dirty="0"/>
                  <a:t>Покажем переходы между этими играми.</a:t>
                </a:r>
              </a:p>
              <a:p>
                <a:pPr marL="0" indent="0">
                  <a:buNone/>
                </a:pPr>
                <a:r>
                  <a:rPr lang="ru-RU" dirty="0"/>
                  <a:t>Определим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644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игры, введённой ниже, имеем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77990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960236" y="4367023"/>
            <a:ext cx="3521927" cy="562944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023815" y="4957919"/>
            <a:ext cx="3398576" cy="401147"/>
            <a:chOff x="1820" y="1982"/>
            <a:chExt cx="2352" cy="15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/>
                    <a:t> A</a:t>
                  </a:r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blipFill>
                  <a:blip r:embed="rId6"/>
                  <a:stretch>
                    <a:fillRect t="-7576" r="-3493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966525" cy="1798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endParaRPr lang="ru-RU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966525" cy="1798249"/>
              </a:xfrm>
              <a:prstGeom prst="rect">
                <a:avLst/>
              </a:prstGeom>
              <a:blipFill>
                <a:blip r:embed="rId9"/>
                <a:stretch>
                  <a:fillRect l="-15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00605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1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831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Введём игру 1, отличающуюся от игры 0, заменой псевдослучайной функции на случайную.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Построим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против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используя подход, аналогичной использованному в </a:t>
                </a:r>
                <a:r>
                  <a:rPr lang="ru-RU" b="1" dirty="0"/>
                  <a:t>Теореме 7.1</a:t>
                </a:r>
                <a:r>
                  <a:rPr lang="ru-RU" dirty="0"/>
                  <a:t>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8317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77990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960236" y="4367023"/>
            <a:ext cx="3521927" cy="562944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023815" y="4957919"/>
            <a:ext cx="3398576" cy="401147"/>
            <a:chOff x="1820" y="1982"/>
            <a:chExt cx="2352" cy="15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/>
                    <a:t> A</a:t>
                  </a:r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blipFill>
                  <a:blip r:embed="rId6"/>
                  <a:stretch>
                    <a:fillRect t="-7576" r="-3493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966525" cy="1798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i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endParaRPr lang="ru-RU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966525" cy="1798249"/>
              </a:xfrm>
              <a:prstGeom prst="rect">
                <a:avLst/>
              </a:prstGeom>
              <a:blipFill>
                <a:blip r:embed="rId9"/>
                <a:stretch>
                  <a:fillRect l="-15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9702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0445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Рассмотрим игру, реализующую случайную функцию. Функция будет генерировать случайные входы на новых значениях, запоминая их. На старых (уже полученных ранее значениях) будет выдаваться результат, полученный ранее.</a:t>
                </a:r>
                <a:r>
                  <a:rPr lang="en-US" sz="2400" dirty="0"/>
                  <a:t> </a:t>
                </a:r>
                <a:r>
                  <a:rPr lang="ru-RU" sz="2400" dirty="0"/>
                  <a:t>Очевидно, что это просто «переопределение» игры</a:t>
                </a:r>
                <a:r>
                  <a:rPr lang="en-US" sz="2400" dirty="0"/>
                  <a:t> 1</a:t>
                </a:r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2400" dirty="0"/>
                  <a:t>. Здесь и далее используем стандартное отношение порядка на парах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тогда и только тогда, когда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04456"/>
                <a:ext cx="10515600" cy="4351338"/>
              </a:xfrm>
              <a:blipFill>
                <a:blip r:embed="rId2"/>
                <a:stretch>
                  <a:fillRect l="-928" t="-1961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1" y="3842587"/>
            <a:ext cx="2122741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275544" y="4367023"/>
            <a:ext cx="3206619" cy="562944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r="-8071"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275543" y="4957919"/>
            <a:ext cx="3146847" cy="401147"/>
            <a:chOff x="1820" y="1982"/>
            <a:chExt cx="2352" cy="15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/>
                    <a:t> A</a:t>
                  </a:r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blipFill>
                  <a:blip r:embed="rId6"/>
                  <a:stretch>
                    <a:fillRect t="-7576" r="-11321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966525" cy="2281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endParaRPr lang="ru-RU" sz="1600" b="0" i="1" dirty="0"/>
              </a:p>
            </p:txBody>
          </p:sp>
        </mc:Choice>
        <mc:Fallback xmlns="">
          <p:sp>
            <p:nvSpPr>
              <p:cNvPr id="18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966525" cy="2281522"/>
              </a:xfrm>
              <a:prstGeom prst="rect">
                <a:avLst/>
              </a:prstGeom>
              <a:blipFill rotWithShape="0">
                <a:blip r:embed="rId9"/>
                <a:stretch>
                  <a:fillRect l="-15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08298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8317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Рассмотрим «забывчивую» версию игры 2, в которой претендент не запоминает полученные величины. Заметим, что игры идентичны, если все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различны. 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sz="2400" dirty="0"/>
                  <a:t> событие того, что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ru-R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)≠(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 Тогда по </a:t>
                </a:r>
                <a:r>
                  <a:rPr lang="ru-RU" sz="2400" b="1" dirty="0"/>
                  <a:t>Теореме</a:t>
                </a:r>
                <a:r>
                  <a:rPr lang="ru-RU" sz="2400" dirty="0"/>
                  <a:t> </a:t>
                </a:r>
                <a:r>
                  <a:rPr lang="ru-RU" sz="2400" b="1" dirty="0"/>
                  <a:t>6.1.1.1</a:t>
                </a:r>
                <a:r>
                  <a:rPr lang="en-US" sz="2400" dirty="0"/>
                  <a:t> </a:t>
                </a:r>
                <a:r>
                  <a:rPr lang="ru-RU" sz="2400" dirty="0"/>
                  <a:t>и рассуждениям, аналогичным </a:t>
                </a:r>
                <a:r>
                  <a:rPr lang="ru-RU" sz="2400" b="1" dirty="0"/>
                  <a:t>Теореме 6.1.1 </a:t>
                </a:r>
                <a:r>
                  <a:rPr lang="ru-RU" sz="2400" dirty="0"/>
                  <a:t>имеем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]|≤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400" dirty="0"/>
                  <a:t>. При этом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sz="2400" dirty="0"/>
                  <a:t> (</a:t>
                </a:r>
                <a:r>
                  <a:rPr lang="ru-RU" sz="2400" dirty="0"/>
                  <a:t>игра против одноразового блокнота).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8317"/>
                <a:ext cx="10515600" cy="4351338"/>
              </a:xfrm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152801" y="3842587"/>
            <a:ext cx="2122741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6"/>
              <p:cNvSpPr txBox="1">
                <a:spLocks noChangeArrowheads="1"/>
              </p:cNvSpPr>
              <p:nvPr/>
            </p:nvSpPr>
            <p:spPr bwMode="auto">
              <a:xfrm>
                <a:off x="1367989" y="3752081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7989" y="3752081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4275544" y="4367023"/>
            <a:ext cx="3206619" cy="562944"/>
            <a:chOff x="1774" y="1785"/>
            <a:chExt cx="2402" cy="337"/>
          </a:xfrm>
        </p:grpSpPr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r="-8071"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" name="Group 20"/>
          <p:cNvGrpSpPr>
            <a:grpSpLocks/>
          </p:cNvGrpSpPr>
          <p:nvPr/>
        </p:nvGrpSpPr>
        <p:grpSpPr bwMode="auto">
          <a:xfrm>
            <a:off x="4275543" y="4957919"/>
            <a:ext cx="3146847" cy="401147"/>
            <a:chOff x="1820" y="1982"/>
            <a:chExt cx="2352" cy="150"/>
          </a:xfrm>
        </p:grpSpPr>
        <p:sp>
          <p:nvSpPr>
            <p:cNvPr id="31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/>
                    <a:t> A</a:t>
                  </a:r>
                </a:p>
              </p:txBody>
            </p:sp>
          </mc:Choice>
          <mc:Fallback xmlns="">
            <p:sp>
              <p:nvSpPr>
                <p:cNvPr id="3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blipFill>
                  <a:blip r:embed="rId6"/>
                  <a:stretch>
                    <a:fillRect t="-7576" r="-11321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48" y="3728894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3"/>
              <p:cNvSpPr txBox="1">
                <a:spLocks noChangeArrowheads="1"/>
              </p:cNvSpPr>
              <p:nvPr/>
            </p:nvSpPr>
            <p:spPr bwMode="auto">
              <a:xfrm>
                <a:off x="2152802" y="4218608"/>
                <a:ext cx="1966525" cy="22111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endParaRPr lang="ru-RU" sz="1600" b="0" i="1" dirty="0"/>
              </a:p>
            </p:txBody>
          </p:sp>
        </mc:Choice>
        <mc:Fallback xmlns="">
          <p:sp>
            <p:nvSpPr>
              <p:cNvPr id="3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2" y="4218608"/>
                <a:ext cx="1966525" cy="2211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1737724" y="3981450"/>
            <a:ext cx="412405" cy="14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7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5456222" y="5814740"/>
            <a:ext cx="2118190" cy="335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совпадения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Лемма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 условии игры 3 имеем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]|≤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dirty="0"/>
                  <a:t># </a:t>
                </a:r>
                <a:r>
                  <a:rPr lang="ru-RU" dirty="0"/>
                  <a:t>Без потери общности предположим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(что вообще говоря верно начиная с некоторого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, из условий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). Событие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dirty="0"/>
                  <a:t> происходит тогда, и только тогда когда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т.е. совпали какие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. Для произвольного фиксированного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ru-RU" dirty="0"/>
                  <a:t> равномерно распределена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{0,…,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ru-RU" dirty="0"/>
                  <a:t>. Тогда совпадения возможно тогда, и только тогда когда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ru-RU" dirty="0"/>
                  <a:t>, что происходит с вероятностью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</a:t>
                </a:r>
                <a:r>
                  <a:rPr lang="en-US" dirty="0"/>
                  <a:t> #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4357" y="6149803"/>
            <a:ext cx="8836182" cy="271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2181885" y="6038661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81885" y="6149803"/>
                <a:ext cx="11925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885" y="6149803"/>
                <a:ext cx="1192506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/>
          <p:cNvCxnSpPr/>
          <p:nvPr/>
        </p:nvCxnSpPr>
        <p:spPr>
          <a:xfrm>
            <a:off x="8744138" y="5990958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789694" y="6122009"/>
                <a:ext cx="11925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694" y="6122009"/>
                <a:ext cx="11925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единительная линия 13"/>
          <p:cNvCxnSpPr/>
          <p:nvPr/>
        </p:nvCxnSpPr>
        <p:spPr>
          <a:xfrm>
            <a:off x="3819053" y="6018118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819053" y="6163383"/>
                <a:ext cx="4869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053" y="6163383"/>
                <a:ext cx="48692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5474328" y="5982262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99747" y="6154745"/>
                <a:ext cx="433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747" y="6154745"/>
                <a:ext cx="433388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единительная линия 18"/>
          <p:cNvCxnSpPr/>
          <p:nvPr/>
        </p:nvCxnSpPr>
        <p:spPr>
          <a:xfrm>
            <a:off x="7528855" y="6005849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574411" y="6136900"/>
                <a:ext cx="1246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411" y="6136900"/>
                <a:ext cx="1246046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228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Итого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Игра 3 является игрой против одноразового блокнота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)</a:t>
                </a:r>
                <a:endParaRPr lang="ru-RU" dirty="0"/>
              </a:p>
              <a:p>
                <a:r>
                  <a:rPr lang="ru-RU" dirty="0"/>
                  <a:t>Игра 2 –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отличаются не более чем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u-RU" dirty="0">
                  <a:solidFill>
                    <a:srgbClr val="00B0F0"/>
                  </a:solidFill>
                </a:endParaRPr>
              </a:p>
              <a:p>
                <a:r>
                  <a:rPr lang="ru-RU" dirty="0"/>
                  <a:t>Игра 2 является переопределением игры 1</a:t>
                </a:r>
              </a:p>
              <a:p>
                <a:r>
                  <a:rPr lang="ru-RU" dirty="0"/>
                  <a:t>Игра 1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противник </a:t>
                </a:r>
                <a:r>
                  <a:rPr lang="en-US" dirty="0"/>
                  <a:t>B</a:t>
                </a:r>
                <a:r>
                  <a:rPr lang="ru-RU" dirty="0"/>
                  <a:t> в игре на стойкость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dirty="0"/>
                  <a:t> его преимущество состоит из </a:t>
                </a:r>
                <a:r>
                  <a:rPr lang="ru-RU" dirty="0">
                    <a:solidFill>
                      <a:srgbClr val="00B050"/>
                    </a:solidFill>
                  </a:rPr>
                  <a:t>разности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ru-RU" dirty="0"/>
              </a:p>
              <a:p>
                <a:r>
                  <a:rPr lang="ru-RU" dirty="0"/>
                  <a:t>Игра 0 – игра на стойкость </a:t>
                </a:r>
                <a:r>
                  <a:rPr lang="en-US" dirty="0"/>
                  <a:t>CPA</a:t>
                </a:r>
                <a:r>
                  <a:rPr lang="ru-RU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𝐶𝑃</m:t>
                    </m:r>
                    <m:sSubSup>
                      <m:sSub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r>
                  <a:rPr lang="ru-RU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𝐶𝑃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⊲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2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817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использование </a:t>
            </a:r>
            <a:r>
              <a:rPr lang="en-US" dirty="0"/>
              <a:t>AES </a:t>
            </a:r>
            <a:r>
              <a:rPr lang="ru-RU" dirty="0"/>
              <a:t>в режиме </a:t>
            </a:r>
            <a:r>
              <a:rPr lang="en-US" dirty="0"/>
              <a:t>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IPsec, RFC</a:t>
                </a:r>
                <a:r>
                  <a:rPr lang="ru-RU" dirty="0"/>
                  <a:t> </a:t>
                </a:r>
                <a:r>
                  <a:rPr lang="en-US" dirty="0"/>
                  <a:t>3686</a:t>
                </a:r>
                <a:r>
                  <a:rPr lang="ru-RU" dirty="0"/>
                  <a:t>. Выбор начального</a:t>
                </a:r>
                <a:r>
                  <a:rPr lang="en-US" dirty="0"/>
                  <a:t> </a:t>
                </a:r>
                <a:r>
                  <a:rPr lang="ru-RU" dirty="0"/>
                  <a:t>значения счётчика выполняется следующим образом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32 наиболее значимых бита выбираются </a:t>
                </a:r>
                <a:r>
                  <a:rPr lang="ru-RU" b="1" dirty="0"/>
                  <a:t>случайно</a:t>
                </a:r>
                <a:r>
                  <a:rPr lang="ru-RU" dirty="0"/>
                  <a:t> в момент генерации ключа (</a:t>
                </a:r>
                <a:r>
                  <a:rPr lang="ru-RU" b="1" dirty="0"/>
                  <a:t>и независимо от него</a:t>
                </a:r>
                <a:r>
                  <a:rPr lang="ru-RU" dirty="0"/>
                  <a:t>), и </a:t>
                </a:r>
                <a:r>
                  <a:rPr lang="ru-RU" b="1" dirty="0"/>
                  <a:t>фиксируются</a:t>
                </a:r>
                <a:r>
                  <a:rPr lang="ru-RU" dirty="0"/>
                  <a:t> во время его жизни</a:t>
                </a:r>
                <a:r>
                  <a:rPr lang="en-US" dirty="0"/>
                  <a:t> (nonce)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Следующие 64 бита выбираются случайно из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ru-RU" dirty="0"/>
                  <a:t> (</a:t>
                </a:r>
                <a:r>
                  <a:rPr lang="en-US" dirty="0"/>
                  <a:t>IV)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Последние 32 бита устанавливаются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Максимальная длина сообщения для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ru-RU" dirty="0"/>
                  <a:t> блоков </a:t>
                </a:r>
                <a:r>
                  <a:rPr lang="en-US" dirty="0"/>
                  <a:t>AES</a:t>
                </a:r>
                <a:r>
                  <a:rPr lang="ru-RU" dirty="0"/>
                  <a:t> 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lang="ru-RU" dirty="0"/>
                  <a:t> байт.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464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479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блочный шифр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.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\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. </a:t>
                </a:r>
                <a:r>
                  <a:rPr lang="ru-RU" dirty="0" err="1"/>
                  <a:t>Зашифрование</a:t>
                </a:r>
                <a:r>
                  <a:rPr lang="ru-RU" dirty="0"/>
                  <a:t> и расшифрование определены следующим образом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20151"/>
            <a:ext cx="5152155" cy="20279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704" y="3920151"/>
            <a:ext cx="4905792" cy="174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05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86053" cy="4351338"/>
              </a:xfrm>
            </p:spPr>
            <p:txBody>
              <a:bodyPr/>
              <a:lstStyle/>
              <a:p>
                <a:r>
                  <a:rPr lang="ru-RU" dirty="0"/>
                  <a:t>В отличии от режима </a:t>
                </a:r>
                <a:r>
                  <a:rPr lang="en-US" dirty="0"/>
                  <a:t>CTR </a:t>
                </a:r>
                <a:r>
                  <a:rPr lang="ru-RU" dirty="0"/>
                  <a:t>для реализации </a:t>
                </a:r>
                <a:r>
                  <a:rPr lang="en-US" dirty="0"/>
                  <a:t>CBC </a:t>
                </a:r>
                <a:r>
                  <a:rPr lang="ru-RU" dirty="0"/>
                  <a:t>необходима функция </a:t>
                </a:r>
                <a:r>
                  <a:rPr lang="ru-RU" dirty="0" err="1"/>
                  <a:t>расшифрования</a:t>
                </a:r>
                <a:r>
                  <a:rPr lang="ru-RU" dirty="0"/>
                  <a:t> блочного шифра</a:t>
                </a:r>
              </a:p>
              <a:p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ru-RU" dirty="0"/>
                  <a:t> носит название вектора инициализации (</a:t>
                </a:r>
                <a:r>
                  <a:rPr lang="en-US" dirty="0"/>
                  <a:t>IV)</a:t>
                </a:r>
                <a:endParaRPr lang="ru-RU" dirty="0"/>
              </a:p>
              <a:p>
                <a:r>
                  <a:rPr lang="en-US" dirty="0"/>
                  <a:t>IV </a:t>
                </a:r>
                <a:r>
                  <a:rPr lang="ru-RU" dirty="0"/>
                  <a:t>должны быть </a:t>
                </a:r>
                <a:r>
                  <a:rPr lang="ru-RU" b="1" dirty="0"/>
                  <a:t>случайным для каждого передаваемого сообщения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86053" cy="4351338"/>
              </a:xfrm>
              <a:blipFill rotWithShape="0">
                <a:blip r:embed="rId2"/>
                <a:stretch>
                  <a:fillRect l="-1505" t="-2101" r="-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207" y="734148"/>
            <a:ext cx="4195982" cy="562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03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7.3.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</a:t>
                </a:r>
                <a:r>
                  <a:rPr lang="en-US" dirty="0"/>
                  <a:t> </a:t>
                </a:r>
                <a:r>
                  <a:rPr lang="ru-RU" dirty="0"/>
                  <a:t>стойкий блочный шифр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ограниченная. Тогда введенный ранее </a:t>
                </a:r>
                <a:r>
                  <a:rPr lang="en-US" dirty="0"/>
                  <a:t>CBC</a:t>
                </a:r>
                <a:r>
                  <a:rPr lang="ru-RU" dirty="0"/>
                  <a:t>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является </a:t>
                </a:r>
                <a:r>
                  <a:rPr lang="en-US" dirty="0"/>
                  <a:t>CPA </a:t>
                </a:r>
                <a:r>
                  <a:rPr lang="ru-RU" dirty="0"/>
                  <a:t>стойким, причём для любого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</a:t>
                </a:r>
                <a:r>
                  <a:rPr lang="en-US" dirty="0"/>
                  <a:t>CPA </a:t>
                </a:r>
                <a:r>
                  <a:rPr lang="ru-RU" dirty="0"/>
                  <a:t>стойкость,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оракулу, существует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блочных шифров, причём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92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CBC </a:t>
            </a:r>
            <a:r>
              <a:rPr lang="ru-RU"/>
              <a:t>режим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⊳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Перепишем формулу выше через альтернативные определения на угадывание бита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Основная идея доказательства – определим игру 0 между противником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и претендентом в игре против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. Определим игры 1, 2, 3. В каждый из них противник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будет играть против разных претендентов.</a:t>
                </a:r>
                <a:r>
                  <a:rPr lang="en-US" dirty="0"/>
                  <a:t> </a:t>
                </a:r>
                <a:r>
                  <a:rPr lang="ru-RU" dirty="0"/>
                  <a:t>Покажем переходы между этими играми.</a:t>
                </a:r>
              </a:p>
              <a:p>
                <a:pPr marL="0" indent="0">
                  <a:buNone/>
                </a:pPr>
                <a:r>
                  <a:rPr lang="ru-RU" dirty="0"/>
                  <a:t>Определим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895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игры, введённой ниже, имеем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52802" y="3842587"/>
            <a:ext cx="177990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960236" y="4367023"/>
            <a:ext cx="3521927" cy="562944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023815" y="4987336"/>
            <a:ext cx="3398576" cy="401147"/>
            <a:chOff x="1820" y="1993"/>
            <a:chExt cx="2352" cy="15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152803" y="4218608"/>
                <a:ext cx="1739206" cy="1527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[0]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+1]←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3" y="4218608"/>
                <a:ext cx="1739206" cy="1527213"/>
              </a:xfrm>
              <a:prstGeom prst="rect">
                <a:avLst/>
              </a:prstGeom>
              <a:blipFill>
                <a:blip r:embed="rId9"/>
                <a:stretch>
                  <a:fillRect l="-1754" b="-7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36651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1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Введём игру 1, отличающуюся от игры 0, заменой псевдослучайной функции на случайную.</a:t>
                </a:r>
                <a:r>
                  <a:rPr lang="en-US" dirty="0"/>
                  <a:t> </a:t>
                </a:r>
                <a:r>
                  <a:rPr lang="ru-RU" dirty="0"/>
                  <a:t>Имеем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152802" y="3842587"/>
            <a:ext cx="177990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8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21"/>
          <p:cNvGrpSpPr>
            <a:grpSpLocks/>
          </p:cNvGrpSpPr>
          <p:nvPr/>
        </p:nvGrpSpPr>
        <p:grpSpPr bwMode="auto">
          <a:xfrm>
            <a:off x="3960236" y="4367023"/>
            <a:ext cx="3521927" cy="562944"/>
            <a:chOff x="1774" y="1785"/>
            <a:chExt cx="2402" cy="337"/>
          </a:xfrm>
        </p:grpSpPr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" name="Group 20"/>
          <p:cNvGrpSpPr>
            <a:grpSpLocks/>
          </p:cNvGrpSpPr>
          <p:nvPr/>
        </p:nvGrpSpPr>
        <p:grpSpPr bwMode="auto">
          <a:xfrm>
            <a:off x="4023815" y="4987336"/>
            <a:ext cx="3398576" cy="401147"/>
            <a:chOff x="1820" y="1993"/>
            <a:chExt cx="2352" cy="150"/>
          </a:xfrm>
        </p:grpSpPr>
        <p:sp>
          <p:nvSpPr>
            <p:cNvPr id="36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13"/>
              <p:cNvSpPr txBox="1">
                <a:spLocks noChangeArrowheads="1"/>
              </p:cNvSpPr>
              <p:nvPr/>
            </p:nvSpPr>
            <p:spPr bwMode="auto">
              <a:xfrm>
                <a:off x="2152803" y="4218608"/>
                <a:ext cx="1739206" cy="1286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i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[0]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+1]←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4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803" y="4218608"/>
                <a:ext cx="1739206" cy="1286634"/>
              </a:xfrm>
              <a:prstGeom prst="rect">
                <a:avLst/>
              </a:prstGeom>
              <a:blipFill>
                <a:blip r:embed="rId9"/>
                <a:stretch>
                  <a:fillRect l="-1754" b="-9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4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61530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37376" y="131814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Рассмотрим игру, реализующую случайную функцию. Функция будет генерировать случайные входы на новых значениях, запоминая их. На старых (уже полученных ранее значениях) будет выдаваться результат, полученный ранее.</a:t>
                </a:r>
                <a:r>
                  <a:rPr lang="en-US" sz="2400" dirty="0"/>
                  <a:t> </a:t>
                </a:r>
                <a:r>
                  <a:rPr lang="ru-RU" sz="2400" dirty="0"/>
                  <a:t>Очевидно, что это просто «переопределение» игры</a:t>
                </a:r>
                <a:r>
                  <a:rPr lang="en-US" sz="2400" dirty="0"/>
                  <a:t> 1</a:t>
                </a:r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2400" dirty="0"/>
                  <a:t>.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7376" y="1318149"/>
                <a:ext cx="10515600" cy="4351338"/>
              </a:xfrm>
              <a:blipFill>
                <a:blip r:embed="rId2"/>
                <a:stretch>
                  <a:fillRect l="-870" t="-1961" r="-1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607932" y="3842587"/>
            <a:ext cx="232477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3960236" y="4367023"/>
            <a:ext cx="3521927" cy="562944"/>
            <a:chOff x="1774" y="1785"/>
            <a:chExt cx="2402" cy="337"/>
          </a:xfrm>
        </p:grpSpPr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475715" y="3613986"/>
            <a:ext cx="7525781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" name="Group 20"/>
          <p:cNvGrpSpPr>
            <a:grpSpLocks/>
          </p:cNvGrpSpPr>
          <p:nvPr/>
        </p:nvGrpSpPr>
        <p:grpSpPr bwMode="auto">
          <a:xfrm>
            <a:off x="4023815" y="4987336"/>
            <a:ext cx="3398576" cy="401147"/>
            <a:chOff x="1820" y="1993"/>
            <a:chExt cx="2352" cy="150"/>
          </a:xfrm>
        </p:grpSpPr>
        <p:sp>
          <p:nvSpPr>
            <p:cNvPr id="31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3"/>
              <p:cNvSpPr txBox="1">
                <a:spLocks noChangeArrowheads="1"/>
              </p:cNvSpPr>
              <p:nvPr/>
            </p:nvSpPr>
            <p:spPr bwMode="auto">
              <a:xfrm>
                <a:off x="1671511" y="4218608"/>
                <a:ext cx="2343574" cy="20024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600" i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b="0" i="1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</m:sSub>
                    </m:oMath>
                  </m:oMathPara>
                </a14:m>
                <a:endParaRPr lang="en-US" sz="1600" b="0" i="1" dirty="0"/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sSup>
                          <m:sSupPr>
                            <m:ctrlP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,(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)&lt;(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+1]←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+1]</m:t>
                      </m:r>
                    </m:oMath>
                  </m:oMathPara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3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1511" y="4218608"/>
                <a:ext cx="2343574" cy="2002408"/>
              </a:xfrm>
              <a:prstGeom prst="rect">
                <a:avLst/>
              </a:prstGeom>
              <a:blipFill>
                <a:blip r:embed="rId9"/>
                <a:stretch>
                  <a:fillRect l="-1299" b="-91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4630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3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7684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Рассмотрим «забывчивую» версию игры 2, в которой претендент не запоминает полученные величины. Заметим, что игры идентичны, если все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различны. Пусть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sz="2400" dirty="0"/>
                  <a:t> событие того, что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ru-RU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)≠(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 Тогда по </a:t>
                </a:r>
                <a:r>
                  <a:rPr lang="ru-RU" sz="2400" b="1" dirty="0"/>
                  <a:t>Теореме</a:t>
                </a:r>
                <a:r>
                  <a:rPr lang="ru-RU" sz="2400" dirty="0"/>
                  <a:t> </a:t>
                </a:r>
                <a:r>
                  <a:rPr lang="ru-RU" sz="2400" b="1" dirty="0"/>
                  <a:t>6.1.1.1</a:t>
                </a:r>
                <a:r>
                  <a:rPr lang="en-US" sz="2400" dirty="0"/>
                  <a:t> </a:t>
                </a:r>
                <a:r>
                  <a:rPr lang="ru-RU" sz="2400" dirty="0"/>
                  <a:t>и рассуждениям, аналогичным </a:t>
                </a:r>
                <a:r>
                  <a:rPr lang="ru-RU" sz="2400" b="1" dirty="0"/>
                  <a:t>Теореме 6.1.1 </a:t>
                </a:r>
                <a:r>
                  <a:rPr lang="ru-RU" sz="2400" dirty="0"/>
                  <a:t>имеем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]|≤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400" dirty="0"/>
                  <a:t>. При этом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sz="2400" dirty="0"/>
                  <a:t> (</a:t>
                </a:r>
                <a:r>
                  <a:rPr lang="ru-RU" sz="2400" dirty="0"/>
                  <a:t>игра против одноразового блокнота).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7684"/>
                <a:ext cx="10515600" cy="4351338"/>
              </a:xfrm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607932" y="3842587"/>
            <a:ext cx="232477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3960236" y="4367023"/>
            <a:ext cx="3521927" cy="562944"/>
            <a:chOff x="1774" y="1785"/>
            <a:chExt cx="2402" cy="337"/>
          </a:xfrm>
        </p:grpSpPr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475715" y="3613986"/>
            <a:ext cx="7525781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" name="Group 20"/>
          <p:cNvGrpSpPr>
            <a:grpSpLocks/>
          </p:cNvGrpSpPr>
          <p:nvPr/>
        </p:nvGrpSpPr>
        <p:grpSpPr bwMode="auto">
          <a:xfrm>
            <a:off x="4023815" y="4987336"/>
            <a:ext cx="3398576" cy="401147"/>
            <a:chOff x="1820" y="1993"/>
            <a:chExt cx="2352" cy="150"/>
          </a:xfrm>
        </p:grpSpPr>
        <p:sp>
          <p:nvSpPr>
            <p:cNvPr id="31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66" y="3770171"/>
                <a:ext cx="5357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66" y="5211802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3"/>
              <p:cNvSpPr txBox="1">
                <a:spLocks noChangeArrowheads="1"/>
              </p:cNvSpPr>
              <p:nvPr/>
            </p:nvSpPr>
            <p:spPr bwMode="auto">
              <a:xfrm>
                <a:off x="1671511" y="4218608"/>
                <a:ext cx="2343574" cy="12302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600" i="1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b="0" i="1" dirty="0">
                    <a:solidFill>
                      <a:schemeClr val="tx1"/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1511" y="4218608"/>
                <a:ext cx="2343574" cy="1230209"/>
              </a:xfrm>
              <a:prstGeom prst="rect">
                <a:avLst/>
              </a:prstGeom>
              <a:blipFill>
                <a:blip r:embed="rId9"/>
                <a:stretch>
                  <a:fillRect b="-9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01390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3486"/>
                <a:ext cx="10515600" cy="495886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Итого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Игра 3 является игрой против одноразового блокнота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sz="2800" dirty="0"/>
                  <a:t>) </a:t>
                </a:r>
                <a:endParaRPr lang="en-US" dirty="0"/>
              </a:p>
              <a:p>
                <a:r>
                  <a:rPr lang="ru-RU" dirty="0"/>
                  <a:t>Игра 2 –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отличаются не более чем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  <a:p>
                <a:r>
                  <a:rPr lang="ru-RU" dirty="0"/>
                  <a:t>Игра 2 является переопределением игры 1</a:t>
                </a:r>
              </a:p>
              <a:p>
                <a:r>
                  <a:rPr lang="ru-RU" dirty="0"/>
                  <a:t>Игра 1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противник </a:t>
                </a:r>
                <a:r>
                  <a:rPr lang="en-US" dirty="0"/>
                  <a:t>B</a:t>
                </a:r>
                <a:r>
                  <a:rPr lang="ru-RU" dirty="0"/>
                  <a:t> в игре на стойкость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dirty="0"/>
                  <a:t> его преимущество состоит из </a:t>
                </a:r>
                <a:r>
                  <a:rPr lang="ru-RU" dirty="0">
                    <a:solidFill>
                      <a:srgbClr val="00B050"/>
                    </a:solidFill>
                  </a:rPr>
                  <a:t>разности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Игра 0 – игра на стойкость </a:t>
                </a:r>
                <a:r>
                  <a:rPr lang="en-US" dirty="0"/>
                  <a:t>CPA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𝐶𝑃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𝑃𝑅𝐹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Используя </a:t>
                </a:r>
                <a:r>
                  <a:rPr lang="ru-RU" b="1" dirty="0">
                    <a:ea typeface="Cambria Math" panose="02040503050406030204" pitchFamily="18" charset="0"/>
                  </a:rPr>
                  <a:t>Теорему 6.1 </a:t>
                </a:r>
                <a:r>
                  <a:rPr lang="ru-RU" dirty="0">
                    <a:ea typeface="Cambria Math" panose="02040503050406030204" pitchFamily="18" charset="0"/>
                  </a:rPr>
                  <a:t>(заменяя </a:t>
                </a:r>
                <a:r>
                  <a:rPr lang="en-US" dirty="0">
                    <a:ea typeface="Cambria Math" panose="02040503050406030204" pitchFamily="18" charset="0"/>
                  </a:rPr>
                  <a:t>PRF </a:t>
                </a:r>
                <a:r>
                  <a:rPr lang="ru-RU" dirty="0">
                    <a:ea typeface="Cambria Math" panose="02040503050406030204" pitchFamily="18" charset="0"/>
                  </a:rPr>
                  <a:t>на </a:t>
                </a:r>
                <a:r>
                  <a:rPr lang="en-US" dirty="0">
                    <a:ea typeface="Cambria Math" panose="02040503050406030204" pitchFamily="18" charset="0"/>
                  </a:rPr>
                  <a:t>PRP)</a:t>
                </a:r>
                <a:r>
                  <a:rPr lang="ru-RU" b="1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имеем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𝑃𝑅𝐹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, отсюда</a:t>
                </a:r>
                <a:r>
                  <a:rPr lang="en-US" dirty="0"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⊲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3486"/>
                <a:ext cx="10515600" cy="4958860"/>
              </a:xfrm>
              <a:blipFill>
                <a:blip r:embed="rId2"/>
                <a:stretch>
                  <a:fillRect l="-928" t="-28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40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Дополнение блока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 режиме </a:t>
                </a:r>
                <a:r>
                  <a:rPr lang="en-US" dirty="0"/>
                  <a:t>CBC </a:t>
                </a:r>
                <a:r>
                  <a:rPr lang="ru-RU" dirty="0"/>
                  <a:t>сообщения должны быть кратны длине блока блочного шифра.</a:t>
                </a:r>
              </a:p>
              <a:p>
                <a:pPr marL="0" indent="0">
                  <a:buNone/>
                </a:pPr>
                <a:r>
                  <a:rPr lang="ru-RU" dirty="0"/>
                  <a:t>Если сообщения не кратны длине блока – используется дополнение (</a:t>
                </a:r>
                <a:r>
                  <a:rPr lang="en-US" dirty="0"/>
                  <a:t>padding)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Наиболее распространённый способ  </a:t>
                </a:r>
                <a:r>
                  <a:rPr lang="en-US" dirty="0"/>
                  <a:t>TLS (PKCS</a:t>
                </a:r>
                <a:r>
                  <a:rPr lang="ru-RU" dirty="0"/>
                  <a:t>7</a:t>
                </a:r>
                <a:r>
                  <a:rPr lang="en-US" dirty="0"/>
                  <a:t>)</a:t>
                </a:r>
                <a:r>
                  <a:rPr lang="ru-RU" dirty="0"/>
                  <a:t> </a:t>
                </a:r>
                <a:r>
                  <a:rPr lang="en-US" dirty="0"/>
                  <a:t>padding:</a:t>
                </a:r>
              </a:p>
              <a:p>
                <a:r>
                  <a:rPr lang="ru-RU" dirty="0"/>
                  <a:t>Если сообщение имеет длину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 байт, а блок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байт, то дополнение TLS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0,..,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−1,….,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PKCS)</a:t>
                </a:r>
                <a:endParaRPr lang="en-US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ru-RU" dirty="0"/>
                  <a:t>. (15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ru-RU" dirty="0"/>
                  <a:t>PKCS)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928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616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8"/>
            <a:ext cx="6149454" cy="1653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CBC vs 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𝑐𝑡𝑟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𝑐𝑏𝑐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CTR </a:t>
                </a:r>
                <a:r>
                  <a:rPr lang="ru-RU" dirty="0"/>
                  <a:t>режим имеет большую стойкость для фиксированных параметров и блочного шифра</a:t>
                </a:r>
              </a:p>
              <a:p>
                <a:r>
                  <a:rPr lang="en-US" dirty="0"/>
                  <a:t>CTR </a:t>
                </a:r>
                <a:r>
                  <a:rPr lang="ru-RU" dirty="0"/>
                  <a:t>может использоваться в параллельном режиме, так как </a:t>
                </a:r>
                <a:r>
                  <a:rPr lang="ru-RU" dirty="0" err="1"/>
                  <a:t>зашифрование</a:t>
                </a:r>
                <a:r>
                  <a:rPr lang="ru-RU" dirty="0"/>
                  <a:t> блоков производит независимо</a:t>
                </a:r>
              </a:p>
              <a:p>
                <a:r>
                  <a:rPr lang="ru-RU" dirty="0"/>
                  <a:t>Для коротких сообщений </a:t>
                </a:r>
                <a:r>
                  <a:rPr lang="en-US" dirty="0"/>
                  <a:t>CTR </a:t>
                </a:r>
                <a:r>
                  <a:rPr lang="ru-RU" dirty="0"/>
                  <a:t>может иметь длины </a:t>
                </a:r>
                <a:r>
                  <a:rPr lang="ru-RU" dirty="0" err="1"/>
                  <a:t>шифртекстов</a:t>
                </a:r>
                <a:r>
                  <a:rPr lang="ru-RU" dirty="0"/>
                  <a:t> значительно короче, чем </a:t>
                </a:r>
                <a:r>
                  <a:rPr lang="en-US" dirty="0"/>
                  <a:t>CBC</a:t>
                </a:r>
                <a:r>
                  <a:rPr lang="ru-RU" dirty="0"/>
                  <a:t>, так как нет необходимости в дополнении до длины блока.</a:t>
                </a:r>
              </a:p>
              <a:p>
                <a:r>
                  <a:rPr lang="en-US" dirty="0"/>
                  <a:t>CTR </a:t>
                </a:r>
                <a:r>
                  <a:rPr lang="ru-RU" dirty="0"/>
                  <a:t>использует только функцию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 блочного шифра.</a:t>
                </a:r>
              </a:p>
              <a:p>
                <a:r>
                  <a:rPr lang="en-US" b="1" dirty="0"/>
                  <a:t>IV </a:t>
                </a:r>
                <a:r>
                  <a:rPr lang="ru-RU" b="1" dirty="0"/>
                  <a:t>должны быть случайными!</a:t>
                </a:r>
                <a:endParaRPr lang="en-US" b="1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 rotWithShape="0">
                <a:blip r:embed="rId2"/>
                <a:stretch>
                  <a:fillRect l="-812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565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904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7164" y="1448831"/>
                <a:ext cx="972452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/>
                  <a:t>1 – Различия игр на </a:t>
                </a:r>
                <a:r>
                  <a:rPr lang="ru-RU" sz="2400" b="1" dirty="0"/>
                  <a:t>семантическую стойкость</a:t>
                </a:r>
                <a:r>
                  <a:rPr lang="ru-RU" sz="2400" dirty="0"/>
                  <a:t> и на </a:t>
                </a:r>
                <a:r>
                  <a:rPr lang="en-US" sz="2400" b="1" dirty="0"/>
                  <a:t>CPA </a:t>
                </a:r>
                <a:r>
                  <a:rPr lang="ru-RU" sz="2400" b="1" dirty="0"/>
                  <a:t>стойкость</a:t>
                </a:r>
                <a:endParaRPr lang="ru-RU" sz="2400" dirty="0"/>
              </a:p>
              <a:p>
                <a:r>
                  <a:rPr lang="ru-RU" sz="2400" dirty="0"/>
                  <a:t>2</a:t>
                </a:r>
                <a:r>
                  <a:rPr lang="en-US" sz="2400" dirty="0"/>
                  <a:t> – </a:t>
                </a:r>
                <a:r>
                  <a:rPr lang="ru-RU" sz="2400" dirty="0"/>
                  <a:t>является 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b="1" dirty="0"/>
                  <a:t>CPA </a:t>
                </a:r>
                <a:r>
                  <a:rPr lang="ru-RU" sz="2400" b="1" dirty="0"/>
                  <a:t>стойкий </a:t>
                </a:r>
                <a:r>
                  <a:rPr lang="ru-RU" sz="2400" dirty="0"/>
                  <a:t>шифр </a:t>
                </a:r>
                <a:r>
                  <a:rPr lang="ru-RU" sz="2400" b="1" dirty="0"/>
                  <a:t>Семантически стойким</a:t>
                </a:r>
                <a:r>
                  <a:rPr lang="ru-RU" sz="2400" dirty="0"/>
                  <a:t>? Если нет – </a:t>
                </a:r>
              </a:p>
              <a:p>
                <a:r>
                  <a:rPr lang="ru-RU" sz="2400" dirty="0"/>
                  <a:t>пример шифра, стойкого в одной модели, и не стойкого в другой.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64" y="1448831"/>
                <a:ext cx="9724522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1003" t="-4061" b="-10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45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3841</TotalTime>
  <Words>3766</Words>
  <Application>Microsoft Office PowerPoint</Application>
  <PresentationFormat>Широкоэкранный</PresentationFormat>
  <Paragraphs>403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Consolas</vt:lpstr>
      <vt:lpstr>Symbol</vt:lpstr>
      <vt:lpstr>Тема Office</vt:lpstr>
      <vt:lpstr>Прикладная Криптография: Симметричные криптосистемы CPA</vt:lpstr>
      <vt:lpstr>Тест.</vt:lpstr>
      <vt:lpstr>Тест.</vt:lpstr>
      <vt:lpstr>TIME </vt:lpstr>
      <vt:lpstr>CPA</vt:lpstr>
      <vt:lpstr>Использование множества ключей</vt:lpstr>
      <vt:lpstr>Построение CPA шифров из семантически стойких шифров</vt:lpstr>
      <vt:lpstr>Построение CPA шифров из семантически стойких шифров</vt:lpstr>
      <vt:lpstr>Построение CPA шифров из семантически стойких шифров</vt:lpstr>
      <vt:lpstr>Игра 0</vt:lpstr>
      <vt:lpstr>Игра 1</vt:lpstr>
      <vt:lpstr>Структура противника B_F</vt:lpstr>
      <vt:lpstr>Игра 2</vt:lpstr>
      <vt:lpstr>Игра 3</vt:lpstr>
      <vt:lpstr>Игра 3</vt:lpstr>
      <vt:lpstr>Структра противника B^∗</vt:lpstr>
      <vt:lpstr>Построение CPA шифров из семантически стойких шифров</vt:lpstr>
      <vt:lpstr>Рандомизированный CTR режим</vt:lpstr>
      <vt:lpstr>Рандомизированный CTR режим</vt:lpstr>
      <vt:lpstr>Рандомизированный CTR режим</vt:lpstr>
      <vt:lpstr>Рандомизированный CTR режим</vt:lpstr>
      <vt:lpstr>Игра 0</vt:lpstr>
      <vt:lpstr>Игра 1</vt:lpstr>
      <vt:lpstr>Игра 2</vt:lpstr>
      <vt:lpstr>Игра 3</vt:lpstr>
      <vt:lpstr>Лемма</vt:lpstr>
      <vt:lpstr>Рандомизированный CTR режим</vt:lpstr>
      <vt:lpstr>Практическое использование AES в режиме CTR</vt:lpstr>
      <vt:lpstr>CBC</vt:lpstr>
      <vt:lpstr>CBC</vt:lpstr>
      <vt:lpstr>CBC</vt:lpstr>
      <vt:lpstr>CBC режим</vt:lpstr>
      <vt:lpstr>Игра 0</vt:lpstr>
      <vt:lpstr>Игра 1</vt:lpstr>
      <vt:lpstr>Игра 2</vt:lpstr>
      <vt:lpstr>Игра 3</vt:lpstr>
      <vt:lpstr>CBC</vt:lpstr>
      <vt:lpstr>Дополнение блока</vt:lpstr>
      <vt:lpstr>CBC vs CTR</vt:lpstr>
      <vt:lpstr>Презентация PowerPoint</vt:lpstr>
      <vt:lpstr>Тест.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1019</cp:revision>
  <dcterms:created xsi:type="dcterms:W3CDTF">2018-08-24T12:25:18Z</dcterms:created>
  <dcterms:modified xsi:type="dcterms:W3CDTF">2026-10-14T10:22:55Z</dcterms:modified>
</cp:coreProperties>
</file>