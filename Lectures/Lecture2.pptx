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96" r:id="rId2"/>
    <p:sldId id="299" r:id="rId3"/>
    <p:sldId id="306" r:id="rId4"/>
    <p:sldId id="301" r:id="rId5"/>
    <p:sldId id="304" r:id="rId6"/>
    <p:sldId id="257" r:id="rId7"/>
    <p:sldId id="258" r:id="rId8"/>
    <p:sldId id="259" r:id="rId9"/>
    <p:sldId id="260" r:id="rId10"/>
    <p:sldId id="262" r:id="rId11"/>
    <p:sldId id="261" r:id="rId12"/>
    <p:sldId id="263" r:id="rId13"/>
    <p:sldId id="264" r:id="rId14"/>
    <p:sldId id="265" r:id="rId15"/>
    <p:sldId id="266" r:id="rId16"/>
    <p:sldId id="268" r:id="rId17"/>
    <p:sldId id="269" r:id="rId18"/>
    <p:sldId id="270" r:id="rId19"/>
    <p:sldId id="289" r:id="rId20"/>
    <p:sldId id="276" r:id="rId21"/>
    <p:sldId id="298" r:id="rId22"/>
    <p:sldId id="267" r:id="rId23"/>
    <p:sldId id="271" r:id="rId24"/>
    <p:sldId id="272" r:id="rId25"/>
    <p:sldId id="273" r:id="rId26"/>
    <p:sldId id="274" r:id="rId27"/>
    <p:sldId id="275" r:id="rId28"/>
    <p:sldId id="278" r:id="rId29"/>
    <p:sldId id="277" r:id="rId30"/>
    <p:sldId id="280" r:id="rId31"/>
    <p:sldId id="281" r:id="rId32"/>
    <p:sldId id="282" r:id="rId33"/>
    <p:sldId id="288" r:id="rId34"/>
    <p:sldId id="290" r:id="rId35"/>
    <p:sldId id="291" r:id="rId36"/>
    <p:sldId id="292" r:id="rId37"/>
    <p:sldId id="293" r:id="rId38"/>
    <p:sldId id="295" r:id="rId39"/>
    <p:sldId id="297" r:id="rId40"/>
    <p:sldId id="305" r:id="rId41"/>
    <p:sldId id="303" r:id="rId42"/>
    <p:sldId id="302" r:id="rId43"/>
    <p:sldId id="300" r:id="rId4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9489B66-A166-4A24-B55F-EDCB98E57948}">
          <p14:sldIdLst>
            <p14:sldId id="296"/>
            <p14:sldId id="299"/>
            <p14:sldId id="306"/>
            <p14:sldId id="301"/>
            <p14:sldId id="304"/>
            <p14:sldId id="257"/>
          </p14:sldIdLst>
        </p14:section>
        <p14:section name="Пренебрежимо малые величины" id="{166FB796-C804-494D-81E1-46F5EBC53402}">
          <p14:sldIdLst>
            <p14:sldId id="258"/>
            <p14:sldId id="259"/>
            <p14:sldId id="260"/>
            <p14:sldId id="262"/>
            <p14:sldId id="261"/>
          </p14:sldIdLst>
        </p14:section>
        <p14:section name="Параметры системы" id="{C4CD0A65-B822-46E5-B632-31A9388536BE}">
          <p14:sldIdLst>
            <p14:sldId id="263"/>
            <p14:sldId id="264"/>
            <p14:sldId id="265"/>
            <p14:sldId id="266"/>
            <p14:sldId id="268"/>
            <p14:sldId id="269"/>
            <p14:sldId id="270"/>
            <p14:sldId id="289"/>
            <p14:sldId id="276"/>
            <p14:sldId id="298"/>
          </p14:sldIdLst>
        </p14:section>
        <p14:section name="Поточные шифры" id="{59469AD1-2B57-4335-8612-62B992E44F08}">
          <p14:sldIdLst>
            <p14:sldId id="267"/>
            <p14:sldId id="271"/>
            <p14:sldId id="272"/>
            <p14:sldId id="273"/>
            <p14:sldId id="274"/>
            <p14:sldId id="275"/>
            <p14:sldId id="278"/>
            <p14:sldId id="277"/>
            <p14:sldId id="280"/>
            <p14:sldId id="281"/>
            <p14:sldId id="282"/>
            <p14:sldId id="288"/>
            <p14:sldId id="290"/>
            <p14:sldId id="291"/>
            <p14:sldId id="292"/>
            <p14:sldId id="293"/>
            <p14:sldId id="295"/>
            <p14:sldId id="297"/>
            <p14:sldId id="305"/>
          </p14:sldIdLst>
        </p14:section>
        <p14:section name="Старые тесты" id="{CF07BB18-F8C1-4D34-B5F4-6437445140CC}">
          <p14:sldIdLst>
            <p14:sldId id="303"/>
            <p14:sldId id="302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664" autoAdjust="0"/>
  </p:normalViewPr>
  <p:slideViewPr>
    <p:cSldViewPr snapToGrid="0">
      <p:cViewPr varScale="1">
        <p:scale>
          <a:sx n="120" d="100"/>
          <a:sy n="120" d="100"/>
        </p:scale>
        <p:origin x="42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01.10.2026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01.10.2026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44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10" Type="http://schemas.openxmlformats.org/officeDocument/2006/relationships/image" Target="../media/image6.png"/><Relationship Id="rId4" Type="http://schemas.openxmlformats.org/officeDocument/2006/relationships/image" Target="../media/image310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4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4.png"/><Relationship Id="rId7" Type="http://schemas.openxmlformats.org/officeDocument/2006/relationships/image" Target="../media/image4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10" Type="http://schemas.openxmlformats.org/officeDocument/2006/relationships/image" Target="../media/image27.png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33.png"/><Relationship Id="rId3" Type="http://schemas.openxmlformats.org/officeDocument/2006/relationships/image" Target="../media/image230.png"/><Relationship Id="rId7" Type="http://schemas.openxmlformats.org/officeDocument/2006/relationships/image" Target="../media/image270.png"/><Relationship Id="rId12" Type="http://schemas.openxmlformats.org/officeDocument/2006/relationships/image" Target="../media/image32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31.png"/><Relationship Id="rId5" Type="http://schemas.openxmlformats.org/officeDocument/2006/relationships/image" Target="../media/image250.png"/><Relationship Id="rId10" Type="http://schemas.openxmlformats.org/officeDocument/2006/relationships/image" Target="../media/image30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2.png"/><Relationship Id="rId7" Type="http://schemas.openxmlformats.org/officeDocument/2006/relationships/image" Target="../media/image4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3.png"/><Relationship Id="rId7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Relationship Id="rId9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13.png"/><Relationship Id="rId7" Type="http://schemas.openxmlformats.org/officeDocument/2006/relationships/image" Target="../media/image4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400.png"/><Relationship Id="rId4" Type="http://schemas.openxmlformats.org/officeDocument/2006/relationships/image" Target="../media/image36.png"/><Relationship Id="rId9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5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4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7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1.png"/><Relationship Id="rId5" Type="http://schemas.openxmlformats.org/officeDocument/2006/relationships/image" Target="../media/image630.png"/><Relationship Id="rId4" Type="http://schemas.openxmlformats.org/officeDocument/2006/relationships/image" Target="../media/image6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0560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Прикладная Криптография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Симметричные криптосистемы</a:t>
            </a:r>
            <a:br>
              <a:rPr lang="en-US" dirty="0"/>
            </a:br>
            <a:r>
              <a:rPr lang="ru-RU" dirty="0"/>
              <a:t>Поточные шифры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 dirty="0"/>
              <a:t>МИФИ 20</a:t>
            </a:r>
            <a:r>
              <a:rPr lang="en-US" dirty="0"/>
              <a:t>26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EF2FEB-8DEC-4D1A-8C1C-22573315D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4335274"/>
            <a:ext cx="1524000" cy="1466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CC556-191A-4235-997C-6D17226C0C7D}"/>
              </a:ext>
            </a:extLst>
          </p:cNvPr>
          <p:cNvSpPr txBox="1"/>
          <p:nvPr/>
        </p:nvSpPr>
        <p:spPr>
          <a:xfrm>
            <a:off x="9493896" y="5802124"/>
            <a:ext cx="2348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Плейлист в ожидании</a:t>
            </a:r>
          </a:p>
          <a:p>
            <a:pPr algn="ctr"/>
            <a:r>
              <a:rPr lang="ru-RU" dirty="0"/>
              <a:t>пары</a:t>
            </a:r>
          </a:p>
        </p:txBody>
      </p:sp>
    </p:spTree>
    <p:extLst>
      <p:ext uri="{BB962C8B-B14F-4D97-AF65-F5344CB8AC3E}">
        <p14:creationId xmlns:p14="http://schemas.microsoft.com/office/powerpoint/2010/main" val="56317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28541" y="1408579"/>
            <a:ext cx="6148754" cy="4351338"/>
          </a:xfrm>
        </p:spPr>
        <p:txBody>
          <a:bodyPr/>
          <a:lstStyle/>
          <a:p>
            <a:r>
              <a:rPr lang="ru-RU" dirty="0"/>
              <a:t>Положить телефон экраном вниз справа от себя</a:t>
            </a:r>
          </a:p>
          <a:p>
            <a:r>
              <a:rPr lang="ru-RU" dirty="0"/>
              <a:t>Не разговаривать с соседями</a:t>
            </a:r>
          </a:p>
          <a:p>
            <a:r>
              <a:rPr lang="ru-RU" dirty="0"/>
              <a:t>Не пользоваться конспектами и электронными устройствами</a:t>
            </a:r>
          </a:p>
          <a:p>
            <a:r>
              <a:rPr lang="ru-RU" dirty="0"/>
              <a:t>Написать номер (по таблице) и ФИО на листочке</a:t>
            </a:r>
          </a:p>
          <a:p>
            <a:r>
              <a:rPr lang="ru-RU" dirty="0"/>
              <a:t>Написать краткий ответ на вопрос</a:t>
            </a:r>
            <a:endParaRPr lang="en-US" dirty="0"/>
          </a:p>
          <a:p>
            <a:r>
              <a:rPr lang="ru-RU" dirty="0"/>
              <a:t>Дождаться окончания теста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185371" y="1408578"/>
                <a:ext cx="5318614" cy="3355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600" dirty="0"/>
                  <a:t>Пусть задана игра на семантическую стойкость для алгоритма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sz="2600" b="1" dirty="0"/>
                  <a:t> </a:t>
                </a:r>
                <a:r>
                  <a:rPr lang="ru-RU" sz="2600" dirty="0"/>
                  <a:t>против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60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600" b="1" dirty="0"/>
                  <a:t> </a:t>
                </a:r>
                <a:r>
                  <a:rPr lang="ru-RU" sz="2600" dirty="0"/>
                  <a:t>на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600" b="1" dirty="0"/>
                  <a:t>.</a:t>
                </a:r>
              </a:p>
              <a:p>
                <a:endParaRPr lang="ru-RU" sz="2600" b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600" dirty="0"/>
                  <a:t> - событие того,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в эксперименте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sz="2600" dirty="0"/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ru-RU" sz="2600" dirty="0"/>
                  <a:t> - событие, при котором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sz="2600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71" y="1408578"/>
                <a:ext cx="5318614" cy="3355662"/>
              </a:xfrm>
              <a:prstGeom prst="rect">
                <a:avLst/>
              </a:prstGeom>
              <a:blipFill>
                <a:blip r:embed="rId2"/>
                <a:stretch>
                  <a:fillRect l="-2062" t="-1452" b="-38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8352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45724" y="1408579"/>
                <a:ext cx="600807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ru-RU" sz="2800" b="1" dirty="0"/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SSadv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2800" b="1" dirty="0"/>
                  <a:t> ??? </a:t>
                </a:r>
                <a:r>
                  <a:rPr lang="en-US" sz="2800" dirty="0"/>
                  <a:t>(</a:t>
                </a:r>
                <a:r>
                  <a:rPr lang="ru-RU" sz="2800" dirty="0"/>
                  <a:t>функция от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sz="2800" dirty="0"/>
                  <a:t>)</a:t>
                </a:r>
                <a:endParaRPr lang="ru-RU" sz="2800" dirty="0"/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SSadv</m:t>
                        </m:r>
                      </m:e>
                      <m:sup>
                        <m:r>
                          <a:rPr lang="en-US" sz="28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2800" b="1" dirty="0"/>
                  <a:t> ???</a:t>
                </a:r>
                <a:r>
                  <a:rPr lang="en-US" sz="2800" b="1" dirty="0"/>
                  <a:t> </a:t>
                </a:r>
                <a:r>
                  <a:rPr lang="en-US" sz="2800" dirty="0"/>
                  <a:t>(</a:t>
                </a:r>
                <a:r>
                  <a:rPr lang="ru-RU" sz="2800" dirty="0"/>
                  <a:t>функция от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 dirty="0"/>
                  <a:t>)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ru-RU" sz="2800" dirty="0"/>
                  <a:t>Связь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SSadv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</m:oMath>
                </a14:m>
                <a:r>
                  <a:rPr lang="ru-RU" sz="2800" dirty="0"/>
                  <a:t>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SSadv</m:t>
                        </m:r>
                      </m:e>
                      <m:sup>
                        <m:r>
                          <a:rPr lang="en-US" sz="28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</m:oMath>
                </a14:m>
                <a:endParaRPr lang="ru-RU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724" y="1408579"/>
                <a:ext cx="6008076" cy="2246769"/>
              </a:xfrm>
              <a:prstGeom prst="rect">
                <a:avLst/>
              </a:prstGeom>
              <a:blipFill>
                <a:blip r:embed="rId2"/>
                <a:stretch>
                  <a:fillRect l="-1826" b="-67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185371" y="1408578"/>
                <a:ext cx="5318614" cy="3355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600" dirty="0"/>
                  <a:t>Пусть задана игра на семантическую стойкость для алгоритма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sz="2600" b="1" dirty="0"/>
                  <a:t> </a:t>
                </a:r>
                <a:r>
                  <a:rPr lang="ru-RU" sz="2600" dirty="0"/>
                  <a:t>против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60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600" b="1" dirty="0"/>
                  <a:t> </a:t>
                </a:r>
                <a:r>
                  <a:rPr lang="ru-RU" sz="2600" dirty="0"/>
                  <a:t>на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600" b="1" dirty="0"/>
                  <a:t>.</a:t>
                </a:r>
              </a:p>
              <a:p>
                <a:endParaRPr lang="ru-RU" sz="2600" b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600" dirty="0"/>
                  <a:t> - событие того,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в эксперименте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sz="2600" dirty="0"/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ru-RU" sz="2600" dirty="0"/>
                  <a:t> - событие, при котором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sz="26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71" y="1408578"/>
                <a:ext cx="5318614" cy="3355662"/>
              </a:xfrm>
              <a:prstGeom prst="rect">
                <a:avLst/>
              </a:prstGeom>
              <a:blipFill>
                <a:blip r:embed="rId3"/>
                <a:stretch>
                  <a:fillRect l="-2062" t="-1452" b="-38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74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9633" y="375503"/>
            <a:ext cx="5811715" cy="2847914"/>
          </a:xfrm>
        </p:spPr>
        <p:txBody>
          <a:bodyPr>
            <a:noAutofit/>
          </a:bodyPr>
          <a:lstStyle/>
          <a:p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  <a:r>
              <a:rPr lang="en-US" sz="15000" dirty="0">
                <a:solidFill>
                  <a:schemeClr val="bg1"/>
                </a:solidFill>
              </a:rPr>
              <a:t> </a:t>
            </a:r>
            <a:endParaRPr lang="ru-RU" sz="15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17512" y="3223417"/>
            <a:ext cx="3145924" cy="27043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UP</a:t>
            </a:r>
            <a:endParaRPr lang="ru-RU" sz="20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8005482" y="1189831"/>
            <a:ext cx="30748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0" dirty="0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en-US" sz="20000" dirty="0">
                <a:solidFill>
                  <a:schemeClr val="bg1"/>
                </a:solidFill>
              </a:rPr>
              <a:t> </a:t>
            </a:r>
            <a:endParaRPr lang="ru-RU" sz="20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27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EC870-C67F-40AE-8B31-021443271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прошлой лекции…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E226A0-011B-42C2-9FF9-B8403F0FC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C963D4-E01D-4BF5-A0F2-CE5B8920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056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Семантическая стойкость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09649"/>
                <a:ext cx="10515600" cy="20673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</a:t>
                </a:r>
                <a:r>
                  <a:rPr lang="ru-RU" b="1" dirty="0"/>
                  <a:t>пренебрежимо малая величина</a:t>
                </a:r>
                <a:r>
                  <a:rPr lang="ru-RU" dirty="0"/>
                  <a:t>.</a:t>
                </a:r>
              </a:p>
              <a:p>
                <a:r>
                  <a:rPr lang="ru-RU" dirty="0"/>
                  <a:t>Претендент и Противник – </a:t>
                </a:r>
                <a:r>
                  <a:rPr lang="ru-RU" b="1" dirty="0"/>
                  <a:t>эффективные алгоритмы</a:t>
                </a:r>
                <a:r>
                  <a:rPr lang="ru-RU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09649"/>
                <a:ext cx="10515600" cy="2067314"/>
              </a:xfrm>
              <a:blipFill rotWithShape="0">
                <a:blip r:embed="rId2"/>
                <a:stretch>
                  <a:fillRect l="-928" t="-44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2031952" y="3397932"/>
                <a:ext cx="5504199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600" b="0" i="0" smtClean="0">
                          <a:latin typeface="Cambria Math" panose="02040503050406030204" pitchFamily="18" charset="0"/>
                        </a:rPr>
                        <m:t>S</m:t>
                      </m:r>
                      <m:sSub>
                        <m:sSubPr>
                          <m:ctrlPr>
                            <a:rPr lang="ru-RU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6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]|</m:t>
                      </m:r>
                      <m:r>
                        <a:rPr lang="ru-RU" sz="2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ru-RU" sz="26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52" y="3397932"/>
                <a:ext cx="550419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13927" y="1874839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3423527" y="1360488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7995527" y="1874839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95527" y="1874839"/>
                <a:ext cx="1295400" cy="1188244"/>
              </a:xfrm>
              <a:prstGeom prst="rect">
                <a:avLst/>
              </a:prstGeom>
              <a:blipFill>
                <a:blip r:embed="rId4"/>
                <a:stretch>
                  <a:fillRect t="-2551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4185527" y="1958182"/>
            <a:ext cx="3810000" cy="403622"/>
            <a:chOff x="1776" y="1783"/>
            <a:chExt cx="2400" cy="339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4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blipFill>
                  <a:blip r:embed="rId6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22"/>
          <p:cNvGrpSpPr>
            <a:grpSpLocks/>
          </p:cNvGrpSpPr>
          <p:nvPr/>
        </p:nvGrpSpPr>
        <p:grpSpPr bwMode="auto">
          <a:xfrm>
            <a:off x="8605129" y="3063081"/>
            <a:ext cx="1570038" cy="678656"/>
            <a:chOff x="4560" y="2842"/>
            <a:chExt cx="989" cy="570"/>
          </a:xfrm>
        </p:grpSpPr>
        <p:sp>
          <p:nvSpPr>
            <p:cNvPr id="13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18"/>
          <p:cNvSpPr>
            <a:spLocks noChangeArrowheads="1"/>
          </p:cNvSpPr>
          <p:nvPr/>
        </p:nvSpPr>
        <p:spPr bwMode="auto">
          <a:xfrm>
            <a:off x="2174167" y="1646238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3"/>
              <p:cNvSpPr txBox="1">
                <a:spLocks noChangeArrowheads="1"/>
              </p:cNvSpPr>
              <p:nvPr/>
            </p:nvSpPr>
            <p:spPr bwMode="auto">
              <a:xfrm>
                <a:off x="3145322" y="2228821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6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5322" y="2228821"/>
                <a:ext cx="632609" cy="423129"/>
              </a:xfrm>
              <a:prstGeom prst="rect">
                <a:avLst/>
              </a:prstGeom>
              <a:blipFill>
                <a:blip r:embed="rId8"/>
                <a:stretch>
                  <a:fillRect l="-5769" r="-26923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20"/>
          <p:cNvGrpSpPr>
            <a:grpSpLocks/>
          </p:cNvGrpSpPr>
          <p:nvPr/>
        </p:nvGrpSpPr>
        <p:grpSpPr bwMode="auto">
          <a:xfrm>
            <a:off x="4185527" y="2372526"/>
            <a:ext cx="3733800" cy="506017"/>
            <a:chOff x="1776" y="2015"/>
            <a:chExt cx="2352" cy="425"/>
          </a:xfrm>
        </p:grpSpPr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61" y="2015"/>
                  <a:ext cx="981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1" y="2015"/>
                  <a:ext cx="981" cy="425"/>
                </a:xfrm>
                <a:prstGeom prst="rect">
                  <a:avLst/>
                </a:prstGeom>
                <a:blipFill>
                  <a:blip r:embed="rId9"/>
                  <a:stretch>
                    <a:fillRect r="-3922" b="-2048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7"/>
              <p:cNvSpPr txBox="1">
                <a:spLocks noChangeArrowheads="1"/>
              </p:cNvSpPr>
              <p:nvPr/>
            </p:nvSpPr>
            <p:spPr bwMode="auto">
              <a:xfrm>
                <a:off x="3330658" y="1209616"/>
                <a:ext cx="1497269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∈ {0,1}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0658" y="1209616"/>
                <a:ext cx="1497269" cy="461665"/>
              </a:xfrm>
              <a:prstGeom prst="rect">
                <a:avLst/>
              </a:prstGeom>
              <a:blipFill>
                <a:blip r:embed="rId10"/>
                <a:stretch>
                  <a:fillRect r="-813" b="-1710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381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669956" y="3684759"/>
            <a:ext cx="10791732" cy="172921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Пренебрежимо малые величины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2976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b="1" dirty="0"/>
                  <a:t> </a:t>
                </a:r>
                <a:r>
                  <a:rPr lang="ru-RU" b="1" dirty="0"/>
                  <a:t>называется пренебрежимо малой</a:t>
                </a:r>
                <a:r>
                  <a:rPr lang="en-US" b="1" dirty="0"/>
                  <a:t> (negligible)</a:t>
                </a:r>
                <a:r>
                  <a:rPr lang="ru-RU" dirty="0"/>
                  <a:t>, если для всех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c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/>
                  <a:t> справедливо неравенство</a:t>
                </a:r>
                <a:r>
                  <a:rPr lang="en-US" dirty="0"/>
                  <a:t>:</a:t>
                </a:r>
                <a:r>
                  <a:rPr lang="ru-RU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с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b="1" dirty="0"/>
                  <a:t>Теорема 2.1.</a:t>
                </a:r>
                <a:r>
                  <a:rPr lang="ru-RU" dirty="0"/>
                  <a:t> Функция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ru-RU" dirty="0"/>
                  <a:t> пренебрежимо малая, тогда и только тогда когда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ru-RU" dirty="0"/>
                  <a:t> справедливо равенство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=0.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ru-RU" dirty="0"/>
                  <a:t>Т.е.  на бесконечности функция от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убывает быстрее любой функции вида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u-RU" dirty="0"/>
                  <a:t> – полином от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29767"/>
              </a:xfrm>
              <a:blipFill>
                <a:blip r:embed="rId2"/>
                <a:stretch>
                  <a:fillRect l="-1043" t="-2632" r="-1159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469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b="1" dirty="0"/>
                  <a:t>Пренебрежимо малые функции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ru-RU" dirty="0"/>
                  <a:t>Убывают быстрее любых полиномов</a:t>
                </a:r>
                <a:endParaRPr lang="en-US" b="0" dirty="0"/>
              </a:p>
              <a:p>
                <a:endParaRPr lang="en-US" b="0" dirty="0"/>
              </a:p>
              <a:p>
                <a:r>
                  <a:rPr lang="ru-RU" b="1" dirty="0"/>
                  <a:t>Не пренебрежимо малые</a:t>
                </a:r>
                <a:r>
                  <a:rPr lang="ru-RU" dirty="0"/>
                  <a:t> функции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−10000000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&gt;0: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∗1≠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0.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:∃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=3,∀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&gt;0: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limLow>
                              <m:limLow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≠0.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10000000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:∃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=10000001,∀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&gt;0: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≠0.</m:t>
                        </m:r>
                      </m:e>
                    </m:func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9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19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Сверх-полиномиальные</a:t>
            </a:r>
            <a:r>
              <a:rPr lang="ru-RU" dirty="0"/>
              <a:t> и </a:t>
            </a:r>
            <a:r>
              <a:rPr lang="ru-RU" dirty="0" err="1"/>
              <a:t>полиномиально</a:t>
            </a:r>
            <a:r>
              <a:rPr lang="ru-RU" dirty="0"/>
              <a:t> ограниченные функции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ru-RU" dirty="0"/>
                  <a:t> называется </a:t>
                </a:r>
                <a:r>
                  <a:rPr lang="en-US" b="1" dirty="0"/>
                  <a:t>c</a:t>
                </a:r>
                <a:r>
                  <a:rPr lang="ru-RU" b="1" dirty="0"/>
                  <a:t>верх-полиномиальной</a:t>
                </a:r>
                <a:r>
                  <a:rPr lang="en-US" b="1" dirty="0"/>
                  <a:t> (super-poly)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dirty="0"/>
                  <a:t> – пренебрежимо малая.</a:t>
                </a:r>
                <a:endParaRPr lang="en-US" dirty="0"/>
              </a:p>
              <a:p>
                <a:pPr lvl="1"/>
                <a:r>
                  <a:rPr lang="ru-RU" dirty="0"/>
                  <a:t>Растёт быстрее любого полинома на бесконечности.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Функция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 </a:t>
                </a:r>
                <a:r>
                  <a:rPr lang="ru-RU" b="1" dirty="0" err="1"/>
                  <a:t>полиномиально</a:t>
                </a:r>
                <a:r>
                  <a:rPr lang="ru-RU" b="1" dirty="0"/>
                  <a:t>-ограниченной</a:t>
                </a:r>
                <a:r>
                  <a:rPr lang="en-US" b="1" dirty="0"/>
                  <a:t> (poly bounded)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 </m:t>
                    </m:r>
                  </m:oMath>
                </a14:m>
                <a:r>
                  <a:rPr lang="ru-RU" dirty="0"/>
                  <a:t> имеет место неравенство</a:t>
                </a:r>
                <a:r>
                  <a:rPr lang="en-US" dirty="0"/>
                  <a:t>:</a:t>
                </a:r>
                <a:endParaRPr lang="ru-RU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ru-RU" b="0" dirty="0"/>
              </a:p>
              <a:p>
                <a:pPr lvl="1"/>
                <a:r>
                  <a:rPr lang="ru-RU" dirty="0"/>
                  <a:t>Может быть ограничена на бесконечности сверху полиномом степени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dirty="0"/>
                  <a:t>.</a:t>
                </a:r>
              </a:p>
              <a:p>
                <a:pPr lvl="1"/>
                <a:endParaRPr lang="ru-RU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8606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Пренебрежимо малые величина на практике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На практике величина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скаляр (формально – функция от некоторых фиксированных ранее параметров системы). Её «малость» оценивают исходя из необходимой для системы стойкости.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Пример</a:t>
                </a:r>
                <a:r>
                  <a:rPr lang="en-US" dirty="0"/>
                  <a:t>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не пренебрежимо малая, если событие вероятно произойдёт при обработки данных порядка гигабайта,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пренебрежимо малая, если событие вряд ли произойдёт при «жизни» ключа длины 160 бит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630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Пренебрежимо малые величина на практике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При доказательстве стойкости часто получается формула преимущества, ограниченная сверху функцией от некоторых параметров. Пример</a:t>
                </a:r>
                <a:r>
                  <a:rPr lang="en-US" dirty="0"/>
                  <a:t>:</a:t>
                </a: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dirty="0"/>
                  <a:t> – максимально число </a:t>
                </a:r>
                <a:r>
                  <a:rPr lang="ru-RU" dirty="0" err="1"/>
                  <a:t>зашифрований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 </a:t>
                </a:r>
                <a:r>
                  <a:rPr lang="ru-RU" dirty="0"/>
                  <a:t>длина ключа.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Для использования конкретной реализации нужно выбрать параметры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при заданном уровне стойкости. 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Пусть хотим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</m:oMath>
                </a14:m>
                <a:r>
                  <a:rPr lang="ru-RU" dirty="0"/>
                  <a:t>, тогда для </a:t>
                </a:r>
                <a:r>
                  <a:rPr lang="ru-RU" dirty="0" err="1"/>
                  <a:t>зашифрования</a:t>
                </a:r>
                <a:r>
                  <a:rPr lang="ru-RU" dirty="0"/>
                  <a:t>, при использовании ключа с длиной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=128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бит мы можем зашифровать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80−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сообщений, при параметре стойкости 80 бит.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r="-754" b="-25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527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Ранее, при введении понятия </a:t>
            </a:r>
            <a:r>
              <a:rPr lang="ru-RU" b="1" dirty="0"/>
              <a:t>вычислимого шифра</a:t>
            </a:r>
            <a:r>
              <a:rPr lang="ru-RU" dirty="0"/>
              <a:t>, мы описывали его без явного описания </a:t>
            </a:r>
            <a:r>
              <a:rPr lang="ru-RU" b="1" dirty="0"/>
              <a:t>параметров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На практике многие шифры и другие примитивы имеют так называемые </a:t>
            </a:r>
            <a:r>
              <a:rPr lang="ru-RU" b="1" dirty="0"/>
              <a:t>параметры системы</a:t>
            </a:r>
            <a:r>
              <a:rPr lang="ru-RU" dirty="0"/>
              <a:t>, влияющие на производительность и стойкость системы.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Пример</a:t>
            </a:r>
            <a:r>
              <a:rPr lang="en-US" dirty="0"/>
              <a:t>:</a:t>
            </a:r>
            <a:r>
              <a:rPr lang="ru-RU" dirty="0"/>
              <a:t> длина ключа (и максимального сообщения) в одноразовом блокноте, модуль и длина ключа в аддитивном одноразовом блокноте.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950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Эффективный алгоритм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некоторый параметр.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ru-RU" dirty="0"/>
                  <a:t> - полином над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</m:oMath>
                </a14:m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b="0" dirty="0"/>
                  <a:t> (</a:t>
                </a:r>
                <a:r>
                  <a:rPr lang="ru-RU" b="0" dirty="0"/>
                  <a:t>т.е. длина вектора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полиномиальной ограничена на основе параметра).</a:t>
                </a:r>
                <a:r>
                  <a:rPr lang="en-US" b="0" dirty="0"/>
                  <a:t> </a:t>
                </a:r>
              </a:p>
              <a:p>
                <a:pPr marL="0" indent="0">
                  <a:buNone/>
                </a:pPr>
                <a:r>
                  <a:rPr lang="ru-RU" dirty="0"/>
                  <a:t>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называется </a:t>
                </a:r>
                <a:r>
                  <a:rPr lang="ru-RU" b="1" dirty="0"/>
                  <a:t>эффективным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b="0" i="0" dirty="0"/>
                  <a:t> </a:t>
                </a:r>
                <a:r>
                  <a:rPr lang="ru-RU" dirty="0"/>
                  <a:t>–</a:t>
                </a:r>
                <a:r>
                  <a:rPr lang="en-US" b="0" i="0" dirty="0"/>
                  <a:t> </a:t>
                </a:r>
                <a:r>
                  <a:rPr lang="en-US" b="0" i="0" dirty="0" err="1"/>
                  <a:t>полиномиально</a:t>
                </a:r>
                <a:r>
                  <a:rPr lang="en-US" dirty="0" err="1"/>
                  <a:t>-</a:t>
                </a:r>
                <a:r>
                  <a:rPr lang="en-US" b="0" i="0" dirty="0" err="1"/>
                  <a:t>ограниченная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i="0" dirty="0"/>
                  <a:t> </a:t>
                </a:r>
                <a:r>
                  <a:rPr lang="ru-RU" dirty="0"/>
                  <a:t>–</a:t>
                </a:r>
                <a:r>
                  <a:rPr lang="en-US" i="0" dirty="0"/>
                  <a:t> </a:t>
                </a:r>
                <a:r>
                  <a:rPr lang="en-US" i="0" dirty="0" err="1"/>
                  <a:t>перенебрежимо</a:t>
                </a:r>
                <a:r>
                  <a:rPr lang="en-US" i="0" dirty="0"/>
                  <a:t> </a:t>
                </a:r>
                <a:r>
                  <a:rPr lang="en-US" i="0" dirty="0" err="1"/>
                  <a:t>малая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вероятность того, что время исполнения алгоритма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на входе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превысит</a:t>
                </a:r>
                <a:r>
                  <a:rPr lang="ru-RU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не превосходит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Иными словами,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– </a:t>
                </a:r>
                <a:r>
                  <a:rPr lang="ru-RU" b="1" dirty="0"/>
                  <a:t>эффективный</a:t>
                </a:r>
                <a:r>
                  <a:rPr lang="ru-RU" dirty="0"/>
                  <a:t>, если</a:t>
                </a:r>
                <a:r>
                  <a:rPr lang="en-US" dirty="0"/>
                  <a:t> </a:t>
                </a:r>
                <a:r>
                  <a:rPr lang="ru-RU" dirty="0"/>
                  <a:t>при заданном </a:t>
                </a:r>
                <a:r>
                  <a:rPr lang="ru-RU" b="1" dirty="0"/>
                  <a:t>параметре на </a:t>
                </a:r>
                <a:r>
                  <a:rPr lang="ru-RU" b="1" dirty="0" err="1"/>
                  <a:t>полиномиально</a:t>
                </a:r>
                <a:r>
                  <a:rPr lang="ru-RU" b="1" dirty="0"/>
                  <a:t>-ограниченном входе он почти всегда (т.е. за исключением малого числа точек) выполняется за полиномиальное время</a:t>
                </a:r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b="-32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002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эффективного алгоритма с параметром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Одноразовый блокнот переменной длины.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:r>
                  <a:rPr lang="ru-RU" dirty="0"/>
                  <a:t> где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фиксированный </a:t>
                </a:r>
                <a:r>
                  <a:rPr lang="ru-RU" b="1" dirty="0"/>
                  <a:t>параметр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[0..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−1]⊕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[0..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−1]⊕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Длина входов алгоритма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</a:t>
                </a:r>
                <a:r>
                  <a:rPr lang="ru-RU" b="1" dirty="0"/>
                  <a:t>полиномиально-ограниченна</a:t>
                </a:r>
                <a:r>
                  <a:rPr lang="ru-RU" dirty="0"/>
                  <a:t> сверху полиномом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dirty="0"/>
                  <a:t>Время выполнения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</a:t>
                </a:r>
                <a:r>
                  <a:rPr lang="ru-RU" b="1" dirty="0"/>
                  <a:t>полиномиально-ограниченно </a:t>
                </a:r>
                <a:r>
                  <a:rPr lang="ru-RU" dirty="0"/>
                  <a:t>сверху полиномом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Эффективность в игре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Ранее мы указывали, что </a:t>
            </a:r>
            <a:r>
              <a:rPr lang="ru-RU" b="1" dirty="0"/>
              <a:t>в играх </a:t>
            </a:r>
            <a:r>
              <a:rPr lang="ru-RU" dirty="0"/>
              <a:t>будем рассматривать </a:t>
            </a:r>
            <a:r>
              <a:rPr lang="ru-RU" b="1" dirty="0"/>
              <a:t>только эффективные (вычислимые) алгоритмы</a:t>
            </a:r>
            <a:r>
              <a:rPr lang="ru-RU" dirty="0"/>
              <a:t>, как для </a:t>
            </a:r>
            <a:r>
              <a:rPr lang="ru-RU" b="1" dirty="0"/>
              <a:t>Претендента</a:t>
            </a:r>
            <a:r>
              <a:rPr lang="ru-RU" dirty="0"/>
              <a:t>, так и для </a:t>
            </a:r>
            <a:r>
              <a:rPr lang="ru-RU" b="1" dirty="0"/>
              <a:t>Противника</a:t>
            </a:r>
            <a:r>
              <a:rPr lang="ru-RU" dirty="0"/>
              <a:t>. Иными словами, в игре должно быть </a:t>
            </a:r>
            <a:r>
              <a:rPr lang="ru-RU" dirty="0" err="1"/>
              <a:t>полиномиально</a:t>
            </a:r>
            <a:r>
              <a:rPr lang="ru-RU" dirty="0"/>
              <a:t>-ограниченное число шагов, Противник обладает </a:t>
            </a:r>
            <a:r>
              <a:rPr lang="ru-RU" dirty="0" err="1"/>
              <a:t>полиномиально</a:t>
            </a:r>
            <a:r>
              <a:rPr lang="ru-RU" dirty="0"/>
              <a:t>-ограниченным временем и памятью. Т.е. алгоритм игры должен быть эффективным.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 dirty="0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2513676" y="4686055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 err="1"/>
              <a:t>Chal</a:t>
            </a:r>
            <a:r>
              <a:rPr lang="en-US" dirty="0"/>
              <a:t>.</a:t>
            </a:r>
          </a:p>
        </p:txBody>
      </p:sp>
      <p:sp>
        <p:nvSpPr>
          <p:cNvPr id="20" name="Line 5"/>
          <p:cNvSpPr>
            <a:spLocks noChangeShapeType="1"/>
          </p:cNvSpPr>
          <p:nvPr/>
        </p:nvSpPr>
        <p:spPr bwMode="auto">
          <a:xfrm>
            <a:off x="3123276" y="4171704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6"/>
              <p:cNvSpPr txBox="1">
                <a:spLocks noChangeArrowheads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blipFill>
                <a:blip r:embed="rId3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1"/>
          <p:cNvGrpSpPr>
            <a:grpSpLocks/>
          </p:cNvGrpSpPr>
          <p:nvPr/>
        </p:nvGrpSpPr>
        <p:grpSpPr bwMode="auto">
          <a:xfrm>
            <a:off x="3885276" y="4776541"/>
            <a:ext cx="3810000" cy="400050"/>
            <a:chOff x="1776" y="1789"/>
            <a:chExt cx="2400" cy="336"/>
          </a:xfrm>
        </p:grpSpPr>
        <p:sp>
          <p:nvSpPr>
            <p:cNvPr id="24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809" y="1789"/>
                  <a:ext cx="360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25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9" y="1789"/>
                  <a:ext cx="360" cy="33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1873916" y="4457454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13"/>
              <p:cNvSpPr txBox="1">
                <a:spLocks noChangeArrowheads="1"/>
              </p:cNvSpPr>
              <p:nvPr/>
            </p:nvSpPr>
            <p:spPr bwMode="auto">
              <a:xfrm>
                <a:off x="2845071" y="5040037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5071" y="5040037"/>
                <a:ext cx="632609" cy="423129"/>
              </a:xfrm>
              <a:prstGeom prst="rect">
                <a:avLst/>
              </a:prstGeom>
              <a:blipFill>
                <a:blip r:embed="rId5"/>
                <a:stretch>
                  <a:fillRect l="-5825" r="-2815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0"/>
          <p:cNvGrpSpPr>
            <a:grpSpLocks/>
          </p:cNvGrpSpPr>
          <p:nvPr/>
        </p:nvGrpSpPr>
        <p:grpSpPr bwMode="auto">
          <a:xfrm>
            <a:off x="3885276" y="5253995"/>
            <a:ext cx="3733800" cy="400052"/>
            <a:chOff x="1776" y="2074"/>
            <a:chExt cx="2352" cy="336"/>
          </a:xfrm>
        </p:grpSpPr>
        <p:sp>
          <p:nvSpPr>
            <p:cNvPr id="29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794" y="2074"/>
                  <a:ext cx="36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0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94" y="2074"/>
                  <a:ext cx="363" cy="3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Line 5"/>
          <p:cNvSpPr>
            <a:spLocks noChangeShapeType="1"/>
          </p:cNvSpPr>
          <p:nvPr/>
        </p:nvSpPr>
        <p:spPr bwMode="auto">
          <a:xfrm>
            <a:off x="8425654" y="589487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6"/>
              <p:cNvSpPr txBox="1">
                <a:spLocks noChangeArrowheads="1"/>
              </p:cNvSpPr>
              <p:nvPr/>
            </p:nvSpPr>
            <p:spPr bwMode="auto">
              <a:xfrm>
                <a:off x="8471625" y="6102900"/>
                <a:ext cx="50045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1625" y="6102900"/>
                <a:ext cx="50045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542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 стойкости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Параметром стойкости </a:t>
                </a:r>
                <a:r>
                  <a:rPr lang="ru-RU" dirty="0"/>
                  <a:t>называют двоичный логарифм, от необходимого числа операций для осуществления теоретической или практической атаки.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Пример</a:t>
                </a:r>
                <a:r>
                  <a:rPr lang="en-US" dirty="0"/>
                  <a:t>: </a:t>
                </a:r>
                <a:r>
                  <a:rPr lang="ru-RU" dirty="0"/>
                  <a:t>абсолютно стойкий шифр с ключом длины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, параметр стойкости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бит (необходимо перебрать весь ключ).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Пример</a:t>
                </a:r>
                <a:r>
                  <a:rPr lang="en-US" dirty="0"/>
                  <a:t>: </a:t>
                </a:r>
                <a:r>
                  <a:rPr lang="ru-RU" dirty="0"/>
                  <a:t>Семантически стойкий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≤1/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dirty="0"/>
                  <a:t>, параметр стойкости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бит.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9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Оценки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Параметр стойкости</a:t>
                </a:r>
                <a:r>
                  <a:rPr lang="en-US" dirty="0"/>
                  <a:t> 10 </a:t>
                </a:r>
                <a:r>
                  <a:rPr lang="ru-RU" dirty="0"/>
                  <a:t>бит это много или мало? 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ru-RU" dirty="0"/>
                  <a:t> бит? При каком параметре стойкости принято считать систему стойкой?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Необходимый параметр стойкости зависит от приложения используемой криптосистемы.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Для систем общего назначения рекомендуемые параметры стойкости 80-256 бит.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086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Оценки величин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240</m:t>
                        </m:r>
                      </m:sup>
                    </m:sSup>
                  </m:oMath>
                </a14:m>
                <a:r>
                  <a:rPr lang="ru-RU" dirty="0"/>
                  <a:t> - число элементарных частиц в обозримой вселенной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119</m:t>
                        </m:r>
                      </m:sup>
                    </m:sSup>
                  </m:oMath>
                </a14:m>
                <a:r>
                  <a:rPr lang="en-US" dirty="0"/>
                  <a:t>- </a:t>
                </a:r>
                <a:r>
                  <a:rPr lang="ru-RU" dirty="0"/>
                  <a:t>шанс выиграть в лотерею, с миллионом участников 6 раз подряд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секунд с большого взрыва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200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в </a:t>
                </a:r>
                <a:r>
                  <a:rPr lang="ru-RU" dirty="0" err="1"/>
                  <a:t>планковских</a:t>
                </a:r>
                <a:r>
                  <a:rPr lang="ru-RU" dirty="0"/>
                  <a:t> единицах)</a:t>
                </a:r>
                <a:r>
                  <a:rPr lang="en-US" dirty="0"/>
                  <a:t> </a:t>
                </a:r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вычислительная сложность </a:t>
                </a:r>
                <a:r>
                  <a:rPr lang="ru-RU" dirty="0" err="1"/>
                  <a:t>майнинга</a:t>
                </a:r>
                <a:r>
                  <a:rPr lang="ru-RU" dirty="0"/>
                  <a:t> </a:t>
                </a:r>
                <a:r>
                  <a:rPr lang="ru-RU" dirty="0" err="1"/>
                  <a:t>биткоина</a:t>
                </a:r>
                <a:r>
                  <a:rPr lang="ru-RU" dirty="0"/>
                  <a:t> (2018 год)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можно перебрать на домашнем компьютере за несколько часов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b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295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Статистическая неразличимость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Два </a:t>
                </a:r>
                <a:r>
                  <a:rPr lang="ru-RU" b="1" dirty="0"/>
                  <a:t>эксперимента</a:t>
                </a:r>
                <a:r>
                  <a:rPr lang="ru-RU" dirty="0"/>
                  <a:t> игры называются </a:t>
                </a:r>
                <a:r>
                  <a:rPr lang="ru-RU" b="1" dirty="0"/>
                  <a:t>статистически неразличимыми</a:t>
                </a:r>
                <a:r>
                  <a:rPr lang="ru-RU" dirty="0"/>
                  <a:t>, если не существует эффективного алгоритма противника, способного различить</a:t>
                </a:r>
                <a:r>
                  <a:rPr lang="en-US" dirty="0"/>
                  <a:t> </a:t>
                </a:r>
                <a:r>
                  <a:rPr lang="ru-RU" dirty="0"/>
                  <a:t>эти эксперименты.</a:t>
                </a:r>
              </a:p>
              <a:p>
                <a:pPr marL="0" indent="0">
                  <a:buNone/>
                </a:pPr>
                <a:r>
                  <a:rPr lang="ru-RU" dirty="0"/>
                  <a:t>Т.е.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где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пренебрежимо малая величина.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513676" y="4686055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 dirty="0" err="1"/>
              <a:t>Chal</a:t>
            </a:r>
            <a:r>
              <a:rPr lang="en-US" dirty="0"/>
              <a:t>.</a:t>
            </a:r>
          </a:p>
        </p:txBody>
      </p:sp>
      <p:sp>
        <p:nvSpPr>
          <p:cNvPr id="18" name="Line 5"/>
          <p:cNvSpPr>
            <a:spLocks noChangeShapeType="1"/>
          </p:cNvSpPr>
          <p:nvPr/>
        </p:nvSpPr>
        <p:spPr bwMode="auto">
          <a:xfrm>
            <a:off x="3123276" y="4171704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6"/>
              <p:cNvSpPr txBox="1">
                <a:spLocks noChangeArrowheads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7"/>
              <p:cNvSpPr>
                <a:spLocks noChangeArrowheads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2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blipFill>
                <a:blip r:embed="rId4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21"/>
          <p:cNvGrpSpPr>
            <a:grpSpLocks/>
          </p:cNvGrpSpPr>
          <p:nvPr/>
        </p:nvGrpSpPr>
        <p:grpSpPr bwMode="auto">
          <a:xfrm>
            <a:off x="3885276" y="4776541"/>
            <a:ext cx="3810000" cy="400050"/>
            <a:chOff x="1776" y="1789"/>
            <a:chExt cx="2400" cy="336"/>
          </a:xfrm>
        </p:grpSpPr>
        <p:sp>
          <p:nvSpPr>
            <p:cNvPr id="34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809" y="1789"/>
                  <a:ext cx="360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35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09" y="1789"/>
                  <a:ext cx="360" cy="33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Rectangle 18"/>
          <p:cNvSpPr>
            <a:spLocks noChangeArrowheads="1"/>
          </p:cNvSpPr>
          <p:nvPr/>
        </p:nvSpPr>
        <p:spPr bwMode="auto">
          <a:xfrm>
            <a:off x="1873916" y="4457454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3"/>
              <p:cNvSpPr txBox="1">
                <a:spLocks noChangeArrowheads="1"/>
              </p:cNvSpPr>
              <p:nvPr/>
            </p:nvSpPr>
            <p:spPr bwMode="auto">
              <a:xfrm>
                <a:off x="2845071" y="5040037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5071" y="5040037"/>
                <a:ext cx="632609" cy="423129"/>
              </a:xfrm>
              <a:prstGeom prst="rect">
                <a:avLst/>
              </a:prstGeom>
              <a:blipFill>
                <a:blip r:embed="rId6"/>
                <a:stretch>
                  <a:fillRect l="-5825" r="-2815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20"/>
          <p:cNvGrpSpPr>
            <a:grpSpLocks/>
          </p:cNvGrpSpPr>
          <p:nvPr/>
        </p:nvGrpSpPr>
        <p:grpSpPr bwMode="auto">
          <a:xfrm>
            <a:off x="3885276" y="5253995"/>
            <a:ext cx="3733800" cy="400052"/>
            <a:chOff x="1776" y="2074"/>
            <a:chExt cx="2352" cy="336"/>
          </a:xfrm>
        </p:grpSpPr>
        <p:sp>
          <p:nvSpPr>
            <p:cNvPr id="39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794" y="2074"/>
                  <a:ext cx="36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0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94" y="2074"/>
                  <a:ext cx="363" cy="33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Line 5"/>
          <p:cNvSpPr>
            <a:spLocks noChangeShapeType="1"/>
          </p:cNvSpPr>
          <p:nvPr/>
        </p:nvSpPr>
        <p:spPr bwMode="auto">
          <a:xfrm>
            <a:off x="8425654" y="5894877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6"/>
              <p:cNvSpPr txBox="1">
                <a:spLocks noChangeArrowheads="1"/>
              </p:cNvSpPr>
              <p:nvPr/>
            </p:nvSpPr>
            <p:spPr bwMode="auto">
              <a:xfrm>
                <a:off x="8471625" y="6102900"/>
                <a:ext cx="50045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71625" y="6102900"/>
                <a:ext cx="50045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718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Статистическая неразличимость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Пусть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– </a:t>
                </a:r>
                <a:r>
                  <a:rPr lang="en-US" b="1" dirty="0" err="1"/>
                  <a:t>распределения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 err="1"/>
                  <a:t>называются</a:t>
                </a:r>
                <a:r>
                  <a:rPr lang="en-US" b="1" dirty="0"/>
                  <a:t> </a:t>
                </a:r>
                <a:r>
                  <a:rPr lang="en-US" b="1" dirty="0" err="1"/>
                  <a:t>статистически</a:t>
                </a:r>
                <a:r>
                  <a:rPr lang="en-US" b="1" dirty="0"/>
                  <a:t> </a:t>
                </a:r>
                <a:r>
                  <a:rPr lang="en-US" b="1" dirty="0" err="1"/>
                  <a:t>неразличимыми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ru-RU" dirty="0"/>
                  <a:t>не существует эффективного алгоритма противника, способного различить</a:t>
                </a:r>
                <a:r>
                  <a:rPr lang="en-US" dirty="0"/>
                  <a:t> </a:t>
                </a:r>
                <a:r>
                  <a:rPr lang="ru-RU" dirty="0"/>
                  <a:t>эти </a:t>
                </a:r>
                <a:r>
                  <a:rPr lang="en-US" dirty="0" err="1"/>
                  <a:t>распределения</a:t>
                </a:r>
                <a:r>
                  <a:rPr lang="en-US" dirty="0"/>
                  <a:t> в </a:t>
                </a:r>
                <a:r>
                  <a:rPr lang="en-US" dirty="0" err="1"/>
                  <a:t>игре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ru-RU" dirty="0"/>
                  <a:t>различимость</a:t>
                </a:r>
                <a:r>
                  <a:rPr lang="en-US" dirty="0"/>
                  <a:t>.</a:t>
                </a:r>
                <a:r>
                  <a:rPr lang="ru-RU" dirty="0"/>
                  <a:t> Обозначается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Т.е.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Di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ru-RU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где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пренебрежимо малая величина.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973655" y="4686055"/>
            <a:ext cx="2879002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20" name="Line 5"/>
          <p:cNvSpPr>
            <a:spLocks noChangeShapeType="1"/>
          </p:cNvSpPr>
          <p:nvPr/>
        </p:nvSpPr>
        <p:spPr bwMode="auto">
          <a:xfrm>
            <a:off x="3123276" y="4171704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6"/>
              <p:cNvSpPr txBox="1">
                <a:spLocks noChangeArrowheads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blipFill>
                <a:blip r:embed="rId4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0"/>
          <p:cNvGrpSpPr>
            <a:grpSpLocks/>
          </p:cNvGrpSpPr>
          <p:nvPr/>
        </p:nvGrpSpPr>
        <p:grpSpPr bwMode="auto">
          <a:xfrm>
            <a:off x="4952396" y="4788140"/>
            <a:ext cx="2625185" cy="445295"/>
            <a:chOff x="1776" y="2036"/>
            <a:chExt cx="2352" cy="374"/>
          </a:xfrm>
        </p:grpSpPr>
        <p:sp>
          <p:nvSpPr>
            <p:cNvPr id="24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840" y="2036"/>
                  <a:ext cx="23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9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40" y="2036"/>
                  <a:ext cx="233" cy="336"/>
                </a:xfrm>
                <a:prstGeom prst="rect">
                  <a:avLst/>
                </a:prstGeom>
                <a:blipFill>
                  <a:blip r:embed="rId5"/>
                  <a:stretch>
                    <a:fillRect r="-697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2"/>
          <p:cNvGrpSpPr>
            <a:grpSpLocks/>
          </p:cNvGrpSpPr>
          <p:nvPr/>
        </p:nvGrpSpPr>
        <p:grpSpPr bwMode="auto">
          <a:xfrm>
            <a:off x="8304886" y="5874297"/>
            <a:ext cx="1570040" cy="678656"/>
            <a:chOff x="4560" y="2842"/>
            <a:chExt cx="989" cy="570"/>
          </a:xfrm>
        </p:grpSpPr>
        <p:sp>
          <p:nvSpPr>
            <p:cNvPr id="27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1873916" y="4457454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3"/>
              <p:cNvSpPr txBox="1">
                <a:spLocks noChangeArrowheads="1"/>
              </p:cNvSpPr>
              <p:nvPr/>
            </p:nvSpPr>
            <p:spPr bwMode="auto">
              <a:xfrm>
                <a:off x="2062012" y="4971804"/>
                <a:ext cx="2672950" cy="1185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𝑟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Else: </a:t>
                </a:r>
                <a:r>
                  <a:rPr lang="ru-RU" dirty="0"/>
                  <a:t> </a:t>
                </a: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0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2012" y="4971804"/>
                <a:ext cx="2672950" cy="1185453"/>
              </a:xfrm>
              <a:prstGeom prst="rect">
                <a:avLst/>
              </a:prstGeom>
              <a:blipFill>
                <a:blip r:embed="rId8"/>
                <a:stretch>
                  <a:fillRect l="-1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18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Альтернативная трактовка понятия абсолютной и семантической стойкости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Противник не может различить </a:t>
            </a:r>
            <a:r>
              <a:rPr lang="ru-RU" dirty="0" err="1"/>
              <a:t>шифртексты</a:t>
            </a:r>
            <a:r>
              <a:rPr lang="ru-RU" dirty="0"/>
              <a:t> двух выбранных сообщений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21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2040745" y="4936586"/>
                <a:ext cx="5504199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600" b="0" i="0" smtClean="0">
                          <a:latin typeface="Cambria Math" panose="02040503050406030204" pitchFamily="18" charset="0"/>
                        </a:rPr>
                        <m:t>S</m:t>
                      </m:r>
                      <m:sSub>
                        <m:sSubPr>
                          <m:ctrlPr>
                            <a:rPr lang="ru-RU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6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]|</m:t>
                      </m:r>
                      <m:r>
                        <a:rPr lang="ru-RU" sz="2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ru-RU" sz="26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745" y="4936586"/>
                <a:ext cx="550419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22720" y="3413493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3432320" y="2899142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8004320" y="3413493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04320" y="3413493"/>
                <a:ext cx="1295400" cy="1188244"/>
              </a:xfrm>
              <a:prstGeom prst="rect">
                <a:avLst/>
              </a:prstGeom>
              <a:blipFill>
                <a:blip r:embed="rId3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4194320" y="3496836"/>
            <a:ext cx="3810000" cy="403622"/>
            <a:chOff x="1776" y="1783"/>
            <a:chExt cx="2400" cy="339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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  <m:r>
                          <a:rPr lang="en-US" sz="2000" i="1" baseline="-25000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1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4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68" y="1783"/>
                  <a:ext cx="2134" cy="336"/>
                </a:xfrm>
                <a:prstGeom prst="rect">
                  <a:avLst/>
                </a:prstGeom>
                <a:blipFill>
                  <a:blip r:embed="rId6"/>
                  <a:stretch>
                    <a:fillRect b="-1363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22"/>
          <p:cNvGrpSpPr>
            <a:grpSpLocks/>
          </p:cNvGrpSpPr>
          <p:nvPr/>
        </p:nvGrpSpPr>
        <p:grpSpPr bwMode="auto">
          <a:xfrm>
            <a:off x="8613922" y="4601735"/>
            <a:ext cx="1570038" cy="678656"/>
            <a:chOff x="4560" y="2842"/>
            <a:chExt cx="989" cy="570"/>
          </a:xfrm>
        </p:grpSpPr>
        <p:sp>
          <p:nvSpPr>
            <p:cNvPr id="13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18"/>
          <p:cNvSpPr>
            <a:spLocks noChangeArrowheads="1"/>
          </p:cNvSpPr>
          <p:nvPr/>
        </p:nvSpPr>
        <p:spPr bwMode="auto">
          <a:xfrm>
            <a:off x="2182960" y="3184892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3"/>
              <p:cNvSpPr txBox="1">
                <a:spLocks noChangeArrowheads="1"/>
              </p:cNvSpPr>
              <p:nvPr/>
            </p:nvSpPr>
            <p:spPr bwMode="auto">
              <a:xfrm>
                <a:off x="3154115" y="3767475"/>
                <a:ext cx="632609" cy="423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 i="1" dirty="0"/>
                  <a:t>k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6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54115" y="3767475"/>
                <a:ext cx="632609" cy="423129"/>
              </a:xfrm>
              <a:prstGeom prst="rect">
                <a:avLst/>
              </a:prstGeom>
              <a:blipFill>
                <a:blip r:embed="rId8"/>
                <a:stretch>
                  <a:fillRect l="-4808" r="-27885" b="-4492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20"/>
          <p:cNvGrpSpPr>
            <a:grpSpLocks/>
          </p:cNvGrpSpPr>
          <p:nvPr/>
        </p:nvGrpSpPr>
        <p:grpSpPr bwMode="auto">
          <a:xfrm>
            <a:off x="4194320" y="3911180"/>
            <a:ext cx="3733800" cy="506017"/>
            <a:chOff x="1776" y="2015"/>
            <a:chExt cx="2352" cy="425"/>
          </a:xfrm>
        </p:grpSpPr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61" y="2015"/>
                  <a:ext cx="981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/>
                        <m:t>c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dirty="0" err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baseline="-25000" dirty="0" err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000" dirty="0"/>
                    <a:t>)</a:t>
                  </a:r>
                </a:p>
              </p:txBody>
            </p:sp>
          </mc:Choice>
          <mc:Fallback xmlns="">
            <p:sp>
              <p:nvSpPr>
                <p:cNvPr id="19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61" y="2015"/>
                  <a:ext cx="981" cy="425"/>
                </a:xfrm>
                <a:prstGeom prst="rect">
                  <a:avLst/>
                </a:prstGeom>
                <a:blipFill>
                  <a:blip r:embed="rId9"/>
                  <a:stretch>
                    <a:fillRect r="-3906" b="-2048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7"/>
              <p:cNvSpPr txBox="1">
                <a:spLocks noChangeArrowheads="1"/>
              </p:cNvSpPr>
              <p:nvPr/>
            </p:nvSpPr>
            <p:spPr bwMode="auto">
              <a:xfrm>
                <a:off x="3415651" y="2687212"/>
                <a:ext cx="1557338" cy="4619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’∈ {0,1}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5651" y="2687212"/>
                <a:ext cx="1557338" cy="461962"/>
              </a:xfrm>
              <a:prstGeom prst="rect">
                <a:avLst/>
              </a:prstGeom>
              <a:blipFill>
                <a:blip r:embed="rId10"/>
                <a:stretch>
                  <a:fillRect r="-781" b="-1710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741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одноразового блокнота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Одноразовый блокнот – сложение (побитное) случайного равновероятного вектора ключа с вектором открытого текста, для получения </a:t>
            </a:r>
            <a:r>
              <a:rPr lang="ru-RU" dirty="0" err="1"/>
              <a:t>шифртекста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Проблема (</a:t>
            </a:r>
            <a:r>
              <a:rPr lang="ru-RU" b="1" dirty="0"/>
              <a:t>Теорема Шеннона</a:t>
            </a:r>
            <a:r>
              <a:rPr lang="ru-RU" dirty="0"/>
              <a:t>) – длина (энтропия) ключа должна быть больше или равна длине сообщения.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Основная идея – заменить случайный длинный вектор ключа на «псевдослучайную» последовательность, называемую гаммой*.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EB95C-1244-4CF8-9A62-570897B0E8AE}"/>
              </a:ext>
            </a:extLst>
          </p:cNvPr>
          <p:cNvSpPr txBox="1"/>
          <p:nvPr/>
        </p:nvSpPr>
        <p:spPr>
          <a:xfrm>
            <a:off x="838200" y="6171684"/>
            <a:ext cx="363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* – в русскоязычной терминологии</a:t>
            </a:r>
          </a:p>
        </p:txBody>
      </p:sp>
    </p:spTree>
    <p:extLst>
      <p:ext uri="{BB962C8B-B14F-4D97-AF65-F5344CB8AC3E}">
        <p14:creationId xmlns:p14="http://schemas.microsoft.com/office/powerpoint/2010/main" val="893653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85248"/>
            <a:ext cx="10515600" cy="1325563"/>
          </a:xfrm>
        </p:spPr>
        <p:txBody>
          <a:bodyPr/>
          <a:lstStyle/>
          <a:p>
            <a:r>
              <a:rPr lang="ru-RU" dirty="0"/>
              <a:t>Идея одноразового блокнота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3336957" y="3970929"/>
                <a:ext cx="3471251" cy="465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957" y="3970929"/>
                <a:ext cx="3471251" cy="4656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3336956" y="4789073"/>
                <a:ext cx="3471251" cy="4656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956" y="4789073"/>
                <a:ext cx="3471251" cy="465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3336955" y="5762150"/>
                <a:ext cx="3471251" cy="46565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955" y="5762150"/>
                <a:ext cx="3471251" cy="4656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8089284" y="3970929"/>
                <a:ext cx="3580634" cy="465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284" y="3970929"/>
                <a:ext cx="3580634" cy="4656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8089283" y="3054594"/>
                <a:ext cx="766661" cy="465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283" y="3054594"/>
                <a:ext cx="766661" cy="4656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8089284" y="4789073"/>
                <a:ext cx="3580634" cy="4656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284" y="4789073"/>
                <a:ext cx="3580634" cy="4656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8089282" y="5762150"/>
                <a:ext cx="3580634" cy="46565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282" y="5762150"/>
                <a:ext cx="3580634" cy="4656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Прямая соединительная линия 13"/>
          <p:cNvCxnSpPr/>
          <p:nvPr/>
        </p:nvCxnSpPr>
        <p:spPr>
          <a:xfrm>
            <a:off x="8089281" y="3520252"/>
            <a:ext cx="0" cy="45067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8855944" y="3503426"/>
            <a:ext cx="2813972" cy="467503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9160630" y="3572294"/>
                <a:ext cx="29843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630" y="3572294"/>
                <a:ext cx="298431" cy="369332"/>
              </a:xfrm>
              <a:prstGeom prst="rect">
                <a:avLst/>
              </a:prstGeom>
              <a:blipFill>
                <a:blip r:embed="rId9"/>
                <a:stretch>
                  <a:fillRect r="-61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110743" cy="191345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Заменяем использование случайного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псевдослучайной последовательностью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ru-RU" dirty="0"/>
                  <a:t>. Если последовательность «неотличима» от случайной  равновероятной, то </a:t>
                </a:r>
                <a:r>
                  <a:rPr lang="ru-RU" dirty="0" err="1"/>
                  <a:t>шифртекст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неотличим от </a:t>
                </a:r>
                <a:r>
                  <a:rPr lang="ru-RU" dirty="0" err="1"/>
                  <a:t>шифртекста</a:t>
                </a:r>
                <a:r>
                  <a:rPr lang="ru-RU" dirty="0"/>
                  <a:t> в одноразовом блокноте.</a:t>
                </a:r>
              </a:p>
            </p:txBody>
          </p:sp>
        </mc:Choice>
        <mc:Fallback xmlns="">
          <p:sp>
            <p:nvSpPr>
              <p:cNvPr id="19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110743" cy="1913456"/>
              </a:xfrm>
              <a:blipFill>
                <a:blip r:embed="rId10"/>
                <a:stretch>
                  <a:fillRect l="-1544" t="-4777" r="-3173" b="-63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245002" y="4019092"/>
                <a:ext cx="524887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002" y="4019092"/>
                <a:ext cx="524887" cy="390748"/>
              </a:xfrm>
              <a:prstGeom prst="rect">
                <a:avLst/>
              </a:prstGeom>
              <a:blipFill>
                <a:blip r:embed="rId11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245002" y="5810313"/>
                <a:ext cx="522835" cy="3940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002" y="5810313"/>
                <a:ext cx="522835" cy="394019"/>
              </a:xfrm>
              <a:prstGeom prst="rect">
                <a:avLst/>
              </a:prstGeom>
              <a:blipFill>
                <a:blip r:embed="rId12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 rot="5400000">
                <a:off x="7234319" y="4914702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234319" y="4914702"/>
                <a:ext cx="43152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700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Поточный шифр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Эффективно вычислимая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 </a:t>
                </a:r>
                <a:r>
                  <a:rPr lang="ru-RU" b="1" dirty="0"/>
                  <a:t>псевдослучайным генератором (</a:t>
                </a:r>
                <a:r>
                  <a:rPr lang="en-US" b="1" dirty="0"/>
                  <a:t>PRG</a:t>
                </a:r>
                <a:r>
                  <a:rPr lang="ru-RU" b="1" dirty="0"/>
                  <a:t>)</a:t>
                </a:r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 с параметрам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dirty="0"/>
                  <a:t>, называется </a:t>
                </a:r>
                <a:r>
                  <a:rPr lang="ru-RU" b="1" dirty="0"/>
                  <a:t>поточным шифром</a:t>
                </a:r>
                <a:r>
                  <a:rPr lang="ru-RU" dirty="0"/>
                  <a:t>, если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</a:t>
                </a:r>
              </a:p>
              <a:p>
                <a:pPr marL="0" indent="0">
                  <a:buNone/>
                </a:pPr>
                <a:r>
                  <a:rPr lang="ru-RU" dirty="0"/>
                  <a:t>где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</a:t>
                </a:r>
                <a:r>
                  <a:rPr lang="en-US" dirty="0"/>
                  <a:t> </a:t>
                </a:r>
                <a:r>
                  <a:rPr lang="ru-RU" dirty="0"/>
                  <a:t>псевдослучайный генератор.</a:t>
                </a:r>
              </a:p>
              <a:p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Аналогично можно ввести </a:t>
                </a:r>
                <a:r>
                  <a:rPr lang="ru-RU" b="1" dirty="0"/>
                  <a:t>Поточный шифр по произвольному модулю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Стойкость поточного шифра сводится к «качеству» псевдослучайной последовательности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474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Стойкий псевдослучайный генератор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псевдослучайный генератор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Рассмотрим игру с двумя экспериментами. В эксперименте 0 Претендент отправляет псевдослучайную величину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В эксперименте 1 – случайную величину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groupChr>
                      <m:groupChrPr>
                        <m:chr m:val="←"/>
                        <m:vertJc m:val="bot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sz="2800" dirty="0"/>
                  <a:t> Задача Противника угадать, случайную, или псевдослучайную величину он получил.</a:t>
                </a:r>
                <a:endParaRPr lang="en-US" sz="28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25</a:t>
            </a:fld>
            <a:endParaRPr lang="ru-RU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1973655" y="4686055"/>
            <a:ext cx="2879002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>
            <a:off x="3123276" y="4171704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6"/>
              <p:cNvSpPr txBox="1">
                <a:spLocks noChangeArrowheads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blipFill>
                <a:blip r:embed="rId4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0"/>
          <p:cNvGrpSpPr>
            <a:grpSpLocks/>
          </p:cNvGrpSpPr>
          <p:nvPr/>
        </p:nvGrpSpPr>
        <p:grpSpPr bwMode="auto">
          <a:xfrm>
            <a:off x="4952396" y="4788140"/>
            <a:ext cx="2625185" cy="445295"/>
            <a:chOff x="1776" y="2036"/>
            <a:chExt cx="2352" cy="374"/>
          </a:xfrm>
        </p:grpSpPr>
        <p:sp>
          <p:nvSpPr>
            <p:cNvPr id="28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840" y="2036"/>
                  <a:ext cx="23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9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40" y="2036"/>
                  <a:ext cx="233" cy="336"/>
                </a:xfrm>
                <a:prstGeom prst="rect">
                  <a:avLst/>
                </a:prstGeom>
                <a:blipFill>
                  <a:blip r:embed="rId5"/>
                  <a:stretch>
                    <a:fillRect r="-697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2"/>
          <p:cNvGrpSpPr>
            <a:grpSpLocks/>
          </p:cNvGrpSpPr>
          <p:nvPr/>
        </p:nvGrpSpPr>
        <p:grpSpPr bwMode="auto">
          <a:xfrm>
            <a:off x="8304886" y="5874297"/>
            <a:ext cx="1570040" cy="678656"/>
            <a:chOff x="4560" y="2842"/>
            <a:chExt cx="989" cy="570"/>
          </a:xfrm>
        </p:grpSpPr>
        <p:sp>
          <p:nvSpPr>
            <p:cNvPr id="31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Rectangle 18"/>
          <p:cNvSpPr>
            <a:spLocks noChangeArrowheads="1"/>
          </p:cNvSpPr>
          <p:nvPr/>
        </p:nvSpPr>
        <p:spPr bwMode="auto">
          <a:xfrm>
            <a:off x="1873916" y="4457454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13"/>
              <p:cNvSpPr txBox="1">
                <a:spLocks noChangeArrowheads="1"/>
              </p:cNvSpPr>
              <p:nvPr/>
            </p:nvSpPr>
            <p:spPr bwMode="auto">
              <a:xfrm>
                <a:off x="2062012" y="4971804"/>
                <a:ext cx="2672950" cy="1000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Else: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2012" y="4971804"/>
                <a:ext cx="2672950" cy="1000787"/>
              </a:xfrm>
              <a:prstGeom prst="rect">
                <a:avLst/>
              </a:prstGeom>
              <a:blipFill>
                <a:blip r:embed="rId8"/>
                <a:stretch>
                  <a:fillRect l="-1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129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Стойкий псевдослучайный генератор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dirty="0"/>
                  <a:t> - событие того,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эксперименте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Тогда Преимуществом Противника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 алгоритма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в игре на различимость есть величина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PR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26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73655" y="4686055"/>
            <a:ext cx="2879002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3123276" y="4171704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blipFill>
                <a:blip r:embed="rId3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20"/>
          <p:cNvGrpSpPr>
            <a:grpSpLocks/>
          </p:cNvGrpSpPr>
          <p:nvPr/>
        </p:nvGrpSpPr>
        <p:grpSpPr bwMode="auto">
          <a:xfrm>
            <a:off x="4952396" y="4788140"/>
            <a:ext cx="2625185" cy="445295"/>
            <a:chOff x="1776" y="2036"/>
            <a:chExt cx="2352" cy="374"/>
          </a:xfrm>
        </p:grpSpPr>
        <p:sp>
          <p:nvSpPr>
            <p:cNvPr id="9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840" y="2036"/>
                  <a:ext cx="23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40" y="2036"/>
                  <a:ext cx="233" cy="336"/>
                </a:xfrm>
                <a:prstGeom prst="rect">
                  <a:avLst/>
                </a:prstGeom>
                <a:blipFill>
                  <a:blip r:embed="rId4"/>
                  <a:stretch>
                    <a:fillRect r="-697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22"/>
          <p:cNvGrpSpPr>
            <a:grpSpLocks/>
          </p:cNvGrpSpPr>
          <p:nvPr/>
        </p:nvGrpSpPr>
        <p:grpSpPr bwMode="auto">
          <a:xfrm>
            <a:off x="8304886" y="5874297"/>
            <a:ext cx="1570040" cy="678656"/>
            <a:chOff x="4560" y="2842"/>
            <a:chExt cx="989" cy="570"/>
          </a:xfrm>
        </p:grpSpPr>
        <p:sp>
          <p:nvSpPr>
            <p:cNvPr id="12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1873916" y="4457454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3"/>
              <p:cNvSpPr txBox="1">
                <a:spLocks noChangeArrowheads="1"/>
              </p:cNvSpPr>
              <p:nvPr/>
            </p:nvSpPr>
            <p:spPr bwMode="auto">
              <a:xfrm>
                <a:off x="2062012" y="4971804"/>
                <a:ext cx="2672950" cy="1000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Else: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2012" y="4971804"/>
                <a:ext cx="2672950" cy="1000787"/>
              </a:xfrm>
              <a:prstGeom prst="rect">
                <a:avLst/>
              </a:prstGeom>
              <a:blipFill>
                <a:blip r:embed="rId8"/>
                <a:stretch>
                  <a:fillRect l="-1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6"/>
              <p:cNvSpPr txBox="1">
                <a:spLocks noChangeArrowheads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1700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Стойкий псевдослучайный генератор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5230"/>
                <a:ext cx="10515600" cy="255460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Генератор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называют </a:t>
                </a:r>
                <a:r>
                  <a:rPr lang="ru-RU" b="1" dirty="0"/>
                  <a:t>стойким псевдослучайным генератором</a:t>
                </a:r>
                <a:r>
                  <a:rPr lang="en-US" b="1" dirty="0"/>
                  <a:t> </a:t>
                </a:r>
                <a:r>
                  <a:rPr lang="en-US" dirty="0"/>
                  <a:t>(secure PRG)</a:t>
                </a:r>
                <a:r>
                  <a:rPr lang="ru-RU" dirty="0"/>
                  <a:t>, если для любых эффективных противников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величина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пренебрежимо малая величина.</a:t>
                </a:r>
              </a:p>
              <a:p>
                <a:pPr marL="0" indent="0">
                  <a:buNone/>
                </a:pPr>
                <a:r>
                  <a:rPr lang="ru-RU" dirty="0"/>
                  <a:t>Противника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часто называют </a:t>
                </a:r>
                <a:r>
                  <a:rPr lang="ru-RU" b="1" dirty="0"/>
                  <a:t>статистическим тестом*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Если генератор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– стойкий, то последовательность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называют </a:t>
                </a:r>
                <a:r>
                  <a:rPr lang="en-US" dirty="0"/>
                  <a:t>(</a:t>
                </a:r>
                <a:r>
                  <a:rPr lang="ru-RU" dirty="0"/>
                  <a:t>эффективно) </a:t>
                </a:r>
                <a:r>
                  <a:rPr lang="ru-RU" b="1" dirty="0"/>
                  <a:t>статистически неразличимой от случайной последовательности </a:t>
                </a:r>
                <a:r>
                  <a:rPr lang="ru-RU" dirty="0"/>
                  <a:t>или</a:t>
                </a:r>
                <a:r>
                  <a:rPr lang="en-US" b="1" dirty="0"/>
                  <a:t> </a:t>
                </a:r>
                <a:r>
                  <a:rPr lang="ru-RU" b="1" dirty="0"/>
                  <a:t>стойкой псевдослучайной последовательностью</a:t>
                </a:r>
                <a:r>
                  <a:rPr lang="ru-RU" dirty="0"/>
                  <a:t>. Обозначается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ru-RU" i="1" dirty="0"/>
                  <a:t> – </a:t>
                </a:r>
                <a:r>
                  <a:rPr lang="ru-RU" dirty="0"/>
                  <a:t>случайная последовательность.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5230"/>
                <a:ext cx="10515600" cy="2554601"/>
              </a:xfrm>
              <a:blipFill>
                <a:blip r:embed="rId2"/>
                <a:stretch>
                  <a:fillRect l="-928" t="-5489" r="-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27</a:t>
            </a:fld>
            <a:endParaRPr lang="ru-RU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73655" y="4686055"/>
            <a:ext cx="2879002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3123276" y="4171704"/>
            <a:ext cx="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5276" y="4686055"/>
                <a:ext cx="1295400" cy="1188244"/>
              </a:xfrm>
              <a:prstGeom prst="rect">
                <a:avLst/>
              </a:prstGeom>
              <a:blipFill>
                <a:blip r:embed="rId3"/>
                <a:stretch>
                  <a:fillRect t="-253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20"/>
          <p:cNvGrpSpPr>
            <a:grpSpLocks/>
          </p:cNvGrpSpPr>
          <p:nvPr/>
        </p:nvGrpSpPr>
        <p:grpSpPr bwMode="auto">
          <a:xfrm>
            <a:off x="4952396" y="4788140"/>
            <a:ext cx="2625185" cy="445295"/>
            <a:chOff x="1776" y="2036"/>
            <a:chExt cx="2352" cy="374"/>
          </a:xfrm>
        </p:grpSpPr>
        <p:sp>
          <p:nvSpPr>
            <p:cNvPr id="9" name="Line 13"/>
            <p:cNvSpPr>
              <a:spLocks noChangeShapeType="1"/>
            </p:cNvSpPr>
            <p:nvPr/>
          </p:nvSpPr>
          <p:spPr bwMode="auto">
            <a:xfrm>
              <a:off x="1776" y="2410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840" y="2036"/>
                  <a:ext cx="233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40" y="2036"/>
                  <a:ext cx="233" cy="336"/>
                </a:xfrm>
                <a:prstGeom prst="rect">
                  <a:avLst/>
                </a:prstGeom>
                <a:blipFill>
                  <a:blip r:embed="rId4"/>
                  <a:stretch>
                    <a:fillRect r="-6977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22"/>
          <p:cNvGrpSpPr>
            <a:grpSpLocks/>
          </p:cNvGrpSpPr>
          <p:nvPr/>
        </p:nvGrpSpPr>
        <p:grpSpPr bwMode="auto">
          <a:xfrm>
            <a:off x="8304886" y="5874297"/>
            <a:ext cx="1570040" cy="678656"/>
            <a:chOff x="4560" y="2842"/>
            <a:chExt cx="989" cy="570"/>
          </a:xfrm>
        </p:grpSpPr>
        <p:sp>
          <p:nvSpPr>
            <p:cNvPr id="12" name="Line 16"/>
            <p:cNvSpPr>
              <a:spLocks noChangeShapeType="1"/>
            </p:cNvSpPr>
            <p:nvPr/>
          </p:nvSpPr>
          <p:spPr bwMode="auto">
            <a:xfrm>
              <a:off x="4560" y="284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’∈ {0,1}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3" name="Text 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8" y="3024"/>
                  <a:ext cx="981" cy="388"/>
                </a:xfrm>
                <a:prstGeom prst="rect">
                  <a:avLst/>
                </a:prstGeom>
                <a:blipFill>
                  <a:blip r:embed="rId7"/>
                  <a:stretch>
                    <a:fillRect r="-781" b="-1710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1873916" y="4457454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3"/>
              <p:cNvSpPr txBox="1">
                <a:spLocks noChangeArrowheads="1"/>
              </p:cNvSpPr>
              <p:nvPr/>
            </p:nvSpPr>
            <p:spPr bwMode="auto">
              <a:xfrm>
                <a:off x="2062012" y="4971804"/>
                <a:ext cx="2672950" cy="101207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0" dirty="0"/>
                  <a:t>If: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Else: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b="1" baseline="-25000" dirty="0">
                  <a:cs typeface="Arial" charset="0"/>
                  <a:sym typeface="Symbol" pitchFamily="18" charset="2"/>
                </a:endParaRPr>
              </a:p>
              <a:p>
                <a:endParaRPr lang="en-US" sz="1600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2012" y="4971804"/>
                <a:ext cx="2672950" cy="1012072"/>
              </a:xfrm>
              <a:prstGeom prst="rect">
                <a:avLst/>
              </a:prstGeom>
              <a:blipFill>
                <a:blip r:embed="rId8"/>
                <a:stretch>
                  <a:fillRect l="-182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6"/>
              <p:cNvSpPr txBox="1">
                <a:spLocks noChangeArrowheads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4702" y="4038353"/>
                <a:ext cx="42704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/>
              <p:cNvSpPr/>
              <p:nvPr/>
            </p:nvSpPr>
            <p:spPr>
              <a:xfrm>
                <a:off x="4160954" y="6231785"/>
                <a:ext cx="36890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PR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=|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Прямоугольник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954" y="6231785"/>
                <a:ext cx="3689023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44BAB94-425D-4996-BDF9-FFB55E30A1C8}"/>
              </a:ext>
            </a:extLst>
          </p:cNvPr>
          <p:cNvSpPr txBox="1"/>
          <p:nvPr/>
        </p:nvSpPr>
        <p:spPr>
          <a:xfrm>
            <a:off x="370395" y="6445797"/>
            <a:ext cx="3383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* в англоязычной терминологии</a:t>
            </a:r>
          </a:p>
        </p:txBody>
      </p:sp>
    </p:spTree>
    <p:extLst>
      <p:ext uri="{BB962C8B-B14F-4D97-AF65-F5344CB8AC3E}">
        <p14:creationId xmlns:p14="http://schemas.microsoft.com/office/powerpoint/2010/main" val="585795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Энтропия генератора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генератор.</a:t>
                </a:r>
              </a:p>
              <a:p>
                <a:pPr marL="0" indent="0">
                  <a:buNone/>
                </a:pPr>
                <a:r>
                  <a:rPr lang="ru-RU" dirty="0"/>
                  <a:t>Очевидно, что генератор может выдать не более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dirty="0"/>
                  <a:t> различных последовательностей.</a:t>
                </a:r>
              </a:p>
              <a:p>
                <a:pPr marL="0" indent="0">
                  <a:buNone/>
                </a:pPr>
                <a:r>
                  <a:rPr lang="ru-RU" dirty="0"/>
                  <a:t>Часто в генераторах величина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 является начальным заполнением внутреннего состояния. Тогда максимально возможная энтропия выходной</a:t>
                </a:r>
              </a:p>
              <a:p>
                <a:pPr marL="0" indent="0">
                  <a:buNone/>
                </a:pPr>
                <a:r>
                  <a:rPr lang="ru-RU" dirty="0"/>
                  <a:t>последовательности </a:t>
                </a: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  <m:groupChr>
                      <m:groupChrPr>
                        <m:chr m:val="←"/>
                        <m:vertJc m:val="bot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равна энтропии случайной величины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ru-RU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т.е.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𝜸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ru-RU" dirty="0"/>
                  <a:t>Таким образом максимально возможная длина периода генератора</a:t>
                </a: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𝜸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ru-RU" dirty="0"/>
                  <a:t>Пример</a:t>
                </a:r>
                <a:r>
                  <a:rPr lang="en-US" dirty="0"/>
                  <a:t>: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</a:t>
                </a:r>
                <a:r>
                  <a:rPr lang="en-US" dirty="0"/>
                  <a:t> </a:t>
                </a:r>
                <a:r>
                  <a:rPr lang="ru-RU" dirty="0"/>
                  <a:t>множество состояний и ключей, тогда максимально возможный период выходной последовательности не превышает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</m:oMath>
                </a14:m>
                <a:r>
                  <a:rPr lang="ru-RU" dirty="0"/>
                  <a:t>, энтропия 128 бит.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 b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284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Статистическая неразличимость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4770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Рассмотрим множество возможных значений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}.</m:t>
                    </m:r>
                  </m:oMath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ru-RU" dirty="0"/>
                  <a:t>Тогда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– стойкий генератор, то эффективный Противник не может определить содержится ли элемент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477000" cy="4351338"/>
              </a:xfrm>
              <a:blipFill>
                <a:blip r:embed="rId2"/>
                <a:stretch>
                  <a:fillRect l="-1695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29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вал 4"/>
              <p:cNvSpPr/>
              <p:nvPr/>
            </p:nvSpPr>
            <p:spPr>
              <a:xfrm>
                <a:off x="7577750" y="1937442"/>
                <a:ext cx="3776050" cy="38386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5" name="Овал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750" y="1937442"/>
                <a:ext cx="3776050" cy="383866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вал 5"/>
              <p:cNvSpPr/>
              <p:nvPr/>
            </p:nvSpPr>
            <p:spPr>
              <a:xfrm>
                <a:off x="9361283" y="2725093"/>
                <a:ext cx="851026" cy="805758"/>
              </a:xfrm>
              <a:prstGeom prst="ellipse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Овал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283" y="2725093"/>
                <a:ext cx="851026" cy="80575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817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Непредсказуемость генераторов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псевдослучайный генератор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</a:t>
                </a:r>
                <a:endParaRPr lang="ru-RU" sz="2800" baseline="-25000" dirty="0">
                  <a:cs typeface="Arial" charset="0"/>
                  <a:sym typeface="Symbol" pitchFamily="18" charset="2"/>
                </a:endParaRPr>
              </a:p>
              <a:p>
                <a:r>
                  <a:rPr lang="ru-RU" sz="2800" dirty="0"/>
                  <a:t>Генератор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называется </a:t>
                </a:r>
                <a:r>
                  <a:rPr lang="ru-RU" b="1" dirty="0"/>
                  <a:t>предсказуемым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эффективный алгоритм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−1: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Pre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adv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0..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+1]]−1/2|&gt;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 – не пренебрежимо малая. Т.е. Существует эффективный алгоритм способный по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ru-RU" dirty="0"/>
                  <a:t> биту предсказать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Генератор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называется </a:t>
                </a:r>
                <a:r>
                  <a:rPr lang="ru-RU" b="1" dirty="0"/>
                  <a:t>непредсказуемым</a:t>
                </a:r>
                <a:r>
                  <a:rPr lang="ru-RU" dirty="0"/>
                  <a:t>, 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ru-RU" dirty="0"/>
                  <a:t> эффективных алгоритмов справедливо</a:t>
                </a:r>
              </a:p>
              <a:p>
                <a:pPr marL="0" indent="0" algn="ctr">
                  <a:buNone/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Pre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adv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=|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0..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+1]]−1/2|≤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, </a:t>
                </a:r>
              </a:p>
              <a:p>
                <a:pPr marL="0" indent="0">
                  <a:buNone/>
                </a:pPr>
                <a:r>
                  <a:rPr lang="ru-RU" dirty="0"/>
                  <a:t>для пренебрежимо малой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r="-4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2838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14"/>
          <p:cNvSpPr/>
          <p:nvPr/>
        </p:nvSpPr>
        <p:spPr>
          <a:xfrm>
            <a:off x="720505" y="1690688"/>
            <a:ext cx="10542006" cy="109777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Непредсказуемость генераторов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2.2.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псевдослучайный генератор</a:t>
                </a:r>
                <a:r>
                  <a:rPr lang="en-US" dirty="0"/>
                  <a:t> (PRG)</a:t>
                </a:r>
                <a:r>
                  <a:rPr lang="ru-RU" dirty="0"/>
                  <a:t>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</a:t>
                </a:r>
              </a:p>
              <a:p>
                <a:pPr marL="0" indent="0">
                  <a:buNone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– стойкий, 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– непредсказуемый.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ru-RU" dirty="0">
                    <a:ea typeface="Cambria Math" panose="02040503050406030204" pitchFamily="18" charset="0"/>
                  </a:rPr>
                  <a:t>без доказательства</a:t>
                </a:r>
                <a14:m>
                  <m:oMath xmlns:m="http://schemas.openxmlformats.org/officeDocument/2006/math">
                    <m:r>
                      <a:rPr lang="ru-RU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Идея</a:t>
                </a:r>
                <a:r>
                  <a:rPr lang="en-US" dirty="0"/>
                  <a:t> </a:t>
                </a:r>
                <a:r>
                  <a:rPr lang="ru-RU" dirty="0"/>
                  <a:t>доказательства – </a:t>
                </a:r>
                <a:r>
                  <a:rPr lang="ru-RU" dirty="0">
                    <a:ea typeface="Cambria Math" panose="020405030504060302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</a:t>
                </a:r>
                <a:r>
                  <a:rPr lang="en-US" dirty="0"/>
                  <a:t>– </a:t>
                </a:r>
                <a:r>
                  <a:rPr lang="ru-RU" dirty="0"/>
                  <a:t>стойкий, то его выход вычислительно неотличим от случайной последовательности. А для случайной последовательности невозможно предсказать следующий бит.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Pre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 ⊲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31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3562499" y="4571999"/>
                <a:ext cx="1783533" cy="71522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499" y="4571999"/>
                <a:ext cx="1783533" cy="7152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924390" y="4744945"/>
                <a:ext cx="524887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390" y="4744945"/>
                <a:ext cx="524887" cy="390748"/>
              </a:xfrm>
              <a:prstGeom prst="rect">
                <a:avLst/>
              </a:prstGeom>
              <a:blipFill>
                <a:blip r:embed="rId4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6910232" y="4571999"/>
                <a:ext cx="1783533" cy="71522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232" y="4571999"/>
                <a:ext cx="1783533" cy="7152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6647720" y="5729651"/>
            <a:ext cx="2308556" cy="8034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Невозможно эффективно угадать следующий бит</a:t>
            </a:r>
          </a:p>
        </p:txBody>
      </p:sp>
      <p:cxnSp>
        <p:nvCxnSpPr>
          <p:cNvPr id="10" name="Прямая со стрелкой 9"/>
          <p:cNvCxnSpPr>
            <a:stCxn id="8" idx="0"/>
            <a:endCxn id="7" idx="2"/>
          </p:cNvCxnSpPr>
          <p:nvPr/>
        </p:nvCxnSpPr>
        <p:spPr>
          <a:xfrm flipV="1">
            <a:off x="7801998" y="5287223"/>
            <a:ext cx="1" cy="44242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3388154" y="5729651"/>
            <a:ext cx="2308556" cy="8034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Невозможно эффективно угадать следующий бит</a:t>
            </a:r>
          </a:p>
        </p:txBody>
      </p:sp>
      <p:cxnSp>
        <p:nvCxnSpPr>
          <p:cNvPr id="12" name="Прямая со стрелкой 11"/>
          <p:cNvCxnSpPr/>
          <p:nvPr/>
        </p:nvCxnSpPr>
        <p:spPr>
          <a:xfrm flipV="1">
            <a:off x="4454265" y="5274667"/>
            <a:ext cx="1" cy="4549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8" idx="1"/>
            <a:endCxn id="11" idx="3"/>
          </p:cNvCxnSpPr>
          <p:nvPr/>
        </p:nvCxnSpPr>
        <p:spPr>
          <a:xfrm flipH="1">
            <a:off x="5696710" y="6131375"/>
            <a:ext cx="95101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6186833" y="5287223"/>
            <a:ext cx="1" cy="7985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530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13241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Непредсказуемость генераторов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2.3.</a:t>
                </a:r>
                <a:r>
                  <a:rPr lang="ru-RU" dirty="0"/>
                  <a:t> </a:t>
                </a:r>
                <a:r>
                  <a:rPr lang="en-US" dirty="0"/>
                  <a:t>Yao’82</a:t>
                </a:r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псевдослучайный генератор</a:t>
                </a:r>
                <a:r>
                  <a:rPr lang="en-US" dirty="0"/>
                  <a:t> (PRG)</a:t>
                </a:r>
                <a:r>
                  <a:rPr lang="ru-RU" dirty="0"/>
                  <a:t>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</a:t>
                </a:r>
              </a:p>
              <a:p>
                <a:pPr marL="0" indent="0">
                  <a:buNone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– непредсказуемый, 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– стойкий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ru-RU" dirty="0">
                    <a:ea typeface="Cambria Math" panose="02040503050406030204" pitchFamily="18" charset="0"/>
                  </a:rPr>
                  <a:t>без доказательства</a:t>
                </a:r>
                <a14:m>
                  <m:oMath xmlns:m="http://schemas.openxmlformats.org/officeDocument/2006/math">
                    <m:r>
                      <a:rPr lang="ru-R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Идея доказательства – если мы не можем предсказать 1 следующий бит, то значит у нас нет никаких возможностей определить является ли данная величина случайной, или выходом псевдослучайного генератора</a:t>
                </a:r>
                <a14:m>
                  <m:oMath xmlns:m="http://schemas.openxmlformats.org/officeDocument/2006/math">
                    <m:r>
                      <a:rPr lang="ru-RU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69843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230189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Поточные шифры и семантическая стойкость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16695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2.4.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 стойкий генератор (</a:t>
                </a:r>
                <a:r>
                  <a:rPr lang="en-US" dirty="0"/>
                  <a:t>PRG)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Тогда поточный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определённый с использованием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семантически стойкий, т.е.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противник в игре на семантическую стойкость,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противник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PRG (</a:t>
                </a:r>
                <a:r>
                  <a:rPr lang="ru-RU" dirty="0"/>
                  <a:t>различимость)</a:t>
                </a:r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≤2∗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166953"/>
              </a:xfrm>
              <a:blipFill>
                <a:blip r:embed="rId2"/>
                <a:stretch>
                  <a:fillRect l="-1043" t="-42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36084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доказательства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34</a:t>
            </a:fld>
            <a:endParaRPr lang="ru-RU"/>
          </a:p>
        </p:txBody>
      </p:sp>
      <p:grpSp>
        <p:nvGrpSpPr>
          <p:cNvPr id="5" name="Group 23"/>
          <p:cNvGrpSpPr/>
          <p:nvPr/>
        </p:nvGrpSpPr>
        <p:grpSpPr>
          <a:xfrm>
            <a:off x="1762408" y="2080419"/>
            <a:ext cx="3886211" cy="1589488"/>
            <a:chOff x="1676400" y="1104900"/>
            <a:chExt cx="3886211" cy="1589488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676400" y="1314459"/>
              <a:ext cx="838200" cy="87629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/>
              <a:r>
                <a:rPr lang="en-US" dirty="0" err="1"/>
                <a:t>chal</a:t>
              </a:r>
              <a:r>
                <a:rPr lang="en-US" dirty="0"/>
                <a:t>.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4419600" y="1352550"/>
              <a:ext cx="914400" cy="876291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/>
              <a:r>
                <a:rPr lang="en-US" dirty="0"/>
                <a:t>adv. A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752600" y="1745218"/>
              <a:ext cx="6373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err="1"/>
                <a:t>k</a:t>
              </a:r>
              <a:r>
                <a:rPr lang="en-US" dirty="0" err="1">
                  <a:sym typeface="Symbol" pitchFamily="18" charset="2"/>
                </a:rPr>
                <a:t>K</a:t>
              </a:r>
              <a:endParaRPr lang="en-US" b="1" dirty="0">
                <a:cs typeface="Arial" charset="0"/>
                <a:sym typeface="Symbol" pitchFamily="18" charset="2"/>
              </a:endParaRP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2971800" y="1104900"/>
              <a:ext cx="11430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/>
                <a:t>m</a:t>
              </a:r>
              <a:r>
                <a:rPr lang="en-US" sz="2000" baseline="-25000" dirty="0"/>
                <a:t>0</a:t>
              </a:r>
              <a:r>
                <a:rPr lang="en-US" sz="2000" dirty="0"/>
                <a:t> , m</a:t>
              </a:r>
              <a:r>
                <a:rPr lang="en-US" sz="2000" baseline="-25000" dirty="0"/>
                <a:t>1</a:t>
              </a:r>
              <a:endParaRPr lang="en-US" sz="2000" dirty="0">
                <a:sym typeface="Symbol" pitchFamily="18" charset="2"/>
              </a:endParaRPr>
            </a:p>
          </p:txBody>
        </p:sp>
        <p:grpSp>
          <p:nvGrpSpPr>
            <p:cNvPr id="10" name="Group 20"/>
            <p:cNvGrpSpPr>
              <a:grpSpLocks/>
            </p:cNvGrpSpPr>
            <p:nvPr/>
          </p:nvGrpSpPr>
          <p:grpSpPr bwMode="auto">
            <a:xfrm>
              <a:off x="2590799" y="1581150"/>
              <a:ext cx="1828801" cy="533400"/>
              <a:chOff x="1776" y="2013"/>
              <a:chExt cx="1152" cy="448"/>
            </a:xfrm>
          </p:grpSpPr>
          <p:sp>
            <p:nvSpPr>
              <p:cNvPr id="15" name="Line 13"/>
              <p:cNvSpPr>
                <a:spLocks noChangeShapeType="1"/>
              </p:cNvSpPr>
              <p:nvPr/>
            </p:nvSpPr>
            <p:spPr bwMode="auto">
              <a:xfrm>
                <a:off x="1776" y="2454"/>
                <a:ext cx="1152" cy="7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 Box 14"/>
              <p:cNvSpPr txBox="1">
                <a:spLocks noChangeArrowheads="1"/>
              </p:cNvSpPr>
              <p:nvPr/>
            </p:nvSpPr>
            <p:spPr bwMode="auto">
              <a:xfrm>
                <a:off x="1824" y="2013"/>
                <a:ext cx="1090" cy="4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c </a:t>
                </a:r>
                <a:r>
                  <a:rPr lang="en-US" sz="2000" dirty="0">
                    <a:sym typeface="Symbol" pitchFamily="18" charset="2"/>
                  </a:rPr>
                  <a:t> </a:t>
                </a:r>
                <a:r>
                  <a:rPr lang="en-US" sz="2400" b="1" dirty="0"/>
                  <a:t>m</a:t>
                </a:r>
                <a:r>
                  <a:rPr lang="en-US" sz="3200" b="1" baseline="-25000" dirty="0">
                    <a:solidFill>
                      <a:srgbClr val="FF0000"/>
                    </a:solidFill>
                  </a:rPr>
                  <a:t>0</a:t>
                </a:r>
                <a:r>
                  <a:rPr lang="en-US" sz="2400" b="1" baseline="-25000" dirty="0"/>
                  <a:t> </a:t>
                </a:r>
                <a:r>
                  <a:rPr lang="en-US" sz="2000" b="1" dirty="0"/>
                  <a:t>⊕ </a:t>
                </a:r>
                <a:r>
                  <a:rPr lang="en-US" sz="2000" b="1" dirty="0">
                    <a:sym typeface="Symbol" pitchFamily="18" charset="2"/>
                  </a:rPr>
                  <a:t>G(</a:t>
                </a:r>
                <a:r>
                  <a:rPr lang="en-US" sz="2000" b="1" dirty="0"/>
                  <a:t>k)</a:t>
                </a:r>
                <a:r>
                  <a:rPr lang="en-US" sz="2800" b="1" dirty="0"/>
                  <a:t> </a:t>
                </a:r>
                <a:endParaRPr lang="en-US" sz="2000" b="1" dirty="0"/>
              </a:p>
            </p:txBody>
          </p:sp>
        </p:grpSp>
        <p:grpSp>
          <p:nvGrpSpPr>
            <p:cNvPr id="11" name="Group 22"/>
            <p:cNvGrpSpPr>
              <a:grpSpLocks/>
            </p:cNvGrpSpPr>
            <p:nvPr/>
          </p:nvGrpSpPr>
          <p:grpSpPr bwMode="auto">
            <a:xfrm>
              <a:off x="4800610" y="2171704"/>
              <a:ext cx="762001" cy="522684"/>
              <a:chOff x="4416" y="3466"/>
              <a:chExt cx="480" cy="439"/>
            </a:xfrm>
          </p:grpSpPr>
          <p:sp>
            <p:nvSpPr>
              <p:cNvPr id="13" name="Line 16"/>
              <p:cNvSpPr>
                <a:spLocks noChangeShapeType="1"/>
              </p:cNvSpPr>
              <p:nvPr/>
            </p:nvSpPr>
            <p:spPr bwMode="auto">
              <a:xfrm>
                <a:off x="4416" y="3546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 Box 17"/>
              <p:cNvSpPr txBox="1">
                <a:spLocks noChangeArrowheads="1"/>
              </p:cNvSpPr>
              <p:nvPr/>
            </p:nvSpPr>
            <p:spPr bwMode="auto">
              <a:xfrm>
                <a:off x="4418" y="3466"/>
                <a:ext cx="478" cy="4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b’</a:t>
                </a:r>
                <a:r>
                  <a:rPr lang="en-US" sz="2800" dirty="0"/>
                  <a:t>≟</a:t>
                </a:r>
                <a:r>
                  <a:rPr lang="en-US" sz="2400" dirty="0"/>
                  <a:t>1</a:t>
                </a:r>
              </a:p>
            </p:txBody>
          </p:sp>
        </p:grpSp>
        <p:cxnSp>
          <p:nvCxnSpPr>
            <p:cNvPr id="12" name="Straight Arrow Connector 20"/>
            <p:cNvCxnSpPr/>
            <p:nvPr/>
          </p:nvCxnSpPr>
          <p:spPr>
            <a:xfrm flipH="1">
              <a:off x="2590800" y="1504950"/>
              <a:ext cx="1752600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24"/>
          <p:cNvGrpSpPr/>
          <p:nvPr/>
        </p:nvGrpSpPr>
        <p:grpSpPr>
          <a:xfrm>
            <a:off x="1762408" y="4290219"/>
            <a:ext cx="3829050" cy="1553768"/>
            <a:chOff x="1676400" y="1104900"/>
            <a:chExt cx="3829050" cy="1553768"/>
          </a:xfrm>
        </p:grpSpPr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1676400" y="1314459"/>
              <a:ext cx="838200" cy="87629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/>
              <a:r>
                <a:rPr lang="en-US" dirty="0" err="1"/>
                <a:t>chal</a:t>
              </a:r>
              <a:r>
                <a:rPr lang="en-US" dirty="0"/>
                <a:t>.</a:t>
              </a:r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4419600" y="1352550"/>
              <a:ext cx="914400" cy="876291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/>
              <a:r>
                <a:rPr lang="en-US" dirty="0"/>
                <a:t>adv. A</a:t>
              </a:r>
            </a:p>
          </p:txBody>
        </p:sp>
        <p:sp>
          <p:nvSpPr>
            <p:cNvPr id="20" name="Text Box 8"/>
            <p:cNvSpPr txBox="1">
              <a:spLocks noChangeArrowheads="1"/>
            </p:cNvSpPr>
            <p:nvPr/>
          </p:nvSpPr>
          <p:spPr bwMode="auto">
            <a:xfrm>
              <a:off x="1752600" y="1745218"/>
              <a:ext cx="6373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err="1"/>
                <a:t>k</a:t>
              </a:r>
              <a:r>
                <a:rPr lang="en-US" dirty="0" err="1">
                  <a:sym typeface="Symbol" pitchFamily="18" charset="2"/>
                </a:rPr>
                <a:t>K</a:t>
              </a:r>
              <a:endParaRPr lang="en-US" b="1" dirty="0">
                <a:cs typeface="Arial" charset="0"/>
                <a:sym typeface="Symbol" pitchFamily="18" charset="2"/>
              </a:endParaRPr>
            </a:p>
          </p:txBody>
        </p:sp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2971800" y="1104900"/>
              <a:ext cx="11430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/>
                <a:t>m</a:t>
              </a:r>
              <a:r>
                <a:rPr lang="en-US" sz="2000" baseline="-25000" dirty="0"/>
                <a:t>0</a:t>
              </a:r>
              <a:r>
                <a:rPr lang="en-US" sz="2000" dirty="0"/>
                <a:t> , m</a:t>
              </a:r>
              <a:r>
                <a:rPr lang="en-US" sz="2000" baseline="-25000" dirty="0"/>
                <a:t>1</a:t>
              </a:r>
              <a:endParaRPr lang="en-US" sz="2000" dirty="0">
                <a:sym typeface="Symbol" pitchFamily="18" charset="2"/>
              </a:endParaRPr>
            </a:p>
          </p:txBody>
        </p:sp>
        <p:grpSp>
          <p:nvGrpSpPr>
            <p:cNvPr id="22" name="Group 20"/>
            <p:cNvGrpSpPr>
              <a:grpSpLocks/>
            </p:cNvGrpSpPr>
            <p:nvPr/>
          </p:nvGrpSpPr>
          <p:grpSpPr bwMode="auto">
            <a:xfrm>
              <a:off x="2590799" y="1581150"/>
              <a:ext cx="1828801" cy="533400"/>
              <a:chOff x="1776" y="2013"/>
              <a:chExt cx="1152" cy="448"/>
            </a:xfrm>
          </p:grpSpPr>
          <p:sp>
            <p:nvSpPr>
              <p:cNvPr id="27" name="Line 13"/>
              <p:cNvSpPr>
                <a:spLocks noChangeShapeType="1"/>
              </p:cNvSpPr>
              <p:nvPr/>
            </p:nvSpPr>
            <p:spPr bwMode="auto">
              <a:xfrm>
                <a:off x="1776" y="2454"/>
                <a:ext cx="1152" cy="7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 Box 14"/>
              <p:cNvSpPr txBox="1">
                <a:spLocks noChangeArrowheads="1"/>
              </p:cNvSpPr>
              <p:nvPr/>
            </p:nvSpPr>
            <p:spPr bwMode="auto">
              <a:xfrm>
                <a:off x="1824" y="2013"/>
                <a:ext cx="1090" cy="4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c </a:t>
                </a:r>
                <a:r>
                  <a:rPr lang="en-US" sz="2000" dirty="0">
                    <a:sym typeface="Symbol" pitchFamily="18" charset="2"/>
                  </a:rPr>
                  <a:t> </a:t>
                </a:r>
                <a:r>
                  <a:rPr lang="en-US" sz="2400" b="1" dirty="0"/>
                  <a:t>m</a:t>
                </a:r>
                <a:r>
                  <a:rPr lang="en-US" sz="32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sz="2400" b="1" baseline="-25000" dirty="0"/>
                  <a:t> </a:t>
                </a:r>
                <a:r>
                  <a:rPr lang="en-US" sz="2000" b="1" dirty="0"/>
                  <a:t>⊕ </a:t>
                </a:r>
                <a:r>
                  <a:rPr lang="en-US" sz="2000" b="1" dirty="0">
                    <a:sym typeface="Symbol" pitchFamily="18" charset="2"/>
                  </a:rPr>
                  <a:t>G(</a:t>
                </a:r>
                <a:r>
                  <a:rPr lang="en-US" sz="2000" b="1" dirty="0"/>
                  <a:t>k)</a:t>
                </a:r>
                <a:r>
                  <a:rPr lang="en-US" sz="2800" b="1" dirty="0"/>
                  <a:t> </a:t>
                </a:r>
                <a:endParaRPr lang="en-US" sz="2000" b="1" dirty="0"/>
              </a:p>
            </p:txBody>
          </p:sp>
        </p:grpSp>
        <p:grpSp>
          <p:nvGrpSpPr>
            <p:cNvPr id="23" name="Group 22"/>
            <p:cNvGrpSpPr>
              <a:grpSpLocks/>
            </p:cNvGrpSpPr>
            <p:nvPr/>
          </p:nvGrpSpPr>
          <p:grpSpPr bwMode="auto">
            <a:xfrm>
              <a:off x="4768850" y="2135984"/>
              <a:ext cx="736600" cy="522684"/>
              <a:chOff x="4396" y="3436"/>
              <a:chExt cx="464" cy="439"/>
            </a:xfrm>
          </p:grpSpPr>
          <p:sp>
            <p:nvSpPr>
              <p:cNvPr id="25" name="Line 16"/>
              <p:cNvSpPr>
                <a:spLocks noChangeShapeType="1"/>
              </p:cNvSpPr>
              <p:nvPr/>
            </p:nvSpPr>
            <p:spPr bwMode="auto">
              <a:xfrm>
                <a:off x="4416" y="3546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Box 17"/>
              <p:cNvSpPr txBox="1">
                <a:spLocks noChangeArrowheads="1"/>
              </p:cNvSpPr>
              <p:nvPr/>
            </p:nvSpPr>
            <p:spPr bwMode="auto">
              <a:xfrm>
                <a:off x="4396" y="3436"/>
                <a:ext cx="464" cy="4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b’</a:t>
                </a:r>
                <a:r>
                  <a:rPr lang="en-US" sz="2800" dirty="0"/>
                  <a:t>≟</a:t>
                </a:r>
                <a:r>
                  <a:rPr lang="en-US" sz="2000" dirty="0"/>
                  <a:t>1</a:t>
                </a:r>
                <a:endParaRPr lang="en-US" sz="2400" dirty="0"/>
              </a:p>
            </p:txBody>
          </p:sp>
        </p:grpSp>
        <p:cxnSp>
          <p:nvCxnSpPr>
            <p:cNvPr id="24" name="Straight Arrow Connector 31"/>
            <p:cNvCxnSpPr/>
            <p:nvPr/>
          </p:nvCxnSpPr>
          <p:spPr>
            <a:xfrm flipH="1">
              <a:off x="2590800" y="1504950"/>
              <a:ext cx="1752600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5724808" y="2461419"/>
            <a:ext cx="6198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≈</a:t>
            </a:r>
            <a:r>
              <a:rPr lang="en-US" sz="4000" baseline="-25000" dirty="0"/>
              <a:t>p</a:t>
            </a:r>
            <a:endParaRPr lang="en-US" sz="4000" dirty="0"/>
          </a:p>
        </p:txBody>
      </p:sp>
      <p:sp>
        <p:nvSpPr>
          <p:cNvPr id="30" name="TextBox 29"/>
          <p:cNvSpPr txBox="1"/>
          <p:nvPr/>
        </p:nvSpPr>
        <p:spPr>
          <a:xfrm>
            <a:off x="5724808" y="4595019"/>
            <a:ext cx="6198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≈</a:t>
            </a:r>
            <a:r>
              <a:rPr lang="en-US" sz="4000" baseline="-25000" dirty="0"/>
              <a:t>p</a:t>
            </a:r>
            <a:endParaRPr lang="en-US" sz="4000" dirty="0"/>
          </a:p>
        </p:txBody>
      </p:sp>
      <p:sp>
        <p:nvSpPr>
          <p:cNvPr id="31" name="TextBox 30"/>
          <p:cNvSpPr txBox="1"/>
          <p:nvPr/>
        </p:nvSpPr>
        <p:spPr>
          <a:xfrm>
            <a:off x="8010808" y="3506133"/>
            <a:ext cx="6198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≈</a:t>
            </a:r>
            <a:r>
              <a:rPr lang="en-US" sz="4000" baseline="-25000" dirty="0"/>
              <a:t>p</a:t>
            </a:r>
            <a:endParaRPr lang="en-US" sz="4000" dirty="0"/>
          </a:p>
        </p:txBody>
      </p:sp>
      <p:sp>
        <p:nvSpPr>
          <p:cNvPr id="32" name="Rounded Rectangle 76"/>
          <p:cNvSpPr/>
          <p:nvPr/>
        </p:nvSpPr>
        <p:spPr>
          <a:xfrm>
            <a:off x="1610008" y="2080419"/>
            <a:ext cx="4114800" cy="167640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80"/>
          <p:cNvGrpSpPr/>
          <p:nvPr/>
        </p:nvGrpSpPr>
        <p:grpSpPr>
          <a:xfrm>
            <a:off x="6334408" y="2080419"/>
            <a:ext cx="4114800" cy="1741888"/>
            <a:chOff x="4876800" y="1047750"/>
            <a:chExt cx="4114800" cy="1741888"/>
          </a:xfrm>
        </p:grpSpPr>
        <p:grpSp>
          <p:nvGrpSpPr>
            <p:cNvPr id="34" name="Group 36"/>
            <p:cNvGrpSpPr/>
            <p:nvPr/>
          </p:nvGrpSpPr>
          <p:grpSpPr>
            <a:xfrm>
              <a:off x="5029200" y="1123950"/>
              <a:ext cx="3937010" cy="1665688"/>
              <a:chOff x="1562100" y="1104900"/>
              <a:chExt cx="3937010" cy="1665688"/>
            </a:xfrm>
          </p:grpSpPr>
          <p:sp>
            <p:nvSpPr>
              <p:cNvPr id="36" name="Rectangle 4"/>
              <p:cNvSpPr>
                <a:spLocks noChangeArrowheads="1"/>
              </p:cNvSpPr>
              <p:nvPr/>
            </p:nvSpPr>
            <p:spPr bwMode="auto">
              <a:xfrm>
                <a:off x="1600200" y="1314459"/>
                <a:ext cx="914400" cy="8762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 err="1"/>
                  <a:t>chal</a:t>
                </a:r>
                <a:r>
                  <a:rPr lang="en-US" dirty="0"/>
                  <a:t>.</a:t>
                </a:r>
              </a:p>
            </p:txBody>
          </p:sp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4419600" y="1352550"/>
                <a:ext cx="914400" cy="876291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A</a:t>
                </a:r>
              </a:p>
            </p:txBody>
          </p:sp>
          <p:sp>
            <p:nvSpPr>
              <p:cNvPr id="38" name="Text Box 8"/>
              <p:cNvSpPr txBox="1">
                <a:spLocks noChangeArrowheads="1"/>
              </p:cNvSpPr>
              <p:nvPr/>
            </p:nvSpPr>
            <p:spPr bwMode="auto">
              <a:xfrm>
                <a:off x="1562100" y="1732518"/>
                <a:ext cx="101053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itchFamily="18" charset="2"/>
                  </a:rPr>
                  <a:t>r{0,1}</a:t>
                </a:r>
                <a:r>
                  <a:rPr lang="en-US" baseline="30000" dirty="0">
                    <a:sym typeface="Symbol" pitchFamily="18" charset="2"/>
                  </a:rPr>
                  <a:t>n</a:t>
                </a:r>
                <a:endParaRPr lang="en-US" b="1" baseline="30000" dirty="0">
                  <a:cs typeface="Arial" charset="0"/>
                  <a:sym typeface="Symbol" pitchFamily="18" charset="2"/>
                </a:endParaRPr>
              </a:p>
            </p:txBody>
          </p:sp>
          <p:sp>
            <p:nvSpPr>
              <p:cNvPr id="39" name="Text Box 11"/>
              <p:cNvSpPr txBox="1">
                <a:spLocks noChangeArrowheads="1"/>
              </p:cNvSpPr>
              <p:nvPr/>
            </p:nvSpPr>
            <p:spPr bwMode="auto">
              <a:xfrm>
                <a:off x="2971800" y="1104900"/>
                <a:ext cx="11430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m</a:t>
                </a:r>
                <a:r>
                  <a:rPr lang="en-US" sz="2000" baseline="-25000" dirty="0"/>
                  <a:t>0</a:t>
                </a:r>
                <a:r>
                  <a:rPr lang="en-US" sz="2000" dirty="0"/>
                  <a:t> , m</a:t>
                </a:r>
                <a:r>
                  <a:rPr lang="en-US" sz="2000" baseline="-25000" dirty="0"/>
                  <a:t>1</a:t>
                </a:r>
                <a:endParaRPr lang="en-US" sz="2000" dirty="0">
                  <a:sym typeface="Symbol" pitchFamily="18" charset="2"/>
                </a:endParaRPr>
              </a:p>
            </p:txBody>
          </p:sp>
          <p:grpSp>
            <p:nvGrpSpPr>
              <p:cNvPr id="40" name="Group 20"/>
              <p:cNvGrpSpPr>
                <a:grpSpLocks/>
              </p:cNvGrpSpPr>
              <p:nvPr/>
            </p:nvGrpSpPr>
            <p:grpSpPr bwMode="auto">
              <a:xfrm>
                <a:off x="2590799" y="1581150"/>
                <a:ext cx="1828801" cy="533400"/>
                <a:chOff x="1776" y="2013"/>
                <a:chExt cx="1152" cy="448"/>
              </a:xfrm>
            </p:grpSpPr>
            <p:sp>
              <p:nvSpPr>
                <p:cNvPr id="45" name="Line 13"/>
                <p:cNvSpPr>
                  <a:spLocks noChangeShapeType="1"/>
                </p:cNvSpPr>
                <p:nvPr/>
              </p:nvSpPr>
              <p:spPr bwMode="auto">
                <a:xfrm>
                  <a:off x="1776" y="2454"/>
                  <a:ext cx="1152" cy="7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824" y="2013"/>
                  <a:ext cx="868" cy="4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dirty="0"/>
                    <a:t>c </a:t>
                  </a:r>
                  <a:r>
                    <a:rPr lang="en-US" sz="2000" dirty="0">
                      <a:sym typeface="Symbol" pitchFamily="18" charset="2"/>
                    </a:rPr>
                    <a:t> </a:t>
                  </a:r>
                  <a:r>
                    <a:rPr lang="en-US" sz="2400" b="1" dirty="0"/>
                    <a:t>m</a:t>
                  </a:r>
                  <a:r>
                    <a:rPr lang="en-US" sz="3200" b="1" baseline="-25000" dirty="0">
                      <a:solidFill>
                        <a:srgbClr val="FF0000"/>
                      </a:solidFill>
                    </a:rPr>
                    <a:t>0</a:t>
                  </a:r>
                  <a:r>
                    <a:rPr lang="en-US" sz="2400" b="1" baseline="-25000" dirty="0"/>
                    <a:t> </a:t>
                  </a:r>
                  <a:r>
                    <a:rPr lang="en-US" sz="2000" b="1" dirty="0"/>
                    <a:t>⊕ </a:t>
                  </a:r>
                  <a:r>
                    <a:rPr lang="en-US" sz="2000" b="1" dirty="0">
                      <a:sym typeface="Symbol" pitchFamily="18" charset="2"/>
                    </a:rPr>
                    <a:t>r</a:t>
                  </a:r>
                  <a:r>
                    <a:rPr lang="en-US" sz="2800" b="1" dirty="0"/>
                    <a:t> </a:t>
                  </a:r>
                  <a:endParaRPr lang="en-US" sz="2000" b="1" dirty="0"/>
                </a:p>
              </p:txBody>
            </p:sp>
          </p:grpSp>
          <p:grpSp>
            <p:nvGrpSpPr>
              <p:cNvPr id="41" name="Group 22"/>
              <p:cNvGrpSpPr>
                <a:grpSpLocks/>
              </p:cNvGrpSpPr>
              <p:nvPr/>
            </p:nvGrpSpPr>
            <p:grpSpPr bwMode="auto">
              <a:xfrm>
                <a:off x="4762509" y="2247904"/>
                <a:ext cx="736601" cy="522684"/>
                <a:chOff x="4392" y="3530"/>
                <a:chExt cx="464" cy="439"/>
              </a:xfrm>
            </p:grpSpPr>
            <p:sp>
              <p:nvSpPr>
                <p:cNvPr id="43" name="Line 16"/>
                <p:cNvSpPr>
                  <a:spLocks noChangeShapeType="1"/>
                </p:cNvSpPr>
                <p:nvPr/>
              </p:nvSpPr>
              <p:spPr bwMode="auto">
                <a:xfrm>
                  <a:off x="4416" y="3546"/>
                  <a:ext cx="0" cy="3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392" y="3530"/>
                  <a:ext cx="464" cy="4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b’</a:t>
                  </a:r>
                  <a:r>
                    <a:rPr lang="en-US" sz="2800" dirty="0"/>
                    <a:t>≟</a:t>
                  </a:r>
                  <a:r>
                    <a:rPr lang="en-US" sz="2000" dirty="0"/>
                    <a:t>1</a:t>
                  </a:r>
                  <a:endParaRPr lang="en-US" sz="2400" dirty="0"/>
                </a:p>
              </p:txBody>
            </p:sp>
          </p:grpSp>
          <p:cxnSp>
            <p:nvCxnSpPr>
              <p:cNvPr id="42" name="Straight Arrow Connector 43"/>
              <p:cNvCxnSpPr/>
              <p:nvPr/>
            </p:nvCxnSpPr>
            <p:spPr>
              <a:xfrm flipH="1">
                <a:off x="2590800" y="1504950"/>
                <a:ext cx="1752600" cy="0"/>
              </a:xfrm>
              <a:prstGeom prst="straightConnector1">
                <a:avLst/>
              </a:prstGeom>
              <a:ln w="38100" cmpd="sng"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Rounded Rectangle 77"/>
            <p:cNvSpPr/>
            <p:nvPr/>
          </p:nvSpPr>
          <p:spPr>
            <a:xfrm>
              <a:off x="4876800" y="1047750"/>
              <a:ext cx="4114800" cy="1676400"/>
            </a:xfrm>
            <a:prstGeom prst="round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81"/>
          <p:cNvGrpSpPr/>
          <p:nvPr/>
        </p:nvGrpSpPr>
        <p:grpSpPr>
          <a:xfrm>
            <a:off x="6334408" y="4290219"/>
            <a:ext cx="4127500" cy="1676400"/>
            <a:chOff x="4876800" y="3257550"/>
            <a:chExt cx="4127500" cy="1676400"/>
          </a:xfrm>
        </p:grpSpPr>
        <p:grpSp>
          <p:nvGrpSpPr>
            <p:cNvPr id="48" name="Group 61"/>
            <p:cNvGrpSpPr/>
            <p:nvPr/>
          </p:nvGrpSpPr>
          <p:grpSpPr>
            <a:xfrm>
              <a:off x="5067300" y="3257550"/>
              <a:ext cx="3937000" cy="1553768"/>
              <a:chOff x="1562100" y="1104900"/>
              <a:chExt cx="3937000" cy="1553768"/>
            </a:xfrm>
          </p:grpSpPr>
          <p:sp>
            <p:nvSpPr>
              <p:cNvPr id="50" name="Rectangle 4"/>
              <p:cNvSpPr>
                <a:spLocks noChangeArrowheads="1"/>
              </p:cNvSpPr>
              <p:nvPr/>
            </p:nvSpPr>
            <p:spPr bwMode="auto">
              <a:xfrm>
                <a:off x="1600200" y="1314459"/>
                <a:ext cx="914400" cy="8762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 err="1"/>
                  <a:t>chal</a:t>
                </a:r>
                <a:r>
                  <a:rPr lang="en-US" dirty="0"/>
                  <a:t>.</a:t>
                </a:r>
              </a:p>
            </p:txBody>
          </p:sp>
          <p:sp>
            <p:nvSpPr>
              <p:cNvPr id="51" name="Rectangle 7"/>
              <p:cNvSpPr>
                <a:spLocks noChangeArrowheads="1"/>
              </p:cNvSpPr>
              <p:nvPr/>
            </p:nvSpPr>
            <p:spPr bwMode="auto">
              <a:xfrm>
                <a:off x="4419600" y="1352550"/>
                <a:ext cx="914400" cy="876291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 dirty="0"/>
                  <a:t>adv. A</a:t>
                </a:r>
              </a:p>
            </p:txBody>
          </p:sp>
          <p:sp>
            <p:nvSpPr>
              <p:cNvPr id="52" name="Text Box 8"/>
              <p:cNvSpPr txBox="1">
                <a:spLocks noChangeArrowheads="1"/>
              </p:cNvSpPr>
              <p:nvPr/>
            </p:nvSpPr>
            <p:spPr bwMode="auto">
              <a:xfrm>
                <a:off x="1562100" y="1732518"/>
                <a:ext cx="101053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ym typeface="Symbol" pitchFamily="18" charset="2"/>
                  </a:rPr>
                  <a:t>r{0,1}</a:t>
                </a:r>
                <a:r>
                  <a:rPr lang="en-US" baseline="30000" dirty="0">
                    <a:sym typeface="Symbol" pitchFamily="18" charset="2"/>
                  </a:rPr>
                  <a:t>n</a:t>
                </a:r>
                <a:endParaRPr lang="en-US" b="1" baseline="30000" dirty="0">
                  <a:cs typeface="Arial" charset="0"/>
                  <a:sym typeface="Symbol" pitchFamily="18" charset="2"/>
                </a:endParaRPr>
              </a:p>
            </p:txBody>
          </p:sp>
          <p:sp>
            <p:nvSpPr>
              <p:cNvPr id="53" name="Text Box 11"/>
              <p:cNvSpPr txBox="1">
                <a:spLocks noChangeArrowheads="1"/>
              </p:cNvSpPr>
              <p:nvPr/>
            </p:nvSpPr>
            <p:spPr bwMode="auto">
              <a:xfrm>
                <a:off x="2971800" y="1104900"/>
                <a:ext cx="11430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/>
                  <a:t>m</a:t>
                </a:r>
                <a:r>
                  <a:rPr lang="en-US" sz="2000" baseline="-25000" dirty="0"/>
                  <a:t>0</a:t>
                </a:r>
                <a:r>
                  <a:rPr lang="en-US" sz="2000" dirty="0"/>
                  <a:t> , m</a:t>
                </a:r>
                <a:r>
                  <a:rPr lang="en-US" sz="2000" baseline="-25000" dirty="0"/>
                  <a:t>1</a:t>
                </a:r>
                <a:endParaRPr lang="en-US" sz="2000" dirty="0">
                  <a:sym typeface="Symbol" pitchFamily="18" charset="2"/>
                </a:endParaRPr>
              </a:p>
            </p:txBody>
          </p:sp>
          <p:grpSp>
            <p:nvGrpSpPr>
              <p:cNvPr id="54" name="Group 20"/>
              <p:cNvGrpSpPr>
                <a:grpSpLocks/>
              </p:cNvGrpSpPr>
              <p:nvPr/>
            </p:nvGrpSpPr>
            <p:grpSpPr bwMode="auto">
              <a:xfrm>
                <a:off x="2590799" y="1581150"/>
                <a:ext cx="1828801" cy="533400"/>
                <a:chOff x="1776" y="2013"/>
                <a:chExt cx="1152" cy="448"/>
              </a:xfrm>
            </p:grpSpPr>
            <p:sp>
              <p:nvSpPr>
                <p:cNvPr id="59" name="Line 13"/>
                <p:cNvSpPr>
                  <a:spLocks noChangeShapeType="1"/>
                </p:cNvSpPr>
                <p:nvPr/>
              </p:nvSpPr>
              <p:spPr bwMode="auto">
                <a:xfrm>
                  <a:off x="1776" y="2454"/>
                  <a:ext cx="1152" cy="7"/>
                </a:xfrm>
                <a:prstGeom prst="line">
                  <a:avLst/>
                </a:prstGeom>
                <a:noFill/>
                <a:ln w="38100" cmpd="sng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824" y="2013"/>
                  <a:ext cx="868" cy="4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000" dirty="0"/>
                    <a:t>c </a:t>
                  </a:r>
                  <a:r>
                    <a:rPr lang="en-US" sz="2000" dirty="0">
                      <a:sym typeface="Symbol" pitchFamily="18" charset="2"/>
                    </a:rPr>
                    <a:t> </a:t>
                  </a:r>
                  <a:r>
                    <a:rPr lang="en-US" sz="2400" b="1" dirty="0"/>
                    <a:t>m</a:t>
                  </a:r>
                  <a:r>
                    <a:rPr lang="en-US" sz="3200" b="1" baseline="-25000" dirty="0">
                      <a:solidFill>
                        <a:srgbClr val="FF0000"/>
                      </a:solidFill>
                    </a:rPr>
                    <a:t>1</a:t>
                  </a:r>
                  <a:r>
                    <a:rPr lang="en-US" sz="2400" b="1" baseline="-25000" dirty="0"/>
                    <a:t> </a:t>
                  </a:r>
                  <a:r>
                    <a:rPr lang="en-US" sz="2000" b="1" dirty="0"/>
                    <a:t>⊕ </a:t>
                  </a:r>
                  <a:r>
                    <a:rPr lang="en-US" sz="2000" b="1" dirty="0">
                      <a:sym typeface="Symbol" pitchFamily="18" charset="2"/>
                    </a:rPr>
                    <a:t>r</a:t>
                  </a:r>
                  <a:r>
                    <a:rPr lang="en-US" sz="2800" b="1" dirty="0"/>
                    <a:t> </a:t>
                  </a:r>
                  <a:endParaRPr lang="en-US" sz="2000" b="1" dirty="0"/>
                </a:p>
              </p:txBody>
            </p:sp>
          </p:grpSp>
          <p:grpSp>
            <p:nvGrpSpPr>
              <p:cNvPr id="55" name="Group 22"/>
              <p:cNvGrpSpPr>
                <a:grpSpLocks/>
              </p:cNvGrpSpPr>
              <p:nvPr/>
            </p:nvGrpSpPr>
            <p:grpSpPr bwMode="auto">
              <a:xfrm>
                <a:off x="4762500" y="2135984"/>
                <a:ext cx="736600" cy="522684"/>
                <a:chOff x="4392" y="3436"/>
                <a:chExt cx="464" cy="439"/>
              </a:xfrm>
            </p:grpSpPr>
            <p:sp>
              <p:nvSpPr>
                <p:cNvPr id="57" name="Line 16"/>
                <p:cNvSpPr>
                  <a:spLocks noChangeShapeType="1"/>
                </p:cNvSpPr>
                <p:nvPr/>
              </p:nvSpPr>
              <p:spPr bwMode="auto">
                <a:xfrm>
                  <a:off x="4416" y="3546"/>
                  <a:ext cx="0" cy="3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392" y="3436"/>
                  <a:ext cx="464" cy="4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b’</a:t>
                  </a:r>
                  <a:r>
                    <a:rPr lang="en-US" sz="2800" dirty="0"/>
                    <a:t>≟</a:t>
                  </a:r>
                  <a:r>
                    <a:rPr lang="en-US" sz="2000" dirty="0"/>
                    <a:t>1</a:t>
                  </a:r>
                  <a:endParaRPr lang="en-US" sz="2400" dirty="0"/>
                </a:p>
              </p:txBody>
            </p:sp>
          </p:grpSp>
          <p:cxnSp>
            <p:nvCxnSpPr>
              <p:cNvPr id="56" name="Straight Arrow Connector 68"/>
              <p:cNvCxnSpPr/>
              <p:nvPr/>
            </p:nvCxnSpPr>
            <p:spPr>
              <a:xfrm flipH="1">
                <a:off x="2590800" y="1504950"/>
                <a:ext cx="1752600" cy="0"/>
              </a:xfrm>
              <a:prstGeom prst="straightConnector1">
                <a:avLst/>
              </a:prstGeom>
              <a:ln w="38100" cmpd="sng"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Rounded Rectangle 78"/>
            <p:cNvSpPr/>
            <p:nvPr/>
          </p:nvSpPr>
          <p:spPr>
            <a:xfrm>
              <a:off x="4876800" y="3257550"/>
              <a:ext cx="4114800" cy="1676400"/>
            </a:xfrm>
            <a:prstGeom prst="round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ounded Rectangle 79"/>
          <p:cNvSpPr/>
          <p:nvPr/>
        </p:nvSpPr>
        <p:spPr>
          <a:xfrm>
            <a:off x="1610008" y="4290219"/>
            <a:ext cx="4114800" cy="167640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6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79373"/>
                <a:ext cx="10515600" cy="359758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 </m:t>
                    </m:r>
                  </m:oMath>
                </a14:m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противник в игре на семантическую стойкость.</a:t>
                </a:r>
              </a:p>
              <a:p>
                <a:pPr marL="0" indent="0">
                  <a:buNone/>
                </a:pPr>
                <a:r>
                  <a:rPr lang="ru-RU" dirty="0"/>
                  <a:t>Пусть претендент  также генерирует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groupChr>
                      <m:groupChrPr>
                        <m:chr m:val="←"/>
                        <m:vertJc m:val="bot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событие, при котором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79373"/>
                <a:ext cx="10515600" cy="3597589"/>
              </a:xfrm>
              <a:blipFill>
                <a:blip r:embed="rId2"/>
                <a:stretch>
                  <a:fillRect l="-1043" t="-25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35</a:t>
            </a:fld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20505" y="142546"/>
            <a:ext cx="10542006" cy="230189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/>
              <p:cNvSpPr txBox="1">
                <a:spLocks/>
              </p:cNvSpPr>
              <p:nvPr/>
            </p:nvSpPr>
            <p:spPr>
              <a:xfrm>
                <a:off x="838200" y="277483"/>
                <a:ext cx="10515600" cy="21669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b="1" dirty="0"/>
                  <a:t>Теорема 2.4.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 стойкий генератор (</a:t>
                </a:r>
                <a:r>
                  <a:rPr lang="en-US" dirty="0"/>
                  <a:t>PRG)</a:t>
                </a:r>
                <a:r>
                  <a:rPr lang="ru-RU" dirty="0"/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/>
                  <a:t>Тогда поточный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определённый с использованием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семантически стойкий, т.е.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противник в игре на семантическую стойкость,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противник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PRG (</a:t>
                </a:r>
                <a:r>
                  <a:rPr lang="ru-RU" dirty="0"/>
                  <a:t>различимость)</a:t>
                </a:r>
                <a:r>
                  <a:rPr lang="en-US" dirty="0"/>
                  <a:t>: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≤2∗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7483"/>
                <a:ext cx="10515600" cy="2166953"/>
              </a:xfrm>
              <a:prstGeom prst="rect">
                <a:avLst/>
              </a:prstGeom>
              <a:blipFill>
                <a:blip r:embed="rId3"/>
                <a:stretch>
                  <a:fillRect l="-1043" t="-45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009522" y="4565658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 flipV="1">
            <a:off x="1942722" y="5194306"/>
            <a:ext cx="1066800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191122" y="4565658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Adv.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8"/>
              <p:cNvSpPr txBox="1">
                <a:spLocks noChangeArrowheads="1"/>
              </p:cNvSpPr>
              <p:nvPr/>
            </p:nvSpPr>
            <p:spPr bwMode="auto">
              <a:xfrm>
                <a:off x="3314323" y="4919273"/>
                <a:ext cx="810158" cy="4644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b="1" i="1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0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323" y="4919273"/>
                <a:ext cx="810158" cy="4644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21"/>
          <p:cNvGrpSpPr>
            <a:grpSpLocks/>
          </p:cNvGrpSpPr>
          <p:nvPr/>
        </p:nvGrpSpPr>
        <p:grpSpPr bwMode="auto">
          <a:xfrm>
            <a:off x="4381122" y="4649001"/>
            <a:ext cx="3810000" cy="403622"/>
            <a:chOff x="1776" y="1783"/>
            <a:chExt cx="2400" cy="339"/>
          </a:xfrm>
        </p:grpSpPr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968" y="1783"/>
                  <a:ext cx="2184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68" y="1783"/>
                  <a:ext cx="2184" cy="336"/>
                </a:xfrm>
                <a:prstGeom prst="rect">
                  <a:avLst/>
                </a:prstGeom>
                <a:blipFill>
                  <a:blip r:embed="rId5"/>
                  <a:stretch>
                    <a:fillRect b="-1538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20"/>
          <p:cNvGrpSpPr>
            <a:grpSpLocks/>
          </p:cNvGrpSpPr>
          <p:nvPr/>
        </p:nvGrpSpPr>
        <p:grpSpPr bwMode="auto">
          <a:xfrm>
            <a:off x="4381122" y="5183596"/>
            <a:ext cx="3733802" cy="402432"/>
            <a:chOff x="1776" y="2116"/>
            <a:chExt cx="2352" cy="338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776" y="2454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276" y="2116"/>
                  <a:ext cx="1312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ru-RU" sz="2000" b="0" i="1" dirty="0" smtClean="0">
                            <a:latin typeface="Cambria Math" panose="02040503050406030204" pitchFamily="18" charset="0"/>
                          </a:rPr>
                          <m:t>←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𝐺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en-US" sz="2000" i="1" dirty="0"/>
                </a:p>
              </p:txBody>
            </p:sp>
          </mc:Choice>
          <mc:Fallback xmlns="">
            <p:sp>
              <p:nvSpPr>
                <p:cNvPr id="1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76" y="2116"/>
                  <a:ext cx="1312" cy="336"/>
                </a:xfrm>
                <a:prstGeom prst="rect">
                  <a:avLst/>
                </a:prstGeom>
                <a:blipFill>
                  <a:blip r:embed="rId6"/>
                  <a:stretch>
                    <a:fillRect b="-15152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22"/>
          <p:cNvGrpSpPr>
            <a:grpSpLocks/>
          </p:cNvGrpSpPr>
          <p:nvPr/>
        </p:nvGrpSpPr>
        <p:grpSpPr bwMode="auto">
          <a:xfrm>
            <a:off x="9410322" y="5746751"/>
            <a:ext cx="1371600" cy="609599"/>
            <a:chOff x="4416" y="3546"/>
            <a:chExt cx="864" cy="512"/>
          </a:xfrm>
        </p:grpSpPr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4416" y="3546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4420" y="3670"/>
              <a:ext cx="86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 dirty="0"/>
                <a:t>b’</a:t>
              </a:r>
              <a:r>
                <a:rPr lang="en-US" sz="2400" dirty="0"/>
                <a:t> </a:t>
              </a:r>
              <a:r>
                <a:rPr lang="en-US" sz="2400" dirty="0">
                  <a:sym typeface="Symbol" pitchFamily="18" charset="2"/>
                </a:rPr>
                <a:t> {0,1}</a:t>
              </a:r>
              <a:endParaRPr lang="en-US" sz="2400" dirty="0"/>
            </a:p>
          </p:txBody>
        </p:sp>
      </p:grp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2323722" y="4337058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8"/>
              <p:cNvSpPr txBox="1">
                <a:spLocks noChangeArrowheads="1"/>
              </p:cNvSpPr>
              <p:nvPr/>
            </p:nvSpPr>
            <p:spPr bwMode="auto">
              <a:xfrm>
                <a:off x="3109941" y="5282265"/>
                <a:ext cx="1209114" cy="4644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𝑟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1" i="1" baseline="30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1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9941" y="5282265"/>
                <a:ext cx="1209114" cy="4644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1845738" y="4688440"/>
            <a:ext cx="3463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i="1" dirty="0"/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7560" y="5925352"/>
            <a:ext cx="24733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Игра </a:t>
            </a:r>
            <a:r>
              <a:rPr lang="en-US" sz="2400" dirty="0"/>
              <a:t>G(generator)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4242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79373"/>
                <a:ext cx="10515600" cy="359758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 противник в игре на семантическую стойкость.</a:t>
                </a:r>
              </a:p>
              <a:p>
                <a:pPr marL="0" indent="0">
                  <a:buNone/>
                </a:pPr>
                <a:r>
                  <a:rPr lang="ru-RU" dirty="0"/>
                  <a:t>Пусть претендент  шифрует сообщение одноразовым блокнотом (</a:t>
                </a:r>
                <a:r>
                  <a:rPr lang="en-US" dirty="0"/>
                  <a:t>OTP)</a:t>
                </a:r>
                <a:r>
                  <a:rPr lang="ru-RU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событие, при котором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79373"/>
                <a:ext cx="10515600" cy="3597589"/>
              </a:xfrm>
              <a:blipFill>
                <a:blip r:embed="rId2"/>
                <a:stretch>
                  <a:fillRect l="-1043" t="-25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36</a:t>
            </a:fld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20505" y="142546"/>
            <a:ext cx="10542006" cy="230189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/>
              <p:cNvSpPr txBox="1">
                <a:spLocks/>
              </p:cNvSpPr>
              <p:nvPr/>
            </p:nvSpPr>
            <p:spPr>
              <a:xfrm>
                <a:off x="838200" y="277483"/>
                <a:ext cx="10515600" cy="21669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b="1" dirty="0"/>
                  <a:t>Теорема 2.4.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 стойкий генератор (</a:t>
                </a:r>
                <a:r>
                  <a:rPr lang="en-US" dirty="0"/>
                  <a:t>PRG)</a:t>
                </a:r>
                <a:r>
                  <a:rPr lang="ru-RU" dirty="0"/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/>
                  <a:t>Тогда поточный шифр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определённый с использованием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семантически стойкий, т.е.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противник в игре на семантическую стойкость,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противник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PRG (</a:t>
                </a:r>
                <a:r>
                  <a:rPr lang="ru-RU" dirty="0"/>
                  <a:t>различимость)</a:t>
                </a:r>
                <a:r>
                  <a:rPr lang="en-US" dirty="0"/>
                  <a:t>: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≤2∗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7483"/>
                <a:ext cx="10515600" cy="2166953"/>
              </a:xfrm>
              <a:prstGeom prst="rect">
                <a:avLst/>
              </a:prstGeom>
              <a:blipFill>
                <a:blip r:embed="rId3"/>
                <a:stretch>
                  <a:fillRect l="-1043" t="-45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009522" y="4565658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 flipV="1">
            <a:off x="1942722" y="5194306"/>
            <a:ext cx="1066800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191122" y="4565658"/>
            <a:ext cx="1295400" cy="11882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Adv. A</a:t>
            </a:r>
          </a:p>
        </p:txBody>
      </p:sp>
      <p:grpSp>
        <p:nvGrpSpPr>
          <p:cNvPr id="11" name="Group 21"/>
          <p:cNvGrpSpPr>
            <a:grpSpLocks/>
          </p:cNvGrpSpPr>
          <p:nvPr/>
        </p:nvGrpSpPr>
        <p:grpSpPr bwMode="auto">
          <a:xfrm>
            <a:off x="4381122" y="4649001"/>
            <a:ext cx="3810000" cy="403622"/>
            <a:chOff x="1776" y="1783"/>
            <a:chExt cx="2400" cy="339"/>
          </a:xfrm>
        </p:grpSpPr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>
              <a:off x="1776" y="2122"/>
              <a:ext cx="2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968" y="1783"/>
                  <a:ext cx="217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 :    |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 = |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|</m:t>
                        </m:r>
                      </m:oMath>
                    </m:oMathPara>
                  </a14:m>
                  <a:endParaRPr lang="en-US" sz="2000" dirty="0">
                    <a:sym typeface="Symbol" pitchFamily="18" charset="2"/>
                  </a:endParaRPr>
                </a:p>
              </p:txBody>
            </p:sp>
          </mc:Choice>
          <mc:Fallback xmlns="">
            <p:sp>
              <p:nvSpPr>
                <p:cNvPr id="13" name="Text 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68" y="1783"/>
                  <a:ext cx="2178" cy="336"/>
                </a:xfrm>
                <a:prstGeom prst="rect">
                  <a:avLst/>
                </a:prstGeom>
                <a:blipFill>
                  <a:blip r:embed="rId4"/>
                  <a:stretch>
                    <a:fillRect b="-15385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20"/>
          <p:cNvGrpSpPr>
            <a:grpSpLocks/>
          </p:cNvGrpSpPr>
          <p:nvPr/>
        </p:nvGrpSpPr>
        <p:grpSpPr bwMode="auto">
          <a:xfrm>
            <a:off x="4381122" y="5213357"/>
            <a:ext cx="3733802" cy="400050"/>
            <a:chOff x="1776" y="2141"/>
            <a:chExt cx="2352" cy="336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776" y="2454"/>
              <a:ext cx="2352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30" y="2141"/>
                  <a:ext cx="1075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←</m:t>
                        </m:r>
                        <m:sSub>
                          <m:sSubPr>
                            <m:ctrlP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sub>
                        </m:sSub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⊕ 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𝒓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6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30" y="2141"/>
                  <a:ext cx="1075" cy="336"/>
                </a:xfrm>
                <a:prstGeom prst="rect">
                  <a:avLst/>
                </a:prstGeom>
                <a:blipFill>
                  <a:blip r:embed="rId5"/>
                  <a:stretch>
                    <a:fillRect b="-7576"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22"/>
          <p:cNvGrpSpPr>
            <a:grpSpLocks/>
          </p:cNvGrpSpPr>
          <p:nvPr/>
        </p:nvGrpSpPr>
        <p:grpSpPr bwMode="auto">
          <a:xfrm>
            <a:off x="9410322" y="5746751"/>
            <a:ext cx="1371600" cy="609599"/>
            <a:chOff x="4416" y="3546"/>
            <a:chExt cx="864" cy="512"/>
          </a:xfrm>
        </p:grpSpPr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4416" y="3546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4420" y="3670"/>
              <a:ext cx="86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i="1" dirty="0"/>
                <a:t>b’</a:t>
              </a:r>
              <a:r>
                <a:rPr lang="en-US" sz="2400" dirty="0"/>
                <a:t> </a:t>
              </a:r>
              <a:r>
                <a:rPr lang="en-US" sz="2400" dirty="0">
                  <a:sym typeface="Symbol" pitchFamily="18" charset="2"/>
                </a:rPr>
                <a:t> {0,1}</a:t>
              </a:r>
              <a:endParaRPr lang="en-US" sz="2400" dirty="0"/>
            </a:p>
          </p:txBody>
        </p:sp>
      </p:grp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2323722" y="4337058"/>
            <a:ext cx="7924800" cy="1588294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8"/>
              <p:cNvSpPr txBox="1">
                <a:spLocks noChangeArrowheads="1"/>
              </p:cNvSpPr>
              <p:nvPr/>
            </p:nvSpPr>
            <p:spPr bwMode="auto">
              <a:xfrm>
                <a:off x="3109941" y="5282265"/>
                <a:ext cx="1209114" cy="4644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sym typeface="Symbol" pitchFamily="18" charset="2"/>
                        </a:rPr>
                        <m:t>𝑟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1" i="1" baseline="30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1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9941" y="5282265"/>
                <a:ext cx="1209114" cy="4644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1845738" y="4688440"/>
            <a:ext cx="3463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i="1" dirty="0"/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3540" y="5997089"/>
            <a:ext cx="2198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Игра </a:t>
            </a:r>
            <a:r>
              <a:rPr lang="en-US" sz="2400" dirty="0"/>
              <a:t>R(random)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8"/>
              <p:cNvSpPr txBox="1">
                <a:spLocks noChangeArrowheads="1"/>
              </p:cNvSpPr>
              <p:nvPr/>
            </p:nvSpPr>
            <p:spPr bwMode="auto">
              <a:xfrm>
                <a:off x="3314323" y="4919273"/>
                <a:ext cx="810158" cy="4644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b="1" i="1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4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323" y="4919273"/>
                <a:ext cx="810158" cy="4644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6034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79373"/>
                <a:ext cx="10515600" cy="359758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Утверждение 2.4.1.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OT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=0=|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b="1" dirty="0"/>
                  <a:t>Утверждение 2.4.2.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]|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т.е.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– противник, которые пытается различить </a:t>
                </a:r>
                <a:r>
                  <a:rPr lang="en-US" dirty="0"/>
                  <a:t>PRG </a:t>
                </a:r>
                <a:r>
                  <a:rPr lang="ru-RU" dirty="0"/>
                  <a:t>и </a:t>
                </a:r>
                <a:r>
                  <a:rPr lang="en-US" dirty="0"/>
                  <a:t>OTP.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79373"/>
                <a:ext cx="10515600" cy="3597589"/>
              </a:xfrm>
              <a:blipFill>
                <a:blip r:embed="rId2"/>
                <a:stretch>
                  <a:fillRect l="-1043" t="-25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37</a:t>
            </a:fld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20505" y="142546"/>
            <a:ext cx="10542006" cy="230189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/>
              <p:cNvSpPr txBox="1">
                <a:spLocks/>
              </p:cNvSpPr>
              <p:nvPr/>
            </p:nvSpPr>
            <p:spPr>
              <a:xfrm>
                <a:off x="838200" y="277483"/>
                <a:ext cx="10515600" cy="21669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b="1" dirty="0"/>
                  <a:t>Теорема 2.4.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 стойкий генератор (</a:t>
                </a:r>
                <a:r>
                  <a:rPr lang="en-US" dirty="0"/>
                  <a:t>PRG)</a:t>
                </a:r>
                <a:r>
                  <a:rPr lang="ru-RU" dirty="0"/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/>
                  <a:t>Тогда поточный шифр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определённый с использованием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семантически стойкий, т.е.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противник в игре на семантическую стойкость,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противник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в игре на стойкость </a:t>
                </a:r>
                <a:r>
                  <a:rPr lang="en-US" dirty="0"/>
                  <a:t>PRG (</a:t>
                </a:r>
                <a:r>
                  <a:rPr lang="ru-RU" dirty="0"/>
                  <a:t>различимость)</a:t>
                </a:r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≤2∗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7483"/>
                <a:ext cx="10515600" cy="2166953"/>
              </a:xfrm>
              <a:prstGeom prst="rect">
                <a:avLst/>
              </a:prstGeom>
              <a:blipFill>
                <a:blip r:embed="rId3"/>
                <a:stretch>
                  <a:fillRect l="-1043" t="-45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9"/>
          <p:cNvGrpSpPr/>
          <p:nvPr/>
        </p:nvGrpSpPr>
        <p:grpSpPr>
          <a:xfrm>
            <a:off x="917417" y="4508846"/>
            <a:ext cx="10100650" cy="597310"/>
            <a:chOff x="609600" y="2724150"/>
            <a:chExt cx="7848600" cy="628710"/>
          </a:xfrm>
        </p:grpSpPr>
        <p:cxnSp>
          <p:nvCxnSpPr>
            <p:cNvPr id="25" name="Straight Connector 4"/>
            <p:cNvCxnSpPr/>
            <p:nvPr/>
          </p:nvCxnSpPr>
          <p:spPr>
            <a:xfrm>
              <a:off x="609600" y="2800350"/>
              <a:ext cx="7848600" cy="0"/>
            </a:xfrm>
            <a:prstGeom prst="line">
              <a:avLst/>
            </a:prstGeom>
            <a:ln w="38100" cmpd="sng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997730" y="2876550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467600" y="2876550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cxnSp>
          <p:nvCxnSpPr>
            <p:cNvPr id="28" name="Straight Connector 7"/>
            <p:cNvCxnSpPr/>
            <p:nvPr/>
          </p:nvCxnSpPr>
          <p:spPr>
            <a:xfrm>
              <a:off x="1143000" y="2724150"/>
              <a:ext cx="0" cy="22860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5"/>
            <p:cNvCxnSpPr/>
            <p:nvPr/>
          </p:nvCxnSpPr>
          <p:spPr>
            <a:xfrm>
              <a:off x="7620000" y="2724150"/>
              <a:ext cx="0" cy="22860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514600" y="2952750"/>
              <a:ext cx="8787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/>
                <a:t>Pr</a:t>
              </a:r>
              <a:r>
                <a:rPr lang="en-US" sz="2000" dirty="0"/>
                <a:t>[W</a:t>
              </a:r>
              <a:r>
                <a:rPr lang="en-US" sz="2000" baseline="-25000" dirty="0"/>
                <a:t>0</a:t>
              </a:r>
              <a:r>
                <a:rPr lang="en-US" sz="2000" dirty="0"/>
                <a:t>]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836284" y="2952750"/>
              <a:ext cx="8787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/>
                <a:t>Pr</a:t>
              </a:r>
              <a:r>
                <a:rPr lang="en-US" sz="2000" dirty="0"/>
                <a:t>[W</a:t>
              </a:r>
              <a:r>
                <a:rPr lang="en-US" sz="2000" baseline="-25000" dirty="0"/>
                <a:t>1</a:t>
              </a:r>
              <a:r>
                <a:rPr lang="en-US" sz="2000" dirty="0"/>
                <a:t>]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733800" y="2952750"/>
              <a:ext cx="7929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/>
                <a:t>Pr</a:t>
              </a:r>
              <a:r>
                <a:rPr lang="en-US" sz="2000" dirty="0"/>
                <a:t>[</a:t>
              </a:r>
              <a:r>
                <a:rPr lang="en-US" sz="2000" dirty="0" err="1"/>
                <a:t>R</a:t>
              </a:r>
              <a:r>
                <a:rPr lang="en-US" sz="2000" baseline="-25000" dirty="0" err="1"/>
                <a:t>b</a:t>
              </a:r>
              <a:r>
                <a:rPr lang="en-US" sz="2000" dirty="0"/>
                <a:t>]</a:t>
              </a:r>
            </a:p>
          </p:txBody>
        </p:sp>
        <p:cxnSp>
          <p:nvCxnSpPr>
            <p:cNvPr id="33" name="Straight Connector 43"/>
            <p:cNvCxnSpPr/>
            <p:nvPr/>
          </p:nvCxnSpPr>
          <p:spPr>
            <a:xfrm>
              <a:off x="2895600" y="2724150"/>
              <a:ext cx="0" cy="22860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4"/>
            <p:cNvCxnSpPr/>
            <p:nvPr/>
          </p:nvCxnSpPr>
          <p:spPr>
            <a:xfrm>
              <a:off x="4114800" y="2724150"/>
              <a:ext cx="0" cy="22860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"/>
            <p:cNvCxnSpPr/>
            <p:nvPr/>
          </p:nvCxnSpPr>
          <p:spPr>
            <a:xfrm>
              <a:off x="5257800" y="2724150"/>
              <a:ext cx="0" cy="22860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2061244" y="5542365"/>
                <a:ext cx="8747523" cy="5132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600" dirty="0"/>
                  <a:t>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sz="26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600" i="0" dirty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] = |</m:t>
                    </m:r>
                    <m:r>
                      <m:rPr>
                        <m:sty m:val="p"/>
                      </m:rPr>
                      <a:rPr lang="en-US" sz="2600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6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] – </m:t>
                    </m:r>
                    <m:r>
                      <m:rPr>
                        <m:sty m:val="p"/>
                      </m:rPr>
                      <a:rPr lang="en-US" sz="2600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6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]| ≤  2 ∗ </m:t>
                    </m:r>
                    <m:r>
                      <m:rPr>
                        <m:sty m:val="p"/>
                      </m:rPr>
                      <a:rPr lang="en-US" sz="2800" i="0" dirty="0" err="1" smtClean="0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sz="28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 dirty="0" err="1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i="0" dirty="0" err="1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sz="26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ru-RU" sz="2600" dirty="0"/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244" y="5542365"/>
                <a:ext cx="8747523" cy="513282"/>
              </a:xfrm>
              <a:prstGeom prst="rect">
                <a:avLst/>
              </a:prstGeom>
              <a:blipFill>
                <a:blip r:embed="rId4"/>
                <a:stretch>
                  <a:fillRect l="-1254" t="-9524" b="-27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317" y="6428505"/>
                <a:ext cx="31218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*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OT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одноразовый блокнот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7" y="6428505"/>
                <a:ext cx="3121817" cy="369332"/>
              </a:xfrm>
              <a:prstGeom prst="rect">
                <a:avLst/>
              </a:prstGeom>
              <a:blipFill>
                <a:blip r:embed="rId5"/>
                <a:stretch>
                  <a:fillRect l="-1563" t="-10000" r="-977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55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Скругленный прямоугольник 29"/>
          <p:cNvSpPr/>
          <p:nvPr/>
        </p:nvSpPr>
        <p:spPr>
          <a:xfrm>
            <a:off x="720505" y="1762761"/>
            <a:ext cx="10542006" cy="88558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Поточные шифры и семантическая стойкость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38</a:t>
            </a:fld>
            <a:endParaRPr lang="ru-RU"/>
          </a:p>
        </p:txBody>
      </p:sp>
      <p:sp>
        <p:nvSpPr>
          <p:cNvPr id="5" name="Rectangle 28"/>
          <p:cNvSpPr>
            <a:spLocks noChangeArrowheads="1"/>
          </p:cNvSpPr>
          <p:nvPr/>
        </p:nvSpPr>
        <p:spPr bwMode="auto">
          <a:xfrm>
            <a:off x="5426044" y="3275809"/>
            <a:ext cx="4572000" cy="1600200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en-US" dirty="0"/>
              <a:t>PRG adv. B  (us)</a:t>
            </a: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8474044" y="3686576"/>
            <a:ext cx="1295400" cy="111323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Adv.  A</a:t>
            </a:r>
          </a:p>
          <a:p>
            <a:pPr algn="ctr"/>
            <a:r>
              <a:rPr lang="en-US"/>
              <a:t>(given)</a:t>
            </a:r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1387444" y="3142459"/>
            <a:ext cx="8763000" cy="18288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1"/>
          <p:cNvGrpSpPr>
            <a:grpSpLocks/>
          </p:cNvGrpSpPr>
          <p:nvPr/>
        </p:nvGrpSpPr>
        <p:grpSpPr bwMode="auto">
          <a:xfrm>
            <a:off x="6273891" y="3894936"/>
            <a:ext cx="2179712" cy="522684"/>
            <a:chOff x="3648" y="2920"/>
            <a:chExt cx="912" cy="439"/>
          </a:xfrm>
        </p:grpSpPr>
        <p:sp>
          <p:nvSpPr>
            <p:cNvPr id="9" name="Line 24"/>
            <p:cNvSpPr>
              <a:spLocks noChangeShapeType="1"/>
            </p:cNvSpPr>
            <p:nvPr/>
          </p:nvSpPr>
          <p:spPr bwMode="auto">
            <a:xfrm>
              <a:off x="3648" y="331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807" y="2920"/>
                  <a:ext cx="683" cy="4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a14:m>
                  <a:r>
                    <a:rPr lang="en-US" sz="2800" b="1" i="1" dirty="0"/>
                    <a:t> </a:t>
                  </a:r>
                  <a:endParaRPr lang="en-US" sz="2000" b="1" i="1" dirty="0"/>
                </a:p>
              </p:txBody>
            </p:sp>
          </mc:Choice>
          <mc:Fallback xmlns="">
            <p:sp>
              <p:nvSpPr>
                <p:cNvPr id="10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07" y="2920"/>
                  <a:ext cx="683" cy="43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" name="Straight Arrow Connector 3"/>
          <p:cNvCxnSpPr/>
          <p:nvPr/>
        </p:nvCxnSpPr>
        <p:spPr>
          <a:xfrm>
            <a:off x="3701562" y="3534176"/>
            <a:ext cx="164828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54719" y="3154424"/>
                <a:ext cx="10789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∈ {0,1}</a:t>
                </a:r>
                <a:r>
                  <a:rPr lang="en-US" baseline="30000" dirty="0"/>
                  <a:t>n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719" y="3154424"/>
                <a:ext cx="1078950" cy="369332"/>
              </a:xfrm>
              <a:prstGeom prst="rect">
                <a:avLst/>
              </a:prstGeom>
              <a:blipFill>
                <a:blip r:embed="rId3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ne 24"/>
          <p:cNvSpPr>
            <a:spLocks noChangeShapeType="1"/>
          </p:cNvSpPr>
          <p:nvPr/>
        </p:nvSpPr>
        <p:spPr bwMode="auto">
          <a:xfrm flipH="1" flipV="1">
            <a:off x="6273891" y="3894936"/>
            <a:ext cx="2200153" cy="202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0150444" y="4176994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b’</a:t>
            </a:r>
            <a:r>
              <a:rPr lang="en-US" dirty="0"/>
              <a:t> ∈ {0,1}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58012"/>
                <a:ext cx="10515600" cy="128444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b="1" dirty="0"/>
                  <a:t>Утверждение 2.4.2.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]|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т.е.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– противник, которые пытается различить </a:t>
                </a:r>
                <a:r>
                  <a:rPr lang="en-US" dirty="0"/>
                  <a:t>PRG </a:t>
                </a:r>
                <a:r>
                  <a:rPr lang="ru-RU" dirty="0"/>
                  <a:t>и </a:t>
                </a:r>
                <a:r>
                  <a:rPr lang="en-US" dirty="0"/>
                  <a:t>OTP.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Алгоритм </a:t>
                </a:r>
                <a:r>
                  <a:rPr lang="en-US" dirty="0"/>
                  <a:t>B:</a:t>
                </a:r>
                <a:endParaRPr lang="ru-RU" dirty="0"/>
              </a:p>
            </p:txBody>
          </p:sp>
        </mc:Choice>
        <mc:Fallback xmlns="">
          <p:sp>
            <p:nvSpPr>
              <p:cNvPr id="20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58012"/>
                <a:ext cx="10515600" cy="1284447"/>
              </a:xfrm>
              <a:blipFill>
                <a:blip r:embed="rId4"/>
                <a:stretch>
                  <a:fillRect l="-1043" t="-9524" b="-42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3"/>
          <p:cNvCxnSpPr/>
          <p:nvPr/>
        </p:nvCxnSpPr>
        <p:spPr>
          <a:xfrm>
            <a:off x="9769444" y="4602262"/>
            <a:ext cx="732177" cy="823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Объект 2"/>
              <p:cNvSpPr txBox="1">
                <a:spLocks/>
              </p:cNvSpPr>
              <p:nvPr/>
            </p:nvSpPr>
            <p:spPr>
              <a:xfrm>
                <a:off x="910628" y="5104609"/>
                <a:ext cx="10515600" cy="12844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=1|,</m:t>
                    </m:r>
                    <m:r>
                      <m:rPr>
                        <m:nor/>
                      </m:rP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cs typeface="Arial" charset="0"/>
                    <a:sym typeface="Symbol" pitchFamily="18" charset="2"/>
                  </a:rPr>
                  <a:t>где</a:t>
                </a:r>
                <a:r>
                  <a:rPr lang="en-US" dirty="0">
                    <a:cs typeface="Arial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charset="0"/>
                        <a:sym typeface="Symbol" pitchFamily="18" charset="2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  <a:cs typeface="Arial" charset="0"/>
                        <a:sym typeface="Symbol" pitchFamily="18" charset="2"/>
                      </a:rPr>
                      <m:t>𝐾</m:t>
                    </m:r>
                  </m:oMath>
                </a14:m>
                <a:r>
                  <a:rPr lang="en-US" dirty="0">
                    <a:cs typeface="Arial" charset="0"/>
                    <a:sym typeface="Symbol" pitchFamily="18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charset="0"/>
                        <a:sym typeface="Symbol" pitchFamily="18" charset="2"/>
                      </a:rPr>
                      <m:t>𝑟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i="1" dirty="0">
                  <a:cs typeface="Arial" charset="0"/>
                  <a:sym typeface="Symbol" pitchFamily="18" charset="2"/>
                </a:endParaRPr>
              </a:p>
              <a:p>
                <a:pPr marL="0" indent="0">
                  <a:buNone/>
                </a:pPr>
                <a:r>
                  <a:rPr lang="ru-RU" dirty="0"/>
                  <a:t>  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⁡[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func>
                  </m:oMath>
                </a14:m>
                <a:r>
                  <a:rPr lang="en-US" i="1" dirty="0">
                    <a:cs typeface="Arial" charset="0"/>
                    <a:sym typeface="Symbol" pitchFamily="18" charset="2"/>
                  </a:rPr>
                  <a:t>,</a:t>
                </a:r>
                <a:r>
                  <a:rPr lang="ru-RU" i="1" dirty="0">
                    <a:cs typeface="Arial" charset="0"/>
                    <a:sym typeface="Symbol" pitchFamily="18" charset="2"/>
                  </a:rPr>
                  <a:t>      </a:t>
                </a:r>
                <a:r>
                  <a:rPr lang="en-US" b="1" i="1" dirty="0">
                    <a:cs typeface="Arial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1" i="1" dirty="0">
                    <a:cs typeface="Arial" charset="0"/>
                    <a:sym typeface="Symbol" pitchFamily="18" charset="2"/>
                  </a:rPr>
                  <a:t> </a:t>
                </a:r>
                <a:endParaRPr lang="ru-RU" b="1" i="1" dirty="0">
                  <a:cs typeface="Arial" charset="0"/>
                  <a:sym typeface="Symbol" pitchFamily="18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  <a:cs typeface="Arial" charset="0"/>
                        <a:sym typeface="Symbol" pitchFamily="18" charset="2"/>
                      </a:rPr>
                      <m:t>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⁡[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ru-RU" b="1" i="1" dirty="0">
                    <a:cs typeface="Arial" charset="0"/>
                    <a:sym typeface="Symbol" pitchFamily="18" charset="2"/>
                  </a:rPr>
                  <a:t>.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endParaRPr lang="en-US" b="1" i="1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29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28" y="5104609"/>
                <a:ext cx="10515600" cy="1284447"/>
              </a:xfrm>
              <a:prstGeom prst="rect">
                <a:avLst/>
              </a:prstGeom>
              <a:blipFill>
                <a:blip r:embed="rId5"/>
                <a:stretch>
                  <a:fillRect t="-6161" b="-80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1471943" y="3207061"/>
            <a:ext cx="1878442" cy="160858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1564240" y="3425008"/>
                <a:ext cx="1972648" cy="13906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If: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Else:     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groupChr>
                        <m:groupChrPr>
                          <m:chr m:val="←"/>
                          <m:vertJc m:val="bot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groupCh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b="1" baseline="-25000" dirty="0">
                  <a:cs typeface="Arial" charset="0"/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240" y="3425008"/>
                <a:ext cx="1972648" cy="1390637"/>
              </a:xfrm>
              <a:prstGeom prst="rect">
                <a:avLst/>
              </a:prstGeom>
              <a:blipFill>
                <a:blip r:embed="rId6"/>
                <a:stretch>
                  <a:fillRect l="-27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Line 5"/>
          <p:cNvSpPr>
            <a:spLocks noChangeShapeType="1"/>
          </p:cNvSpPr>
          <p:nvPr/>
        </p:nvSpPr>
        <p:spPr bwMode="auto">
          <a:xfrm flipV="1">
            <a:off x="405143" y="3660290"/>
            <a:ext cx="1066800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308159" y="3154424"/>
            <a:ext cx="3463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i="1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4568EB-8FD5-4043-B4EA-1EBFF90D66F5}"/>
                  </a:ext>
                </a:extLst>
              </p:cNvPr>
              <p:cNvSpPr txBox="1"/>
              <p:nvPr/>
            </p:nvSpPr>
            <p:spPr>
              <a:xfrm>
                <a:off x="6398385" y="3510606"/>
                <a:ext cx="22001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4568EB-8FD5-4043-B4EA-1EBFF90D6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385" y="3510606"/>
                <a:ext cx="2200154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45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11863" y="4922680"/>
                <a:ext cx="10515600" cy="359758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>
                    <a:cs typeface="Arial" charset="0"/>
                    <a:sym typeface="Symbol" pitchFamily="18" charset="2"/>
                  </a:rPr>
                  <a:t>без доказательства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ru-RU" b="1" i="1" dirty="0">
                  <a:cs typeface="Arial" charset="0"/>
                  <a:sym typeface="Symbol" pitchFamily="18" charset="2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863" y="4922680"/>
                <a:ext cx="10515600" cy="3597589"/>
              </a:xfrm>
              <a:blipFill>
                <a:blip r:embed="rId2"/>
                <a:stretch>
                  <a:fillRect t="-27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39</a:t>
            </a:fld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11863" y="2073803"/>
            <a:ext cx="10542006" cy="230189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/>
              <p:cNvSpPr txBox="1">
                <a:spLocks/>
              </p:cNvSpPr>
              <p:nvPr/>
            </p:nvSpPr>
            <p:spPr>
              <a:xfrm>
                <a:off x="838200" y="2353432"/>
                <a:ext cx="10515600" cy="21669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b="1" dirty="0"/>
                  <a:t>Теорема 2.5.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 генератор (</a:t>
                </a:r>
                <a:r>
                  <a:rPr lang="en-US" dirty="0"/>
                  <a:t>PRG)</a:t>
                </a:r>
                <a:r>
                  <a:rPr lang="ru-RU" dirty="0"/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dirty="0"/>
                  <a:t>Тогда если поточный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определённый с использованием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семантически стойкий, 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– стойкий генератор. </a:t>
                </a:r>
              </a:p>
            </p:txBody>
          </p:sp>
        </mc:Choice>
        <mc:Fallback xmlns="">
          <p:sp>
            <p:nvSpPr>
              <p:cNvPr id="6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53432"/>
                <a:ext cx="10515600" cy="2166953"/>
              </a:xfrm>
              <a:prstGeom prst="rect">
                <a:avLst/>
              </a:prstGeom>
              <a:blipFill>
                <a:blip r:embed="rId3"/>
                <a:stretch>
                  <a:fillRect l="-1043" t="-42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Поточные шифры и семантическая стойкость</a:t>
            </a:r>
          </a:p>
        </p:txBody>
      </p:sp>
    </p:spTree>
    <p:extLst>
      <p:ext uri="{BB962C8B-B14F-4D97-AF65-F5344CB8AC3E}">
        <p14:creationId xmlns:p14="http://schemas.microsoft.com/office/powerpoint/2010/main" val="6153001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3CFBF-9EF5-4B9B-9895-3050A30E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452E05-DF33-44D9-8136-5B90EA161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A75848-1BDF-4D60-A2A8-9496F1DC4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7180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41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45724" y="1408579"/>
                <a:ext cx="600807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ru-RU" sz="2800" b="1" dirty="0"/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ru-RU" sz="2800" dirty="0">
                    <a:latin typeface="Cambria Math" panose="02040503050406030204" pitchFamily="18" charset="0"/>
                  </a:rPr>
                  <a:t>Что отправляет и что получает противник?</a:t>
                </a:r>
                <a:endParaRPr lang="en-US" sz="2800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2800" b="1" dirty="0"/>
                  <a:t> ???</a:t>
                </a:r>
                <a:r>
                  <a:rPr lang="en-US" sz="2800" b="1" dirty="0"/>
                  <a:t> </a:t>
                </a:r>
                <a:r>
                  <a:rPr lang="en-US" sz="2800" dirty="0"/>
                  <a:t>(</a:t>
                </a:r>
                <a:r>
                  <a:rPr lang="ru-RU" sz="2800" dirty="0"/>
                  <a:t>функция от</a:t>
                </a:r>
                <a:r>
                  <a:rPr lang="en-US" sz="2800" dirty="0"/>
                  <a:t> </a:t>
                </a:r>
                <a:r>
                  <a:rPr lang="ru-RU" sz="2800" dirty="0"/>
                  <a:t>вероятностей</a:t>
                </a:r>
                <a:r>
                  <a:rPr lang="en-US" sz="2800" dirty="0"/>
                  <a:t>)</a:t>
                </a:r>
              </a:p>
              <a:p>
                <a:endParaRPr lang="ru-RU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724" y="1408579"/>
                <a:ext cx="6008076" cy="2677656"/>
              </a:xfrm>
              <a:prstGeom prst="rect">
                <a:avLst/>
              </a:prstGeom>
              <a:blipFill>
                <a:blip r:embed="rId2"/>
                <a:stretch>
                  <a:fillRect l="-1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185371" y="1408578"/>
                <a:ext cx="5318614" cy="3355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600" dirty="0"/>
                  <a:t>Пусть задана игра на семантическую стойкость для алгоритма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sz="2600" b="1" dirty="0"/>
                  <a:t> </a:t>
                </a:r>
                <a:r>
                  <a:rPr lang="ru-RU" sz="2600" dirty="0"/>
                  <a:t>против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60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600" b="1" dirty="0"/>
                  <a:t> </a:t>
                </a:r>
                <a:r>
                  <a:rPr lang="ru-RU" sz="2600" dirty="0"/>
                  <a:t>на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600" b="1" dirty="0"/>
                  <a:t>.</a:t>
                </a:r>
              </a:p>
              <a:p>
                <a:endParaRPr lang="ru-RU" sz="2600" b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600" dirty="0"/>
                  <a:t> - событие того,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в эксперименте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sz="2600" dirty="0"/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ru-RU" sz="2600" dirty="0"/>
                  <a:t> - событие, при котором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sz="26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71" y="1408578"/>
                <a:ext cx="5318614" cy="3355662"/>
              </a:xfrm>
              <a:prstGeom prst="rect">
                <a:avLst/>
              </a:prstGeom>
              <a:blipFill>
                <a:blip r:embed="rId3"/>
                <a:stretch>
                  <a:fillRect l="-2062" t="-1452" b="-38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592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45724" y="1408579"/>
                <a:ext cx="600807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ru-RU" sz="2800" b="1" dirty="0"/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SSadv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2800" b="1" dirty="0"/>
                  <a:t> ??? </a:t>
                </a:r>
                <a:r>
                  <a:rPr lang="en-US" sz="2800" dirty="0"/>
                  <a:t>(</a:t>
                </a:r>
                <a:r>
                  <a:rPr lang="ru-RU" sz="2800" dirty="0"/>
                  <a:t>функция от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sz="2800" dirty="0"/>
                  <a:t>)</a:t>
                </a:r>
                <a:endParaRPr lang="ru-RU" sz="2800" dirty="0"/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SSadv</m:t>
                        </m:r>
                      </m:e>
                      <m:sup>
                        <m:r>
                          <a:rPr lang="en-US" sz="28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2800" b="1" dirty="0"/>
                  <a:t> ???</a:t>
                </a:r>
                <a:r>
                  <a:rPr lang="en-US" sz="2800" b="1" dirty="0"/>
                  <a:t> </a:t>
                </a:r>
                <a:r>
                  <a:rPr lang="en-US" sz="2800" dirty="0"/>
                  <a:t>(</a:t>
                </a:r>
                <a:r>
                  <a:rPr lang="ru-RU" sz="2800" dirty="0"/>
                  <a:t>функция от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 dirty="0"/>
                  <a:t>)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ru-RU" sz="2800" dirty="0"/>
                  <a:t>Связь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SSadv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</m:oMath>
                </a14:m>
                <a:r>
                  <a:rPr lang="ru-RU" sz="2800" dirty="0"/>
                  <a:t>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SSadv</m:t>
                        </m:r>
                      </m:e>
                      <m:sup>
                        <m:r>
                          <a:rPr lang="en-US" sz="28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</m:oMath>
                </a14:m>
                <a:endParaRPr lang="ru-RU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724" y="1408579"/>
                <a:ext cx="6008076" cy="2246769"/>
              </a:xfrm>
              <a:prstGeom prst="rect">
                <a:avLst/>
              </a:prstGeom>
              <a:blipFill>
                <a:blip r:embed="rId2"/>
                <a:stretch>
                  <a:fillRect l="-1826" b="-67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185371" y="1408578"/>
                <a:ext cx="5318614" cy="3355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600" dirty="0"/>
                  <a:t>Пусть задана игра на семантическую стойкость для алгоритма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sz="2600" b="1" dirty="0"/>
                  <a:t> </a:t>
                </a:r>
                <a:r>
                  <a:rPr lang="ru-RU" sz="2600" dirty="0"/>
                  <a:t>против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60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600" b="1" dirty="0"/>
                  <a:t> </a:t>
                </a:r>
                <a:r>
                  <a:rPr lang="ru-RU" sz="2600" dirty="0"/>
                  <a:t>на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600" b="1" dirty="0"/>
                  <a:t>.</a:t>
                </a:r>
              </a:p>
              <a:p>
                <a:endParaRPr lang="ru-RU" sz="2600" b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600" dirty="0"/>
                  <a:t> - событие того,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в эксперименте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sz="2600" dirty="0"/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ru-RU" sz="2600" dirty="0"/>
                  <a:t> - событие, при котором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sz="26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71" y="1408578"/>
                <a:ext cx="5318614" cy="3355662"/>
              </a:xfrm>
              <a:prstGeom prst="rect">
                <a:avLst/>
              </a:prstGeom>
              <a:blipFill>
                <a:blip r:embed="rId3"/>
                <a:stretch>
                  <a:fillRect l="-2062" t="-1452" b="-38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426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4285" y="5433158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84285" y="5819530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84284" y="6205902"/>
            <a:ext cx="10688515" cy="31701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45724" y="1408579"/>
                <a:ext cx="600807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ru-RU" sz="2800" b="1" dirty="0"/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ru-RU" sz="2800" dirty="0">
                    <a:latin typeface="Cambria Math" panose="02040503050406030204" pitchFamily="18" charset="0"/>
                  </a:rPr>
                  <a:t>Что отправляет и что получает противник?</a:t>
                </a:r>
                <a:endParaRPr lang="en-US" sz="2800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SSadv</m:t>
                        </m:r>
                      </m:e>
                      <m:sup>
                        <m:r>
                          <a:rPr lang="en-US" sz="28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sz="2800" b="1" dirty="0"/>
                  <a:t> ???</a:t>
                </a:r>
                <a:r>
                  <a:rPr lang="en-US" sz="2800" b="1" dirty="0"/>
                  <a:t> </a:t>
                </a:r>
                <a:r>
                  <a:rPr lang="en-US" sz="2800" dirty="0"/>
                  <a:t>(</a:t>
                </a:r>
                <a:r>
                  <a:rPr lang="ru-RU" sz="2800" dirty="0"/>
                  <a:t>функция от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800" dirty="0"/>
                  <a:t>)</a:t>
                </a:r>
              </a:p>
              <a:p>
                <a:endParaRPr lang="ru-RU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724" y="1408579"/>
                <a:ext cx="6008076" cy="2246769"/>
              </a:xfrm>
              <a:prstGeom prst="rect">
                <a:avLst/>
              </a:prstGeom>
              <a:blipFill rotWithShape="0">
                <a:blip r:embed="rId2"/>
                <a:stretch>
                  <a:fillRect l="-18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185371" y="1408578"/>
                <a:ext cx="5318614" cy="3355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600" dirty="0"/>
                  <a:t>Пусть задана игра на семантическую стойкость для алгоритма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sz="2600" b="1" dirty="0"/>
                  <a:t> </a:t>
                </a:r>
                <a:r>
                  <a:rPr lang="ru-RU" sz="2600" dirty="0"/>
                  <a:t>против шифра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60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600" b="1" dirty="0"/>
                  <a:t> </a:t>
                </a:r>
                <a:r>
                  <a:rPr lang="ru-RU" sz="2600" dirty="0"/>
                  <a:t>на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600" b="1" dirty="0"/>
                  <a:t>.</a:t>
                </a:r>
              </a:p>
              <a:p>
                <a:endParaRPr lang="ru-RU" sz="2600" b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ru-RU" sz="2600" dirty="0"/>
                  <a:t> - событие того,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в эксперименте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sz="2600" dirty="0"/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ru-RU" sz="2600" dirty="0"/>
                  <a:t> - событие, при котором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6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sz="26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71" y="1408578"/>
                <a:ext cx="5318614" cy="3355662"/>
              </a:xfrm>
              <a:prstGeom prst="rect">
                <a:avLst/>
              </a:prstGeom>
              <a:blipFill>
                <a:blip r:embed="rId3"/>
                <a:stretch>
                  <a:fillRect l="-2062" t="-1452" b="-38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77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90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2327</TotalTime>
  <Words>3429</Words>
  <Application>Microsoft Office PowerPoint</Application>
  <PresentationFormat>Широкоэкранный</PresentationFormat>
  <Paragraphs>423</Paragraphs>
  <Slides>43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Consolas</vt:lpstr>
      <vt:lpstr>Symbol</vt:lpstr>
      <vt:lpstr>Wingdings</vt:lpstr>
      <vt:lpstr>Тема Office</vt:lpstr>
      <vt:lpstr>Прикладная Криптография: Симметричные криптосистемы Поточные шифры</vt:lpstr>
      <vt:lpstr>Тест.</vt:lpstr>
      <vt:lpstr>Тест.</vt:lpstr>
      <vt:lpstr>TIME </vt:lpstr>
      <vt:lpstr>На прошлой лекции…</vt:lpstr>
      <vt:lpstr>Семантическая стойкость</vt:lpstr>
      <vt:lpstr>Пренебрежимо малые величины</vt:lpstr>
      <vt:lpstr>Примеры</vt:lpstr>
      <vt:lpstr>Сверх-полиномиальные и полиномиально ограниченные функции</vt:lpstr>
      <vt:lpstr>Пренебрежимо малые величина на практике</vt:lpstr>
      <vt:lpstr>Пренебрежимо малые величина на практике</vt:lpstr>
      <vt:lpstr>Параметры системы</vt:lpstr>
      <vt:lpstr>Эффективный алгоритм</vt:lpstr>
      <vt:lpstr>Пример эффективного алгоритма с параметром</vt:lpstr>
      <vt:lpstr>Эффективность в игре</vt:lpstr>
      <vt:lpstr>Параметр стойкости</vt:lpstr>
      <vt:lpstr>Оценки величин</vt:lpstr>
      <vt:lpstr>Оценки величин</vt:lpstr>
      <vt:lpstr>Статистическая неразличимость</vt:lpstr>
      <vt:lpstr>Статистическая неразличимость</vt:lpstr>
      <vt:lpstr>Альтернативная трактовка понятия абсолютной и семантической стойкости</vt:lpstr>
      <vt:lpstr>Идея одноразового блокнота</vt:lpstr>
      <vt:lpstr>Идея одноразового блокнота</vt:lpstr>
      <vt:lpstr>Поточный шифр</vt:lpstr>
      <vt:lpstr>Стойкий псевдослучайный генератор</vt:lpstr>
      <vt:lpstr>Стойкий псевдослучайный генератор</vt:lpstr>
      <vt:lpstr>Стойкий псевдослучайный генератор</vt:lpstr>
      <vt:lpstr>Энтропия генератора</vt:lpstr>
      <vt:lpstr>Статистическая неразличимость</vt:lpstr>
      <vt:lpstr>Непредсказуемость генераторов</vt:lpstr>
      <vt:lpstr>Непредсказуемость генераторов</vt:lpstr>
      <vt:lpstr>Непредсказуемость генераторов</vt:lpstr>
      <vt:lpstr>Поточные шифры и семантическая стойкость</vt:lpstr>
      <vt:lpstr>Идея доказательства</vt:lpstr>
      <vt:lpstr>Презентация PowerPoint</vt:lpstr>
      <vt:lpstr>Презентация PowerPoint</vt:lpstr>
      <vt:lpstr>Презентация PowerPoint</vt:lpstr>
      <vt:lpstr>Поточные шифры и семантическая стойкость</vt:lpstr>
      <vt:lpstr>Поточные шифры и семантическая стойкость</vt:lpstr>
      <vt:lpstr>Презентация PowerPoint</vt:lpstr>
      <vt:lpstr>Тест.</vt:lpstr>
      <vt:lpstr>Тест.</vt:lpstr>
      <vt:lpstr>Тест.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Макаров Артём Олегович</cp:lastModifiedBy>
  <cp:revision>578</cp:revision>
  <dcterms:created xsi:type="dcterms:W3CDTF">2018-08-24T12:25:18Z</dcterms:created>
  <dcterms:modified xsi:type="dcterms:W3CDTF">2026-10-01T05:30:30Z</dcterms:modified>
</cp:coreProperties>
</file>