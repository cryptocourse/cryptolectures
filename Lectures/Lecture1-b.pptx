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322" r:id="rId2"/>
    <p:sldId id="334" r:id="rId3"/>
    <p:sldId id="332" r:id="rId4"/>
    <p:sldId id="333" r:id="rId5"/>
    <p:sldId id="338" r:id="rId6"/>
    <p:sldId id="327" r:id="rId7"/>
    <p:sldId id="328" r:id="rId8"/>
    <p:sldId id="323" r:id="rId9"/>
    <p:sldId id="324" r:id="rId10"/>
    <p:sldId id="325" r:id="rId11"/>
    <p:sldId id="326" r:id="rId12"/>
    <p:sldId id="299" r:id="rId13"/>
    <p:sldId id="298" r:id="rId14"/>
    <p:sldId id="300" r:id="rId15"/>
    <p:sldId id="301" r:id="rId16"/>
    <p:sldId id="335" r:id="rId17"/>
    <p:sldId id="303" r:id="rId18"/>
    <p:sldId id="329" r:id="rId19"/>
    <p:sldId id="330" r:id="rId20"/>
    <p:sldId id="307" r:id="rId21"/>
    <p:sldId id="308" r:id="rId22"/>
    <p:sldId id="306" r:id="rId23"/>
    <p:sldId id="309" r:id="rId24"/>
    <p:sldId id="339" r:id="rId25"/>
    <p:sldId id="340" r:id="rId26"/>
    <p:sldId id="265" r:id="rId27"/>
    <p:sldId id="310" r:id="rId28"/>
    <p:sldId id="312" r:id="rId29"/>
    <p:sldId id="313" r:id="rId30"/>
    <p:sldId id="302" r:id="rId31"/>
    <p:sldId id="314" r:id="rId32"/>
    <p:sldId id="315" r:id="rId33"/>
    <p:sldId id="304" r:id="rId34"/>
    <p:sldId id="316" r:id="rId35"/>
    <p:sldId id="317" r:id="rId36"/>
    <p:sldId id="318" r:id="rId37"/>
    <p:sldId id="319" r:id="rId38"/>
    <p:sldId id="320" r:id="rId39"/>
    <p:sldId id="321" r:id="rId40"/>
    <p:sldId id="336" r:id="rId41"/>
    <p:sldId id="337" r:id="rId42"/>
    <p:sldId id="341" r:id="rId4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F0A6B2F-72A2-4B80-9CCA-8781ED2C4189}">
          <p14:sldIdLst>
            <p14:sldId id="322"/>
            <p14:sldId id="334"/>
            <p14:sldId id="332"/>
            <p14:sldId id="333"/>
          </p14:sldIdLst>
        </p14:section>
        <p14:section name="flashback" id="{F6B5557B-2A93-4918-934F-99327DC43D12}">
          <p14:sldIdLst>
            <p14:sldId id="338"/>
            <p14:sldId id="327"/>
            <p14:sldId id="328"/>
          </p14:sldIdLst>
        </p14:section>
        <p14:section name="Вычислимые шифры и семантческая стойкость" id="{F636B4C9-9F35-405A-B7EC-ED6DD80C5AFF}">
          <p14:sldIdLst>
            <p14:sldId id="323"/>
            <p14:sldId id="324"/>
            <p14:sldId id="325"/>
            <p14:sldId id="326"/>
            <p14:sldId id="299"/>
            <p14:sldId id="298"/>
            <p14:sldId id="300"/>
            <p14:sldId id="301"/>
            <p14:sldId id="335"/>
            <p14:sldId id="303"/>
            <p14:sldId id="329"/>
            <p14:sldId id="330"/>
            <p14:sldId id="307"/>
            <p14:sldId id="308"/>
            <p14:sldId id="306"/>
            <p14:sldId id="309"/>
            <p14:sldId id="339"/>
            <p14:sldId id="340"/>
            <p14:sldId id="265"/>
            <p14:sldId id="310"/>
            <p14:sldId id="312"/>
            <p14:sldId id="313"/>
            <p14:sldId id="302"/>
            <p14:sldId id="314"/>
            <p14:sldId id="315"/>
            <p14:sldId id="304"/>
            <p14:sldId id="316"/>
            <p14:sldId id="317"/>
            <p14:sldId id="318"/>
            <p14:sldId id="319"/>
            <p14:sldId id="320"/>
          </p14:sldIdLst>
        </p14:section>
        <p14:section name="Выводы" id="{DBB8A91A-3157-4835-9428-3543E107E76C}">
          <p14:sldIdLst>
            <p14:sldId id="321"/>
          </p14:sldIdLst>
        </p14:section>
        <p14:section name="Тесты" id="{DDD172D3-3B54-46C3-B891-D955ACC0C540}">
          <p14:sldIdLst>
            <p14:sldId id="336"/>
            <p14:sldId id="337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1015" autoAdjust="0"/>
  </p:normalViewPr>
  <p:slideViewPr>
    <p:cSldViewPr snapToGrid="0">
      <p:cViewPr varScale="1">
        <p:scale>
          <a:sx n="113" d="100"/>
          <a:sy n="113" d="100"/>
        </p:scale>
        <p:origin x="1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2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ru-RU" dirty="0"/>
              </a:p>
            </p:txBody>
          </p:sp>
        </mc:Choice>
        <mc:Fallback xmlns="">
          <p:sp>
            <p:nvSpPr>
              <p:cNvPr id="3" name="Заметки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latin typeface="Cambria Math" panose="02040503050406030204" pitchFamily="18" charset="0"/>
                  </a:rPr>
                  <a:t>←┴𝑅</a:t>
                </a:r>
                <a:r>
                  <a:rPr lang="en-US" dirty="0"/>
                  <a:t> </a:t>
                </a:r>
                <a:r>
                  <a:rPr lang="ru-RU" dirty="0"/>
                  <a:t>написать</a:t>
                </a:r>
                <a:r>
                  <a:rPr lang="ru-RU" baseline="0" dirty="0"/>
                  <a:t> в первой части, что тут в плане зашифрования не обязательно </a:t>
                </a:r>
                <a:r>
                  <a:rPr lang="ru-RU" baseline="0"/>
                  <a:t>равномерное распределение</a:t>
                </a:r>
                <a:endParaRPr lang="ru-RU"/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75760-61D2-4B80-8A8D-A874439CE6F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875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75760-61D2-4B80-8A8D-A874439CE6F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641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75760-61D2-4B80-8A8D-A874439CE6F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30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75760-61D2-4B80-8A8D-A874439CE6F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080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75760-61D2-4B80-8A8D-A874439CE6F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34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10.09.2026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10.09.2026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10.09.2026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1.png"/><Relationship Id="rId7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421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00.png"/><Relationship Id="rId7" Type="http://schemas.openxmlformats.org/officeDocument/2006/relationships/image" Target="../media/image4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21.png"/><Relationship Id="rId4" Type="http://schemas.openxmlformats.org/officeDocument/2006/relationships/image" Target="../media/image4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401.png"/><Relationship Id="rId7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421.png"/><Relationship Id="rId4" Type="http://schemas.openxmlformats.org/officeDocument/2006/relationships/image" Target="../media/image4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4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9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00.png"/><Relationship Id="rId9" Type="http://schemas.openxmlformats.org/officeDocument/2006/relationships/image" Target="../media/image1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95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0.png"/><Relationship Id="rId10" Type="http://schemas.openxmlformats.org/officeDocument/2006/relationships/image" Target="../media/image18.png"/><Relationship Id="rId4" Type="http://schemas.openxmlformats.org/officeDocument/2006/relationships/image" Target="../media/image500.png"/><Relationship Id="rId9" Type="http://schemas.openxmlformats.org/officeDocument/2006/relationships/image" Target="../media/image1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19.png"/><Relationship Id="rId10" Type="http://schemas.openxmlformats.org/officeDocument/2006/relationships/image" Target="../media/image20.png"/><Relationship Id="rId4" Type="http://schemas.openxmlformats.org/officeDocument/2006/relationships/image" Target="../media/image58.png"/><Relationship Id="rId9" Type="http://schemas.openxmlformats.org/officeDocument/2006/relationships/image" Target="../media/image16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170.png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170.pn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180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638785"/>
            <a:ext cx="9144000" cy="394633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ru-RU" dirty="0"/>
              <a:t>Абсолютная и </a:t>
            </a:r>
            <a:r>
              <a:rPr lang="en-US" dirty="0"/>
              <a:t>C</a:t>
            </a:r>
            <a:r>
              <a:rPr lang="ru-RU" dirty="0" err="1"/>
              <a:t>емантическая</a:t>
            </a:r>
            <a:r>
              <a:rPr lang="ru-RU" dirty="0"/>
              <a:t> стойкость</a:t>
            </a:r>
            <a:r>
              <a:rPr lang="en-US" dirty="0"/>
              <a:t> (</a:t>
            </a:r>
            <a:r>
              <a:rPr lang="ru-RU"/>
              <a:t>Акт 2)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202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8758351" y="6151794"/>
            <a:ext cx="290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Плейлист в ожидании пары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78931237" y="6488668"/>
            <a:ext cx="7928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Тестовый пробный</a:t>
            </a:r>
            <a:r>
              <a:rPr lang="en-US" dirty="0"/>
              <a:t> </a:t>
            </a:r>
            <a:r>
              <a:rPr lang="ru-RU" dirty="0"/>
              <a:t>альфа запуск</a:t>
            </a:r>
            <a:r>
              <a:rPr lang="en-US" dirty="0"/>
              <a:t> </a:t>
            </a:r>
            <a:r>
              <a:rPr lang="ru-RU" dirty="0"/>
              <a:t>раннего доступа бегущей строки </a:t>
            </a:r>
            <a:r>
              <a:rPr lang="en-US" dirty="0"/>
              <a:t>|</a:t>
            </a:r>
            <a:r>
              <a:rPr lang="ru-RU" dirty="0"/>
              <a:t> Самое время вспомнить термин «Абсолютная стойкость» </a:t>
            </a:r>
            <a:r>
              <a:rPr lang="en-US" dirty="0"/>
              <a:t>| </a:t>
            </a:r>
            <a:r>
              <a:rPr lang="ru-RU" dirty="0"/>
              <a:t>Термин «Предикат» тоже можно вспомнить </a:t>
            </a:r>
            <a:r>
              <a:rPr lang="en-US" dirty="0"/>
              <a:t>| </a:t>
            </a:r>
            <a:r>
              <a:rPr lang="ru-RU" dirty="0"/>
              <a:t>Сегодня четверг</a:t>
            </a:r>
            <a:r>
              <a:rPr lang="en-US" dirty="0"/>
              <a:t> |  </a:t>
            </a:r>
            <a:r>
              <a:rPr lang="ru-RU" dirty="0"/>
              <a:t>Придётся что-то делать для получения оценки </a:t>
            </a:r>
            <a:r>
              <a:rPr lang="ru-RU" b="1" dirty="0"/>
              <a:t>(╯°□°)╯︵ ┻━┻ </a:t>
            </a:r>
            <a:r>
              <a:rPr lang="en-US" dirty="0"/>
              <a:t>| </a:t>
            </a:r>
            <a:r>
              <a:rPr lang="en-US" dirty="0" err="1"/>
              <a:t>vps</a:t>
            </a:r>
            <a:r>
              <a:rPr lang="en-US" dirty="0"/>
              <a:t> + 3x-ui</a:t>
            </a:r>
            <a:r>
              <a:rPr lang="ru-RU" dirty="0"/>
              <a:t> </a:t>
            </a:r>
            <a:r>
              <a:rPr lang="en-US" dirty="0"/>
              <a:t>|</a:t>
            </a:r>
            <a:r>
              <a:rPr lang="ru-RU" dirty="0"/>
              <a:t> Интересный факт – когда то первая лекция была по материалам первых двух презентаций, но студенты слишком громко вопили от боли </a:t>
            </a:r>
            <a:r>
              <a:rPr lang="en-US" dirty="0"/>
              <a:t>| </a:t>
            </a:r>
            <a:r>
              <a:rPr lang="ru-RU" dirty="0"/>
              <a:t>На лекции можно кушать и пить чай </a:t>
            </a:r>
            <a:r>
              <a:rPr lang="en-US" dirty="0"/>
              <a:t>| FLAG_{secret_flag_is_d0bbd0bed0b2d0b8d182d0b5206374662dd0bdd0b8d0bad0bed0b2} | </a:t>
            </a:r>
            <a:r>
              <a:rPr lang="ru-RU" dirty="0"/>
              <a:t>«Симметричные» пишется с двумя «м» </a:t>
            </a:r>
            <a:r>
              <a:rPr lang="en-US" dirty="0"/>
              <a:t>|  </a:t>
            </a:r>
            <a:r>
              <a:rPr lang="ru-RU" dirty="0"/>
              <a:t>«Асимметричные» пишутся с одной «с» и двумя «м»</a:t>
            </a:r>
            <a:r>
              <a:rPr lang="en-US" dirty="0"/>
              <a:t> | </a:t>
            </a:r>
            <a:r>
              <a:rPr lang="ru-RU" dirty="0"/>
              <a:t>Если только вы не подразумеваете </a:t>
            </a:r>
            <a:r>
              <a:rPr lang="en-US" dirty="0" err="1"/>
              <a:t>Assy</a:t>
            </a:r>
            <a:r>
              <a:rPr lang="en-US" dirty="0"/>
              <a:t>-metric |  </a:t>
            </a:r>
            <a:r>
              <a:rPr lang="ru-RU" dirty="0"/>
              <a:t>Скоро начнём… </a:t>
            </a:r>
            <a:r>
              <a:rPr lang="en-US" dirty="0"/>
              <a:t>| " OR 1 = 1; DROP TABLE USERS -- - | </a:t>
            </a:r>
            <a:r>
              <a:rPr lang="ru-RU" dirty="0"/>
              <a:t>Всё в этом мире делится на хэш-функции и на не-хэш-функции </a:t>
            </a:r>
            <a:r>
              <a:rPr lang="en-US" dirty="0"/>
              <a:t>|</a:t>
            </a:r>
            <a:r>
              <a:rPr lang="ru-RU" dirty="0"/>
              <a:t> </a:t>
            </a:r>
            <a:r>
              <a:rPr lang="en-US" dirty="0"/>
              <a:t> |</a:t>
            </a:r>
            <a:r>
              <a:rPr lang="ru-RU" dirty="0"/>
              <a:t> </a:t>
            </a:r>
            <a:r>
              <a:rPr lang="en-US" dirty="0"/>
              <a:t>end;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CA58EB-5A9A-4A27-9B26-30FC491E8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617" y="4120091"/>
            <a:ext cx="2099124" cy="209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3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486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836733" y="1408579"/>
            <a:ext cx="47918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3600" dirty="0"/>
          </a:p>
          <a:p>
            <a:r>
              <a:rPr lang="ru-RU" sz="3600" b="1" dirty="0"/>
              <a:t>Определение абсолютной стойкости через предикат</a:t>
            </a:r>
          </a:p>
        </p:txBody>
      </p:sp>
    </p:spTree>
    <p:extLst>
      <p:ext uri="{BB962C8B-B14F-4D97-AF65-F5344CB8AC3E}">
        <p14:creationId xmlns:p14="http://schemas.microsoft.com/office/powerpoint/2010/main" val="299022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9633" y="375503"/>
            <a:ext cx="5811715" cy="2847914"/>
          </a:xfrm>
        </p:spPr>
        <p:txBody>
          <a:bodyPr>
            <a:noAutofit/>
          </a:bodyPr>
          <a:lstStyle/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  <a:r>
              <a:rPr lang="en-US" sz="15000" dirty="0">
                <a:solidFill>
                  <a:schemeClr val="bg1"/>
                </a:solidFill>
              </a:rPr>
              <a:t> </a:t>
            </a:r>
            <a:endParaRPr lang="ru-RU" sz="15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17512" y="3223417"/>
            <a:ext cx="3145924" cy="2704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UP</a:t>
            </a:r>
            <a:endParaRPr lang="ru-RU" sz="20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005482" y="1189831"/>
            <a:ext cx="30748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sz="20000" dirty="0">
                <a:solidFill>
                  <a:schemeClr val="bg1"/>
                </a:solidFill>
              </a:rPr>
              <a:t> </a:t>
            </a:r>
            <a:endParaRPr lang="ru-RU" sz="2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79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E91DD-778A-4083-B514-D5CC37FB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прошлой лекции…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0755F3-067B-4DD6-82BA-7E9644437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B6CD77-F233-4AD6-909E-D0F5809C9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08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215703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Эквивалентные определения</a:t>
            </a:r>
            <a:r>
              <a:rPr lang="en-US" dirty="0"/>
              <a:t> </a:t>
            </a:r>
            <a:r>
              <a:rPr lang="ru-RU" dirty="0"/>
              <a:t>абсолютной стойкости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0496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4</a:t>
                </a:r>
                <a:r>
                  <a:rPr lang="ru-RU" b="1" dirty="0"/>
                  <a:t>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– шифр Шеннона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Рассмотрим вероятностный эксперимент для равномерно распределённой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</a:p>
              <a:p>
                <a:pPr marL="0" indent="0">
                  <a:buNone/>
                </a:pP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 </a:t>
                </a:r>
                <a:r>
                  <a:rPr lang="ru-RU" dirty="0"/>
                  <a:t>абсолютно стойкий тогда и только тогда, когда для произвольного предиката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Иными словами</a:t>
                </a:r>
                <a:r>
                  <a:rPr lang="en-US" dirty="0"/>
                  <a:t>: </a:t>
                </a:r>
                <a:r>
                  <a:rPr lang="ru-RU" dirty="0"/>
                  <a:t>при использовании произвольного предиката на </a:t>
                </a:r>
                <a:r>
                  <a:rPr lang="ru-RU" dirty="0" err="1"/>
                  <a:t>шифртекстах</a:t>
                </a:r>
                <a:r>
                  <a:rPr lang="ru-RU" dirty="0"/>
                  <a:t> абсолютно стойкого шифра злоумышленник не получает информации об открытом тексте.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04968" cy="4351338"/>
              </a:xfrm>
              <a:blipFill>
                <a:blip r:embed="rId2"/>
                <a:stretch>
                  <a:fillRect l="-1025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7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9488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Плохие новости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7</a:t>
                </a:r>
                <a:r>
                  <a:rPr lang="ru-RU" b="1" dirty="0"/>
                  <a:t> (Шеннона).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шифр Шеннона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абсолютно стойкий, то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Простое объяснение – невозможно получить равномерно распределённую случайную величину длины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, используя детерминированный алгоритм над равномерно распределённой случайной величиной длины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b="0" dirty="0"/>
                  <a:t>Иными словами, для шифрования 1 </a:t>
                </a:r>
                <a:r>
                  <a:rPr lang="en-US" b="0" dirty="0"/>
                  <a:t>Gb </a:t>
                </a:r>
                <a:r>
                  <a:rPr lang="ru-RU" b="0" dirty="0"/>
                  <a:t>данных </a:t>
                </a:r>
                <a:r>
                  <a:rPr lang="ru-RU" b="1" dirty="0"/>
                  <a:t>любым</a:t>
                </a:r>
                <a:r>
                  <a:rPr lang="ru-RU" b="0" dirty="0"/>
                  <a:t> абсолютно стойким шифром потребуется ключ размера как минимум 1 </a:t>
                </a:r>
                <a:r>
                  <a:rPr lang="en-US" b="0" dirty="0"/>
                  <a:t>Gb</a:t>
                </a:r>
                <a:r>
                  <a:rPr lang="ru-RU" dirty="0"/>
                  <a:t>.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803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Вычислимый шифр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solidFill>
                      <a:srgbClr val="00B050"/>
                    </a:solidFill>
                  </a:rPr>
                  <a:t>Вычислимый</a:t>
                </a:r>
                <a:r>
                  <a:rPr lang="ru-RU" b="1" dirty="0"/>
                  <a:t> шифр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пара </a:t>
                </a:r>
                <a:r>
                  <a:rPr lang="ru-RU" b="1" dirty="0">
                    <a:solidFill>
                      <a:srgbClr val="00B050"/>
                    </a:solidFill>
                  </a:rPr>
                  <a:t>эффективных</a:t>
                </a:r>
                <a:r>
                  <a:rPr lang="ru-RU" dirty="0"/>
                  <a:t> алгоритмов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>
                    <a:solidFill>
                      <a:srgbClr val="00B050"/>
                    </a:solidFill>
                  </a:rPr>
                  <a:t>вероятностная</a:t>
                </a:r>
                <a:r>
                  <a:rPr lang="ru-RU" dirty="0"/>
                  <a:t> функция </a:t>
                </a:r>
                <a:r>
                  <a:rPr lang="ru-RU" dirty="0" err="1"/>
                  <a:t>зашифрования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/>
                  <a:t> – функция </a:t>
                </a:r>
                <a:r>
                  <a:rPr lang="ru-RU" dirty="0" err="1"/>
                  <a:t>расшифрования</a:t>
                </a:r>
                <a:r>
                  <a:rPr lang="ru-RU" dirty="0"/>
                  <a:t>.</a:t>
                </a:r>
              </a:p>
              <a:p>
                <a:r>
                  <a:rPr lang="ru-RU" dirty="0"/>
                  <a:t>Обозначим процедуры </a:t>
                </a:r>
                <a:r>
                  <a:rPr lang="ru-RU" dirty="0" err="1"/>
                  <a:t>зашифрования</a:t>
                </a:r>
                <a:r>
                  <a:rPr lang="ru-RU" dirty="0"/>
                  <a:t> как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i="1" dirty="0"/>
                  <a:t>.</a:t>
                </a:r>
              </a:p>
              <a:p>
                <a:r>
                  <a:rPr lang="ru-RU" dirty="0"/>
                  <a:t>Обозначим выбор </a:t>
                </a:r>
                <a:r>
                  <a:rPr lang="ru-RU" b="1" dirty="0"/>
                  <a:t>равномерно распределённого ключа </a:t>
                </a:r>
                <a:r>
                  <a:rPr lang="ru-RU" dirty="0"/>
                  <a:t>как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При этом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(</a:t>
                </a:r>
                <a:r>
                  <a:rPr lang="ru-RU" b="1" dirty="0"/>
                  <a:t>свойство корректности</a:t>
                </a:r>
                <a:r>
                  <a:rPr lang="ru-RU" dirty="0"/>
                  <a:t>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4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стойкость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– вычислимый шифр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b="1" dirty="0"/>
                  <a:t>Теорема 1.4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абсолютно стойкий,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равномерно распределённый и выполняется</a:t>
                </a:r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b="1" dirty="0">
                    <a:solidFill>
                      <a:srgbClr val="00B050"/>
                    </a:solidFill>
                  </a:rPr>
                  <a:t>Ослабим</a:t>
                </a:r>
                <a:r>
                  <a:rPr lang="ru-RU" b="1" dirty="0"/>
                  <a:t> свойство абсолютной стойкости</a:t>
                </a:r>
                <a:r>
                  <a:rPr lang="en-US" dirty="0"/>
                  <a:t>: </a:t>
                </a:r>
                <a:r>
                  <a:rPr lang="ru-RU" dirty="0"/>
                  <a:t>вместо требования равенства вероятностей потребуем чтобы их разность не превосходила величину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ru-R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963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игры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Игра состоит из двух сторон – </a:t>
                </a:r>
                <a:r>
                  <a:rPr lang="ru-RU" b="1" dirty="0"/>
                  <a:t>противника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(</a:t>
                </a:r>
                <a:r>
                  <a:rPr lang="en-US" b="1" dirty="0"/>
                  <a:t>Adversary</a:t>
                </a:r>
                <a:r>
                  <a:rPr lang="en-US" dirty="0"/>
                  <a:t>)</a:t>
                </a:r>
                <a:r>
                  <a:rPr lang="ru-RU" dirty="0"/>
                  <a:t> и </a:t>
                </a:r>
                <a:r>
                  <a:rPr lang="ru-RU" b="1" dirty="0"/>
                  <a:t>претендента</a:t>
                </a:r>
                <a:r>
                  <a:rPr lang="en-US" dirty="0"/>
                  <a:t> (</a:t>
                </a:r>
                <a:r>
                  <a:rPr lang="en-US" b="1" dirty="0"/>
                  <a:t>Challenger</a:t>
                </a:r>
                <a:r>
                  <a:rPr lang="en-US" dirty="0"/>
                  <a:t>)</a:t>
                </a:r>
                <a:r>
                  <a:rPr lang="ru-RU" dirty="0"/>
                  <a:t>, моделируемых </a:t>
                </a:r>
                <a:r>
                  <a:rPr lang="ru-RU" b="1" dirty="0"/>
                  <a:t>эффективными</a:t>
                </a:r>
                <a:r>
                  <a:rPr lang="ru-RU" dirty="0"/>
                  <a:t> алгоритмами. При этом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вероятностный</a:t>
                </a:r>
              </a:p>
              <a:p>
                <a:r>
                  <a:rPr lang="ru-RU" b="1" dirty="0"/>
                  <a:t>Входом</a:t>
                </a:r>
                <a:r>
                  <a:rPr lang="ru-RU" dirty="0"/>
                  <a:t> игры называется</a:t>
                </a:r>
                <a:r>
                  <a:rPr lang="en-US" dirty="0"/>
                  <a:t> </a:t>
                </a:r>
                <a:r>
                  <a:rPr lang="ru-RU" dirty="0"/>
                  <a:t>некоторая величина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b="0" dirty="0"/>
              </a:p>
              <a:p>
                <a:r>
                  <a:rPr lang="ru-RU" b="1" dirty="0"/>
                  <a:t>Ход игры </a:t>
                </a:r>
                <a:r>
                  <a:rPr lang="ru-RU" dirty="0"/>
                  <a:t>– атакующий и претендент обмениваются сообщениями согласно некоторому фиксированному протоколу</a:t>
                </a:r>
              </a:p>
              <a:p>
                <a:r>
                  <a:rPr lang="ru-RU" b="1" dirty="0"/>
                  <a:t>Результатом</a:t>
                </a:r>
                <a:r>
                  <a:rPr lang="ru-RU" dirty="0"/>
                  <a:t> игры называется некоторая величина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1043" t="-20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649478" y="5168105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590676" y="5676898"/>
            <a:ext cx="3860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1251282" y="5420665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1282" y="5420665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831078" y="516810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31078" y="5168105"/>
                <a:ext cx="1295400" cy="1188244"/>
              </a:xfrm>
              <a:prstGeom prst="rect">
                <a:avLst/>
              </a:prstGeom>
              <a:blipFill>
                <a:blip r:embed="rId4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4021078" y="4937722"/>
            <a:ext cx="3771900" cy="400050"/>
            <a:chOff x="1776" y="1793"/>
            <a:chExt cx="2400" cy="336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6" y="1793"/>
                  <a:ext cx="360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6" y="1793"/>
                  <a:ext cx="360" cy="33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20"/>
          <p:cNvGrpSpPr>
            <a:grpSpLocks/>
          </p:cNvGrpSpPr>
          <p:nvPr/>
        </p:nvGrpSpPr>
        <p:grpSpPr bwMode="auto">
          <a:xfrm>
            <a:off x="4059178" y="5297556"/>
            <a:ext cx="3733800" cy="400051"/>
            <a:chOff x="1776" y="2107"/>
            <a:chExt cx="2352" cy="336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746" y="2107"/>
                  <a:ext cx="36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4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46" y="2107"/>
                  <a:ext cx="363" cy="3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2009718" y="493950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655223" y="5522087"/>
            <a:ext cx="41549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…</a:t>
            </a:r>
            <a:endParaRPr lang="ru-RU" sz="2600" dirty="0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>
            <a:off x="9934518" y="5639550"/>
            <a:ext cx="3860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10271192" y="5337772"/>
            <a:ext cx="4713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i="1" dirty="0">
                <a:latin typeface="+mj-lt"/>
              </a:rPr>
              <a:t>b</a:t>
            </a:r>
            <a:r>
              <a:rPr lang="en-US" sz="2400" i="1" dirty="0"/>
              <a:t>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00472"/>
            <a:ext cx="4879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Bellare</a:t>
            </a:r>
            <a:r>
              <a:rPr lang="en-US" dirty="0"/>
              <a:t>, </a:t>
            </a:r>
            <a:r>
              <a:rPr lang="en-US" dirty="0" err="1"/>
              <a:t>Rogaway</a:t>
            </a:r>
            <a:r>
              <a:rPr lang="en-US" dirty="0"/>
              <a:t> The Game-Playing Technique ‘04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3464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игры </a:t>
            </a:r>
            <a:r>
              <a:rPr lang="ru-RU" b="1" dirty="0"/>
              <a:t>на различимость</a:t>
            </a:r>
            <a:r>
              <a:rPr lang="ru-RU" dirty="0"/>
              <a:t>, определения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Входом</a:t>
                </a:r>
                <a:r>
                  <a:rPr lang="ru-RU" dirty="0"/>
                  <a:t> игры называется</a:t>
                </a:r>
                <a:r>
                  <a:rPr lang="en-US" dirty="0"/>
                  <a:t> </a:t>
                </a:r>
                <a:r>
                  <a:rPr lang="ru-RU" dirty="0"/>
                  <a:t>случайное число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ru-RU" dirty="0"/>
                  <a:t>, неизвестное для противника, определяющего эксперимент</a:t>
                </a:r>
              </a:p>
              <a:p>
                <a:r>
                  <a:rPr lang="ru-RU" b="1" dirty="0"/>
                  <a:t>Экспериментом</a:t>
                </a:r>
                <a:r>
                  <a:rPr lang="ru-RU" dirty="0"/>
                  <a:t>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dirty="0"/>
                  <a:t>называется «режим» игры при выборе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dirty="0"/>
              </a:p>
              <a:p>
                <a:r>
                  <a:rPr lang="ru-RU" b="1" dirty="0"/>
                  <a:t>Ход игры </a:t>
                </a:r>
                <a:r>
                  <a:rPr lang="ru-RU" dirty="0"/>
                  <a:t>– 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и претендент обмениваются сообщениями согласно некоторому фиксированному протоколу</a:t>
                </a:r>
              </a:p>
              <a:p>
                <a:r>
                  <a:rPr lang="ru-RU" b="1" dirty="0"/>
                  <a:t>Цель игры </a:t>
                </a:r>
                <a:r>
                  <a:rPr lang="ru-RU" dirty="0"/>
                  <a:t>– 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пытается различить два эксперимента</a:t>
                </a:r>
              </a:p>
              <a:p>
                <a:r>
                  <a:rPr lang="ru-RU" b="1" dirty="0"/>
                  <a:t>Результатом</a:t>
                </a:r>
                <a:r>
                  <a:rPr lang="ru-RU" dirty="0"/>
                  <a:t> игры называется число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ru-RU" dirty="0"/>
                  <a:t> – выход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928" t="-20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265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</a:t>
            </a:r>
            <a:r>
              <a:rPr lang="en-US" dirty="0"/>
              <a:t>: </a:t>
            </a:r>
            <a:r>
              <a:rPr lang="ru-RU" dirty="0"/>
              <a:t>семантическая стойкость (одноразовое использование ключа)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35073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Для вычислимого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определим два эксперимента, </a:t>
                </a:r>
                <a:r>
                  <a:rPr lang="en-US" dirty="0" err="1"/>
                  <a:t>Exp</a:t>
                </a:r>
                <a:r>
                  <a:rPr lang="ru-RU" dirty="0"/>
                  <a:t>.</a:t>
                </a:r>
                <a:r>
                  <a:rPr lang="en-US" dirty="0"/>
                  <a:t> 0 </a:t>
                </a:r>
                <a:r>
                  <a:rPr lang="ru-RU" dirty="0"/>
                  <a:t>и </a:t>
                </a:r>
                <a:r>
                  <a:rPr lang="en-US" dirty="0" err="1"/>
                  <a:t>Exp</a:t>
                </a:r>
                <a:r>
                  <a:rPr lang="ru-RU" dirty="0"/>
                  <a:t>.</a:t>
                </a:r>
                <a:r>
                  <a:rPr lang="en-US" dirty="0"/>
                  <a:t> 1</a:t>
                </a:r>
                <a:r>
                  <a:rPr lang="ru-RU" dirty="0"/>
                  <a:t> следующим образом</a:t>
                </a:r>
                <a:r>
                  <a:rPr lang="en-US" dirty="0"/>
                  <a:t> </a:t>
                </a: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US" dirty="0"/>
                  <a:t>: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350731" cy="4351338"/>
              </a:xfrm>
              <a:blipFill>
                <a:blip r:embed="rId2"/>
                <a:stretch>
                  <a:fillRect l="-1061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513676" y="4686055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 err="1"/>
              <a:t>Chal</a:t>
            </a:r>
            <a:r>
              <a:rPr lang="en-US" dirty="0"/>
              <a:t>.</a:t>
            </a: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3123276" y="4171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7"/>
              <p:cNvSpPr>
                <a:spLocks noChangeArrowheads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blipFill>
                <a:blip r:embed="rId4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1"/>
          <p:cNvGrpSpPr>
            <a:grpSpLocks/>
          </p:cNvGrpSpPr>
          <p:nvPr/>
        </p:nvGrpSpPr>
        <p:grpSpPr bwMode="auto">
          <a:xfrm>
            <a:off x="3885276" y="4769398"/>
            <a:ext cx="3810000" cy="403622"/>
            <a:chOff x="1776" y="1783"/>
            <a:chExt cx="2400" cy="339"/>
          </a:xfrm>
        </p:grpSpPr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7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1873916" y="445745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3"/>
              <p:cNvSpPr txBox="1">
                <a:spLocks noChangeArrowheads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blipFill>
                <a:blip r:embed="rId6"/>
                <a:stretch>
                  <a:fillRect l="-5825" r="-2815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20"/>
          <p:cNvGrpSpPr>
            <a:grpSpLocks/>
          </p:cNvGrpSpPr>
          <p:nvPr/>
        </p:nvGrpSpPr>
        <p:grpSpPr bwMode="auto">
          <a:xfrm>
            <a:off x="3885276" y="5176599"/>
            <a:ext cx="3733800" cy="506017"/>
            <a:chOff x="1776" y="2009"/>
            <a:chExt cx="2352" cy="425"/>
          </a:xfrm>
        </p:grpSpPr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61" y="2009"/>
                  <a:ext cx="981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1" y="2009"/>
                  <a:ext cx="981" cy="425"/>
                </a:xfrm>
                <a:prstGeom prst="rect">
                  <a:avLst/>
                </a:prstGeom>
                <a:blipFill>
                  <a:blip r:embed="rId7"/>
                  <a:stretch>
                    <a:fillRect r="-3922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22"/>
          <p:cNvGrpSpPr>
            <a:grpSpLocks/>
          </p:cNvGrpSpPr>
          <p:nvPr/>
        </p:nvGrpSpPr>
        <p:grpSpPr bwMode="auto">
          <a:xfrm>
            <a:off x="8304886" y="5874297"/>
            <a:ext cx="1570040" cy="678656"/>
            <a:chOff x="4560" y="2842"/>
            <a:chExt cx="989" cy="570"/>
          </a:xfrm>
        </p:grpSpPr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8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6086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</a:t>
            </a:r>
            <a:r>
              <a:rPr lang="en-US" dirty="0"/>
              <a:t>: </a:t>
            </a:r>
            <a:r>
              <a:rPr lang="ru-RU" dirty="0"/>
              <a:t>семантическая стойкость (одноразовое использование ключа)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2"/>
              <p:cNvSpPr txBox="1">
                <a:spLocks/>
              </p:cNvSpPr>
              <p:nvPr/>
            </p:nvSpPr>
            <p:spPr>
              <a:xfrm>
                <a:off x="838199" y="1825624"/>
                <a:ext cx="10003971" cy="4530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dirty="0"/>
                  <a:t>Претендент выбирает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Противник </a:t>
                </a:r>
                <a:r>
                  <a:rPr lang="en-US" dirty="0"/>
                  <a:t> </a:t>
                </a:r>
                <a:r>
                  <a:rPr lang="ru-RU" dirty="0"/>
                  <a:t>выбирает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/>
                  <a:t> </a:t>
                </a:r>
                <a:r>
                  <a:rPr lang="ru-RU" b="1" dirty="0"/>
                  <a:t>одинаковой длины</a:t>
                </a:r>
                <a:endParaRPr lang="ru-RU" dirty="0"/>
              </a:p>
              <a:p>
                <a:r>
                  <a:rPr lang="ru-RU" dirty="0"/>
                  <a:t>Претендент вычисляет </a:t>
                </a:r>
                <a:r>
                  <a:rPr lang="en-US" i="1" dirty="0"/>
                  <a:t>c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отправляет противнику</a:t>
                </a:r>
              </a:p>
              <a:p>
                <a:r>
                  <a:rPr lang="ru-RU" dirty="0"/>
                  <a:t>Противник возвращает бит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ru-RU" dirty="0"/>
                  <a:t> как результат игры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9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25624"/>
                <a:ext cx="10003971" cy="4530725"/>
              </a:xfrm>
              <a:prstGeom prst="rect">
                <a:avLst/>
              </a:prstGeom>
              <a:blipFill>
                <a:blip r:embed="rId2"/>
                <a:stretch>
                  <a:fillRect l="-9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2513676" y="4686055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41" name="Line 5"/>
          <p:cNvSpPr>
            <a:spLocks noChangeShapeType="1"/>
          </p:cNvSpPr>
          <p:nvPr/>
        </p:nvSpPr>
        <p:spPr bwMode="auto">
          <a:xfrm>
            <a:off x="3123276" y="4171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7"/>
              <p:cNvSpPr>
                <a:spLocks noChangeArrowheads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blipFill>
                <a:blip r:embed="rId4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21"/>
          <p:cNvGrpSpPr>
            <a:grpSpLocks/>
          </p:cNvGrpSpPr>
          <p:nvPr/>
        </p:nvGrpSpPr>
        <p:grpSpPr bwMode="auto">
          <a:xfrm>
            <a:off x="3885276" y="4769398"/>
            <a:ext cx="3810000" cy="403622"/>
            <a:chOff x="1776" y="1783"/>
            <a:chExt cx="2400" cy="339"/>
          </a:xfrm>
        </p:grpSpPr>
        <p:sp>
          <p:nvSpPr>
            <p:cNvPr id="46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7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20"/>
          <p:cNvGrpSpPr>
            <a:grpSpLocks/>
          </p:cNvGrpSpPr>
          <p:nvPr/>
        </p:nvGrpSpPr>
        <p:grpSpPr bwMode="auto">
          <a:xfrm>
            <a:off x="3885276" y="5169455"/>
            <a:ext cx="3733800" cy="506017"/>
            <a:chOff x="1776" y="2003"/>
            <a:chExt cx="2352" cy="425"/>
          </a:xfrm>
        </p:grpSpPr>
        <p:sp>
          <p:nvSpPr>
            <p:cNvPr id="49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61" y="2003"/>
                  <a:ext cx="981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5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1" y="2003"/>
                  <a:ext cx="981" cy="425"/>
                </a:xfrm>
                <a:prstGeom prst="rect">
                  <a:avLst/>
                </a:prstGeom>
                <a:blipFill>
                  <a:blip r:embed="rId6"/>
                  <a:stretch>
                    <a:fillRect r="-3922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22"/>
          <p:cNvGrpSpPr>
            <a:grpSpLocks/>
          </p:cNvGrpSpPr>
          <p:nvPr/>
        </p:nvGrpSpPr>
        <p:grpSpPr bwMode="auto">
          <a:xfrm>
            <a:off x="8304886" y="5874297"/>
            <a:ext cx="1570040" cy="678656"/>
            <a:chOff x="4560" y="2842"/>
            <a:chExt cx="989" cy="570"/>
          </a:xfrm>
        </p:grpSpPr>
        <p:sp>
          <p:nvSpPr>
            <p:cNvPr id="52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Rectangle 18"/>
          <p:cNvSpPr>
            <a:spLocks noChangeArrowheads="1"/>
          </p:cNvSpPr>
          <p:nvPr/>
        </p:nvSpPr>
        <p:spPr bwMode="auto">
          <a:xfrm>
            <a:off x="1873916" y="445745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3"/>
              <p:cNvSpPr txBox="1">
                <a:spLocks noChangeArrowheads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blipFill>
                <a:blip r:embed="rId8"/>
                <a:stretch>
                  <a:fillRect l="-5825" r="-2815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897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</a:t>
            </a:r>
            <a:r>
              <a:rPr lang="en-US" dirty="0"/>
              <a:t>: </a:t>
            </a:r>
            <a:r>
              <a:rPr lang="ru-RU" dirty="0"/>
              <a:t>семантическая стойкость (одноразовое использование ключа)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2"/>
              <p:cNvSpPr txBox="1">
                <a:spLocks/>
              </p:cNvSpPr>
              <p:nvPr/>
            </p:nvSpPr>
            <p:spPr>
              <a:xfrm>
                <a:off x="838200" y="1825624"/>
                <a:ext cx="10207170" cy="4530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dirty="0"/>
                  <a:t> -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эксперименте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b="1" dirty="0"/>
                  <a:t>Преимуществом</a:t>
                </a:r>
                <a:r>
                  <a:rPr lang="ru-RU" dirty="0"/>
                  <a:t> (</a:t>
                </a:r>
                <a:r>
                  <a:rPr lang="en-US" b="1" dirty="0"/>
                  <a:t>Advantage</a:t>
                </a:r>
                <a:r>
                  <a:rPr lang="en-US" dirty="0"/>
                  <a:t>) </a:t>
                </a:r>
                <a:r>
                  <a:rPr lang="ru-RU" dirty="0"/>
                  <a:t>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в игре на семантическую стойкость есть величина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SSadv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9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4"/>
                <a:ext cx="10207170" cy="4530725"/>
              </a:xfrm>
              <a:prstGeom prst="rect">
                <a:avLst/>
              </a:prstGeom>
              <a:blipFill>
                <a:blip r:embed="rId2"/>
                <a:stretch>
                  <a:fillRect l="-1075" t="-2016" r="-12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513676" y="4686055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3123276" y="4171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blipFill>
                <a:blip r:embed="rId4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21"/>
          <p:cNvGrpSpPr>
            <a:grpSpLocks/>
          </p:cNvGrpSpPr>
          <p:nvPr/>
        </p:nvGrpSpPr>
        <p:grpSpPr bwMode="auto">
          <a:xfrm>
            <a:off x="3885276" y="4769398"/>
            <a:ext cx="3810000" cy="403622"/>
            <a:chOff x="1776" y="1783"/>
            <a:chExt cx="2400" cy="339"/>
          </a:xfrm>
        </p:grpSpPr>
        <p:sp>
          <p:nvSpPr>
            <p:cNvPr id="16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7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2"/>
          <p:cNvGrpSpPr>
            <a:grpSpLocks/>
          </p:cNvGrpSpPr>
          <p:nvPr/>
        </p:nvGrpSpPr>
        <p:grpSpPr bwMode="auto">
          <a:xfrm>
            <a:off x="8304878" y="5874297"/>
            <a:ext cx="1570038" cy="678656"/>
            <a:chOff x="4560" y="2842"/>
            <a:chExt cx="989" cy="570"/>
          </a:xfrm>
        </p:grpSpPr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6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1873916" y="445745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blipFill>
                <a:blip r:embed="rId7"/>
                <a:stretch>
                  <a:fillRect l="-5825" r="-2815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0"/>
          <p:cNvGrpSpPr>
            <a:grpSpLocks/>
          </p:cNvGrpSpPr>
          <p:nvPr/>
        </p:nvGrpSpPr>
        <p:grpSpPr bwMode="auto">
          <a:xfrm>
            <a:off x="3885276" y="5148024"/>
            <a:ext cx="3733800" cy="506017"/>
            <a:chOff x="1776" y="1985"/>
            <a:chExt cx="2352" cy="425"/>
          </a:xfrm>
        </p:grpSpPr>
        <p:sp>
          <p:nvSpPr>
            <p:cNvPr id="28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61" y="1985"/>
                  <a:ext cx="981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1" y="1985"/>
                  <a:ext cx="981" cy="425"/>
                </a:xfrm>
                <a:prstGeom prst="rect">
                  <a:avLst/>
                </a:prstGeom>
                <a:blipFill>
                  <a:blip r:embed="rId8"/>
                  <a:stretch>
                    <a:fillRect r="-3922" b="-1904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18387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стойкость (одноразовое использование ключа)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19690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dirty="0"/>
                  <a:t>(одноразово) </a:t>
                </a:r>
                <a:r>
                  <a:rPr lang="ru-RU" b="1" dirty="0"/>
                  <a:t>семантически стойкий</a:t>
                </a:r>
                <a:r>
                  <a:rPr lang="ru-RU" dirty="0"/>
                  <a:t>, если для всех эффективных противников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SSadv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</a:t>
                </a:r>
                <a:r>
                  <a:rPr lang="ru-RU" b="1" dirty="0"/>
                  <a:t>пренебрежимо малая величина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Иными словами – вычислительно невозможно отличить шифртексты различных сообщений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196909" cy="4351338"/>
              </a:xfrm>
              <a:blipFill>
                <a:blip r:embed="rId2"/>
                <a:stretch>
                  <a:fillRect l="-1077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1731701" y="6365557"/>
                <a:ext cx="4939109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600">
                          <a:latin typeface="Cambria Math" panose="02040503050406030204" pitchFamily="18" charset="0"/>
                        </a:rPr>
                        <m:t>SSadv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6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701" y="6365557"/>
                <a:ext cx="493910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513676" y="4842464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3123276" y="4328113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19476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194762"/>
                <a:ext cx="42704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7695276" y="4842464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842464"/>
                <a:ext cx="1295400" cy="1188244"/>
              </a:xfrm>
              <a:prstGeom prst="rect">
                <a:avLst/>
              </a:prstGeom>
              <a:blipFill>
                <a:blip r:embed="rId5"/>
                <a:stretch>
                  <a:fillRect t="-203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21"/>
          <p:cNvGrpSpPr>
            <a:grpSpLocks/>
          </p:cNvGrpSpPr>
          <p:nvPr/>
        </p:nvGrpSpPr>
        <p:grpSpPr bwMode="auto">
          <a:xfrm>
            <a:off x="3885276" y="4925807"/>
            <a:ext cx="3810000" cy="403622"/>
            <a:chOff x="1776" y="1783"/>
            <a:chExt cx="2400" cy="339"/>
          </a:xfrm>
        </p:grpSpPr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blipFill>
                  <a:blip r:embed="rId6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22"/>
          <p:cNvGrpSpPr>
            <a:grpSpLocks/>
          </p:cNvGrpSpPr>
          <p:nvPr/>
        </p:nvGrpSpPr>
        <p:grpSpPr bwMode="auto">
          <a:xfrm>
            <a:off x="8304878" y="6030706"/>
            <a:ext cx="1570038" cy="678656"/>
            <a:chOff x="4560" y="2842"/>
            <a:chExt cx="989" cy="570"/>
          </a:xfrm>
        </p:grpSpPr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873916" y="4613863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3"/>
              <p:cNvSpPr txBox="1">
                <a:spLocks noChangeArrowheads="1"/>
              </p:cNvSpPr>
              <p:nvPr/>
            </p:nvSpPr>
            <p:spPr bwMode="auto">
              <a:xfrm>
                <a:off x="2845071" y="5196446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2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5071" y="5196446"/>
                <a:ext cx="632609" cy="423129"/>
              </a:xfrm>
              <a:prstGeom prst="rect">
                <a:avLst/>
              </a:prstGeom>
              <a:blipFill>
                <a:blip r:embed="rId8"/>
                <a:stretch>
                  <a:fillRect l="-5825" r="-28155" b="-4285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3885276" y="5304433"/>
            <a:ext cx="3733800" cy="506017"/>
            <a:chOff x="1776" y="1985"/>
            <a:chExt cx="2352" cy="425"/>
          </a:xfrm>
        </p:grpSpPr>
        <p:sp>
          <p:nvSpPr>
            <p:cNvPr id="2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85" y="1985"/>
                  <a:ext cx="981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85" y="1985"/>
                  <a:ext cx="981" cy="425"/>
                </a:xfrm>
                <a:prstGeom prst="rect">
                  <a:avLst/>
                </a:prstGeom>
                <a:blipFill>
                  <a:blip r:embed="rId9"/>
                  <a:stretch>
                    <a:fillRect r="-3922" b="-1904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54682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стойкость (одноразовое использование ключа)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19690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Заметим, что нам важна только разность вероятностей событий.</a:t>
                </a:r>
              </a:p>
              <a:p>
                <a:r>
                  <a:rPr lang="ru-RU" dirty="0"/>
                  <a:t>Большая разность означит, что противник может различать эксперименты</a:t>
                </a:r>
              </a:p>
              <a:p>
                <a:r>
                  <a:rPr lang="ru-RU" dirty="0"/>
                  <a:t>Малая – что противник различает эксперименты с трудом</a:t>
                </a:r>
              </a:p>
              <a:p>
                <a:pPr marL="0" indent="0">
                  <a:buNone/>
                </a:pPr>
                <a:r>
                  <a:rPr lang="ru-RU" dirty="0"/>
                  <a:t>Также замети, при замене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dirty="0"/>
                  <a:t>, как выхода противника, его преимущество не изменится.</a:t>
                </a:r>
              </a:p>
              <a:p>
                <a:pPr marL="0" indent="0">
                  <a:buNone/>
                </a:pPr>
                <a:r>
                  <a:rPr lang="ru-RU" dirty="0"/>
                  <a:t>Иными словами – важна не величина, которая выдаёт противник, а то, что данные величины позволяют различать эксперименты.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196909" cy="4351338"/>
              </a:xfrm>
              <a:blipFill>
                <a:blip r:embed="rId2"/>
                <a:stretch>
                  <a:fillRect l="-1077" t="-2101" r="-15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555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стойкость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«Ослабленная» версия абсолютной стойкости</a:t>
                </a:r>
                <a:r>
                  <a:rPr lang="en-US" dirty="0"/>
                  <a:t>: </a:t>
                </a:r>
                <a:r>
                  <a:rPr lang="ru-RU" dirty="0"/>
                  <a:t>только </a:t>
                </a:r>
                <a:r>
                  <a:rPr lang="ru-RU" b="1" dirty="0"/>
                  <a:t>эффективные</a:t>
                </a:r>
                <a:r>
                  <a:rPr lang="ru-RU" dirty="0"/>
                  <a:t> </a:t>
                </a:r>
                <a:r>
                  <a:rPr lang="ru-RU" b="1" dirty="0"/>
                  <a:t>противники</a:t>
                </a:r>
                <a:r>
                  <a:rPr lang="ru-RU" dirty="0"/>
                  <a:t> и разность вероятностей </a:t>
                </a:r>
                <a:r>
                  <a:rPr lang="ru-RU" dirty="0" err="1"/>
                  <a:t>расшифрования</a:t>
                </a:r>
                <a:r>
                  <a:rPr lang="ru-RU" dirty="0"/>
                  <a:t> в заданные сообщения </a:t>
                </a:r>
                <a:r>
                  <a:rPr lang="ru-RU" b="1" dirty="0"/>
                  <a:t>не превосходит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Позволяет использовать </a:t>
                </a:r>
                <a:r>
                  <a:rPr lang="ru-RU" b="1" dirty="0"/>
                  <a:t>короткие ключи</a:t>
                </a:r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Примеры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Одноразовый блокнот – семантически стойкий шифр</a:t>
                </a:r>
              </a:p>
              <a:p>
                <a:r>
                  <a:rPr lang="ru-RU" dirty="0"/>
                  <a:t>Одноразовый блокнот переменной длины – семантически стойкий шифр</a:t>
                </a:r>
              </a:p>
              <a:p>
                <a:r>
                  <a:rPr lang="ru-RU" dirty="0"/>
                  <a:t>Шифр подстановки – не семантически стойкий шифр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135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46882" y="1793021"/>
            <a:ext cx="10542006" cy="94964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атаки на семантическую стойкость</a:t>
            </a:r>
            <a:r>
              <a:rPr lang="en-US" dirty="0"/>
              <a:t> (</a:t>
            </a:r>
            <a:r>
              <a:rPr lang="ru-RU" dirty="0"/>
              <a:t>пример)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семантически стойкий шифр,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dirty="0"/>
                  <a:t>не семантически стойкий.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Построим эффективный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позволяющий выиграть игру на семантическую стойкость.</a:t>
                </a:r>
              </a:p>
              <a:p>
                <a:r>
                  <a:rPr lang="ru-RU" dirty="0"/>
                  <a:t>Генерация двух</a:t>
                </a:r>
                <a:r>
                  <a:rPr lang="en-US" dirty="0"/>
                  <a:t> </a:t>
                </a:r>
                <a:r>
                  <a:rPr lang="ru-RU" dirty="0"/>
                  <a:t>различных сообщений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</a:p>
              <a:p>
                <a:r>
                  <a:rPr lang="ru-RU" dirty="0"/>
                  <a:t>Получение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 для одного из сообщений</a:t>
                </a:r>
                <a:endParaRPr lang="en-US" dirty="0"/>
              </a:p>
              <a:p>
                <a:r>
                  <a:rPr lang="ru-RU" dirty="0"/>
                  <a:t>Выдать результат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ru-RU" dirty="0"/>
                      <m:t>=</m:t>
                    </m:r>
                    <m:r>
                      <m:rPr>
                        <m:nor/>
                      </m:rPr>
                      <a:rPr lang="en-US" dirty="0"/>
                      <m:t>?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889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Скругленный прямоугольник 38"/>
          <p:cNvSpPr/>
          <p:nvPr/>
        </p:nvSpPr>
        <p:spPr>
          <a:xfrm>
            <a:off x="746882" y="1793021"/>
            <a:ext cx="10542006" cy="94964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атаки на семантическую стойкость </a:t>
            </a:r>
            <a:r>
              <a:rPr lang="en-US" dirty="0"/>
              <a:t>(</a:t>
            </a:r>
            <a:r>
              <a:rPr lang="ru-RU" dirty="0"/>
              <a:t>пример)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  <p:sp>
        <p:nvSpPr>
          <p:cNvPr id="20" name="Rectangle 28"/>
          <p:cNvSpPr>
            <a:spLocks noChangeArrowheads="1"/>
          </p:cNvSpPr>
          <p:nvPr/>
        </p:nvSpPr>
        <p:spPr bwMode="auto">
          <a:xfrm>
            <a:off x="5832318" y="3901229"/>
            <a:ext cx="4572000" cy="1600200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/>
              <a:t>Adv. A  (us)</a:t>
            </a: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2098518" y="3996479"/>
            <a:ext cx="12954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2" name="Line 10"/>
          <p:cNvSpPr>
            <a:spLocks noChangeShapeType="1"/>
          </p:cNvSpPr>
          <p:nvPr/>
        </p:nvSpPr>
        <p:spPr bwMode="auto">
          <a:xfrm>
            <a:off x="2708118" y="3394023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403319" y="4350095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3319" y="4350095"/>
                <a:ext cx="632609" cy="423129"/>
              </a:xfrm>
              <a:prstGeom prst="rect">
                <a:avLst/>
              </a:prstGeom>
              <a:blipFill>
                <a:blip r:embed="rId3"/>
                <a:stretch>
                  <a:fillRect l="-4808" r="-2788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30"/>
          <p:cNvGrpSpPr>
            <a:grpSpLocks/>
          </p:cNvGrpSpPr>
          <p:nvPr/>
        </p:nvGrpSpPr>
        <p:grpSpPr bwMode="auto">
          <a:xfrm>
            <a:off x="3393918" y="4517976"/>
            <a:ext cx="3733800" cy="506016"/>
            <a:chOff x="1152" y="2918"/>
            <a:chExt cx="2352" cy="425"/>
          </a:xfrm>
        </p:grpSpPr>
        <p:sp>
          <p:nvSpPr>
            <p:cNvPr id="26" name="Line 17"/>
            <p:cNvSpPr>
              <a:spLocks noChangeShapeType="1"/>
            </p:cNvSpPr>
            <p:nvPr/>
          </p:nvSpPr>
          <p:spPr bwMode="auto">
            <a:xfrm>
              <a:off x="1152" y="3312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392" y="2918"/>
                  <a:ext cx="1034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7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2" y="2918"/>
                  <a:ext cx="1034" cy="425"/>
                </a:xfrm>
                <a:prstGeom prst="rect">
                  <a:avLst/>
                </a:prstGeom>
                <a:blipFill>
                  <a:blip r:embed="rId4"/>
                  <a:stretch>
                    <a:fillRect r="-2963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20"/>
          <p:cNvSpPr>
            <a:spLocks noChangeArrowheads="1"/>
          </p:cNvSpPr>
          <p:nvPr/>
        </p:nvSpPr>
        <p:spPr bwMode="auto">
          <a:xfrm>
            <a:off x="1793718" y="3767879"/>
            <a:ext cx="8763000" cy="18288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" name="Group 29"/>
          <p:cNvGrpSpPr>
            <a:grpSpLocks/>
          </p:cNvGrpSpPr>
          <p:nvPr/>
        </p:nvGrpSpPr>
        <p:grpSpPr bwMode="auto">
          <a:xfrm>
            <a:off x="3470118" y="3994095"/>
            <a:ext cx="3124200" cy="478631"/>
            <a:chOff x="1248" y="2478"/>
            <a:chExt cx="1968" cy="402"/>
          </a:xfrm>
        </p:grpSpPr>
        <p:sp>
          <p:nvSpPr>
            <p:cNvPr id="30" name="Line 15"/>
            <p:cNvSpPr>
              <a:spLocks noChangeShapeType="1"/>
            </p:cNvSpPr>
            <p:nvPr/>
          </p:nvSpPr>
          <p:spPr bwMode="auto">
            <a:xfrm flipH="1" flipV="1">
              <a:off x="1248" y="288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392" y="2478"/>
                  <a:ext cx="973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lvl="1"/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sz="2000" dirty="0">
                      <a:latin typeface="Courier New" pitchFamily="49" charset="0"/>
                    </a:rPr>
                    <a:t>,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31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2" y="2478"/>
                  <a:ext cx="973" cy="388"/>
                </a:xfrm>
                <a:prstGeom prst="rect">
                  <a:avLst/>
                </a:prstGeom>
                <a:blipFill>
                  <a:blip r:embed="rId5"/>
                  <a:stretch>
                    <a:fillRect b="-23684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6670524" y="5141858"/>
            <a:ext cx="2705103" cy="645318"/>
            <a:chOff x="3216" y="3442"/>
            <a:chExt cx="1704" cy="542"/>
          </a:xfrm>
        </p:grpSpPr>
        <p:sp>
          <p:nvSpPr>
            <p:cNvPr id="36" name="Line 25"/>
            <p:cNvSpPr>
              <a:spLocks noChangeShapeType="1"/>
            </p:cNvSpPr>
            <p:nvPr/>
          </p:nvSpPr>
          <p:spPr bwMode="auto">
            <a:xfrm flipH="1">
              <a:off x="3216" y="350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9"/>
            <p:cNvSpPr>
              <a:spLocks noChangeShapeType="1"/>
            </p:cNvSpPr>
            <p:nvPr/>
          </p:nvSpPr>
          <p:spPr bwMode="auto">
            <a:xfrm>
              <a:off x="3216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614" y="3442"/>
                  <a:ext cx="1306" cy="31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←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?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8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14" y="3442"/>
                  <a:ext cx="1306" cy="319"/>
                </a:xfrm>
                <a:prstGeom prst="rect">
                  <a:avLst/>
                </a:prstGeom>
                <a:blipFill>
                  <a:blip r:embed="rId6"/>
                  <a:stretch>
                    <a:fillRect b="-158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Прямоугольник 40"/>
              <p:cNvSpPr/>
              <p:nvPr/>
            </p:nvSpPr>
            <p:spPr>
              <a:xfrm>
                <a:off x="2761705" y="6085077"/>
                <a:ext cx="6910353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600" smtClean="0">
                          <a:latin typeface="Cambria Math" panose="02040503050406030204" pitchFamily="18" charset="0"/>
                        </a:rPr>
                        <m:t>SSadv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6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ru-RU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>
          <p:sp>
            <p:nvSpPr>
              <p:cNvPr id="41" name="Прямоугольник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705" y="6085077"/>
                <a:ext cx="691035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6"/>
              <p:cNvSpPr txBox="1">
                <a:spLocks noChangeArrowheads="1"/>
              </p:cNvSpPr>
              <p:nvPr/>
            </p:nvSpPr>
            <p:spPr bwMode="auto">
              <a:xfrm>
                <a:off x="2346021" y="331247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4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6021" y="3312472"/>
                <a:ext cx="42704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1937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семантически стойкий шифр,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dirty="0"/>
                  <a:t>не семантически стойкий.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19371"/>
              </a:xfrm>
              <a:blipFill>
                <a:blip r:embed="rId9"/>
                <a:stretch>
                  <a:fillRect l="-1043" t="-89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DE9370-ADCF-1B2B-4076-F48903A7A7E7}"/>
                  </a:ext>
                </a:extLst>
              </p:cNvPr>
              <p:cNvSpPr txBox="1"/>
              <p:nvPr/>
            </p:nvSpPr>
            <p:spPr>
              <a:xfrm>
                <a:off x="3470118" y="4084510"/>
                <a:ext cx="60978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𝑚</m:t>
                      </m:r>
                      <m:r>
                        <a:rPr lang="en-US" sz="1800" i="1" baseline="-25000" dirty="0">
                          <a:latin typeface="Cambria Math" panose="02040503050406030204" pitchFamily="18" charset="0"/>
                          <a:sym typeface="Symbol" pitchFamily="18" charset="2"/>
                        </a:rPr>
                        <m:t>0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| = |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𝑚</m:t>
                      </m:r>
                      <m:r>
                        <a:rPr lang="en-US" sz="1800" i="1" baseline="-25000" dirty="0">
                          <a:latin typeface="Cambria Math" panose="02040503050406030204" pitchFamily="18" charset="0"/>
                          <a:sym typeface="Symbol" pitchFamily="18" charset="2"/>
                        </a:rPr>
                        <m:t>1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DE9370-ADCF-1B2B-4076-F48903A7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118" y="4084510"/>
                <a:ext cx="6097836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5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32873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Построение атаки на семантическую стойкость</a:t>
            </a:r>
            <a:r>
              <a:rPr lang="en-US" dirty="0"/>
              <a:t> (</a:t>
            </a:r>
            <a:r>
              <a:rPr lang="ru-RU" dirty="0"/>
              <a:t>пример через существующую атаку)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алгоритм позволяющий получить наименее значимый бит </a:t>
                </a:r>
                <a:r>
                  <a:rPr lang="en-US" dirty="0"/>
                  <a:t>(LSB)</a:t>
                </a:r>
                <a:r>
                  <a:rPr lang="ru-RU" dirty="0"/>
                  <a:t> открытого текста через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с</m:t>
                    </m:r>
                    <m:groupChr>
                      <m:groupChrPr>
                        <m:chr m:val="←"/>
                        <m:vertJc m:val="bot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 семантически стойкий шифр.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Построим эффективный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, позволяющий выиграть игру на семантическую стойкость.</a:t>
                </a:r>
              </a:p>
              <a:p>
                <a:r>
                  <a:rPr lang="ru-RU" dirty="0"/>
                  <a:t>Генерация двух сообщений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с различным наименее значимым битом</a:t>
                </a:r>
                <a:endParaRPr lang="en-US" dirty="0"/>
              </a:p>
              <a:p>
                <a:r>
                  <a:rPr lang="ru-RU" dirty="0"/>
                  <a:t>Получение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 для одного из сообщений</a:t>
                </a:r>
                <a:endParaRPr lang="en-US" dirty="0"/>
              </a:p>
              <a:p>
                <a:r>
                  <a:rPr lang="ru-RU" dirty="0"/>
                  <a:t>Передача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на вход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Получение наименее значимого бита отрытого текста, определение эксперимента.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116" b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906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Скругленный прямоугольник 65"/>
          <p:cNvSpPr/>
          <p:nvPr/>
        </p:nvSpPr>
        <p:spPr>
          <a:xfrm>
            <a:off x="760774" y="1737864"/>
            <a:ext cx="10542006" cy="132873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Построение атаки на семантическую стойкость </a:t>
            </a:r>
            <a:r>
              <a:rPr lang="en-US" dirty="0"/>
              <a:t>(</a:t>
            </a:r>
            <a:r>
              <a:rPr lang="ru-RU" dirty="0"/>
              <a:t>пример через существующую атаку)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  <p:sp>
        <p:nvSpPr>
          <p:cNvPr id="20" name="Rectangle 28"/>
          <p:cNvSpPr>
            <a:spLocks noChangeArrowheads="1"/>
          </p:cNvSpPr>
          <p:nvPr/>
        </p:nvSpPr>
        <p:spPr bwMode="auto">
          <a:xfrm>
            <a:off x="5832318" y="3901229"/>
            <a:ext cx="4572000" cy="1600200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Adv. B  (us)</a:t>
            </a: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2098518" y="3996479"/>
            <a:ext cx="12954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2" name="Line 10"/>
          <p:cNvSpPr>
            <a:spLocks noChangeShapeType="1"/>
          </p:cNvSpPr>
          <p:nvPr/>
        </p:nvSpPr>
        <p:spPr bwMode="auto">
          <a:xfrm>
            <a:off x="2708118" y="3394023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8880318" y="4529879"/>
            <a:ext cx="1295400" cy="8953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Adv.  A</a:t>
            </a:r>
          </a:p>
          <a:p>
            <a:pPr algn="ctr"/>
            <a:r>
              <a:rPr lang="en-US"/>
              <a:t>(given)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403319" y="4350095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3319" y="4350095"/>
                <a:ext cx="632609" cy="423129"/>
              </a:xfrm>
              <a:prstGeom prst="rect">
                <a:avLst/>
              </a:prstGeom>
              <a:blipFill>
                <a:blip r:embed="rId3"/>
                <a:stretch>
                  <a:fillRect l="-4808" r="-2788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30"/>
          <p:cNvGrpSpPr>
            <a:grpSpLocks/>
          </p:cNvGrpSpPr>
          <p:nvPr/>
        </p:nvGrpSpPr>
        <p:grpSpPr bwMode="auto">
          <a:xfrm>
            <a:off x="3393918" y="4517976"/>
            <a:ext cx="3733800" cy="506016"/>
            <a:chOff x="1152" y="2918"/>
            <a:chExt cx="2352" cy="425"/>
          </a:xfrm>
        </p:grpSpPr>
        <p:sp>
          <p:nvSpPr>
            <p:cNvPr id="26" name="Line 17"/>
            <p:cNvSpPr>
              <a:spLocks noChangeShapeType="1"/>
            </p:cNvSpPr>
            <p:nvPr/>
          </p:nvSpPr>
          <p:spPr bwMode="auto">
            <a:xfrm>
              <a:off x="1152" y="3312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392" y="2918"/>
                  <a:ext cx="1022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7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2" y="2918"/>
                  <a:ext cx="1022" cy="425"/>
                </a:xfrm>
                <a:prstGeom prst="rect">
                  <a:avLst/>
                </a:prstGeom>
                <a:blipFill>
                  <a:blip r:embed="rId4"/>
                  <a:stretch>
                    <a:fillRect r="-3383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20"/>
          <p:cNvSpPr>
            <a:spLocks noChangeArrowheads="1"/>
          </p:cNvSpPr>
          <p:nvPr/>
        </p:nvSpPr>
        <p:spPr bwMode="auto">
          <a:xfrm>
            <a:off x="1793718" y="3767879"/>
            <a:ext cx="8763000" cy="18288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" name="Group 29"/>
          <p:cNvGrpSpPr>
            <a:grpSpLocks/>
          </p:cNvGrpSpPr>
          <p:nvPr/>
        </p:nvGrpSpPr>
        <p:grpSpPr bwMode="auto">
          <a:xfrm>
            <a:off x="3244693" y="3679777"/>
            <a:ext cx="3349625" cy="814389"/>
            <a:chOff x="1106" y="2214"/>
            <a:chExt cx="2110" cy="684"/>
          </a:xfrm>
        </p:grpSpPr>
        <p:sp>
          <p:nvSpPr>
            <p:cNvPr id="30" name="Line 15"/>
            <p:cNvSpPr>
              <a:spLocks noChangeShapeType="1"/>
            </p:cNvSpPr>
            <p:nvPr/>
          </p:nvSpPr>
          <p:spPr bwMode="auto">
            <a:xfrm flipH="1" flipV="1">
              <a:off x="1248" y="288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106" y="2214"/>
                  <a:ext cx="1709" cy="6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lvl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dirty="0">
                            <a:latin typeface="Cambria Math" panose="02040503050406030204" pitchFamily="18" charset="0"/>
                          </a:rPr>
                          <m:t>LSB</m:t>
                        </m:r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)=0</m:t>
                        </m:r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000" dirty="0">
                    <a:latin typeface="Courier New" pitchFamily="49" charset="0"/>
                  </a:endParaRPr>
                </a:p>
                <a:p>
                  <a:pPr lvl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dirty="0">
                            <a:latin typeface="Cambria Math" panose="02040503050406030204" pitchFamily="18" charset="0"/>
                          </a:rPr>
                          <m:t>LSB</m:t>
                        </m:r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)=1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6" y="2214"/>
                  <a:ext cx="1709" cy="684"/>
                </a:xfrm>
                <a:prstGeom prst="rect">
                  <a:avLst/>
                </a:prstGeom>
                <a:blipFill>
                  <a:blip r:embed="rId5"/>
                  <a:stretch>
                    <a:fillRect b="-4511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7356318" y="4616799"/>
            <a:ext cx="1447800" cy="400050"/>
            <a:chOff x="3648" y="3001"/>
            <a:chExt cx="912" cy="336"/>
          </a:xfrm>
        </p:grpSpPr>
        <p:sp>
          <p:nvSpPr>
            <p:cNvPr id="33" name="Line 24"/>
            <p:cNvSpPr>
              <a:spLocks noChangeShapeType="1"/>
            </p:cNvSpPr>
            <p:nvPr/>
          </p:nvSpPr>
          <p:spPr bwMode="auto">
            <a:xfrm>
              <a:off x="3648" y="331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984" y="3001"/>
                  <a:ext cx="256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4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84" y="3001"/>
                  <a:ext cx="256" cy="3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6670524" y="5141858"/>
            <a:ext cx="2270127" cy="645318"/>
            <a:chOff x="3216" y="3442"/>
            <a:chExt cx="1430" cy="542"/>
          </a:xfrm>
        </p:grpSpPr>
        <p:sp>
          <p:nvSpPr>
            <p:cNvPr id="36" name="Line 25"/>
            <p:cNvSpPr>
              <a:spLocks noChangeShapeType="1"/>
            </p:cNvSpPr>
            <p:nvPr/>
          </p:nvSpPr>
          <p:spPr bwMode="auto">
            <a:xfrm flipH="1">
              <a:off x="3216" y="350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9"/>
            <p:cNvSpPr>
              <a:spLocks noChangeShapeType="1"/>
            </p:cNvSpPr>
            <p:nvPr/>
          </p:nvSpPr>
          <p:spPr bwMode="auto">
            <a:xfrm>
              <a:off x="3216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614" y="3442"/>
                  <a:ext cx="1032" cy="3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LSB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 err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14" y="3442"/>
                  <a:ext cx="1032" cy="310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Прямоугольник 40"/>
              <p:cNvSpPr/>
              <p:nvPr/>
            </p:nvSpPr>
            <p:spPr>
              <a:xfrm>
                <a:off x="2761705" y="6085077"/>
                <a:ext cx="6910353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600" smtClean="0">
                          <a:latin typeface="Cambria Math" panose="02040503050406030204" pitchFamily="18" charset="0"/>
                        </a:rPr>
                        <m:t>SSadv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6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ru-RU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41" name="Прямоугольник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705" y="6085077"/>
                <a:ext cx="691035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6"/>
          <p:cNvSpPr txBox="1">
            <a:spLocks noChangeArrowheads="1"/>
          </p:cNvSpPr>
          <p:nvPr/>
        </p:nvSpPr>
        <p:spPr bwMode="auto">
          <a:xfrm>
            <a:off x="2346021" y="3312472"/>
            <a:ext cx="346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147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алгоритм позволяющий получить наименее значимый бит </a:t>
                </a:r>
                <a:r>
                  <a:rPr lang="en-US" dirty="0"/>
                  <a:t>(LSB)</a:t>
                </a:r>
                <a:r>
                  <a:rPr lang="ru-RU" dirty="0"/>
                  <a:t> открытого текста через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с</m:t>
                    </m:r>
                    <m:groupChr>
                      <m:groupChrPr>
                        <m:chr m:val="←"/>
                        <m:vertJc m:val="bot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 семантически стойкий шифр.</a:t>
                </a:r>
              </a:p>
            </p:txBody>
          </p:sp>
        </mc:Choice>
        <mc:Fallback xmlns="">
          <p:sp>
            <p:nvSpPr>
              <p:cNvPr id="65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14795"/>
              </a:xfrm>
              <a:blipFill>
                <a:blip r:embed="rId9"/>
                <a:stretch>
                  <a:fillRect l="-1043" t="-6944" b="-106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28252-B159-BA16-5A73-CEFD62CB156D}"/>
                  </a:ext>
                </a:extLst>
              </p:cNvPr>
              <p:cNvSpPr txBox="1"/>
              <p:nvPr/>
            </p:nvSpPr>
            <p:spPr>
              <a:xfrm>
                <a:off x="3545400" y="3952315"/>
                <a:ext cx="60978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𝑚</m:t>
                      </m:r>
                      <m:r>
                        <a:rPr lang="en-US" sz="1800" i="1" baseline="-25000" dirty="0">
                          <a:latin typeface="Cambria Math" panose="02040503050406030204" pitchFamily="18" charset="0"/>
                          <a:sym typeface="Symbol" pitchFamily="18" charset="2"/>
                        </a:rPr>
                        <m:t>0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| = |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𝑚</m:t>
                      </m:r>
                      <m:r>
                        <a:rPr lang="en-US" sz="1800" i="1" baseline="-25000" dirty="0">
                          <a:latin typeface="Cambria Math" panose="02040503050406030204" pitchFamily="18" charset="0"/>
                          <a:sym typeface="Symbol" pitchFamily="18" charset="2"/>
                        </a:rPr>
                        <m:t>1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28252-B159-BA16-5A73-CEFD62CB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400" y="3952315"/>
                <a:ext cx="6097836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48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811794" y="1690688"/>
            <a:ext cx="10542006" cy="175736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Доказательства стойкости сведением </a:t>
            </a:r>
            <a:br>
              <a:rPr lang="en-US" dirty="0"/>
            </a:br>
            <a:r>
              <a:rPr lang="ru-RU" dirty="0"/>
              <a:t>(</a:t>
            </a:r>
            <a:r>
              <a:rPr lang="en-US" dirty="0"/>
              <a:t>Reduction proof)</a:t>
            </a:r>
            <a:r>
              <a:rPr lang="ru-RU" dirty="0"/>
              <a:t>, (пример)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</a:t>
                </a:r>
                <a:r>
                  <a:rPr lang="en-US" dirty="0"/>
                  <a:t>–</a:t>
                </a:r>
                <a:r>
                  <a:rPr lang="ru-RU" dirty="0"/>
                  <a:t> вычислимый семантически стойкий шифр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 </a:t>
                </a:r>
                <a:r>
                  <a:rPr lang="en-US" dirty="0"/>
                  <a:t> </a:t>
                </a:r>
                <a:r>
                  <a:rPr lang="ru-RU" dirty="0"/>
                  <a:t>семантически стойкий шифр.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 От противного.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- не семантически стойкий шифр. 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 </m:t>
                    </m:r>
                  </m:oMath>
                </a14:m>
                <a:r>
                  <a:rPr lang="ru-RU" i="0" dirty="0"/>
                  <a:t>противник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SSadv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 пренебрежимо малая величина.</a:t>
                </a:r>
              </a:p>
              <a:p>
                <a:pPr marL="0" indent="0">
                  <a:buNone/>
                </a:pPr>
                <a:r>
                  <a:rPr lang="ru-RU" dirty="0"/>
                  <a:t>Построим</a:t>
                </a:r>
                <a:r>
                  <a:rPr lang="en-US" dirty="0"/>
                  <a:t> </a:t>
                </a:r>
                <a:r>
                  <a:rPr lang="ru-RU" dirty="0"/>
                  <a:t>эффективный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для игры против</a:t>
                </a:r>
                <a:r>
                  <a:rPr lang="en-US" dirty="0"/>
                  <a:t> </a:t>
                </a:r>
                <a:r>
                  <a:rPr lang="ru-RU" dirty="0"/>
                  <a:t>семантической</a:t>
                </a:r>
                <a:r>
                  <a:rPr lang="en-US" dirty="0"/>
                  <a:t> </a:t>
                </a:r>
                <a:r>
                  <a:rPr lang="ru-RU" dirty="0"/>
                  <a:t>стойкости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с использованием алгоритма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показав тем самым что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не семантический стойкий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dirty="0"/>
                  <a:t> противоречие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dirty="0"/>
                  <a:t> – семантический стойкий.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b="-37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054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Скругленный прямоугольник 65"/>
          <p:cNvSpPr/>
          <p:nvPr/>
        </p:nvSpPr>
        <p:spPr>
          <a:xfrm>
            <a:off x="811794" y="1690688"/>
            <a:ext cx="10542006" cy="175736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Доказательства стойкости сведением </a:t>
            </a:r>
            <a:br>
              <a:rPr lang="en-US" dirty="0"/>
            </a:br>
            <a:r>
              <a:rPr lang="ru-RU" dirty="0"/>
              <a:t>(</a:t>
            </a:r>
            <a:r>
              <a:rPr lang="en-US" dirty="0"/>
              <a:t>Reduction proof)</a:t>
            </a:r>
            <a:r>
              <a:rPr lang="ru-RU" dirty="0"/>
              <a:t>, (пример)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53667" y="180203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- вычислимый семантически стойкий шифр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e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 </a:t>
                </a:r>
                <a:r>
                  <a:rPr lang="en-US" dirty="0"/>
                  <a:t> </a:t>
                </a:r>
                <a:r>
                  <a:rPr lang="ru-RU" dirty="0"/>
                  <a:t>семантически стойкий шифр.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SSadv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 пренебрежимо малая величина.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3667" y="1802035"/>
                <a:ext cx="10515600" cy="4351338"/>
              </a:xfrm>
              <a:blipFill>
                <a:blip r:embed="rId3"/>
                <a:stretch>
                  <a:fillRect l="-1043" t="-2244" r="-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  <p:sp>
        <p:nvSpPr>
          <p:cNvPr id="44" name="Rectangle 28"/>
          <p:cNvSpPr>
            <a:spLocks noChangeArrowheads="1"/>
          </p:cNvSpPr>
          <p:nvPr/>
        </p:nvSpPr>
        <p:spPr bwMode="auto">
          <a:xfrm>
            <a:off x="5616167" y="4267423"/>
            <a:ext cx="4572000" cy="1600200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/>
              <a:t>Adv. B </a:t>
            </a:r>
          </a:p>
        </p:txBody>
      </p: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1882367" y="4362673"/>
            <a:ext cx="12954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46" name="Line 10"/>
          <p:cNvSpPr>
            <a:spLocks noChangeShapeType="1"/>
          </p:cNvSpPr>
          <p:nvPr/>
        </p:nvSpPr>
        <p:spPr bwMode="auto">
          <a:xfrm>
            <a:off x="1112426" y="4485455"/>
            <a:ext cx="349253" cy="8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8664167" y="4562475"/>
            <a:ext cx="1295400" cy="12289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/>
              <a:t>Adv.  A</a:t>
            </a:r>
          </a:p>
        </p:txBody>
      </p:sp>
      <p:grpSp>
        <p:nvGrpSpPr>
          <p:cNvPr id="49" name="Group 30"/>
          <p:cNvGrpSpPr>
            <a:grpSpLocks/>
          </p:cNvGrpSpPr>
          <p:nvPr/>
        </p:nvGrpSpPr>
        <p:grpSpPr bwMode="auto">
          <a:xfrm>
            <a:off x="3177767" y="4915134"/>
            <a:ext cx="3733800" cy="506017"/>
            <a:chOff x="1152" y="2944"/>
            <a:chExt cx="2352" cy="425"/>
          </a:xfrm>
        </p:grpSpPr>
        <p:sp>
          <p:nvSpPr>
            <p:cNvPr id="50" name="Line 17"/>
            <p:cNvSpPr>
              <a:spLocks noChangeShapeType="1"/>
            </p:cNvSpPr>
            <p:nvPr/>
          </p:nvSpPr>
          <p:spPr bwMode="auto">
            <a:xfrm>
              <a:off x="1152" y="3312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200" y="2944"/>
                  <a:ext cx="1052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𝑐</m:t>
                        </m:r>
                        <m:groupChr>
                          <m:groupChrPr>
                            <m:chr m:val="←"/>
                            <m:vertJc m:val="bot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groupCh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 dirty="0" err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 baseline="-25000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1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0" y="2944"/>
                  <a:ext cx="1052" cy="4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Rectangle 20"/>
          <p:cNvSpPr>
            <a:spLocks noChangeArrowheads="1"/>
          </p:cNvSpPr>
          <p:nvPr/>
        </p:nvSpPr>
        <p:spPr bwMode="auto">
          <a:xfrm>
            <a:off x="1577567" y="4134073"/>
            <a:ext cx="8763000" cy="18288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3" name="Group 29"/>
          <p:cNvGrpSpPr>
            <a:grpSpLocks/>
          </p:cNvGrpSpPr>
          <p:nvPr/>
        </p:nvGrpSpPr>
        <p:grpSpPr bwMode="auto">
          <a:xfrm>
            <a:off x="3253967" y="4348388"/>
            <a:ext cx="5356225" cy="490538"/>
            <a:chOff x="1248" y="2468"/>
            <a:chExt cx="3374" cy="412"/>
          </a:xfrm>
        </p:grpSpPr>
        <p:sp>
          <p:nvSpPr>
            <p:cNvPr id="54" name="Line 15"/>
            <p:cNvSpPr>
              <a:spLocks noChangeShapeType="1"/>
            </p:cNvSpPr>
            <p:nvPr/>
          </p:nvSpPr>
          <p:spPr bwMode="auto">
            <a:xfrm flipH="1">
              <a:off x="1248" y="2864"/>
              <a:ext cx="3374" cy="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370" y="2468"/>
                  <a:ext cx="99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lvl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5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0" y="2468"/>
                  <a:ext cx="991" cy="388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31"/>
          <p:cNvGrpSpPr>
            <a:grpSpLocks/>
          </p:cNvGrpSpPr>
          <p:nvPr/>
        </p:nvGrpSpPr>
        <p:grpSpPr bwMode="auto">
          <a:xfrm>
            <a:off x="7140167" y="4982993"/>
            <a:ext cx="1447800" cy="400050"/>
            <a:chOff x="3648" y="3001"/>
            <a:chExt cx="912" cy="336"/>
          </a:xfrm>
        </p:grpSpPr>
        <p:sp>
          <p:nvSpPr>
            <p:cNvPr id="57" name="Line 24"/>
            <p:cNvSpPr>
              <a:spLocks noChangeShapeType="1"/>
            </p:cNvSpPr>
            <p:nvPr/>
          </p:nvSpPr>
          <p:spPr bwMode="auto">
            <a:xfrm>
              <a:off x="3648" y="331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984" y="3001"/>
                  <a:ext cx="415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58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84" y="3001"/>
                  <a:ext cx="415" cy="336"/>
                </a:xfrm>
                <a:prstGeom prst="rect">
                  <a:avLst/>
                </a:prstGeom>
                <a:blipFill>
                  <a:blip r:embed="rId6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32"/>
          <p:cNvGrpSpPr>
            <a:grpSpLocks/>
          </p:cNvGrpSpPr>
          <p:nvPr/>
        </p:nvGrpSpPr>
        <p:grpSpPr bwMode="auto">
          <a:xfrm>
            <a:off x="6454367" y="5524726"/>
            <a:ext cx="2209800" cy="628650"/>
            <a:chOff x="3216" y="3456"/>
            <a:chExt cx="1392" cy="528"/>
          </a:xfrm>
        </p:grpSpPr>
        <p:sp>
          <p:nvSpPr>
            <p:cNvPr id="60" name="Line 25"/>
            <p:cNvSpPr>
              <a:spLocks noChangeShapeType="1"/>
            </p:cNvSpPr>
            <p:nvPr/>
          </p:nvSpPr>
          <p:spPr bwMode="auto">
            <a:xfrm flipH="1">
              <a:off x="3216" y="350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19"/>
            <p:cNvSpPr>
              <a:spLocks noChangeShapeType="1"/>
            </p:cNvSpPr>
            <p:nvPr/>
          </p:nvSpPr>
          <p:spPr bwMode="auto">
            <a:xfrm>
              <a:off x="3216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984" y="3456"/>
                  <a:ext cx="266" cy="3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84" y="3456"/>
                  <a:ext cx="266" cy="3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Прямоугольник 62"/>
              <p:cNvSpPr/>
              <p:nvPr/>
            </p:nvSpPr>
            <p:spPr>
              <a:xfrm>
                <a:off x="3355315" y="6090593"/>
                <a:ext cx="479291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600" smtClean="0">
                          <a:latin typeface="Cambria Math" panose="02040503050406030204" pitchFamily="18" charset="0"/>
                        </a:rPr>
                        <m:t>SSadv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SSadv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Ε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63" name="Прямоугольник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315" y="6090593"/>
                <a:ext cx="479291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 Box 6"/>
          <p:cNvSpPr txBox="1">
            <a:spLocks noChangeArrowheads="1"/>
          </p:cNvSpPr>
          <p:nvPr/>
        </p:nvSpPr>
        <p:spPr bwMode="auto">
          <a:xfrm>
            <a:off x="810510" y="4254624"/>
            <a:ext cx="346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 Box 13"/>
              <p:cNvSpPr txBox="1">
                <a:spLocks noChangeArrowheads="1"/>
              </p:cNvSpPr>
              <p:nvPr/>
            </p:nvSpPr>
            <p:spPr bwMode="auto">
              <a:xfrm>
                <a:off x="2195112" y="4771428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6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112" y="4771428"/>
                <a:ext cx="632609" cy="423129"/>
              </a:xfrm>
              <a:prstGeom prst="rect">
                <a:avLst/>
              </a:prstGeom>
              <a:blipFill>
                <a:blip r:embed="rId9"/>
                <a:stretch>
                  <a:fillRect l="-4808" r="-2788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56E97E-9A38-9AA9-D1D8-49ECCD801182}"/>
                  </a:ext>
                </a:extLst>
              </p:cNvPr>
              <p:cNvSpPr txBox="1"/>
              <p:nvPr/>
            </p:nvSpPr>
            <p:spPr>
              <a:xfrm>
                <a:off x="3355315" y="4394586"/>
                <a:ext cx="60978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𝑚</m:t>
                      </m:r>
                      <m:r>
                        <a:rPr lang="en-US" sz="1800" i="1" baseline="-25000" dirty="0">
                          <a:latin typeface="Cambria Math" panose="02040503050406030204" pitchFamily="18" charset="0"/>
                          <a:sym typeface="Symbol" pitchFamily="18" charset="2"/>
                        </a:rPr>
                        <m:t>0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| = |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𝑚</m:t>
                      </m:r>
                      <m:r>
                        <a:rPr lang="en-US" sz="1800" i="1" baseline="-25000" dirty="0">
                          <a:latin typeface="Cambria Math" panose="02040503050406030204" pitchFamily="18" charset="0"/>
                          <a:sym typeface="Symbol" pitchFamily="18" charset="2"/>
                        </a:rPr>
                        <m:t>1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56E97E-9A38-9AA9-D1D8-49ECCD801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315" y="4394586"/>
                <a:ext cx="6097836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06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9A52C-6F7C-49D6-ACE7-A8847F6A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доказательства стойкости и построения атак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04A892-E8A3-41F4-BC2A-93E7FC585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Строим атаку имея некоторые данные (примитив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ru-RU" dirty="0"/>
              <a:t> нестойкий)</a:t>
            </a:r>
          </a:p>
          <a:p>
            <a:pPr lvl="1"/>
            <a:r>
              <a:rPr lang="ru-RU" dirty="0"/>
              <a:t>Просто строим атаку в указанной модели примитива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.</a:t>
            </a:r>
          </a:p>
          <a:p>
            <a:pPr marL="0" lvl="1" indent="0" algn="ctr">
              <a:buNone/>
            </a:pPr>
            <a:r>
              <a:rPr lang="ru-RU" sz="3200" b="1" dirty="0"/>
              <a:t>или</a:t>
            </a:r>
          </a:p>
          <a:p>
            <a:r>
              <a:rPr lang="ru-RU" dirty="0"/>
              <a:t>Строим доказательство сведением (примитив </a:t>
            </a:r>
            <a:r>
              <a:rPr lang="en-US" b="1" dirty="0"/>
              <a:t>A</a:t>
            </a:r>
            <a:r>
              <a:rPr lang="ru-RU" dirty="0"/>
              <a:t> стойкий в некотором предположении стойкости другого примитива</a:t>
            </a:r>
            <a:r>
              <a:rPr lang="en-US" dirty="0"/>
              <a:t> </a:t>
            </a:r>
            <a:r>
              <a:rPr lang="en-US" b="1" dirty="0"/>
              <a:t>B;</a:t>
            </a:r>
            <a:r>
              <a:rPr lang="ru-RU" b="1" dirty="0"/>
              <a:t> стойкость </a:t>
            </a:r>
            <a:r>
              <a:rPr lang="en-US" b="1" dirty="0"/>
              <a:t>B =&gt; </a:t>
            </a:r>
            <a:r>
              <a:rPr lang="ru-RU" b="1" dirty="0"/>
              <a:t>стойкость </a:t>
            </a:r>
            <a:r>
              <a:rPr lang="en-US" b="1" dirty="0"/>
              <a:t>A</a:t>
            </a:r>
            <a:r>
              <a:rPr lang="ru-RU" dirty="0"/>
              <a:t>)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ru-RU" dirty="0"/>
              <a:t>От противного. Предполагаем, что примитив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ru-RU" dirty="0"/>
              <a:t> </a:t>
            </a:r>
            <a:r>
              <a:rPr lang="ru-RU" b="1" dirty="0"/>
              <a:t>НЕ стойкий</a:t>
            </a:r>
            <a:r>
              <a:rPr lang="en-US" b="1" dirty="0"/>
              <a:t>.</a:t>
            </a:r>
          </a:p>
          <a:p>
            <a:pPr lvl="1"/>
            <a:r>
              <a:rPr lang="ru-RU" dirty="0"/>
              <a:t>Используя этот факт пытаемся построить </a:t>
            </a:r>
            <a:r>
              <a:rPr lang="ru-RU" b="1" dirty="0"/>
              <a:t>атаку</a:t>
            </a:r>
            <a:r>
              <a:rPr lang="ru-RU" dirty="0"/>
              <a:t> на примитив </a:t>
            </a:r>
            <a:r>
              <a:rPr lang="en-US" b="1" dirty="0"/>
              <a:t>B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ru-RU" dirty="0"/>
              <a:t>Построили. Следовательно на </a:t>
            </a:r>
            <a:r>
              <a:rPr lang="en-US" b="1" dirty="0"/>
              <a:t>B</a:t>
            </a:r>
            <a:r>
              <a:rPr lang="ru-RU" b="1" dirty="0"/>
              <a:t> </a:t>
            </a:r>
            <a:r>
              <a:rPr lang="ru-RU" dirty="0"/>
              <a:t>есть атака и он </a:t>
            </a:r>
            <a:r>
              <a:rPr lang="ru-RU" b="1" dirty="0"/>
              <a:t>НЕ стойкий</a:t>
            </a:r>
            <a:r>
              <a:rPr lang="ru-RU" dirty="0"/>
              <a:t>. Следовательно предположение, </a:t>
            </a:r>
            <a:r>
              <a:rPr lang="ru-RU" b="1" dirty="0"/>
              <a:t>что </a:t>
            </a:r>
            <a:r>
              <a:rPr lang="en-US" b="1" dirty="0"/>
              <a:t>A </a:t>
            </a:r>
            <a:r>
              <a:rPr lang="ru-RU" b="1" dirty="0"/>
              <a:t>НЕ стойкий было неверно</a:t>
            </a:r>
            <a:r>
              <a:rPr lang="ru-RU" dirty="0"/>
              <a:t>, и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 – </a:t>
            </a:r>
            <a:r>
              <a:rPr lang="ru-RU" b="1" dirty="0"/>
              <a:t>стойкий</a:t>
            </a:r>
            <a:r>
              <a:rPr lang="ru-RU" dirty="0"/>
              <a:t>.</a:t>
            </a:r>
          </a:p>
          <a:p>
            <a:pPr lvl="1"/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774487-F5A4-4F1A-B25F-097C8FFE9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005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525A1-9C26-45A7-BC31-4A76E2BF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модели семантической стойкости с реальными атаками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AD449F-7607-487B-B14B-F56E84B14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Есть ли связь между семантической стойкостью и, скажем, стойкостью к восстановлению сообщений (расшифровки ОТ по ШТ)</a:t>
            </a:r>
          </a:p>
          <a:p>
            <a:r>
              <a:rPr lang="ru-RU" dirty="0"/>
              <a:t>Можно ли описать атаку на восстановление сообщений в терминах игры?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4B8EB2-7E7E-4CC6-9F72-062A1C257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520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Атака на восстановление сообщений</a:t>
                </a:r>
                <a:r>
                  <a:rPr lang="en-US" dirty="0"/>
                  <a:t>: </a:t>
                </a:r>
                <a:r>
                  <a:rPr lang="ru-RU" dirty="0"/>
                  <a:t>имея зашифрованное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/>
                  <a:t>, восстановить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, с вероятностью больше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Опишем игру на восстановление сообщений.</a:t>
                </a:r>
              </a:p>
              <a:p>
                <a:r>
                  <a:rPr lang="ru-RU" dirty="0"/>
                  <a:t>Претендент вычисляет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и отправляет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противнику.</a:t>
                </a:r>
              </a:p>
              <a:p>
                <a:r>
                  <a:rPr lang="ru-RU" dirty="0"/>
                  <a:t>Противник</a:t>
                </a:r>
                <a:r>
                  <a:rPr lang="en-US" dirty="0"/>
                  <a:t> </a:t>
                </a:r>
                <a:r>
                  <a:rPr lang="ru-RU" dirty="0"/>
                  <a:t>возвращает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как результат игры.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560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80618" y="3716968"/>
                <a:ext cx="10515600" cy="2532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событие, 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Преимуществом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при атаке на восстановление сообщений является величина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MRadv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0618" y="3716968"/>
                <a:ext cx="10515600" cy="2532225"/>
              </a:xfrm>
              <a:blipFill>
                <a:blip r:embed="rId2"/>
                <a:stretch>
                  <a:fillRect l="-1043" t="-38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14911" y="1784586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 err="1"/>
              <a:t>Chal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396511" y="1784586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6511" y="1784586"/>
                <a:ext cx="1295400" cy="1188244"/>
              </a:xfrm>
              <a:prstGeom prst="rect">
                <a:avLst/>
              </a:prstGeom>
              <a:blipFill>
                <a:blip r:embed="rId3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22"/>
          <p:cNvGrpSpPr>
            <a:grpSpLocks/>
          </p:cNvGrpSpPr>
          <p:nvPr/>
        </p:nvGrpSpPr>
        <p:grpSpPr bwMode="auto">
          <a:xfrm>
            <a:off x="8006120" y="2972828"/>
            <a:ext cx="1254127" cy="678656"/>
            <a:chOff x="4560" y="2842"/>
            <a:chExt cx="790" cy="570"/>
          </a:xfrm>
        </p:grpSpPr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782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782" cy="3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1575151" y="1555985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3"/>
              <p:cNvSpPr txBox="1">
                <a:spLocks noChangeArrowheads="1"/>
              </p:cNvSpPr>
              <p:nvPr/>
            </p:nvSpPr>
            <p:spPr bwMode="auto">
              <a:xfrm>
                <a:off x="2484878" y="2099118"/>
                <a:ext cx="810158" cy="7539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ru-RU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i="1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878" y="2099118"/>
                <a:ext cx="810158" cy="753924"/>
              </a:xfrm>
              <a:prstGeom prst="rect">
                <a:avLst/>
              </a:prstGeom>
              <a:blipFill>
                <a:blip r:embed="rId5"/>
                <a:stretch>
                  <a:fillRect r="-33083" b="-25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20"/>
          <p:cNvGrpSpPr>
            <a:grpSpLocks/>
          </p:cNvGrpSpPr>
          <p:nvPr/>
        </p:nvGrpSpPr>
        <p:grpSpPr bwMode="auto">
          <a:xfrm>
            <a:off x="3612705" y="1653625"/>
            <a:ext cx="3733800" cy="559595"/>
            <a:chOff x="1776" y="1940"/>
            <a:chExt cx="2352" cy="470"/>
          </a:xfrm>
        </p:grpSpPr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13" y="1940"/>
                  <a:ext cx="954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  <m:groupChr>
                          <m:groupChrPr>
                            <m:chr m:val="←"/>
                            <m:vertJc m:val="bot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groupCh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3" y="1940"/>
                  <a:ext cx="954" cy="42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0460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80618" y="3716968"/>
                <a:ext cx="10515600" cy="2532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MRadv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:r>
                  <a:rPr lang="ru-RU" dirty="0"/>
                  <a:t>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b="0" dirty="0"/>
                  <a:t> называется </a:t>
                </a:r>
                <a:r>
                  <a:rPr lang="ru-RU" b="1" dirty="0"/>
                  <a:t>стойким к атаке на восстановление сообщений</a:t>
                </a:r>
                <a:r>
                  <a:rPr lang="ru-RU" b="0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b="0" dirty="0"/>
                  <a:t> величина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MRadv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-</a:t>
                </a:r>
                <a:r>
                  <a:rPr lang="ru-RU" b="0" dirty="0"/>
                  <a:t> пренебрежимо малая величина.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0618" y="3716968"/>
                <a:ext cx="10515600" cy="253222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14911" y="1784586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 err="1"/>
              <a:t>Chal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396511" y="1784586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6511" y="1784586"/>
                <a:ext cx="1295400" cy="1188244"/>
              </a:xfrm>
              <a:prstGeom prst="rect">
                <a:avLst/>
              </a:prstGeom>
              <a:blipFill>
                <a:blip r:embed="rId3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22"/>
          <p:cNvGrpSpPr>
            <a:grpSpLocks/>
          </p:cNvGrpSpPr>
          <p:nvPr/>
        </p:nvGrpSpPr>
        <p:grpSpPr bwMode="auto">
          <a:xfrm>
            <a:off x="8006120" y="2972828"/>
            <a:ext cx="1254127" cy="678656"/>
            <a:chOff x="4560" y="2842"/>
            <a:chExt cx="790" cy="570"/>
          </a:xfrm>
        </p:grpSpPr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782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782" cy="3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1575151" y="1555985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3"/>
              <p:cNvSpPr txBox="1">
                <a:spLocks noChangeArrowheads="1"/>
              </p:cNvSpPr>
              <p:nvPr/>
            </p:nvSpPr>
            <p:spPr bwMode="auto">
              <a:xfrm>
                <a:off x="2484878" y="2099118"/>
                <a:ext cx="810158" cy="7539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ru-RU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1600" i="1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878" y="2099118"/>
                <a:ext cx="810158" cy="753924"/>
              </a:xfrm>
              <a:prstGeom prst="rect">
                <a:avLst/>
              </a:prstGeom>
              <a:blipFill>
                <a:blip r:embed="rId5"/>
                <a:stretch>
                  <a:fillRect r="-33083" b="-25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20"/>
          <p:cNvGrpSpPr>
            <a:grpSpLocks/>
          </p:cNvGrpSpPr>
          <p:nvPr/>
        </p:nvGrpSpPr>
        <p:grpSpPr bwMode="auto">
          <a:xfrm>
            <a:off x="3612705" y="1653625"/>
            <a:ext cx="3733800" cy="559595"/>
            <a:chOff x="1776" y="1940"/>
            <a:chExt cx="2352" cy="470"/>
          </a:xfrm>
        </p:grpSpPr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13" y="1940"/>
                  <a:ext cx="954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  <m:groupChr>
                          <m:groupChrPr>
                            <m:chr m:val="←"/>
                            <m:vertJc m:val="bot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groupCh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3" y="1940"/>
                  <a:ext cx="954" cy="42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93687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83044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9724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1.8. </a:t>
                </a:r>
                <a:r>
                  <a:rPr lang="ru-RU" dirty="0"/>
                  <a:t>Если шифр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семантически стойкий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то он стойкий к атаке на восстановление сообщений</a:t>
                </a:r>
                <a:endParaRPr lang="en-US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 Покажем, что атака на восстановление сообщений даёт атаку на семантическую стойкость.</a:t>
                </a:r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эффективный алгоритм. Обозначим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– вероятность выиграть игру на восстановление сообщений для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MRadv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Построим эффективный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для игры на семантическую стойкость простив алгоритма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для которого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MRadv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SS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97244"/>
              </a:xfrm>
              <a:blipFill>
                <a:blip r:embed="rId2"/>
                <a:stretch>
                  <a:fillRect l="-1043" t="-25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752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0002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1.8. </a:t>
                </a:r>
                <a:r>
                  <a:rPr lang="ru-RU" dirty="0"/>
                  <a:t>Если шифр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семантически стойкий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то он стойкий к атаке на восстановление сообщений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ru-RU" dirty="0"/>
                  <a:t>Построим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.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генерирует </a:t>
                </a:r>
                <a:r>
                  <a:rPr lang="ru-RU"/>
                  <a:t>два случайных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и оправляет их претенденту в игре на семантическую стойкость. Претендент отвечает </a:t>
                </a:r>
                <a:r>
                  <a:rPr lang="ru-RU" dirty="0" err="1"/>
                  <a:t>шифртекстом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одного из сообщений, которых алгоритм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пересылает алгоритму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получая восстановленное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. 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то выводит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иначе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08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02110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1.8. </a:t>
                </a:r>
                <a:r>
                  <a:rPr lang="ru-RU" dirty="0"/>
                  <a:t>Если шифр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семантически стойкий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то он стойкий к атаке на восстановление сообщений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  <p:sp>
        <p:nvSpPr>
          <p:cNvPr id="6" name="Rectangle 28"/>
          <p:cNvSpPr>
            <a:spLocks noChangeArrowheads="1"/>
          </p:cNvSpPr>
          <p:nvPr/>
        </p:nvSpPr>
        <p:spPr bwMode="auto">
          <a:xfrm>
            <a:off x="5832318" y="3901229"/>
            <a:ext cx="4572000" cy="1600200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/>
              <a:t>Adv. B  (us)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098518" y="3996479"/>
            <a:ext cx="12954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2708118" y="3394023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8880318" y="4529879"/>
            <a:ext cx="1295400" cy="8953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/>
              <a:t>Adv.  A</a:t>
            </a:r>
          </a:p>
          <a:p>
            <a:pPr algn="ctr"/>
            <a:r>
              <a:rPr lang="en-US" dirty="0"/>
              <a:t>(given)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3"/>
              <p:cNvSpPr txBox="1">
                <a:spLocks noChangeArrowheads="1"/>
              </p:cNvSpPr>
              <p:nvPr/>
            </p:nvSpPr>
            <p:spPr bwMode="auto">
              <a:xfrm>
                <a:off x="2403319" y="4350095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3319" y="4350095"/>
                <a:ext cx="632609" cy="423129"/>
              </a:xfrm>
              <a:prstGeom prst="rect">
                <a:avLst/>
              </a:prstGeom>
              <a:blipFill>
                <a:blip r:embed="rId4"/>
                <a:stretch>
                  <a:fillRect l="-4808" r="-2788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30"/>
          <p:cNvGrpSpPr>
            <a:grpSpLocks/>
          </p:cNvGrpSpPr>
          <p:nvPr/>
        </p:nvGrpSpPr>
        <p:grpSpPr bwMode="auto">
          <a:xfrm>
            <a:off x="3452137" y="4526896"/>
            <a:ext cx="3733800" cy="506016"/>
            <a:chOff x="1152" y="2918"/>
            <a:chExt cx="2352" cy="425"/>
          </a:xfrm>
        </p:grpSpPr>
        <p:sp>
          <p:nvSpPr>
            <p:cNvPr id="12" name="Line 17"/>
            <p:cNvSpPr>
              <a:spLocks noChangeShapeType="1"/>
            </p:cNvSpPr>
            <p:nvPr/>
          </p:nvSpPr>
          <p:spPr bwMode="auto">
            <a:xfrm>
              <a:off x="1152" y="3312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392" y="2918"/>
                  <a:ext cx="1022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3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2" y="2918"/>
                  <a:ext cx="1022" cy="425"/>
                </a:xfrm>
                <a:prstGeom prst="rect">
                  <a:avLst/>
                </a:prstGeom>
                <a:blipFill>
                  <a:blip r:embed="rId5"/>
                  <a:stretch>
                    <a:fillRect r="-3008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1793718" y="3767879"/>
            <a:ext cx="8763000" cy="18288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29"/>
          <p:cNvGrpSpPr>
            <a:grpSpLocks/>
          </p:cNvGrpSpPr>
          <p:nvPr/>
        </p:nvGrpSpPr>
        <p:grpSpPr bwMode="auto">
          <a:xfrm>
            <a:off x="3079593" y="3996479"/>
            <a:ext cx="3514725" cy="476250"/>
            <a:chOff x="1002" y="2480"/>
            <a:chExt cx="2214" cy="400"/>
          </a:xfrm>
        </p:grpSpPr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H="1" flipV="1">
              <a:off x="1248" y="288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002" y="2480"/>
                  <a:ext cx="1846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lvl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7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02" y="2480"/>
                  <a:ext cx="1846" cy="388"/>
                </a:xfrm>
                <a:prstGeom prst="rect">
                  <a:avLst/>
                </a:prstGeom>
                <a:blipFill>
                  <a:blip r:embed="rId6"/>
                  <a:stretch>
                    <a:fillRect b="-1333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31"/>
          <p:cNvGrpSpPr>
            <a:grpSpLocks/>
          </p:cNvGrpSpPr>
          <p:nvPr/>
        </p:nvGrpSpPr>
        <p:grpSpPr bwMode="auto">
          <a:xfrm>
            <a:off x="7356318" y="4616799"/>
            <a:ext cx="1447800" cy="400050"/>
            <a:chOff x="3648" y="3001"/>
            <a:chExt cx="912" cy="336"/>
          </a:xfrm>
        </p:grpSpPr>
        <p:sp>
          <p:nvSpPr>
            <p:cNvPr id="19" name="Line 24"/>
            <p:cNvSpPr>
              <a:spLocks noChangeShapeType="1"/>
            </p:cNvSpPr>
            <p:nvPr/>
          </p:nvSpPr>
          <p:spPr bwMode="auto">
            <a:xfrm>
              <a:off x="3648" y="331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984" y="3001"/>
                  <a:ext cx="23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84" y="3001"/>
                  <a:ext cx="233" cy="33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32"/>
          <p:cNvGrpSpPr>
            <a:grpSpLocks/>
          </p:cNvGrpSpPr>
          <p:nvPr/>
        </p:nvGrpSpPr>
        <p:grpSpPr bwMode="auto">
          <a:xfrm>
            <a:off x="5948376" y="5151447"/>
            <a:ext cx="1337132" cy="815513"/>
            <a:chOff x="3216" y="3483"/>
            <a:chExt cx="1504" cy="501"/>
          </a:xfrm>
        </p:grpSpPr>
        <p:sp>
          <p:nvSpPr>
            <p:cNvPr id="22" name="Line 25"/>
            <p:cNvSpPr>
              <a:spLocks noChangeShapeType="1"/>
            </p:cNvSpPr>
            <p:nvPr/>
          </p:nvSpPr>
          <p:spPr bwMode="auto">
            <a:xfrm flipH="1">
              <a:off x="3216" y="350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3216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400" y="3483"/>
                  <a:ext cx="1320" cy="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=?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00" y="3483"/>
                  <a:ext cx="1320" cy="22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6"/>
              <p:cNvSpPr txBox="1">
                <a:spLocks noChangeArrowheads="1"/>
              </p:cNvSpPr>
              <p:nvPr/>
            </p:nvSpPr>
            <p:spPr bwMode="auto">
              <a:xfrm>
                <a:off x="2346021" y="331247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6021" y="331247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Прямая со стрелкой 26"/>
          <p:cNvCxnSpPr/>
          <p:nvPr/>
        </p:nvCxnSpPr>
        <p:spPr>
          <a:xfrm flipH="1">
            <a:off x="7289675" y="5185630"/>
            <a:ext cx="1514443" cy="1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484992" y="5141954"/>
                <a:ext cx="11793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992" y="5141954"/>
                <a:ext cx="117934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6"/>
              <p:cNvSpPr txBox="1">
                <a:spLocks noChangeArrowheads="1"/>
              </p:cNvSpPr>
              <p:nvPr/>
            </p:nvSpPr>
            <p:spPr bwMode="auto">
              <a:xfrm>
                <a:off x="5564468" y="5618559"/>
                <a:ext cx="43505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’</a:t>
                </a:r>
              </a:p>
            </p:txBody>
          </p:sp>
        </mc:Choice>
        <mc:Fallback xmlns="">
          <p:sp>
            <p:nvSpPr>
              <p:cNvPr id="3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4468" y="5618559"/>
                <a:ext cx="435056" cy="461665"/>
              </a:xfrm>
              <a:prstGeom prst="rect">
                <a:avLst/>
              </a:prstGeom>
              <a:blipFill>
                <a:blip r:embed="rId11"/>
                <a:stretch>
                  <a:fillRect l="-4225" t="-10667" r="-19718" b="-30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9C99CA-D8DE-8408-33D6-7AD2D64B714F}"/>
                  </a:ext>
                </a:extLst>
              </p:cNvPr>
              <p:cNvSpPr txBox="1"/>
              <p:nvPr/>
            </p:nvSpPr>
            <p:spPr>
              <a:xfrm>
                <a:off x="3607064" y="4060360"/>
                <a:ext cx="60978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𝑚</m:t>
                      </m:r>
                      <m:r>
                        <a:rPr lang="en-US" sz="1800" i="1" baseline="-25000" dirty="0">
                          <a:latin typeface="Cambria Math" panose="02040503050406030204" pitchFamily="18" charset="0"/>
                          <a:sym typeface="Symbol" pitchFamily="18" charset="2"/>
                        </a:rPr>
                        <m:t>0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| = |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𝑚</m:t>
                      </m:r>
                      <m:r>
                        <a:rPr lang="en-US" sz="1800" i="1" baseline="-25000" dirty="0">
                          <a:latin typeface="Cambria Math" panose="02040503050406030204" pitchFamily="18" charset="0"/>
                          <a:sym typeface="Symbol" pitchFamily="18" charset="2"/>
                        </a:rPr>
                        <m:t>1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|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9C99CA-D8DE-8408-33D6-7AD2D64B7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064" y="4060360"/>
                <a:ext cx="6097836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43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11713" y="1699480"/>
            <a:ext cx="10542006" cy="84149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1.8. </a:t>
                </a:r>
                <a:r>
                  <a:rPr lang="ru-RU" dirty="0"/>
                  <a:t>Если шифр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семантически стойкий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то он стойкий к атаке на восстановление сообщений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dirty="0"/>
                  <a:t> – вероятность того, что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выдаст значение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dirty="0"/>
                  <a:t>, при шифровании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SSadv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 </a:t>
                </a:r>
                <a:r>
                  <a:rPr lang="ru-RU" dirty="0"/>
                  <a:t>С другой стороны,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 есть </a:t>
                </a:r>
                <a:r>
                  <a:rPr lang="ru-RU" dirty="0" err="1"/>
                  <a:t>зашифрование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 вероятность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(Вероятность выиграть игру на восстановление 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). Если же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 есть зашифрование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, то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не зависит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]=1/|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Следовательно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SSadv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MRadv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атака на восстановление сообщений даёт атаку на семантическую стойкость.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2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656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битов сообщения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3192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шифр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i="1" dirty="0"/>
                  <a:t>. </a:t>
                </a:r>
                <a:r>
                  <a:rPr lang="ru-RU" dirty="0"/>
                  <a:t>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i="1" dirty="0"/>
                  <a:t> –</a:t>
                </a:r>
                <a:r>
                  <a:rPr lang="en-US" i="1" dirty="0"/>
                  <a:t> </a:t>
                </a:r>
                <a:r>
                  <a:rPr lang="ru-RU" dirty="0"/>
                  <a:t>произвольный предикат, вычисляющий 1 бит информации об открытом тексте (Например функция </a:t>
                </a:r>
                <a:r>
                  <a:rPr lang="ru-RU"/>
                  <a:t>вычисления бита </a:t>
                </a:r>
                <a:r>
                  <a:rPr lang="ru-RU" dirty="0"/>
                  <a:t>чётности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/>
                  <a:t>).</a:t>
                </a:r>
              </a:p>
              <a:p>
                <a:pPr marL="0" indent="0">
                  <a:buNone/>
                </a:pPr>
                <a:r>
                  <a:rPr lang="ru-RU" dirty="0"/>
                  <a:t>Определим игру на восстановление битов.</a:t>
                </a:r>
              </a:p>
              <a:p>
                <a:r>
                  <a:rPr lang="ru-RU" dirty="0"/>
                  <a:t>Претендент вычисляет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и отправляет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противнику.</a:t>
                </a:r>
              </a:p>
              <a:p>
                <a:r>
                  <a:rPr lang="ru-RU" dirty="0"/>
                  <a:t>Противник</a:t>
                </a:r>
                <a:r>
                  <a:rPr lang="en-US" dirty="0"/>
                  <a:t> </a:t>
                </a:r>
                <a:r>
                  <a:rPr lang="ru-RU" dirty="0"/>
                  <a:t>возвращает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как результат игры.</a:t>
                </a:r>
              </a:p>
              <a:p>
                <a:pPr marL="0" indent="0">
                  <a:buNone/>
                </a:pPr>
                <a:r>
                  <a:rPr lang="ru-RU" dirty="0"/>
                  <a:t>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событие, 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Преимуществом алгоритма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при атаке на восстановление битов является величина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AR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31929"/>
              </a:xfrm>
              <a:blipFill>
                <a:blip r:embed="rId2"/>
                <a:stretch>
                  <a:fillRect l="-1043" t="-2574" r="-116" b="-6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411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 битов сообщения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шифр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i="1" dirty="0"/>
                  <a:t>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i="1" dirty="0"/>
                  <a:t> – </a:t>
                </a:r>
                <a:r>
                  <a:rPr lang="ru-RU" dirty="0"/>
                  <a:t>функция вычисления</a:t>
                </a:r>
                <a:r>
                  <a:rPr lang="en-US" dirty="0"/>
                  <a:t> </a:t>
                </a:r>
                <a:r>
                  <a:rPr lang="ru-RU" dirty="0"/>
                  <a:t>бита чётности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(здесь и далее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)</a:t>
                </a:r>
                <a:r>
                  <a:rPr lang="ru-RU" i="1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b="1" dirty="0"/>
                  <a:t>стойким к восстановлению битов</a:t>
                </a:r>
                <a:r>
                  <a:rPr lang="ru-RU" dirty="0"/>
                  <a:t>, если величина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PARadv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 величина.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1961" r="-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0759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66814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индивидуальных битов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9</a:t>
                </a:r>
                <a:r>
                  <a:rPr lang="ru-RU" b="1" dirty="0"/>
                  <a:t>. </a:t>
                </a:r>
                <a:r>
                  <a:rPr lang="ru-RU" dirty="0"/>
                  <a:t>Если шифр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семантически стойкий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то он стойкий к атаке на восстановление битов сообщения (Атака на восстановление</a:t>
                </a:r>
                <a:r>
                  <a:rPr lang="en-US" dirty="0"/>
                  <a:t> </a:t>
                </a:r>
                <a:r>
                  <a:rPr lang="ru-RU" dirty="0"/>
                  <a:t>битов сообщения даёт атаку на семантическую стойкость)</a:t>
                </a:r>
                <a:endParaRPr lang="en-US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 От противного, имя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 игре на восстановление битов построим эффективный алгоритм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для игры на семантическую стойкость простив алгоритма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для которого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AR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SSadv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674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66814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индивидуальных битов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9</a:t>
                </a:r>
                <a:r>
                  <a:rPr lang="ru-RU" b="1" dirty="0"/>
                  <a:t>. </a:t>
                </a:r>
                <a:r>
                  <a:rPr lang="ru-RU" dirty="0"/>
                  <a:t>Если шифр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семантически стойкий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то он стойкий к атаке на восстановление битов сообщения (Атака на восстановление</a:t>
                </a:r>
                <a:r>
                  <a:rPr lang="en-US" dirty="0"/>
                  <a:t> </a:t>
                </a:r>
                <a:r>
                  <a:rPr lang="ru-RU" dirty="0"/>
                  <a:t>битов сообщения даёт атаку на семантическую стойкость)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ru-RU" dirty="0"/>
                  <a:t>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генерирует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⊕(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отправляет претенденту, получая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, который он передаёт алгоритму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После получения значения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ru-RU" dirty="0"/>
                  <a:t> 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𝑝𝑎𝑟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иначе 1.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36</a:t>
            </a:fld>
            <a:endParaRPr lang="ru-RU"/>
          </a:p>
        </p:txBody>
      </p:sp>
      <p:sp>
        <p:nvSpPr>
          <p:cNvPr id="6" name="Rectangle 28"/>
          <p:cNvSpPr>
            <a:spLocks noChangeArrowheads="1"/>
          </p:cNvSpPr>
          <p:nvPr/>
        </p:nvSpPr>
        <p:spPr bwMode="auto">
          <a:xfrm>
            <a:off x="6538111" y="4710113"/>
            <a:ext cx="4572000" cy="1600200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/>
              <a:t>Adv. B  (us)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804311" y="4805363"/>
            <a:ext cx="12954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2183598" y="5513558"/>
            <a:ext cx="294965" cy="37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9586111" y="5338763"/>
            <a:ext cx="1295400" cy="8953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/>
              <a:t>Adv.  A</a:t>
            </a:r>
          </a:p>
          <a:p>
            <a:pPr algn="ctr"/>
            <a:r>
              <a:rPr lang="en-US" dirty="0"/>
              <a:t>(given)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3"/>
              <p:cNvSpPr txBox="1">
                <a:spLocks noChangeArrowheads="1"/>
              </p:cNvSpPr>
              <p:nvPr/>
            </p:nvSpPr>
            <p:spPr bwMode="auto">
              <a:xfrm>
                <a:off x="3109112" y="5158979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9112" y="5158979"/>
                <a:ext cx="632609" cy="423129"/>
              </a:xfrm>
              <a:prstGeom prst="rect">
                <a:avLst/>
              </a:prstGeom>
              <a:blipFill>
                <a:blip r:embed="rId3"/>
                <a:stretch>
                  <a:fillRect l="-4808" r="-27885" b="-4285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30"/>
          <p:cNvGrpSpPr>
            <a:grpSpLocks/>
          </p:cNvGrpSpPr>
          <p:nvPr/>
        </p:nvGrpSpPr>
        <p:grpSpPr bwMode="auto">
          <a:xfrm>
            <a:off x="4157930" y="5335780"/>
            <a:ext cx="3733800" cy="506016"/>
            <a:chOff x="1152" y="2918"/>
            <a:chExt cx="2352" cy="425"/>
          </a:xfrm>
        </p:grpSpPr>
        <p:sp>
          <p:nvSpPr>
            <p:cNvPr id="12" name="Line 17"/>
            <p:cNvSpPr>
              <a:spLocks noChangeShapeType="1"/>
            </p:cNvSpPr>
            <p:nvPr/>
          </p:nvSpPr>
          <p:spPr bwMode="auto">
            <a:xfrm>
              <a:off x="1152" y="3312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392" y="2918"/>
                  <a:ext cx="1022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3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2" y="2918"/>
                  <a:ext cx="1022" cy="425"/>
                </a:xfrm>
                <a:prstGeom prst="rect">
                  <a:avLst/>
                </a:prstGeom>
                <a:blipFill>
                  <a:blip r:embed="rId4"/>
                  <a:stretch>
                    <a:fillRect r="-3008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2499511" y="4576763"/>
            <a:ext cx="8763000" cy="18288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29"/>
          <p:cNvGrpSpPr>
            <a:grpSpLocks/>
          </p:cNvGrpSpPr>
          <p:nvPr/>
        </p:nvGrpSpPr>
        <p:grpSpPr bwMode="auto">
          <a:xfrm>
            <a:off x="3823486" y="4847041"/>
            <a:ext cx="3476625" cy="434579"/>
            <a:chOff x="1026" y="2515"/>
            <a:chExt cx="2190" cy="365"/>
          </a:xfrm>
        </p:grpSpPr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H="1" flipV="1">
              <a:off x="1248" y="288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026" y="2515"/>
                  <a:ext cx="1815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lvl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=|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7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6" y="2515"/>
                  <a:ext cx="1815" cy="336"/>
                </a:xfrm>
                <a:prstGeom prst="rect">
                  <a:avLst/>
                </a:prstGeom>
                <a:blipFill>
                  <a:blip r:embed="rId5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31"/>
          <p:cNvGrpSpPr>
            <a:grpSpLocks/>
          </p:cNvGrpSpPr>
          <p:nvPr/>
        </p:nvGrpSpPr>
        <p:grpSpPr bwMode="auto">
          <a:xfrm>
            <a:off x="8062111" y="5425683"/>
            <a:ext cx="1447800" cy="400050"/>
            <a:chOff x="3648" y="3001"/>
            <a:chExt cx="912" cy="336"/>
          </a:xfrm>
        </p:grpSpPr>
        <p:sp>
          <p:nvSpPr>
            <p:cNvPr id="19" name="Line 24"/>
            <p:cNvSpPr>
              <a:spLocks noChangeShapeType="1"/>
            </p:cNvSpPr>
            <p:nvPr/>
          </p:nvSpPr>
          <p:spPr bwMode="auto">
            <a:xfrm>
              <a:off x="3648" y="3312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984" y="3001"/>
                  <a:ext cx="23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84" y="3001"/>
                  <a:ext cx="233" cy="3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32"/>
          <p:cNvGrpSpPr>
            <a:grpSpLocks/>
          </p:cNvGrpSpPr>
          <p:nvPr/>
        </p:nvGrpSpPr>
        <p:grpSpPr bwMode="auto">
          <a:xfrm>
            <a:off x="6307438" y="5960331"/>
            <a:ext cx="2187064" cy="815513"/>
            <a:chOff x="2826" y="3483"/>
            <a:chExt cx="2460" cy="501"/>
          </a:xfrm>
        </p:grpSpPr>
        <p:sp>
          <p:nvSpPr>
            <p:cNvPr id="22" name="Line 25"/>
            <p:cNvSpPr>
              <a:spLocks noChangeShapeType="1"/>
            </p:cNvSpPr>
            <p:nvPr/>
          </p:nvSpPr>
          <p:spPr bwMode="auto">
            <a:xfrm flipH="1">
              <a:off x="3216" y="350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3216" y="350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826" y="3483"/>
                  <a:ext cx="2460" cy="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=?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𝑝𝑎𝑟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26" y="3483"/>
                  <a:ext cx="2460" cy="227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6"/>
              <p:cNvSpPr txBox="1">
                <a:spLocks noChangeArrowheads="1"/>
              </p:cNvSpPr>
              <p:nvPr/>
            </p:nvSpPr>
            <p:spPr bwMode="auto">
              <a:xfrm>
                <a:off x="1820851" y="5274125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0851" y="5274125"/>
                <a:ext cx="42704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Прямая со стрелкой 25"/>
          <p:cNvCxnSpPr/>
          <p:nvPr/>
        </p:nvCxnSpPr>
        <p:spPr>
          <a:xfrm flipH="1">
            <a:off x="7995468" y="5994514"/>
            <a:ext cx="1514443" cy="1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083172" y="5960331"/>
                <a:ext cx="16390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172" y="5960331"/>
                <a:ext cx="1639077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6"/>
              <p:cNvSpPr txBox="1">
                <a:spLocks noChangeArrowheads="1"/>
              </p:cNvSpPr>
              <p:nvPr/>
            </p:nvSpPr>
            <p:spPr bwMode="auto">
              <a:xfrm>
                <a:off x="6270261" y="6427443"/>
                <a:ext cx="43505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’</a:t>
                </a:r>
              </a:p>
            </p:txBody>
          </p:sp>
        </mc:Choice>
        <mc:Fallback xmlns="">
          <p:sp>
            <p:nvSpPr>
              <p:cNvPr id="2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70261" y="6427443"/>
                <a:ext cx="435056" cy="461665"/>
              </a:xfrm>
              <a:prstGeom prst="rect">
                <a:avLst/>
              </a:prstGeom>
              <a:blipFill>
                <a:blip r:embed="rId10"/>
                <a:stretch>
                  <a:fillRect l="-4225" t="-10526" r="-19718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D2D714-A129-A8CA-471A-9F99A8AA6C50}"/>
                  </a:ext>
                </a:extLst>
              </p:cNvPr>
              <p:cNvSpPr txBox="1"/>
              <p:nvPr/>
            </p:nvSpPr>
            <p:spPr>
              <a:xfrm>
                <a:off x="8791411" y="6520214"/>
                <a:ext cx="2632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Если противник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угадал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D2D714-A129-A8CA-471A-9F99A8AA6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411" y="6520214"/>
                <a:ext cx="2632131" cy="369332"/>
              </a:xfrm>
              <a:prstGeom prst="rect">
                <a:avLst/>
              </a:prstGeom>
              <a:blipFill>
                <a:blip r:embed="rId11"/>
                <a:stretch>
                  <a:fillRect l="-1852" t="-10000" r="-1157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Соединитель: изогнутый 31">
            <a:extLst>
              <a:ext uri="{FF2B5EF4-FFF2-40B4-BE49-F238E27FC236}">
                <a16:creationId xmlns:a16="http://schemas.microsoft.com/office/drawing/2014/main" id="{77E80390-D0D4-F662-2D3C-451DA953FF08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>
            <a:off x="8595511" y="6263416"/>
            <a:ext cx="195900" cy="441464"/>
          </a:xfrm>
          <a:prstGeom prst="curved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24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66814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индивидуальных битов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9</a:t>
                </a:r>
                <a:r>
                  <a:rPr lang="ru-RU" b="1" dirty="0"/>
                  <a:t>. </a:t>
                </a:r>
                <a:r>
                  <a:rPr lang="ru-RU" dirty="0"/>
                  <a:t>Если шифр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семантически стойкий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то он стойкий к атаке на восстановление битов сообщения (Атака на восстановление</a:t>
                </a:r>
                <a:r>
                  <a:rPr lang="en-US" dirty="0"/>
                  <a:t> </a:t>
                </a:r>
                <a:r>
                  <a:rPr lang="ru-RU" dirty="0"/>
                  <a:t>битов сообщения даёт атаку на семантическую стойкость)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PARadv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т.е. вероятность угадать чётность есть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dirty="0"/>
                  <a:t> - вероятность того, что алгоритм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выдаст значение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PARadv</m:t>
                    </m:r>
                    <m:d>
                      <m:dPr>
                        <m:begChr m:val="["/>
                        <m:endChr m:val="]"/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</m:oMath>
                </a14:m>
                <a:r>
                  <a:rPr lang="ru-RU" i="1" dirty="0">
                    <a:latin typeface="Cambria Math" panose="02040503050406030204" pitchFamily="18" charset="0"/>
                  </a:rPr>
                  <a:t>.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угадали чётность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не угадали чётность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dirty="0"/>
                        <m:t>атака на восстановление даёт атаку на семантическую стойкость.</m:t>
                      </m:r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1043" t="-1866" r="-1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524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8582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стойкость (альтернативная формулировка)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1.10. (обобщение 1.</a:t>
                </a:r>
                <a:r>
                  <a:rPr lang="en-US" b="1" dirty="0"/>
                  <a:t>9</a:t>
                </a:r>
                <a:r>
                  <a:rPr lang="ru-RU" b="1" dirty="0"/>
                  <a:t>) </a:t>
                </a:r>
                <a:r>
                  <a:rPr lang="ru-RU" dirty="0"/>
                  <a:t>Пусть задана игра на семантическую стойкость для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b="1" dirty="0"/>
                  <a:t> </a:t>
                </a:r>
                <a:r>
                  <a:rPr lang="ru-RU" dirty="0"/>
                  <a:t>против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1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1" dirty="0"/>
                  <a:t>. </a:t>
                </a:r>
                <a:r>
                  <a:rPr lang="ru-RU" dirty="0"/>
                  <a:t>Определим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SSadv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где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b="0" i="0" dirty="0"/>
                  <a:t> </a:t>
                </a:r>
                <a:r>
                  <a:rPr lang="en-US" b="0" i="0" dirty="0" err="1"/>
                  <a:t>событие</a:t>
                </a:r>
                <a:r>
                  <a:rPr lang="en-US" b="0" i="0" dirty="0"/>
                  <a:t>, </a:t>
                </a:r>
                <a:r>
                  <a:rPr lang="en-US" b="0" i="0" dirty="0" err="1"/>
                  <a:t>при</a:t>
                </a:r>
                <a:r>
                  <a:rPr lang="en-US" b="0" i="0" dirty="0"/>
                  <a:t> </a:t>
                </a:r>
                <a:r>
                  <a:rPr lang="en-US" b="0" i="0" dirty="0" err="1"/>
                  <a:t>котором</a:t>
                </a:r>
                <a:r>
                  <a:rPr lang="en-US" b="0" i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SSadv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=2∗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SSadv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доказательство аналогично </a:t>
                </a:r>
                <a:r>
                  <a:rPr lang="ru-RU" b="1" dirty="0"/>
                  <a:t>Теореме 1.9.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408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665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Модель абсолютно стойкого шифра делает его сложно применимым в практическом смысле</a:t>
            </a:r>
          </a:p>
          <a:p>
            <a:pPr lvl="1"/>
            <a:r>
              <a:rPr lang="ru-RU" dirty="0"/>
              <a:t>Требуется размер ключа равный размеру сообщения</a:t>
            </a:r>
          </a:p>
          <a:p>
            <a:pPr lvl="1"/>
            <a:r>
              <a:rPr lang="ru-RU" dirty="0"/>
              <a:t>Невозможно добиться стойкости при переменной длине сообщений</a:t>
            </a:r>
          </a:p>
          <a:p>
            <a:r>
              <a:rPr lang="ru-RU" dirty="0"/>
              <a:t>Семантически стойкий шифр – ослабленная модель абсолютно стойкого шифра, пригодная для практического применения</a:t>
            </a:r>
          </a:p>
          <a:p>
            <a:pPr lvl="1"/>
            <a:r>
              <a:rPr lang="ru-RU" dirty="0"/>
              <a:t>Стойкость к восстановлению сообщений</a:t>
            </a:r>
          </a:p>
          <a:p>
            <a:pPr lvl="1"/>
            <a:r>
              <a:rPr lang="ru-RU" dirty="0"/>
              <a:t>Стойкость к восстановлению битов сообщений</a:t>
            </a:r>
          </a:p>
          <a:p>
            <a:r>
              <a:rPr lang="ru-RU" dirty="0"/>
              <a:t>Игровая модель – модель, позволяющая вводить определения стойкости для криптографический примитивов</a:t>
            </a:r>
          </a:p>
          <a:p>
            <a:pPr lvl="1"/>
            <a:r>
              <a:rPr lang="ru-RU" dirty="0"/>
              <a:t>Доказательства стойкости методом сведения (</a:t>
            </a:r>
            <a:r>
              <a:rPr lang="en-US" dirty="0"/>
              <a:t>reduction)</a:t>
            </a:r>
            <a:endParaRPr lang="ru-RU" dirty="0"/>
          </a:p>
          <a:p>
            <a:pPr lvl="1"/>
            <a:r>
              <a:rPr lang="ru-RU" dirty="0"/>
              <a:t>Построение атак через моделирование игры</a:t>
            </a:r>
          </a:p>
          <a:p>
            <a:pPr lvl="1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7548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40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4284" y="1408579"/>
                <a:ext cx="5344257" cy="4585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3200" b="1" dirty="0"/>
                  <a:t>Определение абсолютной стойкости через вероятность (без предиката)</a:t>
                </a:r>
                <a:r>
                  <a:rPr lang="en-US" sz="3200" b="1" dirty="0"/>
                  <a:t>:</a:t>
                </a:r>
              </a:p>
              <a:p>
                <a:r>
                  <a:rPr lang="ru-RU" sz="3200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– </a:t>
                </a:r>
                <a:r>
                  <a:rPr lang="ru-RU" sz="3200" dirty="0"/>
                  <a:t>шифр шеннона над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ru-RU" sz="3200" b="1" dirty="0"/>
              </a:p>
              <a:p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и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имеем</a:t>
                </a:r>
                <a:r>
                  <a:rPr lang="en-US" sz="3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???</m:t>
                              </m:r>
                            </m:e>
                          </m:d>
                        </m:e>
                      </m:func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???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sz="3200" dirty="0"/>
              </a:p>
              <a:p>
                <a:endParaRPr lang="ru-RU" sz="36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84" y="1408579"/>
                <a:ext cx="5344257" cy="4585871"/>
              </a:xfrm>
              <a:prstGeom prst="rect">
                <a:avLst/>
              </a:prstGeom>
              <a:blipFill>
                <a:blip r:embed="rId2"/>
                <a:stretch>
                  <a:fillRect l="-2968" t="-1729" r="-35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51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84284" y="1408579"/>
            <a:ext cx="53442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Одноразовый блокнот переменной длины</a:t>
            </a:r>
            <a:r>
              <a:rPr lang="ru-RU" sz="3600" dirty="0"/>
              <a:t> по модулю 7. Является ли </a:t>
            </a:r>
            <a:r>
              <a:rPr lang="ru-RU" sz="3600" b="1" dirty="0"/>
              <a:t>абсолютно стойким</a:t>
            </a:r>
            <a:r>
              <a:rPr lang="ru-RU" sz="3600" dirty="0"/>
              <a:t>, </a:t>
            </a:r>
            <a:r>
              <a:rPr lang="ru-RU" sz="3600" b="1" dirty="0"/>
              <a:t>почему?</a:t>
            </a:r>
          </a:p>
        </p:txBody>
      </p:sp>
    </p:spTree>
    <p:extLst>
      <p:ext uri="{BB962C8B-B14F-4D97-AF65-F5344CB8AC3E}">
        <p14:creationId xmlns:p14="http://schemas.microsoft.com/office/powerpoint/2010/main" val="94511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97D3B-23D2-4C29-BED3-17E2559D2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Электронное </a:t>
            </a:r>
            <a:r>
              <a:rPr lang="ru-RU" dirty="0" err="1"/>
              <a:t>дз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799A3E-1C1F-4CFE-81BC-9F1BD0924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Быстрее </a:t>
            </a:r>
          </a:p>
          <a:p>
            <a:r>
              <a:rPr lang="ru-RU" dirty="0"/>
              <a:t>Меньше</a:t>
            </a:r>
          </a:p>
          <a:p>
            <a:r>
              <a:rPr lang="ru-RU" dirty="0"/>
              <a:t>Проще</a:t>
            </a:r>
          </a:p>
          <a:p>
            <a:r>
              <a:rPr lang="ru-RU" dirty="0"/>
              <a:t>Те же задания, но их меньше и меньше доказывать</a:t>
            </a:r>
          </a:p>
          <a:p>
            <a:r>
              <a:rPr lang="ru-RU" dirty="0"/>
              <a:t>Переход возможен только в сторону электронных</a:t>
            </a:r>
          </a:p>
          <a:p>
            <a:r>
              <a:rPr lang="ru-RU" dirty="0"/>
              <a:t>Оцениваются как 75% от «физических» </a:t>
            </a:r>
            <a:r>
              <a:rPr lang="ru-RU" dirty="0" err="1"/>
              <a:t>дз</a:t>
            </a:r>
            <a:endParaRPr lang="ru-RU" dirty="0"/>
          </a:p>
          <a:p>
            <a:r>
              <a:rPr lang="ru-RU" dirty="0"/>
              <a:t>Для перехода на электронные надо написать в </a:t>
            </a:r>
            <a:r>
              <a:rPr lang="ru-RU"/>
              <a:t>личку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5D201D-FAE3-4DE4-A338-C2780E4F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748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2365</TotalTime>
  <Words>3433</Words>
  <Application>Microsoft Office PowerPoint</Application>
  <PresentationFormat>Широкоэкранный</PresentationFormat>
  <Paragraphs>377</Paragraphs>
  <Slides>42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Consolas</vt:lpstr>
      <vt:lpstr>Courier New</vt:lpstr>
      <vt:lpstr>Symbol</vt:lpstr>
      <vt:lpstr>Тема Office</vt:lpstr>
      <vt:lpstr>Прикладная Криптография: Симметричные криптосистемы Абсолютная и Cемантическая стойкость (Акт 2)</vt:lpstr>
      <vt:lpstr>Тест.</vt:lpstr>
      <vt:lpstr>Тест.</vt:lpstr>
      <vt:lpstr>TIME </vt:lpstr>
      <vt:lpstr>На прошлой лекции…</vt:lpstr>
      <vt:lpstr>Эквивалентные определения абсолютной стойкости</vt:lpstr>
      <vt:lpstr>Плохие новости</vt:lpstr>
      <vt:lpstr>Вычислимый шифр</vt:lpstr>
      <vt:lpstr>Семантическая стойкость</vt:lpstr>
      <vt:lpstr>Понятие игры</vt:lpstr>
      <vt:lpstr>Понятие игры на различимость, определения</vt:lpstr>
      <vt:lpstr>Игра: семантическая стойкость (одноразовое использование ключа)</vt:lpstr>
      <vt:lpstr>Игра: семантическая стойкость (одноразовое использование ключа)</vt:lpstr>
      <vt:lpstr>Игра: семантическая стойкость (одноразовое использование ключа)</vt:lpstr>
      <vt:lpstr>Семантическая стойкость (одноразовое использование ключа)</vt:lpstr>
      <vt:lpstr>Семантическая стойкость (одноразовое использование ключа)</vt:lpstr>
      <vt:lpstr>Семантическая стойкость</vt:lpstr>
      <vt:lpstr>Построение атаки на семантическую стойкость (пример)</vt:lpstr>
      <vt:lpstr>Построение атаки на семантическую стойкость (пример)</vt:lpstr>
      <vt:lpstr>Построение атаки на семантическую стойкость (пример через существующую атаку)</vt:lpstr>
      <vt:lpstr>Построение атаки на семантическую стойкость (пример через существующую атаку)</vt:lpstr>
      <vt:lpstr>Доказательства стойкости сведением  (Reduction proof), (пример)</vt:lpstr>
      <vt:lpstr>Доказательства стойкости сведением  (Reduction proof), (пример)</vt:lpstr>
      <vt:lpstr>Принципы доказательства стойкости и построения атак</vt:lpstr>
      <vt:lpstr>Связь модели семантической стойкости с реальными атаками</vt:lpstr>
      <vt:lpstr>Восстановление сообщений</vt:lpstr>
      <vt:lpstr>Восстановление сообщений</vt:lpstr>
      <vt:lpstr>Восстановление сообщений</vt:lpstr>
      <vt:lpstr>Восстановление сообщений</vt:lpstr>
      <vt:lpstr>Восстановление сообщений</vt:lpstr>
      <vt:lpstr>Восстановление сообщений</vt:lpstr>
      <vt:lpstr>Восстановление сообщений</vt:lpstr>
      <vt:lpstr>Восстановление битов сообщения</vt:lpstr>
      <vt:lpstr>Восстановление битов сообщения</vt:lpstr>
      <vt:lpstr>Вычисление индивидуальных битов сообщений</vt:lpstr>
      <vt:lpstr>Вычисление индивидуальных битов сообщений</vt:lpstr>
      <vt:lpstr>Вычисление индивидуальных битов сообщений</vt:lpstr>
      <vt:lpstr>Семантическая стойкость (альтернативная формулировка)</vt:lpstr>
      <vt:lpstr>Выводы</vt:lpstr>
      <vt:lpstr>Тест.</vt:lpstr>
      <vt:lpstr>Тест.</vt:lpstr>
      <vt:lpstr>Электронное дз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Макаров Артём Олегович</cp:lastModifiedBy>
  <cp:revision>525</cp:revision>
  <dcterms:created xsi:type="dcterms:W3CDTF">2018-08-24T12:25:18Z</dcterms:created>
  <dcterms:modified xsi:type="dcterms:W3CDTF">2026-09-10T06:53:00Z</dcterms:modified>
</cp:coreProperties>
</file>