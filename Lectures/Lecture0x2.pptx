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3"/>
  </p:notesMasterIdLst>
  <p:sldIdLst>
    <p:sldId id="256" r:id="rId2"/>
    <p:sldId id="257" r:id="rId3"/>
    <p:sldId id="258" r:id="rId4"/>
    <p:sldId id="259" r:id="rId5"/>
    <p:sldId id="260" r:id="rId6"/>
    <p:sldId id="261" r:id="rId7"/>
    <p:sldId id="262" r:id="rId8"/>
    <p:sldId id="271" r:id="rId9"/>
    <p:sldId id="272" r:id="rId10"/>
    <p:sldId id="273" r:id="rId11"/>
    <p:sldId id="263" r:id="rId12"/>
    <p:sldId id="274" r:id="rId13"/>
    <p:sldId id="275" r:id="rId14"/>
    <p:sldId id="294" r:id="rId15"/>
    <p:sldId id="276" r:id="rId16"/>
    <p:sldId id="277" r:id="rId17"/>
    <p:sldId id="278" r:id="rId18"/>
    <p:sldId id="279" r:id="rId19"/>
    <p:sldId id="264" r:id="rId20"/>
    <p:sldId id="280" r:id="rId21"/>
    <p:sldId id="281" r:id="rId22"/>
    <p:sldId id="282" r:id="rId23"/>
    <p:sldId id="283" r:id="rId24"/>
    <p:sldId id="284" r:id="rId25"/>
    <p:sldId id="285" r:id="rId26"/>
    <p:sldId id="286" r:id="rId27"/>
    <p:sldId id="287" r:id="rId28"/>
    <p:sldId id="288" r:id="rId29"/>
    <p:sldId id="289" r:id="rId30"/>
    <p:sldId id="314" r:id="rId31"/>
    <p:sldId id="315" r:id="rId32"/>
    <p:sldId id="290" r:id="rId33"/>
    <p:sldId id="316" r:id="rId34"/>
    <p:sldId id="317" r:id="rId35"/>
    <p:sldId id="318" r:id="rId36"/>
    <p:sldId id="319" r:id="rId37"/>
    <p:sldId id="320" r:id="rId38"/>
    <p:sldId id="321" r:id="rId39"/>
    <p:sldId id="291" r:id="rId40"/>
    <p:sldId id="292" r:id="rId41"/>
    <p:sldId id="295" r:id="rId42"/>
    <p:sldId id="296" r:id="rId43"/>
    <p:sldId id="297" r:id="rId44"/>
    <p:sldId id="298" r:id="rId45"/>
    <p:sldId id="265" r:id="rId46"/>
    <p:sldId id="293" r:id="rId47"/>
    <p:sldId id="299" r:id="rId48"/>
    <p:sldId id="300" r:id="rId49"/>
    <p:sldId id="301" r:id="rId50"/>
    <p:sldId id="302" r:id="rId51"/>
    <p:sldId id="303" r:id="rId52"/>
    <p:sldId id="304" r:id="rId53"/>
    <p:sldId id="305" r:id="rId54"/>
    <p:sldId id="306" r:id="rId55"/>
    <p:sldId id="307" r:id="rId56"/>
    <p:sldId id="308" r:id="rId57"/>
    <p:sldId id="309" r:id="rId58"/>
    <p:sldId id="312" r:id="rId59"/>
    <p:sldId id="310" r:id="rId60"/>
    <p:sldId id="311" r:id="rId61"/>
    <p:sldId id="313" r:id="rId6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CEC804DF-A6F1-46D9-90C8-EC0E45CE37B7}">
          <p14:sldIdLst>
            <p14:sldId id="256"/>
            <p14:sldId id="257"/>
            <p14:sldId id="258"/>
            <p14:sldId id="259"/>
            <p14:sldId id="260"/>
            <p14:sldId id="261"/>
            <p14:sldId id="262"/>
            <p14:sldId id="271"/>
            <p14:sldId id="272"/>
            <p14:sldId id="273"/>
          </p14:sldIdLst>
        </p14:section>
        <p14:section name="PaddingOracle" id="{0CBAF59A-F670-4D75-9B23-97C42C1E17AB}">
          <p14:sldIdLst/>
        </p14:section>
        <p14:section name="TLS" id="{4F396399-38DC-4D25-9B7E-6EB1876DDF8C}">
          <p14:sldIdLst>
            <p14:sldId id="263"/>
            <p14:sldId id="274"/>
            <p14:sldId id="275"/>
            <p14:sldId id="294"/>
            <p14:sldId id="276"/>
            <p14:sldId id="277"/>
            <p14:sldId id="278"/>
            <p14:sldId id="279"/>
          </p14:sldIdLst>
        </p14:section>
        <p14:section name="Noise" id="{5E9C689E-91FB-427D-AA3E-83D0242EC097}">
          <p14:sldIdLst>
            <p14:sldId id="264"/>
            <p14:sldId id="280"/>
            <p14:sldId id="281"/>
            <p14:sldId id="282"/>
            <p14:sldId id="283"/>
            <p14:sldId id="284"/>
            <p14:sldId id="285"/>
            <p14:sldId id="286"/>
            <p14:sldId id="287"/>
            <p14:sldId id="288"/>
            <p14:sldId id="289"/>
            <p14:sldId id="314"/>
            <p14:sldId id="315"/>
            <p14:sldId id="290"/>
            <p14:sldId id="316"/>
            <p14:sldId id="317"/>
            <p14:sldId id="318"/>
            <p14:sldId id="319"/>
            <p14:sldId id="320"/>
            <p14:sldId id="321"/>
            <p14:sldId id="291"/>
          </p14:sldIdLst>
        </p14:section>
        <p14:section name="Wireguard" id="{82117D47-FB5D-4EDB-B9B4-ABB44B328576}">
          <p14:sldIdLst>
            <p14:sldId id="292"/>
            <p14:sldId id="295"/>
            <p14:sldId id="296"/>
            <p14:sldId id="297"/>
            <p14:sldId id="298"/>
            <p14:sldId id="265"/>
            <p14:sldId id="293"/>
            <p14:sldId id="299"/>
            <p14:sldId id="300"/>
            <p14:sldId id="301"/>
            <p14:sldId id="302"/>
            <p14:sldId id="303"/>
            <p14:sldId id="304"/>
            <p14:sldId id="305"/>
            <p14:sldId id="306"/>
            <p14:sldId id="307"/>
            <p14:sldId id="308"/>
            <p14:sldId id="309"/>
            <p14:sldId id="312"/>
            <p14:sldId id="310"/>
            <p14:sldId id="311"/>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7FC4FA-E705-46A8-8EEE-6A08CD8957E8}" type="datetimeFigureOut">
              <a:rPr lang="ru-RU" smtClean="0"/>
              <a:t>12.12.2025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63E017-4732-401E-B2EF-7320C532B562}" type="slidenum">
              <a:rPr lang="ru-RU" smtClean="0"/>
              <a:t>‹#›</a:t>
            </a:fld>
            <a:endParaRPr lang="ru-RU"/>
          </a:p>
        </p:txBody>
      </p:sp>
    </p:spTree>
    <p:extLst>
      <p:ext uri="{BB962C8B-B14F-4D97-AF65-F5344CB8AC3E}">
        <p14:creationId xmlns:p14="http://schemas.microsoft.com/office/powerpoint/2010/main" val="2388096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0B19B25C-BEDF-4FE3-8236-6D02422B129B}" type="datetime1">
              <a:rPr lang="ru-RU" smtClean="0"/>
              <a:t>12.12.2025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AC4B6EA2-3DAB-415A-81B1-2E2A41D203B5}" type="slidenum">
              <a:rPr lang="ru-RU" smtClean="0"/>
              <a:t>‹#›</a:t>
            </a:fld>
            <a:endParaRPr lang="ru-RU" dirty="0"/>
          </a:p>
        </p:txBody>
      </p:sp>
    </p:spTree>
    <p:extLst>
      <p:ext uri="{BB962C8B-B14F-4D97-AF65-F5344CB8AC3E}">
        <p14:creationId xmlns:p14="http://schemas.microsoft.com/office/powerpoint/2010/main" val="2162709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D470AD4-56A6-4606-8501-F73980CB7599}" type="datetime1">
              <a:rPr lang="ru-RU" smtClean="0"/>
              <a:t>12.12.2025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AC4B6EA2-3DAB-415A-81B1-2E2A41D203B5}" type="slidenum">
              <a:rPr lang="ru-RU" smtClean="0"/>
              <a:t>‹#›</a:t>
            </a:fld>
            <a:endParaRPr lang="ru-RU" dirty="0"/>
          </a:p>
        </p:txBody>
      </p:sp>
    </p:spTree>
    <p:extLst>
      <p:ext uri="{BB962C8B-B14F-4D97-AF65-F5344CB8AC3E}">
        <p14:creationId xmlns:p14="http://schemas.microsoft.com/office/powerpoint/2010/main" val="2028556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AC88F67F-F86B-4606-8278-CB0C75A4F966}" type="datetime1">
              <a:rPr lang="ru-RU" smtClean="0"/>
              <a:t>12.12.2025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AC4B6EA2-3DAB-415A-81B1-2E2A41D203B5}" type="slidenum">
              <a:rPr lang="ru-RU" smtClean="0"/>
              <a:t>‹#›</a:t>
            </a:fld>
            <a:endParaRPr lang="ru-RU" dirty="0"/>
          </a:p>
        </p:txBody>
      </p:sp>
    </p:spTree>
    <p:extLst>
      <p:ext uri="{BB962C8B-B14F-4D97-AF65-F5344CB8AC3E}">
        <p14:creationId xmlns:p14="http://schemas.microsoft.com/office/powerpoint/2010/main" val="4056550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0FED0DCB-8D66-4EFD-964F-00FA4AC197A8}" type="datetime1">
              <a:rPr lang="ru-RU" smtClean="0"/>
              <a:t>12.12.2025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AC4B6EA2-3DAB-415A-81B1-2E2A41D203B5}" type="slidenum">
              <a:rPr lang="ru-RU" smtClean="0"/>
              <a:t>‹#›</a:t>
            </a:fld>
            <a:endParaRPr lang="ru-RU" dirty="0"/>
          </a:p>
        </p:txBody>
      </p:sp>
    </p:spTree>
    <p:extLst>
      <p:ext uri="{BB962C8B-B14F-4D97-AF65-F5344CB8AC3E}">
        <p14:creationId xmlns:p14="http://schemas.microsoft.com/office/powerpoint/2010/main" val="3506515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1FE1F39F-30AD-4136-B737-D56457711092}" type="datetime1">
              <a:rPr lang="ru-RU" smtClean="0"/>
              <a:t>12.12.2025</a:t>
            </a:fld>
            <a:endParaRPr lang="ru-RU" dirty="0"/>
          </a:p>
        </p:txBody>
      </p:sp>
      <p:sp>
        <p:nvSpPr>
          <p:cNvPr id="8" name="Нижний колонтитул 7"/>
          <p:cNvSpPr>
            <a:spLocks noGrp="1"/>
          </p:cNvSpPr>
          <p:nvPr>
            <p:ph type="ftr" sz="quarter" idx="11"/>
          </p:nvPr>
        </p:nvSpPr>
        <p:spPr/>
        <p:txBody>
          <a:bodyPr/>
          <a:lstStyle/>
          <a:p>
            <a:endParaRPr lang="ru-RU" dirty="0"/>
          </a:p>
        </p:txBody>
      </p:sp>
      <p:sp>
        <p:nvSpPr>
          <p:cNvPr id="9" name="Номер слайда 8"/>
          <p:cNvSpPr>
            <a:spLocks noGrp="1"/>
          </p:cNvSpPr>
          <p:nvPr>
            <p:ph type="sldNum" sz="quarter" idx="12"/>
          </p:nvPr>
        </p:nvSpPr>
        <p:spPr/>
        <p:txBody>
          <a:bodyPr/>
          <a:lstStyle/>
          <a:p>
            <a:fld id="{AC4B6EA2-3DAB-415A-81B1-2E2A41D203B5}" type="slidenum">
              <a:rPr lang="ru-RU" smtClean="0"/>
              <a:t>‹#›</a:t>
            </a:fld>
            <a:endParaRPr lang="ru-RU" dirty="0"/>
          </a:p>
        </p:txBody>
      </p:sp>
    </p:spTree>
    <p:extLst>
      <p:ext uri="{BB962C8B-B14F-4D97-AF65-F5344CB8AC3E}">
        <p14:creationId xmlns:p14="http://schemas.microsoft.com/office/powerpoint/2010/main" val="4031695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9F206297-E494-4E9C-8D47-5A3581230D54}" type="datetime1">
              <a:rPr lang="ru-RU" smtClean="0"/>
              <a:t>12.12.2025</a:t>
            </a:fld>
            <a:endParaRPr lang="ru-RU" dirty="0"/>
          </a:p>
        </p:txBody>
      </p:sp>
      <p:sp>
        <p:nvSpPr>
          <p:cNvPr id="4" name="Нижний колонтитул 3"/>
          <p:cNvSpPr>
            <a:spLocks noGrp="1"/>
          </p:cNvSpPr>
          <p:nvPr>
            <p:ph type="ftr" sz="quarter" idx="11"/>
          </p:nvPr>
        </p:nvSpPr>
        <p:spPr/>
        <p:txBody>
          <a:bodyPr/>
          <a:lstStyle/>
          <a:p>
            <a:endParaRPr lang="ru-RU" dirty="0"/>
          </a:p>
        </p:txBody>
      </p:sp>
      <p:sp>
        <p:nvSpPr>
          <p:cNvPr id="5" name="Номер слайда 4"/>
          <p:cNvSpPr>
            <a:spLocks noGrp="1"/>
          </p:cNvSpPr>
          <p:nvPr>
            <p:ph type="sldNum" sz="quarter" idx="12"/>
          </p:nvPr>
        </p:nvSpPr>
        <p:spPr/>
        <p:txBody>
          <a:bodyPr/>
          <a:lstStyle/>
          <a:p>
            <a:fld id="{AC4B6EA2-3DAB-415A-81B1-2E2A41D203B5}" type="slidenum">
              <a:rPr lang="ru-RU" smtClean="0"/>
              <a:t>‹#›</a:t>
            </a:fld>
            <a:endParaRPr lang="ru-RU" dirty="0"/>
          </a:p>
        </p:txBody>
      </p:sp>
    </p:spTree>
    <p:extLst>
      <p:ext uri="{BB962C8B-B14F-4D97-AF65-F5344CB8AC3E}">
        <p14:creationId xmlns:p14="http://schemas.microsoft.com/office/powerpoint/2010/main" val="1439167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D34916B-0940-47D0-8C11-572ECD54A42D}" type="datetime1">
              <a:rPr lang="ru-RU" smtClean="0"/>
              <a:t>12.12.2025</a:t>
            </a:fld>
            <a:endParaRPr lang="ru-RU" dirty="0"/>
          </a:p>
        </p:txBody>
      </p:sp>
      <p:sp>
        <p:nvSpPr>
          <p:cNvPr id="3" name="Нижний колонтитул 2"/>
          <p:cNvSpPr>
            <a:spLocks noGrp="1"/>
          </p:cNvSpPr>
          <p:nvPr>
            <p:ph type="ftr" sz="quarter" idx="11"/>
          </p:nvPr>
        </p:nvSpPr>
        <p:spPr/>
        <p:txBody>
          <a:bodyPr/>
          <a:lstStyle/>
          <a:p>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a:t>
            </a:fld>
            <a:endParaRPr lang="ru-RU" dirty="0"/>
          </a:p>
        </p:txBody>
      </p:sp>
    </p:spTree>
    <p:extLst>
      <p:ext uri="{BB962C8B-B14F-4D97-AF65-F5344CB8AC3E}">
        <p14:creationId xmlns:p14="http://schemas.microsoft.com/office/powerpoint/2010/main" val="3334263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054951E1-E8F4-4CBA-AD4B-76DA24EB61BE}" type="datetime1">
              <a:rPr lang="ru-RU" smtClean="0"/>
              <a:t>12.12.2025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AC4B6EA2-3DAB-415A-81B1-2E2A41D203B5}" type="slidenum">
              <a:rPr lang="ru-RU" smtClean="0"/>
              <a:t>‹#›</a:t>
            </a:fld>
            <a:endParaRPr lang="ru-RU" dirty="0"/>
          </a:p>
        </p:txBody>
      </p:sp>
    </p:spTree>
    <p:extLst>
      <p:ext uri="{BB962C8B-B14F-4D97-AF65-F5344CB8AC3E}">
        <p14:creationId xmlns:p14="http://schemas.microsoft.com/office/powerpoint/2010/main" val="4034259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dirty="0"/>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9D2F990E-991C-49DB-8974-6384A72A05C0}" type="datetime1">
              <a:rPr lang="ru-RU" smtClean="0"/>
              <a:t>12.12.2025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AC4B6EA2-3DAB-415A-81B1-2E2A41D203B5}" type="slidenum">
              <a:rPr lang="ru-RU" smtClean="0"/>
              <a:t>‹#›</a:t>
            </a:fld>
            <a:endParaRPr lang="ru-RU" dirty="0"/>
          </a:p>
        </p:txBody>
      </p:sp>
    </p:spTree>
    <p:extLst>
      <p:ext uri="{BB962C8B-B14F-4D97-AF65-F5344CB8AC3E}">
        <p14:creationId xmlns:p14="http://schemas.microsoft.com/office/powerpoint/2010/main" val="2629682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EDF7BBEC-CF93-4F09-9013-BCE046C6D3BD}" type="datetime1">
              <a:rPr lang="ru-RU" smtClean="0"/>
              <a:t>12.12.2025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AC4B6EA2-3DAB-415A-81B1-2E2A41D203B5}" type="slidenum">
              <a:rPr lang="ru-RU" smtClean="0"/>
              <a:t>‹#›</a:t>
            </a:fld>
            <a:endParaRPr lang="ru-RU" dirty="0"/>
          </a:p>
        </p:txBody>
      </p:sp>
    </p:spTree>
    <p:extLst>
      <p:ext uri="{BB962C8B-B14F-4D97-AF65-F5344CB8AC3E}">
        <p14:creationId xmlns:p14="http://schemas.microsoft.com/office/powerpoint/2010/main" val="3783973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F12B168-5755-4EA2-B249-E873796E479B}" type="datetime1">
              <a:rPr lang="ru-RU" smtClean="0"/>
              <a:t>12.12.2025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AC4B6EA2-3DAB-415A-81B1-2E2A41D203B5}" type="slidenum">
              <a:rPr lang="ru-RU" smtClean="0"/>
              <a:t>‹#›</a:t>
            </a:fld>
            <a:endParaRPr lang="ru-RU" dirty="0"/>
          </a:p>
        </p:txBody>
      </p:sp>
    </p:spTree>
    <p:extLst>
      <p:ext uri="{BB962C8B-B14F-4D97-AF65-F5344CB8AC3E}">
        <p14:creationId xmlns:p14="http://schemas.microsoft.com/office/powerpoint/2010/main" val="201471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585FBF-1A03-41ED-85AD-9DC45196266E}" type="datetime1">
              <a:rPr lang="ru-RU" smtClean="0"/>
              <a:t>12.12.2025</a:t>
            </a:fld>
            <a:endParaRPr lang="ru-RU" dirty="0"/>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dirty="0"/>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4B6EA2-3DAB-415A-81B1-2E2A41D203B5}" type="slidenum">
              <a:rPr lang="ru-RU" smtClean="0"/>
              <a:t>‹#›</a:t>
            </a:fld>
            <a:endParaRPr lang="ru-RU" dirty="0"/>
          </a:p>
        </p:txBody>
      </p:sp>
    </p:spTree>
    <p:extLst>
      <p:ext uri="{BB962C8B-B14F-4D97-AF65-F5344CB8AC3E}">
        <p14:creationId xmlns:p14="http://schemas.microsoft.com/office/powerpoint/2010/main" val="850445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blog.cloudflare.com/rfc-8446-aka-tls-1-3/" TargetMode="External"/><Relationship Id="rId2" Type="http://schemas.openxmlformats.org/officeDocument/2006/relationships/hyperlink" Target="https://tls13.ulfheim.net/" TargetMode="External"/><Relationship Id="rId1" Type="http://schemas.openxmlformats.org/officeDocument/2006/relationships/slideLayout" Target="../slideLayouts/slideLayout2.xml"/><Relationship Id="rId6" Type="http://schemas.openxmlformats.org/officeDocument/2006/relationships/hyperlink" Target="https://medium.com/@ethicalevil/tls-handshake-protocol-overview-a39e8eee2cf5" TargetMode="External"/><Relationship Id="rId5" Type="http://schemas.openxmlformats.org/officeDocument/2006/relationships/hyperlink" Target="https://clienttest.ssllabs.com:8443/ssltest/viewMyClient.html" TargetMode="External"/><Relationship Id="rId4" Type="http://schemas.openxmlformats.org/officeDocument/2006/relationships/hyperlink" Target="https://davidwong.fr/tls1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nccgroup.com/us/about-us/newsroom-and-events/blog/2018/august/introducing-disco/" TargetMode="External"/><Relationship Id="rId2" Type="http://schemas.openxmlformats.org/officeDocument/2006/relationships/hyperlink" Target="https://noiseprotocol.org/"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www.wireguard.com/papers/wireguard.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a:t>Построение защищенных каналов связи</a:t>
            </a:r>
          </a:p>
        </p:txBody>
      </p:sp>
      <p:sp>
        <p:nvSpPr>
          <p:cNvPr id="3" name="Подзаголовок 2"/>
          <p:cNvSpPr>
            <a:spLocks noGrp="1"/>
          </p:cNvSpPr>
          <p:nvPr>
            <p:ph type="subTitle" idx="1"/>
          </p:nvPr>
        </p:nvSpPr>
        <p:spPr>
          <a:xfrm>
            <a:off x="1524000" y="4947261"/>
            <a:ext cx="9144000" cy="1655762"/>
          </a:xfrm>
        </p:spPr>
        <p:txBody>
          <a:bodyPr/>
          <a:lstStyle/>
          <a:p>
            <a:r>
              <a:rPr lang="ru-RU" dirty="0"/>
              <a:t>Макаров Артём</a:t>
            </a:r>
          </a:p>
          <a:p>
            <a:r>
              <a:rPr lang="ru-RU" dirty="0"/>
              <a:t>МИФИ 2025</a:t>
            </a:r>
          </a:p>
        </p:txBody>
      </p:sp>
    </p:spTree>
    <p:extLst>
      <p:ext uri="{BB962C8B-B14F-4D97-AF65-F5344CB8AC3E}">
        <p14:creationId xmlns:p14="http://schemas.microsoft.com/office/powerpoint/2010/main" val="3542552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Защищенный канал связи</a:t>
            </a:r>
          </a:p>
        </p:txBody>
      </p:sp>
      <p:sp>
        <p:nvSpPr>
          <p:cNvPr id="3" name="Объект 2"/>
          <p:cNvSpPr>
            <a:spLocks noGrp="1"/>
          </p:cNvSpPr>
          <p:nvPr>
            <p:ph idx="1"/>
          </p:nvPr>
        </p:nvSpPr>
        <p:spPr/>
        <p:txBody>
          <a:bodyPr/>
          <a:lstStyle/>
          <a:p>
            <a:r>
              <a:rPr lang="ru-RU" dirty="0"/>
              <a:t>Обеспечить аутентичность и секретность сообщений при передаче по каналу связи при активном противнике</a:t>
            </a:r>
          </a:p>
          <a:p>
            <a:r>
              <a:rPr lang="ru-RU" dirty="0"/>
              <a:t>Возможности противника – любые эффективные взаимодействия с каналом, включая повтор и модификацию передаваемых сообщений, возможность разовой компрометации сессионных ключей, возможность имперсонификации источника сообщений</a:t>
            </a:r>
          </a:p>
          <a:p>
            <a:r>
              <a:rPr lang="ru-RU" dirty="0"/>
              <a:t>Цели противника – нарушение ИБ передаваемых сообщений</a:t>
            </a:r>
          </a:p>
        </p:txBody>
      </p:sp>
      <p:sp>
        <p:nvSpPr>
          <p:cNvPr id="4" name="Номер слайда 3"/>
          <p:cNvSpPr>
            <a:spLocks noGrp="1"/>
          </p:cNvSpPr>
          <p:nvPr>
            <p:ph type="sldNum" sz="quarter" idx="12"/>
          </p:nvPr>
        </p:nvSpPr>
        <p:spPr/>
        <p:txBody>
          <a:bodyPr/>
          <a:lstStyle/>
          <a:p>
            <a:fld id="{AC4B6EA2-3DAB-415A-81B1-2E2A41D203B5}" type="slidenum">
              <a:rPr lang="ru-RU" smtClean="0"/>
              <a:t>2</a:t>
            </a:fld>
            <a:endParaRPr lang="ru-RU" dirty="0"/>
          </a:p>
        </p:txBody>
      </p:sp>
    </p:spTree>
    <p:extLst>
      <p:ext uri="{BB962C8B-B14F-4D97-AF65-F5344CB8AC3E}">
        <p14:creationId xmlns:p14="http://schemas.microsoft.com/office/powerpoint/2010/main" val="337319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Защищенный канал связи</a:t>
            </a:r>
          </a:p>
        </p:txBody>
      </p:sp>
      <p:sp>
        <p:nvSpPr>
          <p:cNvPr id="3" name="Объект 2"/>
          <p:cNvSpPr>
            <a:spLocks noGrp="1"/>
          </p:cNvSpPr>
          <p:nvPr>
            <p:ph idx="1"/>
          </p:nvPr>
        </p:nvSpPr>
        <p:spPr/>
        <p:txBody>
          <a:bodyPr/>
          <a:lstStyle/>
          <a:p>
            <a:pPr marL="0" indent="0">
              <a:buNone/>
            </a:pPr>
            <a:r>
              <a:rPr lang="ru-RU" dirty="0"/>
              <a:t>2 основных стороны – инициатор (</a:t>
            </a:r>
            <a:r>
              <a:rPr lang="en-US" dirty="0"/>
              <a:t>Init) </a:t>
            </a:r>
            <a:r>
              <a:rPr lang="ru-RU" dirty="0"/>
              <a:t>и получатель </a:t>
            </a:r>
            <a:r>
              <a:rPr lang="en-US" dirty="0"/>
              <a:t>(Rec)</a:t>
            </a:r>
          </a:p>
          <a:p>
            <a:pPr marL="0" indent="0">
              <a:buNone/>
            </a:pPr>
            <a:r>
              <a:rPr lang="ru-RU" dirty="0"/>
              <a:t>Нулевая </a:t>
            </a:r>
            <a:r>
              <a:rPr lang="ru-RU" dirty="0">
                <a:solidFill>
                  <a:schemeClr val="tx1">
                    <a:lumMod val="50000"/>
                    <a:lumOff val="50000"/>
                  </a:schemeClr>
                </a:solidFill>
              </a:rPr>
              <a:t>фаза</a:t>
            </a:r>
            <a:r>
              <a:rPr lang="ru-RU" dirty="0"/>
              <a:t> – согласование параметров</a:t>
            </a:r>
          </a:p>
          <a:p>
            <a:pPr marL="0" indent="0">
              <a:buNone/>
            </a:pPr>
            <a:r>
              <a:rPr lang="ru-RU" dirty="0"/>
              <a:t>Первая </a:t>
            </a:r>
            <a:r>
              <a:rPr lang="ru-RU" dirty="0">
                <a:solidFill>
                  <a:srgbClr val="FFC000"/>
                </a:solidFill>
              </a:rPr>
              <a:t>фаза</a:t>
            </a:r>
            <a:r>
              <a:rPr lang="ru-RU" dirty="0"/>
              <a:t> – согласование сессионного ключа</a:t>
            </a:r>
          </a:p>
          <a:p>
            <a:pPr marL="0" indent="0">
              <a:buNone/>
            </a:pPr>
            <a:r>
              <a:rPr lang="ru-RU" dirty="0"/>
              <a:t>Вторая </a:t>
            </a:r>
            <a:r>
              <a:rPr lang="ru-RU" dirty="0">
                <a:solidFill>
                  <a:srgbClr val="FF0000"/>
                </a:solidFill>
              </a:rPr>
              <a:t>фаза</a:t>
            </a:r>
            <a:r>
              <a:rPr lang="ru-RU" dirty="0"/>
              <a:t> – обмен сообщениями через защищенный канал</a:t>
            </a:r>
          </a:p>
        </p:txBody>
      </p:sp>
      <p:sp>
        <p:nvSpPr>
          <p:cNvPr id="4" name="Прямоугольник 3"/>
          <p:cNvSpPr/>
          <p:nvPr/>
        </p:nvSpPr>
        <p:spPr>
          <a:xfrm>
            <a:off x="2066193" y="4755662"/>
            <a:ext cx="1679330" cy="1556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Init</a:t>
            </a:r>
            <a:endParaRPr lang="ru-RU" dirty="0"/>
          </a:p>
        </p:txBody>
      </p:sp>
      <p:sp>
        <p:nvSpPr>
          <p:cNvPr id="5" name="Прямоугольник 4"/>
          <p:cNvSpPr/>
          <p:nvPr/>
        </p:nvSpPr>
        <p:spPr>
          <a:xfrm>
            <a:off x="7388470" y="4755662"/>
            <a:ext cx="1679330" cy="1556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Rec</a:t>
            </a:r>
            <a:endParaRPr lang="ru-RU" dirty="0"/>
          </a:p>
        </p:txBody>
      </p:sp>
      <p:sp>
        <p:nvSpPr>
          <p:cNvPr id="6" name="Скругленный прямоугольник 5"/>
          <p:cNvSpPr/>
          <p:nvPr/>
        </p:nvSpPr>
        <p:spPr>
          <a:xfrm>
            <a:off x="3675185" y="4755662"/>
            <a:ext cx="3789484" cy="484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ru-RU" dirty="0"/>
          </a:p>
        </p:txBody>
      </p:sp>
      <p:cxnSp>
        <p:nvCxnSpPr>
          <p:cNvPr id="9" name="Прямая со стрелкой 8"/>
          <p:cNvCxnSpPr/>
          <p:nvPr/>
        </p:nvCxnSpPr>
        <p:spPr>
          <a:xfrm flipV="1">
            <a:off x="4255477" y="4897315"/>
            <a:ext cx="2787161"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p:nvPr/>
        </p:nvCxnSpPr>
        <p:spPr>
          <a:xfrm flipH="1" flipV="1">
            <a:off x="4255477" y="5059973"/>
            <a:ext cx="2787161" cy="17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Скругленный прямоугольник 15"/>
          <p:cNvSpPr/>
          <p:nvPr/>
        </p:nvSpPr>
        <p:spPr>
          <a:xfrm>
            <a:off x="3672255" y="5287228"/>
            <a:ext cx="3789484" cy="48455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ru-RU" dirty="0"/>
          </a:p>
        </p:txBody>
      </p:sp>
      <p:cxnSp>
        <p:nvCxnSpPr>
          <p:cNvPr id="17" name="Прямая со стрелкой 16"/>
          <p:cNvCxnSpPr/>
          <p:nvPr/>
        </p:nvCxnSpPr>
        <p:spPr>
          <a:xfrm flipV="1">
            <a:off x="4252547" y="5428881"/>
            <a:ext cx="2787161"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flipH="1" flipV="1">
            <a:off x="4252547" y="5591539"/>
            <a:ext cx="2787161" cy="17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Скругленный прямоугольник 18"/>
          <p:cNvSpPr/>
          <p:nvPr/>
        </p:nvSpPr>
        <p:spPr>
          <a:xfrm>
            <a:off x="3672255" y="5835100"/>
            <a:ext cx="3789484" cy="484553"/>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ru-RU" dirty="0"/>
          </a:p>
        </p:txBody>
      </p:sp>
      <p:cxnSp>
        <p:nvCxnSpPr>
          <p:cNvPr id="20" name="Прямая со стрелкой 19"/>
          <p:cNvCxnSpPr/>
          <p:nvPr/>
        </p:nvCxnSpPr>
        <p:spPr>
          <a:xfrm flipV="1">
            <a:off x="4252547" y="5976753"/>
            <a:ext cx="2787161"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p:cNvCxnSpPr/>
          <p:nvPr/>
        </p:nvCxnSpPr>
        <p:spPr>
          <a:xfrm flipH="1" flipV="1">
            <a:off x="4252547" y="6139411"/>
            <a:ext cx="2787161" cy="17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Номер слайда 6"/>
          <p:cNvSpPr>
            <a:spLocks noGrp="1"/>
          </p:cNvSpPr>
          <p:nvPr>
            <p:ph type="sldNum" sz="quarter" idx="12"/>
          </p:nvPr>
        </p:nvSpPr>
        <p:spPr/>
        <p:txBody>
          <a:bodyPr/>
          <a:lstStyle/>
          <a:p>
            <a:fld id="{AC4B6EA2-3DAB-415A-81B1-2E2A41D203B5}" type="slidenum">
              <a:rPr lang="ru-RU" smtClean="0"/>
              <a:t>3</a:t>
            </a:fld>
            <a:endParaRPr lang="ru-RU" dirty="0"/>
          </a:p>
        </p:txBody>
      </p:sp>
    </p:spTree>
    <p:extLst>
      <p:ext uri="{BB962C8B-B14F-4D97-AF65-F5344CB8AC3E}">
        <p14:creationId xmlns:p14="http://schemas.microsoft.com/office/powerpoint/2010/main" val="4286763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Защищенный канал связи</a:t>
            </a:r>
          </a:p>
        </p:txBody>
      </p:sp>
      <p:sp>
        <p:nvSpPr>
          <p:cNvPr id="3" name="Объект 2"/>
          <p:cNvSpPr>
            <a:spLocks noGrp="1"/>
          </p:cNvSpPr>
          <p:nvPr>
            <p:ph idx="1"/>
          </p:nvPr>
        </p:nvSpPr>
        <p:spPr>
          <a:xfrm>
            <a:off x="838200" y="1554589"/>
            <a:ext cx="10515600" cy="4351338"/>
          </a:xfrm>
        </p:spPr>
        <p:txBody>
          <a:bodyPr/>
          <a:lstStyle/>
          <a:p>
            <a:pPr marL="0" indent="0">
              <a:buNone/>
            </a:pPr>
            <a:r>
              <a:rPr lang="ru-RU" dirty="0"/>
              <a:t>Нулевая </a:t>
            </a:r>
            <a:r>
              <a:rPr lang="ru-RU" dirty="0">
                <a:solidFill>
                  <a:schemeClr val="tx1">
                    <a:lumMod val="50000"/>
                    <a:lumOff val="50000"/>
                  </a:schemeClr>
                </a:solidFill>
              </a:rPr>
              <a:t>фаза</a:t>
            </a:r>
            <a:r>
              <a:rPr lang="ru-RU" dirty="0"/>
              <a:t> может отсутствовать, если параметры заранее известны сторонам. Результат – согласованные параметры на обоих сторонах. </a:t>
            </a:r>
            <a:endParaRPr lang="en-US" dirty="0"/>
          </a:p>
          <a:p>
            <a:pPr marL="0" indent="0">
              <a:buNone/>
            </a:pPr>
            <a:r>
              <a:rPr lang="ru-RU" dirty="0"/>
              <a:t>Цель первой </a:t>
            </a:r>
            <a:r>
              <a:rPr lang="ru-RU" dirty="0">
                <a:solidFill>
                  <a:srgbClr val="FFC000"/>
                </a:solidFill>
              </a:rPr>
              <a:t>фазы </a:t>
            </a:r>
            <a:r>
              <a:rPr lang="ru-RU" dirty="0"/>
              <a:t>выработка общего симметричного ключа, как правило асимметричным способом из общего ключевого материала</a:t>
            </a:r>
            <a:r>
              <a:rPr lang="en-US" dirty="0"/>
              <a:t> (</a:t>
            </a:r>
            <a:r>
              <a:rPr lang="ru-RU" dirty="0"/>
              <a:t>согласование ключа, </a:t>
            </a:r>
            <a:r>
              <a:rPr lang="en-US" dirty="0"/>
              <a:t>Key establishment</a:t>
            </a:r>
            <a:r>
              <a:rPr lang="ru-RU" dirty="0"/>
              <a:t>). </a:t>
            </a:r>
          </a:p>
          <a:p>
            <a:pPr marL="0" indent="0">
              <a:buNone/>
            </a:pPr>
            <a:r>
              <a:rPr lang="ru-RU" dirty="0"/>
              <a:t>Третья </a:t>
            </a:r>
            <a:r>
              <a:rPr lang="ru-RU" dirty="0">
                <a:solidFill>
                  <a:srgbClr val="FF0000"/>
                </a:solidFill>
              </a:rPr>
              <a:t>фаза</a:t>
            </a:r>
            <a:r>
              <a:rPr lang="ru-RU" dirty="0"/>
              <a:t> как правило осуществляется с помощью симметричной криптографии (</a:t>
            </a:r>
            <a:r>
              <a:rPr lang="en-US" dirty="0"/>
              <a:t>AEAD)</a:t>
            </a:r>
            <a:r>
              <a:rPr lang="ru-RU" dirty="0"/>
              <a:t>.</a:t>
            </a:r>
          </a:p>
        </p:txBody>
      </p:sp>
      <p:sp>
        <p:nvSpPr>
          <p:cNvPr id="4" name="Прямоугольник 3"/>
          <p:cNvSpPr/>
          <p:nvPr/>
        </p:nvSpPr>
        <p:spPr>
          <a:xfrm>
            <a:off x="2127739" y="5127808"/>
            <a:ext cx="1679330" cy="1556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Init</a:t>
            </a:r>
            <a:endParaRPr lang="ru-RU" dirty="0"/>
          </a:p>
        </p:txBody>
      </p:sp>
      <p:sp>
        <p:nvSpPr>
          <p:cNvPr id="5" name="Прямоугольник 4"/>
          <p:cNvSpPr/>
          <p:nvPr/>
        </p:nvSpPr>
        <p:spPr>
          <a:xfrm>
            <a:off x="7450016" y="5127808"/>
            <a:ext cx="1679330" cy="1556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Rec</a:t>
            </a:r>
            <a:endParaRPr lang="ru-RU" dirty="0"/>
          </a:p>
        </p:txBody>
      </p:sp>
      <p:sp>
        <p:nvSpPr>
          <p:cNvPr id="6" name="Скругленный прямоугольник 5"/>
          <p:cNvSpPr/>
          <p:nvPr/>
        </p:nvSpPr>
        <p:spPr>
          <a:xfrm>
            <a:off x="3736731" y="5127808"/>
            <a:ext cx="3789484" cy="48455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ru-RU" dirty="0"/>
          </a:p>
        </p:txBody>
      </p:sp>
      <p:cxnSp>
        <p:nvCxnSpPr>
          <p:cNvPr id="9" name="Прямая со стрелкой 8"/>
          <p:cNvCxnSpPr/>
          <p:nvPr/>
        </p:nvCxnSpPr>
        <p:spPr>
          <a:xfrm flipV="1">
            <a:off x="4317023" y="5269461"/>
            <a:ext cx="2787161"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p:nvPr/>
        </p:nvCxnSpPr>
        <p:spPr>
          <a:xfrm flipH="1" flipV="1">
            <a:off x="4317023" y="5432119"/>
            <a:ext cx="2787161" cy="17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Скругленный прямоугольник 15"/>
          <p:cNvSpPr/>
          <p:nvPr/>
        </p:nvSpPr>
        <p:spPr>
          <a:xfrm>
            <a:off x="3733801" y="5659374"/>
            <a:ext cx="3789484" cy="48455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ru-RU" dirty="0"/>
          </a:p>
        </p:txBody>
      </p:sp>
      <p:cxnSp>
        <p:nvCxnSpPr>
          <p:cNvPr id="17" name="Прямая со стрелкой 16"/>
          <p:cNvCxnSpPr/>
          <p:nvPr/>
        </p:nvCxnSpPr>
        <p:spPr>
          <a:xfrm flipV="1">
            <a:off x="4314093" y="5801027"/>
            <a:ext cx="2787161"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flipH="1" flipV="1">
            <a:off x="4314093" y="5963685"/>
            <a:ext cx="2787161" cy="17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Скругленный прямоугольник 18"/>
          <p:cNvSpPr/>
          <p:nvPr/>
        </p:nvSpPr>
        <p:spPr>
          <a:xfrm>
            <a:off x="3733801" y="6207246"/>
            <a:ext cx="3789484" cy="484553"/>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ru-RU" dirty="0"/>
          </a:p>
        </p:txBody>
      </p:sp>
      <p:cxnSp>
        <p:nvCxnSpPr>
          <p:cNvPr id="20" name="Прямая со стрелкой 19"/>
          <p:cNvCxnSpPr/>
          <p:nvPr/>
        </p:nvCxnSpPr>
        <p:spPr>
          <a:xfrm flipV="1">
            <a:off x="4314093" y="6348899"/>
            <a:ext cx="2787161"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p:cNvCxnSpPr/>
          <p:nvPr/>
        </p:nvCxnSpPr>
        <p:spPr>
          <a:xfrm flipH="1" flipV="1">
            <a:off x="4314093" y="6511557"/>
            <a:ext cx="2787161" cy="17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Скругленная соединительная линия 13"/>
          <p:cNvCxnSpPr>
            <a:stCxn id="6" idx="1"/>
            <a:endCxn id="16" idx="1"/>
          </p:cNvCxnSpPr>
          <p:nvPr/>
        </p:nvCxnSpPr>
        <p:spPr>
          <a:xfrm rot="10800000" flipV="1">
            <a:off x="3733801" y="5370085"/>
            <a:ext cx="2930" cy="531566"/>
          </a:xfrm>
          <a:prstGeom prst="curvedConnector3">
            <a:avLst>
              <a:gd name="adj1" fmla="val 7902048"/>
            </a:avLst>
          </a:prstGeom>
          <a:ln w="57150">
            <a:solidFill>
              <a:schemeClr val="accent4">
                <a:lumMod val="60000"/>
                <a:lumOff val="4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22" name="Скругленная соединительная линия 21"/>
          <p:cNvCxnSpPr>
            <a:stCxn id="16" idx="1"/>
            <a:endCxn id="19" idx="1"/>
          </p:cNvCxnSpPr>
          <p:nvPr/>
        </p:nvCxnSpPr>
        <p:spPr>
          <a:xfrm rot="10800000" flipV="1">
            <a:off x="3733801" y="5901651"/>
            <a:ext cx="12700" cy="547872"/>
          </a:xfrm>
          <a:prstGeom prst="curvedConnector3">
            <a:avLst>
              <a:gd name="adj1" fmla="val 1800000"/>
            </a:avLst>
          </a:prstGeom>
          <a:ln w="571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5" name="TextBox 24"/>
          <p:cNvSpPr txBox="1"/>
          <p:nvPr/>
        </p:nvSpPr>
        <p:spPr>
          <a:xfrm flipH="1">
            <a:off x="2851443" y="5115778"/>
            <a:ext cx="895058" cy="369332"/>
          </a:xfrm>
          <a:prstGeom prst="rect">
            <a:avLst/>
          </a:prstGeom>
          <a:noFill/>
        </p:spPr>
        <p:txBody>
          <a:bodyPr wrap="square" rtlCol="0">
            <a:spAutoFit/>
          </a:bodyPr>
          <a:lstStyle/>
          <a:p>
            <a:r>
              <a:rPr lang="en-US" dirty="0">
                <a:solidFill>
                  <a:srgbClr val="FFFF00"/>
                </a:solidFill>
              </a:rPr>
              <a:t>params</a:t>
            </a:r>
            <a:endParaRPr lang="ru-RU" dirty="0">
              <a:solidFill>
                <a:srgbClr val="FFFF00"/>
              </a:solidFill>
            </a:endParaRPr>
          </a:p>
        </p:txBody>
      </p:sp>
      <p:sp>
        <p:nvSpPr>
          <p:cNvPr id="26" name="TextBox 25"/>
          <p:cNvSpPr txBox="1"/>
          <p:nvPr/>
        </p:nvSpPr>
        <p:spPr>
          <a:xfrm flipH="1">
            <a:off x="3345475" y="6348899"/>
            <a:ext cx="258884" cy="369332"/>
          </a:xfrm>
          <a:prstGeom prst="rect">
            <a:avLst/>
          </a:prstGeom>
          <a:noFill/>
        </p:spPr>
        <p:txBody>
          <a:bodyPr wrap="square" rtlCol="0">
            <a:spAutoFit/>
          </a:bodyPr>
          <a:lstStyle/>
          <a:p>
            <a:r>
              <a:rPr lang="en-US" dirty="0">
                <a:solidFill>
                  <a:srgbClr val="FF0000"/>
                </a:solidFill>
              </a:rPr>
              <a:t>k</a:t>
            </a:r>
            <a:endParaRPr lang="ru-RU" dirty="0">
              <a:solidFill>
                <a:srgbClr val="FF0000"/>
              </a:solidFill>
            </a:endParaRPr>
          </a:p>
        </p:txBody>
      </p:sp>
      <p:cxnSp>
        <p:nvCxnSpPr>
          <p:cNvPr id="27" name="Скругленная соединительная линия 26"/>
          <p:cNvCxnSpPr>
            <a:stCxn id="6" idx="3"/>
            <a:endCxn id="16" idx="3"/>
          </p:cNvCxnSpPr>
          <p:nvPr/>
        </p:nvCxnSpPr>
        <p:spPr>
          <a:xfrm flipH="1">
            <a:off x="7523285" y="5370085"/>
            <a:ext cx="2930" cy="531566"/>
          </a:xfrm>
          <a:prstGeom prst="curvedConnector3">
            <a:avLst>
              <a:gd name="adj1" fmla="val -7802048"/>
            </a:avLst>
          </a:prstGeom>
          <a:ln w="57150">
            <a:solidFill>
              <a:schemeClr val="accent4">
                <a:lumMod val="60000"/>
                <a:lumOff val="40000"/>
              </a:schemeClr>
            </a:solidFill>
            <a:tailEnd type="triangle"/>
          </a:ln>
        </p:spPr>
        <p:style>
          <a:lnRef idx="1">
            <a:schemeClr val="accent2"/>
          </a:lnRef>
          <a:fillRef idx="0">
            <a:schemeClr val="accent2"/>
          </a:fillRef>
          <a:effectRef idx="0">
            <a:schemeClr val="accent2"/>
          </a:effectRef>
          <a:fontRef idx="minor">
            <a:schemeClr val="tx1"/>
          </a:fontRef>
        </p:style>
      </p:cxnSp>
      <p:cxnSp>
        <p:nvCxnSpPr>
          <p:cNvPr id="30" name="Скругленная соединительная линия 29"/>
          <p:cNvCxnSpPr>
            <a:stCxn id="16" idx="3"/>
            <a:endCxn id="19" idx="3"/>
          </p:cNvCxnSpPr>
          <p:nvPr/>
        </p:nvCxnSpPr>
        <p:spPr>
          <a:xfrm>
            <a:off x="7523285" y="5901651"/>
            <a:ext cx="12700" cy="547872"/>
          </a:xfrm>
          <a:prstGeom prst="curvedConnector3">
            <a:avLst>
              <a:gd name="adj1" fmla="val 1800000"/>
            </a:avLst>
          </a:prstGeom>
          <a:ln w="571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3" name="TextBox 32"/>
          <p:cNvSpPr txBox="1"/>
          <p:nvPr/>
        </p:nvSpPr>
        <p:spPr>
          <a:xfrm flipH="1">
            <a:off x="7523285" y="6378033"/>
            <a:ext cx="993531" cy="369332"/>
          </a:xfrm>
          <a:prstGeom prst="rect">
            <a:avLst/>
          </a:prstGeom>
          <a:noFill/>
        </p:spPr>
        <p:txBody>
          <a:bodyPr wrap="square" rtlCol="0">
            <a:spAutoFit/>
          </a:bodyPr>
          <a:lstStyle/>
          <a:p>
            <a:r>
              <a:rPr lang="en-US" dirty="0">
                <a:solidFill>
                  <a:srgbClr val="FF0000"/>
                </a:solidFill>
              </a:rPr>
              <a:t>k</a:t>
            </a:r>
            <a:endParaRPr lang="ru-RU" dirty="0">
              <a:solidFill>
                <a:srgbClr val="FF0000"/>
              </a:solidFill>
            </a:endParaRPr>
          </a:p>
        </p:txBody>
      </p:sp>
      <p:sp>
        <p:nvSpPr>
          <p:cNvPr id="34" name="TextBox 33"/>
          <p:cNvSpPr txBox="1"/>
          <p:nvPr/>
        </p:nvSpPr>
        <p:spPr>
          <a:xfrm flipH="1">
            <a:off x="7450016" y="5072242"/>
            <a:ext cx="895058" cy="369332"/>
          </a:xfrm>
          <a:prstGeom prst="rect">
            <a:avLst/>
          </a:prstGeom>
          <a:noFill/>
        </p:spPr>
        <p:txBody>
          <a:bodyPr wrap="square" rtlCol="0">
            <a:spAutoFit/>
          </a:bodyPr>
          <a:lstStyle/>
          <a:p>
            <a:r>
              <a:rPr lang="en-US" dirty="0">
                <a:solidFill>
                  <a:srgbClr val="FFFF00"/>
                </a:solidFill>
              </a:rPr>
              <a:t>params</a:t>
            </a:r>
            <a:endParaRPr lang="ru-RU" dirty="0">
              <a:solidFill>
                <a:srgbClr val="FFFF00"/>
              </a:solidFill>
            </a:endParaRPr>
          </a:p>
        </p:txBody>
      </p:sp>
      <p:sp>
        <p:nvSpPr>
          <p:cNvPr id="7" name="Номер слайда 6"/>
          <p:cNvSpPr>
            <a:spLocks noGrp="1"/>
          </p:cNvSpPr>
          <p:nvPr>
            <p:ph type="sldNum" sz="quarter" idx="12"/>
          </p:nvPr>
        </p:nvSpPr>
        <p:spPr/>
        <p:txBody>
          <a:bodyPr/>
          <a:lstStyle/>
          <a:p>
            <a:fld id="{AC4B6EA2-3DAB-415A-81B1-2E2A41D203B5}" type="slidenum">
              <a:rPr lang="ru-RU" smtClean="0"/>
              <a:t>4</a:t>
            </a:fld>
            <a:endParaRPr lang="ru-RU" dirty="0"/>
          </a:p>
        </p:txBody>
      </p:sp>
    </p:spTree>
    <p:extLst>
      <p:ext uri="{BB962C8B-B14F-4D97-AF65-F5344CB8AC3E}">
        <p14:creationId xmlns:p14="http://schemas.microsoft.com/office/powerpoint/2010/main" val="3176618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Аутентификация в каналах связи</a:t>
            </a:r>
          </a:p>
        </p:txBody>
      </p:sp>
      <p:sp>
        <p:nvSpPr>
          <p:cNvPr id="3" name="Объект 2"/>
          <p:cNvSpPr>
            <a:spLocks noGrp="1"/>
          </p:cNvSpPr>
          <p:nvPr>
            <p:ph idx="1"/>
          </p:nvPr>
        </p:nvSpPr>
        <p:spPr/>
        <p:txBody>
          <a:bodyPr/>
          <a:lstStyle/>
          <a:p>
            <a:pPr marL="0" indent="0">
              <a:buNone/>
            </a:pPr>
            <a:r>
              <a:rPr lang="ru-RU" dirty="0"/>
              <a:t>Очевидно, что для построения защищенного канала связи необходимо построение отношения доверия между сторонами (иначе стороны не будут знать, с кем они общаются).</a:t>
            </a:r>
          </a:p>
          <a:p>
            <a:pPr marL="0" indent="0">
              <a:buNone/>
            </a:pPr>
            <a:r>
              <a:rPr lang="ru-RU" dirty="0"/>
              <a:t>Отношение доверия бывает односторонним и двухсторонним.</a:t>
            </a:r>
          </a:p>
          <a:p>
            <a:pPr marL="0" indent="0">
              <a:buNone/>
            </a:pPr>
            <a:r>
              <a:rPr lang="ru-RU" dirty="0"/>
              <a:t>Одностороннее отношение доверия аутентифицирует только получателя.</a:t>
            </a:r>
          </a:p>
          <a:p>
            <a:pPr marL="0" indent="0">
              <a:buNone/>
            </a:pPr>
            <a:r>
              <a:rPr lang="ru-RU" dirty="0"/>
              <a:t>Двухстороннее отношение доверия аутентифицирует и получателя и отправителя.</a:t>
            </a:r>
          </a:p>
        </p:txBody>
      </p:sp>
      <p:sp>
        <p:nvSpPr>
          <p:cNvPr id="4" name="Номер слайда 3"/>
          <p:cNvSpPr>
            <a:spLocks noGrp="1"/>
          </p:cNvSpPr>
          <p:nvPr>
            <p:ph type="sldNum" sz="quarter" idx="12"/>
          </p:nvPr>
        </p:nvSpPr>
        <p:spPr/>
        <p:txBody>
          <a:bodyPr/>
          <a:lstStyle/>
          <a:p>
            <a:fld id="{AC4B6EA2-3DAB-415A-81B1-2E2A41D203B5}" type="slidenum">
              <a:rPr lang="ru-RU" smtClean="0"/>
              <a:t>5</a:t>
            </a:fld>
            <a:endParaRPr lang="ru-RU" dirty="0"/>
          </a:p>
        </p:txBody>
      </p:sp>
    </p:spTree>
    <p:extLst>
      <p:ext uri="{BB962C8B-B14F-4D97-AF65-F5344CB8AC3E}">
        <p14:creationId xmlns:p14="http://schemas.microsoft.com/office/powerpoint/2010/main" val="1768344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Аутентификация в каналах связи</a:t>
            </a:r>
          </a:p>
        </p:txBody>
      </p:sp>
      <p:sp>
        <p:nvSpPr>
          <p:cNvPr id="3" name="Объект 2"/>
          <p:cNvSpPr>
            <a:spLocks noGrp="1"/>
          </p:cNvSpPr>
          <p:nvPr>
            <p:ph idx="1"/>
          </p:nvPr>
        </p:nvSpPr>
        <p:spPr/>
        <p:txBody>
          <a:bodyPr/>
          <a:lstStyle/>
          <a:p>
            <a:pPr marL="0" indent="0">
              <a:buNone/>
            </a:pPr>
            <a:r>
              <a:rPr lang="ru-RU" dirty="0"/>
              <a:t>Криптографическая аутентификация должна производится на основе знания некоторого секрета, неизвестного противнику.</a:t>
            </a:r>
          </a:p>
          <a:p>
            <a:r>
              <a:rPr lang="ru-RU" dirty="0"/>
              <a:t>Аутентифицируемая сторона должна иметь некоторый долгоживущий </a:t>
            </a:r>
            <a:r>
              <a:rPr lang="ru-RU" dirty="0">
                <a:solidFill>
                  <a:srgbClr val="FF0000"/>
                </a:solidFill>
              </a:rPr>
              <a:t>секрет</a:t>
            </a:r>
          </a:p>
          <a:p>
            <a:r>
              <a:rPr lang="ru-RU" dirty="0"/>
              <a:t>Аутентифицирующая сторона должна иметь возможность </a:t>
            </a:r>
            <a:r>
              <a:rPr lang="ru-RU" dirty="0">
                <a:solidFill>
                  <a:srgbClr val="7030A0"/>
                </a:solidFill>
              </a:rPr>
              <a:t>проверить</a:t>
            </a:r>
            <a:r>
              <a:rPr lang="ru-RU" dirty="0"/>
              <a:t> владение секретом</a:t>
            </a:r>
          </a:p>
          <a:p>
            <a:r>
              <a:rPr lang="ru-RU" dirty="0"/>
              <a:t>Аутентифицирующая сторона должна иметь возможность сопоставить наличие секрета другой стороной с её </a:t>
            </a:r>
            <a:r>
              <a:rPr lang="ru-RU" dirty="0">
                <a:solidFill>
                  <a:srgbClr val="00B0F0"/>
                </a:solidFill>
              </a:rPr>
              <a:t>идентичностью</a:t>
            </a:r>
          </a:p>
        </p:txBody>
      </p:sp>
      <p:sp>
        <p:nvSpPr>
          <p:cNvPr id="4" name="Номер слайда 3"/>
          <p:cNvSpPr>
            <a:spLocks noGrp="1"/>
          </p:cNvSpPr>
          <p:nvPr>
            <p:ph type="sldNum" sz="quarter" idx="12"/>
          </p:nvPr>
        </p:nvSpPr>
        <p:spPr/>
        <p:txBody>
          <a:bodyPr/>
          <a:lstStyle/>
          <a:p>
            <a:fld id="{AC4B6EA2-3DAB-415A-81B1-2E2A41D203B5}" type="slidenum">
              <a:rPr lang="ru-RU" smtClean="0"/>
              <a:t>6</a:t>
            </a:fld>
            <a:endParaRPr lang="ru-RU" dirty="0"/>
          </a:p>
        </p:txBody>
      </p:sp>
    </p:spTree>
    <p:extLst>
      <p:ext uri="{BB962C8B-B14F-4D97-AF65-F5344CB8AC3E}">
        <p14:creationId xmlns:p14="http://schemas.microsoft.com/office/powerpoint/2010/main" val="3865041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Аутентификация с использованием асимметричной криптографии</a:t>
            </a:r>
          </a:p>
        </p:txBody>
      </p:sp>
      <p:sp>
        <p:nvSpPr>
          <p:cNvPr id="3" name="Объект 2"/>
          <p:cNvSpPr>
            <a:spLocks noGrp="1"/>
          </p:cNvSpPr>
          <p:nvPr>
            <p:ph idx="1"/>
          </p:nvPr>
        </p:nvSpPr>
        <p:spPr>
          <a:xfrm>
            <a:off x="838200" y="1825624"/>
            <a:ext cx="10515600" cy="4689475"/>
          </a:xfrm>
        </p:spPr>
        <p:txBody>
          <a:bodyPr>
            <a:normAutofit/>
          </a:bodyPr>
          <a:lstStyle/>
          <a:p>
            <a:r>
              <a:rPr lang="ru-RU" dirty="0"/>
              <a:t>Секрет – </a:t>
            </a:r>
            <a:r>
              <a:rPr lang="ru-RU" dirty="0">
                <a:solidFill>
                  <a:srgbClr val="FF0000"/>
                </a:solidFill>
              </a:rPr>
              <a:t>закрытый статический долговременный ключ</a:t>
            </a:r>
          </a:p>
          <a:p>
            <a:r>
              <a:rPr lang="ru-RU" dirty="0"/>
              <a:t>Проверка секрета – доказательство владения секретным ключом, </a:t>
            </a:r>
            <a:r>
              <a:rPr lang="ru-RU" dirty="0">
                <a:solidFill>
                  <a:srgbClr val="7030A0"/>
                </a:solidFill>
              </a:rPr>
              <a:t>путём его использования</a:t>
            </a:r>
          </a:p>
          <a:p>
            <a:r>
              <a:rPr lang="ru-RU" dirty="0"/>
              <a:t>Привязка идентичности к </a:t>
            </a:r>
            <a:r>
              <a:rPr lang="ru-RU" dirty="0">
                <a:solidFill>
                  <a:srgbClr val="00B0F0"/>
                </a:solidFill>
              </a:rPr>
              <a:t>открытому ключу</a:t>
            </a:r>
          </a:p>
          <a:p>
            <a:pPr marL="0" indent="0">
              <a:buNone/>
            </a:pPr>
            <a:endParaRPr lang="ru-RU" dirty="0"/>
          </a:p>
          <a:p>
            <a:pPr marL="0" indent="0">
              <a:buNone/>
            </a:pPr>
            <a:r>
              <a:rPr lang="ru-RU" dirty="0"/>
              <a:t>Возникает вопрос обмена открытыми ключами.</a:t>
            </a:r>
          </a:p>
          <a:p>
            <a:pPr marL="0" indent="0">
              <a:buNone/>
            </a:pPr>
            <a:r>
              <a:rPr lang="ru-RU" dirty="0"/>
              <a:t>Решения</a:t>
            </a:r>
            <a:r>
              <a:rPr lang="en-US" dirty="0"/>
              <a:t>:</a:t>
            </a:r>
          </a:p>
          <a:p>
            <a:r>
              <a:rPr lang="ru-RU" dirty="0"/>
              <a:t>Использование удостоверяющего центра</a:t>
            </a:r>
          </a:p>
          <a:p>
            <a:r>
              <a:rPr lang="ru-RU" dirty="0"/>
              <a:t>Прямой обмен ключами до протокольного взаимодействия</a:t>
            </a:r>
          </a:p>
        </p:txBody>
      </p:sp>
      <p:sp>
        <p:nvSpPr>
          <p:cNvPr id="4" name="Номер слайда 3"/>
          <p:cNvSpPr>
            <a:spLocks noGrp="1"/>
          </p:cNvSpPr>
          <p:nvPr>
            <p:ph type="sldNum" sz="quarter" idx="12"/>
          </p:nvPr>
        </p:nvSpPr>
        <p:spPr/>
        <p:txBody>
          <a:bodyPr/>
          <a:lstStyle/>
          <a:p>
            <a:fld id="{AC4B6EA2-3DAB-415A-81B1-2E2A41D203B5}" type="slidenum">
              <a:rPr lang="ru-RU" smtClean="0"/>
              <a:t>7</a:t>
            </a:fld>
            <a:endParaRPr lang="ru-RU" dirty="0"/>
          </a:p>
        </p:txBody>
      </p:sp>
    </p:spTree>
    <p:extLst>
      <p:ext uri="{BB962C8B-B14F-4D97-AF65-F5344CB8AC3E}">
        <p14:creationId xmlns:p14="http://schemas.microsoft.com/office/powerpoint/2010/main" val="168740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Некоторые требования к протоколам согласования ключей</a:t>
            </a:r>
          </a:p>
        </p:txBody>
      </p:sp>
      <p:sp>
        <p:nvSpPr>
          <p:cNvPr id="3" name="Объект 2"/>
          <p:cNvSpPr>
            <a:spLocks noGrp="1"/>
          </p:cNvSpPr>
          <p:nvPr>
            <p:ph idx="1"/>
          </p:nvPr>
        </p:nvSpPr>
        <p:spPr/>
        <p:txBody>
          <a:bodyPr>
            <a:normAutofit fontScale="92500" lnSpcReduction="20000"/>
          </a:bodyPr>
          <a:lstStyle/>
          <a:p>
            <a:r>
              <a:rPr lang="ru-RU" dirty="0"/>
              <a:t>Аутентичность сущности (</a:t>
            </a:r>
            <a:r>
              <a:rPr lang="en-US" dirty="0"/>
              <a:t>entity authentication) – </a:t>
            </a:r>
            <a:r>
              <a:rPr lang="ru-RU" dirty="0"/>
              <a:t>кто то действует от лица конкретной сущности в ходе протокола</a:t>
            </a:r>
          </a:p>
          <a:p>
            <a:r>
              <a:rPr lang="ru-RU" dirty="0"/>
              <a:t>Аутентичность источника (</a:t>
            </a:r>
            <a:r>
              <a:rPr lang="en-US" dirty="0"/>
              <a:t>data origin authentication)</a:t>
            </a:r>
            <a:r>
              <a:rPr lang="ru-RU" dirty="0"/>
              <a:t> – сообщения приходят от конкретного источника</a:t>
            </a:r>
          </a:p>
          <a:p>
            <a:r>
              <a:rPr lang="ru-RU" dirty="0"/>
              <a:t>(неявная) Аутентичность ключа (</a:t>
            </a:r>
            <a:r>
              <a:rPr lang="en-US" dirty="0"/>
              <a:t>implicit key authentication)</a:t>
            </a:r>
            <a:r>
              <a:rPr lang="ru-RU" dirty="0"/>
              <a:t> – никто, кроме определённой сущности не может получить секретный ключ</a:t>
            </a:r>
          </a:p>
          <a:p>
            <a:r>
              <a:rPr lang="ru-RU" dirty="0"/>
              <a:t>Подтверждение ключа (</a:t>
            </a:r>
            <a:r>
              <a:rPr lang="en-US" dirty="0"/>
              <a:t>key confirmation)</a:t>
            </a:r>
            <a:r>
              <a:rPr lang="ru-RU" dirty="0"/>
              <a:t> – возможность подтверждения какой-либо другой стороной факта владения выработанным секретным ключом</a:t>
            </a:r>
          </a:p>
          <a:p>
            <a:r>
              <a:rPr lang="ru-RU" dirty="0"/>
              <a:t>Явная аутентичность ключа (</a:t>
            </a:r>
            <a:r>
              <a:rPr lang="en-US" dirty="0"/>
              <a:t>explicit key authentication) </a:t>
            </a:r>
            <a:r>
              <a:rPr lang="ru-RU" dirty="0"/>
              <a:t>– возможность подтверждения конкретной другой стороной факта обладания выработанным секретным ключом (неявная аутентичность + подтверждение ключа)  </a:t>
            </a:r>
          </a:p>
        </p:txBody>
      </p:sp>
      <p:sp>
        <p:nvSpPr>
          <p:cNvPr id="4" name="Номер слайда 3"/>
          <p:cNvSpPr>
            <a:spLocks noGrp="1"/>
          </p:cNvSpPr>
          <p:nvPr>
            <p:ph type="sldNum" sz="quarter" idx="12"/>
          </p:nvPr>
        </p:nvSpPr>
        <p:spPr/>
        <p:txBody>
          <a:bodyPr/>
          <a:lstStyle/>
          <a:p>
            <a:fld id="{AC4B6EA2-3DAB-415A-81B1-2E2A41D203B5}" type="slidenum">
              <a:rPr lang="ru-RU" smtClean="0"/>
              <a:t>8</a:t>
            </a:fld>
            <a:endParaRPr lang="ru-RU" dirty="0"/>
          </a:p>
        </p:txBody>
      </p:sp>
    </p:spTree>
    <p:extLst>
      <p:ext uri="{BB962C8B-B14F-4D97-AF65-F5344CB8AC3E}">
        <p14:creationId xmlns:p14="http://schemas.microsoft.com/office/powerpoint/2010/main" val="4092781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Некоторые модели стойкости протоколов</a:t>
            </a:r>
          </a:p>
        </p:txBody>
      </p:sp>
      <p:sp>
        <p:nvSpPr>
          <p:cNvPr id="3" name="Объект 2"/>
          <p:cNvSpPr>
            <a:spLocks noGrp="1"/>
          </p:cNvSpPr>
          <p:nvPr>
            <p:ph idx="1"/>
          </p:nvPr>
        </p:nvSpPr>
        <p:spPr/>
        <p:txBody>
          <a:bodyPr>
            <a:normAutofit/>
          </a:bodyPr>
          <a:lstStyle/>
          <a:p>
            <a:r>
              <a:rPr lang="ru-RU" dirty="0"/>
              <a:t>Защита от чтения назад (</a:t>
            </a:r>
            <a:r>
              <a:rPr lang="en-US" dirty="0"/>
              <a:t>forward secrecy, </a:t>
            </a:r>
            <a:r>
              <a:rPr lang="ru-RU" dirty="0"/>
              <a:t>т.е. «дальнейшая стойкость») – компрометация </a:t>
            </a:r>
            <a:r>
              <a:rPr lang="ru-RU" b="1" dirty="0"/>
              <a:t>долговременных</a:t>
            </a:r>
            <a:r>
              <a:rPr lang="ru-RU" dirty="0"/>
              <a:t> ключей не приводит к компрометации прошлых </a:t>
            </a:r>
            <a:r>
              <a:rPr lang="ru-RU" b="1" dirty="0"/>
              <a:t>сессионных ключей</a:t>
            </a:r>
          </a:p>
          <a:p>
            <a:r>
              <a:rPr lang="ru-RU" dirty="0"/>
              <a:t>Защита от чтения вперёд (</a:t>
            </a:r>
            <a:r>
              <a:rPr lang="en-US" dirty="0"/>
              <a:t>future secrecy, </a:t>
            </a:r>
            <a:r>
              <a:rPr lang="ru-RU" dirty="0"/>
              <a:t>т.е. «будущая стойкость») – компрометация </a:t>
            </a:r>
            <a:r>
              <a:rPr lang="ru-RU" b="1" dirty="0"/>
              <a:t>сессионных ключей </a:t>
            </a:r>
            <a:r>
              <a:rPr lang="ru-RU" dirty="0"/>
              <a:t>не приводит к компрометации </a:t>
            </a:r>
            <a:r>
              <a:rPr lang="ru-RU" b="1" dirty="0"/>
              <a:t>будущих сессионных ключей</a:t>
            </a:r>
          </a:p>
        </p:txBody>
      </p:sp>
      <p:sp>
        <p:nvSpPr>
          <p:cNvPr id="4" name="Номер слайда 3"/>
          <p:cNvSpPr>
            <a:spLocks noGrp="1"/>
          </p:cNvSpPr>
          <p:nvPr>
            <p:ph type="sldNum" sz="quarter" idx="12"/>
          </p:nvPr>
        </p:nvSpPr>
        <p:spPr/>
        <p:txBody>
          <a:bodyPr/>
          <a:lstStyle/>
          <a:p>
            <a:fld id="{AC4B6EA2-3DAB-415A-81B1-2E2A41D203B5}" type="slidenum">
              <a:rPr lang="ru-RU" smtClean="0"/>
              <a:t>9</a:t>
            </a:fld>
            <a:endParaRPr lang="ru-RU" dirty="0"/>
          </a:p>
        </p:txBody>
      </p:sp>
    </p:spTree>
    <p:extLst>
      <p:ext uri="{BB962C8B-B14F-4D97-AF65-F5344CB8AC3E}">
        <p14:creationId xmlns:p14="http://schemas.microsoft.com/office/powerpoint/2010/main" val="3287984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pic>
        <p:nvPicPr>
          <p:cNvPr id="5" name="Объект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3062" y="2338935"/>
            <a:ext cx="2733675" cy="2733675"/>
          </a:xfrm>
        </p:spPr>
      </p:pic>
      <p:pic>
        <p:nvPicPr>
          <p:cNvPr id="4" name="Рисунок 3"/>
          <p:cNvPicPr>
            <a:picLocks noChangeAspect="1"/>
          </p:cNvPicPr>
          <p:nvPr/>
        </p:nvPicPr>
        <p:blipFill>
          <a:blip r:embed="rId3"/>
          <a:stretch>
            <a:fillRect/>
          </a:stretch>
        </p:blipFill>
        <p:spPr>
          <a:xfrm>
            <a:off x="5134150" y="2971799"/>
            <a:ext cx="5939030" cy="1467949"/>
          </a:xfrm>
          <a:prstGeom prst="rect">
            <a:avLst/>
          </a:prstGeom>
        </p:spPr>
      </p:pic>
      <p:sp>
        <p:nvSpPr>
          <p:cNvPr id="3" name="Номер слайда 2"/>
          <p:cNvSpPr>
            <a:spLocks noGrp="1"/>
          </p:cNvSpPr>
          <p:nvPr>
            <p:ph type="sldNum" sz="quarter" idx="12"/>
          </p:nvPr>
        </p:nvSpPr>
        <p:spPr/>
        <p:txBody>
          <a:bodyPr/>
          <a:lstStyle/>
          <a:p>
            <a:fld id="{AC4B6EA2-3DAB-415A-81B1-2E2A41D203B5}" type="slidenum">
              <a:rPr lang="ru-RU" smtClean="0"/>
              <a:t>10</a:t>
            </a:fld>
            <a:endParaRPr lang="ru-RU" dirty="0"/>
          </a:p>
        </p:txBody>
      </p:sp>
    </p:spTree>
    <p:extLst>
      <p:ext uri="{BB962C8B-B14F-4D97-AF65-F5344CB8AC3E}">
        <p14:creationId xmlns:p14="http://schemas.microsoft.com/office/powerpoint/2010/main" val="65023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TLS 1.3</a:t>
            </a:r>
            <a:endParaRPr lang="ru-RU" dirty="0"/>
          </a:p>
        </p:txBody>
      </p:sp>
      <p:sp>
        <p:nvSpPr>
          <p:cNvPr id="3" name="Объект 2"/>
          <p:cNvSpPr>
            <a:spLocks noGrp="1"/>
          </p:cNvSpPr>
          <p:nvPr>
            <p:ph idx="1"/>
          </p:nvPr>
        </p:nvSpPr>
        <p:spPr/>
        <p:txBody>
          <a:bodyPr/>
          <a:lstStyle/>
          <a:p>
            <a:pPr marL="0" indent="0">
              <a:buNone/>
            </a:pPr>
            <a:r>
              <a:rPr lang="en-US" b="1" dirty="0"/>
              <a:t>RFC 8446 </a:t>
            </a:r>
          </a:p>
          <a:p>
            <a:pPr marL="0" indent="0">
              <a:buNone/>
            </a:pPr>
            <a:r>
              <a:rPr lang="ru-RU" dirty="0"/>
              <a:t>Цели</a:t>
            </a:r>
          </a:p>
          <a:p>
            <a:r>
              <a:rPr lang="ru-RU" dirty="0"/>
              <a:t>Удаление </a:t>
            </a:r>
            <a:r>
              <a:rPr lang="en-US" dirty="0"/>
              <a:t>legacy</a:t>
            </a:r>
            <a:endParaRPr lang="ru-RU" dirty="0"/>
          </a:p>
          <a:p>
            <a:r>
              <a:rPr lang="ru-RU" dirty="0"/>
              <a:t>Увеличение производительности</a:t>
            </a:r>
          </a:p>
          <a:p>
            <a:r>
              <a:rPr lang="ru-RU" dirty="0"/>
              <a:t>Уменьшение набора возможных атак</a:t>
            </a:r>
          </a:p>
          <a:p>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11</a:t>
            </a:fld>
            <a:endParaRPr lang="ru-RU" dirty="0"/>
          </a:p>
        </p:txBody>
      </p:sp>
    </p:spTree>
    <p:extLst>
      <p:ext uri="{BB962C8B-B14F-4D97-AF65-F5344CB8AC3E}">
        <p14:creationId xmlns:p14="http://schemas.microsoft.com/office/powerpoint/2010/main" val="3771544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Согласование ключей в </a:t>
            </a:r>
            <a:r>
              <a:rPr lang="en-US" dirty="0"/>
              <a:t>TSL 1.3</a:t>
            </a:r>
            <a:endParaRPr lang="ru-RU" dirty="0"/>
          </a:p>
        </p:txBody>
      </p:sp>
      <p:sp>
        <p:nvSpPr>
          <p:cNvPr id="3" name="Объект 2"/>
          <p:cNvSpPr>
            <a:spLocks noGrp="1"/>
          </p:cNvSpPr>
          <p:nvPr>
            <p:ph idx="1"/>
          </p:nvPr>
        </p:nvSpPr>
        <p:spPr/>
        <p:txBody>
          <a:bodyPr/>
          <a:lstStyle/>
          <a:p>
            <a:r>
              <a:rPr lang="ru-RU" dirty="0"/>
              <a:t>Только эфемерный Диффи-Хеллман (удалили </a:t>
            </a:r>
            <a:r>
              <a:rPr lang="en-US" dirty="0"/>
              <a:t>RSA)</a:t>
            </a:r>
            <a:endParaRPr lang="ru-RU" dirty="0"/>
          </a:p>
          <a:p>
            <a:r>
              <a:rPr lang="ru-RU" dirty="0"/>
              <a:t>Только стойкий в настоящий момент набор параметров (определяющих группу).</a:t>
            </a:r>
          </a:p>
        </p:txBody>
      </p:sp>
      <p:sp>
        <p:nvSpPr>
          <p:cNvPr id="4" name="Номер слайда 3"/>
          <p:cNvSpPr>
            <a:spLocks noGrp="1"/>
          </p:cNvSpPr>
          <p:nvPr>
            <p:ph type="sldNum" sz="quarter" idx="12"/>
          </p:nvPr>
        </p:nvSpPr>
        <p:spPr/>
        <p:txBody>
          <a:bodyPr/>
          <a:lstStyle/>
          <a:p>
            <a:fld id="{AC4B6EA2-3DAB-415A-81B1-2E2A41D203B5}" type="slidenum">
              <a:rPr lang="ru-RU" smtClean="0"/>
              <a:t>12</a:t>
            </a:fld>
            <a:endParaRPr lang="ru-RU" dirty="0"/>
          </a:p>
        </p:txBody>
      </p:sp>
    </p:spTree>
    <p:extLst>
      <p:ext uri="{BB962C8B-B14F-4D97-AF65-F5344CB8AC3E}">
        <p14:creationId xmlns:p14="http://schemas.microsoft.com/office/powerpoint/2010/main" val="3712544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Аутентифицированное шифрование</a:t>
            </a:r>
          </a:p>
        </p:txBody>
      </p:sp>
      <p:sp>
        <p:nvSpPr>
          <p:cNvPr id="3" name="Объект 2"/>
          <p:cNvSpPr>
            <a:spLocks noGrp="1"/>
          </p:cNvSpPr>
          <p:nvPr>
            <p:ph idx="1"/>
          </p:nvPr>
        </p:nvSpPr>
        <p:spPr/>
        <p:txBody>
          <a:bodyPr/>
          <a:lstStyle/>
          <a:p>
            <a:r>
              <a:rPr lang="ru-RU" dirty="0"/>
              <a:t>Удаление проблемных и нестойких шифров (</a:t>
            </a:r>
            <a:r>
              <a:rPr lang="en-US" dirty="0"/>
              <a:t>CBC, RC4)</a:t>
            </a:r>
            <a:endParaRPr lang="ru-RU" dirty="0"/>
          </a:p>
          <a:p>
            <a:r>
              <a:rPr lang="ru-RU" dirty="0"/>
              <a:t>Разрешены только </a:t>
            </a:r>
            <a:r>
              <a:rPr lang="en-US" dirty="0"/>
              <a:t>AEAD </a:t>
            </a:r>
            <a:r>
              <a:rPr lang="ru-RU" dirty="0"/>
              <a:t>шифры</a:t>
            </a:r>
          </a:p>
        </p:txBody>
      </p:sp>
      <p:sp>
        <p:nvSpPr>
          <p:cNvPr id="4" name="Номер слайда 3"/>
          <p:cNvSpPr>
            <a:spLocks noGrp="1"/>
          </p:cNvSpPr>
          <p:nvPr>
            <p:ph type="sldNum" sz="quarter" idx="12"/>
          </p:nvPr>
        </p:nvSpPr>
        <p:spPr/>
        <p:txBody>
          <a:bodyPr/>
          <a:lstStyle/>
          <a:p>
            <a:fld id="{AC4B6EA2-3DAB-415A-81B1-2E2A41D203B5}" type="slidenum">
              <a:rPr lang="ru-RU" smtClean="0"/>
              <a:t>13</a:t>
            </a:fld>
            <a:endParaRPr lang="ru-RU" dirty="0"/>
          </a:p>
        </p:txBody>
      </p:sp>
    </p:spTree>
    <p:extLst>
      <p:ext uri="{BB962C8B-B14F-4D97-AF65-F5344CB8AC3E}">
        <p14:creationId xmlns:p14="http://schemas.microsoft.com/office/powerpoint/2010/main" val="1893600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TLS 1.2 vs TLS 1.3 handshake</a:t>
            </a: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1690688"/>
            <a:ext cx="4173305" cy="4762866"/>
          </a:xfrm>
        </p:spPr>
      </p:pic>
      <p:pic>
        <p:nvPicPr>
          <p:cNvPr id="5" name="Рисунок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2614" y="2790825"/>
            <a:ext cx="4574430" cy="1710837"/>
          </a:xfrm>
          <a:prstGeom prst="rect">
            <a:avLst/>
          </a:prstGeom>
        </p:spPr>
      </p:pic>
      <p:sp>
        <p:nvSpPr>
          <p:cNvPr id="3" name="Номер слайда 2"/>
          <p:cNvSpPr>
            <a:spLocks noGrp="1"/>
          </p:cNvSpPr>
          <p:nvPr>
            <p:ph type="sldNum" sz="quarter" idx="12"/>
          </p:nvPr>
        </p:nvSpPr>
        <p:spPr/>
        <p:txBody>
          <a:bodyPr/>
          <a:lstStyle/>
          <a:p>
            <a:fld id="{AC4B6EA2-3DAB-415A-81B1-2E2A41D203B5}" type="slidenum">
              <a:rPr lang="ru-RU" smtClean="0"/>
              <a:t>14</a:t>
            </a:fld>
            <a:endParaRPr lang="ru-RU" dirty="0"/>
          </a:p>
        </p:txBody>
      </p:sp>
    </p:spTree>
    <p:extLst>
      <p:ext uri="{BB962C8B-B14F-4D97-AF65-F5344CB8AC3E}">
        <p14:creationId xmlns:p14="http://schemas.microsoft.com/office/powerpoint/2010/main" val="1744338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Электронные подписи</a:t>
            </a:r>
          </a:p>
        </p:txBody>
      </p:sp>
      <p:sp>
        <p:nvSpPr>
          <p:cNvPr id="3" name="Объект 2"/>
          <p:cNvSpPr>
            <a:spLocks noGrp="1"/>
          </p:cNvSpPr>
          <p:nvPr>
            <p:ph idx="1"/>
          </p:nvPr>
        </p:nvSpPr>
        <p:spPr>
          <a:xfrm>
            <a:off x="838200" y="1825625"/>
            <a:ext cx="5263662" cy="4351338"/>
          </a:xfrm>
        </p:spPr>
        <p:txBody>
          <a:bodyPr/>
          <a:lstStyle/>
          <a:p>
            <a:r>
              <a:rPr lang="ru-RU" dirty="0"/>
              <a:t>Дополнение </a:t>
            </a:r>
            <a:r>
              <a:rPr lang="en-US" dirty="0"/>
              <a:t>RSA-PSS (</a:t>
            </a:r>
            <a:r>
              <a:rPr lang="ru-RU" dirty="0"/>
              <a:t>убрали </a:t>
            </a:r>
            <a:r>
              <a:rPr lang="en-US" dirty="0"/>
              <a:t>PKCS#1 1.5)</a:t>
            </a:r>
            <a:endParaRPr lang="ru-RU" dirty="0"/>
          </a:p>
          <a:p>
            <a:r>
              <a:rPr lang="ru-RU" dirty="0"/>
              <a:t>Сервер подписывает </a:t>
            </a:r>
            <a:r>
              <a:rPr lang="en-US" dirty="0"/>
              <a:t>handshake</a:t>
            </a:r>
            <a:r>
              <a:rPr lang="ru-RU" dirty="0"/>
              <a:t> (защищаясь от </a:t>
            </a:r>
            <a:r>
              <a:rPr lang="en-US" dirty="0"/>
              <a:t>downgrade attack</a:t>
            </a:r>
            <a:r>
              <a:rPr lang="ru-RU" dirty="0"/>
              <a:t>, когда </a:t>
            </a:r>
            <a:r>
              <a:rPr lang="en-US" dirty="0"/>
              <a:t>in-the-middle </a:t>
            </a:r>
            <a:r>
              <a:rPr lang="ru-RU" dirty="0"/>
              <a:t>противник навязывает сторонам нестойкие наборы)</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7469" y="1293223"/>
            <a:ext cx="4435719" cy="5177916"/>
          </a:xfrm>
          <a:prstGeom prst="rect">
            <a:avLst/>
          </a:prstGeom>
        </p:spPr>
      </p:pic>
      <p:sp>
        <p:nvSpPr>
          <p:cNvPr id="5" name="Номер слайда 4"/>
          <p:cNvSpPr>
            <a:spLocks noGrp="1"/>
          </p:cNvSpPr>
          <p:nvPr>
            <p:ph type="sldNum" sz="quarter" idx="12"/>
          </p:nvPr>
        </p:nvSpPr>
        <p:spPr/>
        <p:txBody>
          <a:bodyPr/>
          <a:lstStyle/>
          <a:p>
            <a:fld id="{AC4B6EA2-3DAB-415A-81B1-2E2A41D203B5}" type="slidenum">
              <a:rPr lang="ru-RU" smtClean="0"/>
              <a:t>15</a:t>
            </a:fld>
            <a:endParaRPr lang="ru-RU" dirty="0"/>
          </a:p>
        </p:txBody>
      </p:sp>
    </p:spTree>
    <p:extLst>
      <p:ext uri="{BB962C8B-B14F-4D97-AF65-F5344CB8AC3E}">
        <p14:creationId xmlns:p14="http://schemas.microsoft.com/office/powerpoint/2010/main" val="2589875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Наборы алгоритмов</a:t>
            </a:r>
          </a:p>
        </p:txBody>
      </p:sp>
      <p:sp>
        <p:nvSpPr>
          <p:cNvPr id="3" name="Объект 2"/>
          <p:cNvSpPr>
            <a:spLocks noGrp="1"/>
          </p:cNvSpPr>
          <p:nvPr>
            <p:ph idx="1"/>
          </p:nvPr>
        </p:nvSpPr>
        <p:spPr/>
        <p:txBody>
          <a:bodyPr/>
          <a:lstStyle/>
          <a:p>
            <a:pPr marL="0" indent="0">
              <a:buNone/>
            </a:pPr>
            <a:r>
              <a:rPr lang="ru-RU" dirty="0"/>
              <a:t>До версии 1.3 использовались наборы (</a:t>
            </a:r>
            <a:r>
              <a:rPr lang="en-US" dirty="0"/>
              <a:t>cipher-suit)</a:t>
            </a:r>
            <a:r>
              <a:rPr lang="ru-RU" dirty="0"/>
              <a:t> алгоритмов, определяющие используемые примитивы. Пример - </a:t>
            </a:r>
            <a:r>
              <a:rPr lang="en-US" dirty="0"/>
              <a:t>ECDHE-ECDSA-AES-GCM-SHA256</a:t>
            </a:r>
            <a:r>
              <a:rPr lang="ru-RU" dirty="0"/>
              <a:t>.</a:t>
            </a:r>
          </a:p>
          <a:p>
            <a:pPr marL="0" indent="0">
              <a:buNone/>
            </a:pPr>
            <a:r>
              <a:rPr lang="ru-RU" dirty="0"/>
              <a:t>Версия </a:t>
            </a:r>
            <a:r>
              <a:rPr lang="en-US" dirty="0"/>
              <a:t>1.3 </a:t>
            </a:r>
            <a:r>
              <a:rPr lang="ru-RU" dirty="0"/>
              <a:t>выделяет 3 независимых части названия</a:t>
            </a:r>
          </a:p>
          <a:p>
            <a:r>
              <a:rPr lang="ru-RU" dirty="0">
                <a:solidFill>
                  <a:srgbClr val="FF0000"/>
                </a:solidFill>
              </a:rPr>
              <a:t>Шифр + </a:t>
            </a:r>
            <a:r>
              <a:rPr lang="en-US" dirty="0">
                <a:solidFill>
                  <a:srgbClr val="FF0000"/>
                </a:solidFill>
              </a:rPr>
              <a:t>HKDF</a:t>
            </a:r>
            <a:endParaRPr lang="ru-RU" dirty="0">
              <a:solidFill>
                <a:srgbClr val="FF0000"/>
              </a:solidFill>
            </a:endParaRPr>
          </a:p>
          <a:p>
            <a:r>
              <a:rPr lang="ru-RU" dirty="0">
                <a:solidFill>
                  <a:srgbClr val="00B0F0"/>
                </a:solidFill>
              </a:rPr>
              <a:t>Протокол обмена ключами</a:t>
            </a:r>
          </a:p>
          <a:p>
            <a:r>
              <a:rPr lang="ru-RU" dirty="0">
                <a:solidFill>
                  <a:srgbClr val="00B050"/>
                </a:solidFill>
              </a:rPr>
              <a:t>Алгоритм подписи</a:t>
            </a:r>
          </a:p>
          <a:p>
            <a:pPr marL="0" indent="0">
              <a:buNone/>
            </a:pPr>
            <a:r>
              <a:rPr lang="ru-RU" dirty="0"/>
              <a:t>Пример – </a:t>
            </a:r>
            <a:r>
              <a:rPr lang="en-US" dirty="0">
                <a:solidFill>
                  <a:srgbClr val="FF0000"/>
                </a:solidFill>
              </a:rPr>
              <a:t>TLS_AES_128_GCM_SHA256</a:t>
            </a:r>
            <a:r>
              <a:rPr lang="en-US" dirty="0"/>
              <a:t>, </a:t>
            </a:r>
            <a:r>
              <a:rPr lang="en-US" dirty="0">
                <a:solidFill>
                  <a:srgbClr val="00B0F0"/>
                </a:solidFill>
              </a:rPr>
              <a:t>ECDHE</a:t>
            </a:r>
            <a:r>
              <a:rPr lang="en-US" dirty="0"/>
              <a:t>, </a:t>
            </a:r>
            <a:r>
              <a:rPr lang="en-US" dirty="0">
                <a:solidFill>
                  <a:srgbClr val="00B050"/>
                </a:solidFill>
              </a:rPr>
              <a:t>RSA_2048_SHA256</a:t>
            </a:r>
            <a:endParaRPr lang="ru-RU" dirty="0">
              <a:solidFill>
                <a:srgbClr val="00B050"/>
              </a:solidFill>
            </a:endParaRPr>
          </a:p>
        </p:txBody>
      </p:sp>
      <p:sp>
        <p:nvSpPr>
          <p:cNvPr id="4" name="Номер слайда 3"/>
          <p:cNvSpPr>
            <a:spLocks noGrp="1"/>
          </p:cNvSpPr>
          <p:nvPr>
            <p:ph type="sldNum" sz="quarter" idx="12"/>
          </p:nvPr>
        </p:nvSpPr>
        <p:spPr/>
        <p:txBody>
          <a:bodyPr/>
          <a:lstStyle/>
          <a:p>
            <a:fld id="{AC4B6EA2-3DAB-415A-81B1-2E2A41D203B5}" type="slidenum">
              <a:rPr lang="ru-RU" smtClean="0"/>
              <a:t>16</a:t>
            </a:fld>
            <a:endParaRPr lang="ru-RU" dirty="0"/>
          </a:p>
        </p:txBody>
      </p:sp>
    </p:spTree>
    <p:extLst>
      <p:ext uri="{BB962C8B-B14F-4D97-AF65-F5344CB8AC3E}">
        <p14:creationId xmlns:p14="http://schemas.microsoft.com/office/powerpoint/2010/main" val="1203665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TLS 1.3 vs 1.2 public key Handshake</a:t>
            </a:r>
            <a:endParaRPr lang="ru-RU" dirty="0"/>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6554" y="2763349"/>
            <a:ext cx="4723247" cy="4351338"/>
          </a:xfrm>
        </p:spPr>
      </p:pic>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8355" y="2822218"/>
            <a:ext cx="4595445" cy="4233599"/>
          </a:xfrm>
          <a:prstGeom prst="rect">
            <a:avLst/>
          </a:prstGeom>
        </p:spPr>
      </p:pic>
      <p:sp>
        <p:nvSpPr>
          <p:cNvPr id="7" name="Объект 2"/>
          <p:cNvSpPr txBox="1">
            <a:spLocks/>
          </p:cNvSpPr>
          <p:nvPr/>
        </p:nvSpPr>
        <p:spPr>
          <a:xfrm>
            <a:off x="838200" y="1825625"/>
            <a:ext cx="10515600" cy="117255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dirty="0"/>
              <a:t>В 1.3 клиент может сразу отправить свой открытый ключ, не дожидаясь ответа </a:t>
            </a:r>
            <a:r>
              <a:rPr lang="ru-RU"/>
              <a:t>от сервера </a:t>
            </a:r>
            <a:r>
              <a:rPr lang="ru-RU" dirty="0"/>
              <a:t>со списком поддерживаемых алгоритмов (1-</a:t>
            </a:r>
            <a:r>
              <a:rPr lang="en-US" dirty="0"/>
              <a:t>RTT)</a:t>
            </a:r>
            <a:r>
              <a:rPr lang="ru-RU" dirty="0"/>
              <a:t>.</a:t>
            </a:r>
            <a:endParaRPr lang="ru-RU" dirty="0">
              <a:solidFill>
                <a:srgbClr val="00B050"/>
              </a:solidFill>
            </a:endParaRPr>
          </a:p>
        </p:txBody>
      </p:sp>
      <p:sp>
        <p:nvSpPr>
          <p:cNvPr id="3" name="Номер слайда 2"/>
          <p:cNvSpPr>
            <a:spLocks noGrp="1"/>
          </p:cNvSpPr>
          <p:nvPr>
            <p:ph type="sldNum" sz="quarter" idx="12"/>
          </p:nvPr>
        </p:nvSpPr>
        <p:spPr/>
        <p:txBody>
          <a:bodyPr/>
          <a:lstStyle/>
          <a:p>
            <a:fld id="{AC4B6EA2-3DAB-415A-81B1-2E2A41D203B5}" type="slidenum">
              <a:rPr lang="ru-RU" smtClean="0"/>
              <a:t>17</a:t>
            </a:fld>
            <a:endParaRPr lang="ru-RU" dirty="0"/>
          </a:p>
        </p:txBody>
      </p:sp>
    </p:spTree>
    <p:extLst>
      <p:ext uri="{BB962C8B-B14F-4D97-AF65-F5344CB8AC3E}">
        <p14:creationId xmlns:p14="http://schemas.microsoft.com/office/powerpoint/2010/main" val="140744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TSL 1.3 </a:t>
            </a:r>
            <a:r>
              <a:rPr lang="ru-RU" dirty="0"/>
              <a:t>ссылки</a:t>
            </a:r>
          </a:p>
        </p:txBody>
      </p:sp>
      <p:sp>
        <p:nvSpPr>
          <p:cNvPr id="3" name="Объект 2"/>
          <p:cNvSpPr>
            <a:spLocks noGrp="1"/>
          </p:cNvSpPr>
          <p:nvPr>
            <p:ph idx="1"/>
          </p:nvPr>
        </p:nvSpPr>
        <p:spPr/>
        <p:txBody>
          <a:bodyPr/>
          <a:lstStyle/>
          <a:p>
            <a:r>
              <a:rPr lang="en-US" dirty="0">
                <a:hlinkClick r:id="rId2"/>
              </a:rPr>
              <a:t>https://tls13.ulfheim.net/</a:t>
            </a:r>
            <a:endParaRPr lang="ru-RU" dirty="0"/>
          </a:p>
          <a:p>
            <a:r>
              <a:rPr lang="en-US" dirty="0">
                <a:hlinkClick r:id="rId3"/>
              </a:rPr>
              <a:t>https://blog.cloudflare.com/rfc-8446-aka-tls-1-3/</a:t>
            </a:r>
            <a:endParaRPr lang="en-US" dirty="0"/>
          </a:p>
          <a:p>
            <a:r>
              <a:rPr lang="en-US" dirty="0">
                <a:hlinkClick r:id="rId4"/>
              </a:rPr>
              <a:t>https://davidwong.fr/tls13/</a:t>
            </a:r>
            <a:endParaRPr lang="en-US" dirty="0"/>
          </a:p>
          <a:p>
            <a:endParaRPr lang="en-US" dirty="0"/>
          </a:p>
          <a:p>
            <a:r>
              <a:rPr lang="ru-RU" dirty="0"/>
              <a:t>Отображение </a:t>
            </a:r>
            <a:r>
              <a:rPr lang="en-US" dirty="0"/>
              <a:t>suit’</a:t>
            </a:r>
            <a:r>
              <a:rPr lang="ru-RU" dirty="0"/>
              <a:t>ов браузера </a:t>
            </a:r>
            <a:r>
              <a:rPr lang="en-US" dirty="0">
                <a:hlinkClick r:id="rId5"/>
              </a:rPr>
              <a:t>https://clienttest.ssllabs.com:8443/ssltest/viewMyClient.html</a:t>
            </a:r>
            <a:endParaRPr lang="ru-RU" dirty="0"/>
          </a:p>
          <a:p>
            <a:r>
              <a:rPr lang="ru-RU" dirty="0"/>
              <a:t>Краткий разбор пакетов </a:t>
            </a:r>
            <a:r>
              <a:rPr lang="en-US" dirty="0"/>
              <a:t>1.2 </a:t>
            </a:r>
            <a:r>
              <a:rPr lang="en-US" dirty="0">
                <a:hlinkClick r:id="rId6"/>
              </a:rPr>
              <a:t>https://medium.com/@ethicalevil/tls-handshake-protocol-overview-a39e8eee2cf5</a:t>
            </a:r>
            <a:r>
              <a:rPr lang="en-US" dirty="0"/>
              <a:t> </a:t>
            </a:r>
          </a:p>
          <a:p>
            <a:endParaRPr lang="ru-RU" dirty="0"/>
          </a:p>
        </p:txBody>
      </p:sp>
      <p:sp>
        <p:nvSpPr>
          <p:cNvPr id="4" name="Номер слайда 3"/>
          <p:cNvSpPr>
            <a:spLocks noGrp="1"/>
          </p:cNvSpPr>
          <p:nvPr>
            <p:ph type="sldNum" sz="quarter" idx="12"/>
          </p:nvPr>
        </p:nvSpPr>
        <p:spPr/>
        <p:txBody>
          <a:bodyPr/>
          <a:lstStyle/>
          <a:p>
            <a:fld id="{8253DDDB-F8F7-4D64-A7FD-3F3D61C1949F}" type="slidenum">
              <a:rPr lang="ru-RU" smtClean="0"/>
              <a:t>18</a:t>
            </a:fld>
            <a:endParaRPr lang="ru-RU" dirty="0"/>
          </a:p>
        </p:txBody>
      </p:sp>
    </p:spTree>
    <p:extLst>
      <p:ext uri="{BB962C8B-B14F-4D97-AF65-F5344CB8AC3E}">
        <p14:creationId xmlns:p14="http://schemas.microsoft.com/office/powerpoint/2010/main" val="1702564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Noise</a:t>
            </a:r>
            <a:endParaRPr lang="ru-RU" dirty="0"/>
          </a:p>
        </p:txBody>
      </p:sp>
      <p:sp>
        <p:nvSpPr>
          <p:cNvPr id="3" name="Объект 2"/>
          <p:cNvSpPr>
            <a:spLocks noGrp="1"/>
          </p:cNvSpPr>
          <p:nvPr>
            <p:ph idx="1"/>
          </p:nvPr>
        </p:nvSpPr>
        <p:spPr/>
        <p:txBody>
          <a:bodyPr/>
          <a:lstStyle/>
          <a:p>
            <a:pPr marL="0" indent="0">
              <a:buNone/>
            </a:pPr>
            <a:r>
              <a:rPr lang="ru-RU" dirty="0"/>
              <a:t>Каркасная модель построения протоколов (</a:t>
            </a:r>
            <a:r>
              <a:rPr lang="en-US" dirty="0"/>
              <a:t>Protocol framework)</a:t>
            </a:r>
            <a:endParaRPr lang="ru-RU" dirty="0"/>
          </a:p>
          <a:p>
            <a:pPr marL="0" indent="0">
              <a:buNone/>
            </a:pPr>
            <a:endParaRPr lang="ru-RU" dirty="0"/>
          </a:p>
          <a:p>
            <a:pPr marL="0" indent="0">
              <a:buNone/>
            </a:pPr>
            <a:r>
              <a:rPr lang="ru-RU" dirty="0"/>
              <a:t>Основная идея – построения </a:t>
            </a:r>
            <a:r>
              <a:rPr lang="en-US" dirty="0"/>
              <a:t>tls</a:t>
            </a:r>
            <a:r>
              <a:rPr lang="ru-RU" dirty="0"/>
              <a:t>-образных протоколов с необходимым набором свойств.</a:t>
            </a:r>
          </a:p>
          <a:p>
            <a:pPr marL="0" indent="0">
              <a:buNone/>
            </a:pPr>
            <a:endParaRPr lang="ru-RU" dirty="0"/>
          </a:p>
          <a:p>
            <a:pPr marL="0" indent="0">
              <a:buNone/>
            </a:pPr>
            <a:r>
              <a:rPr lang="ru-RU" dirty="0"/>
              <a:t>Используемые примитивы – </a:t>
            </a:r>
            <a:r>
              <a:rPr lang="en-US" dirty="0"/>
              <a:t>ECDH 25519/448 (</a:t>
            </a:r>
            <a:r>
              <a:rPr lang="ru-RU" dirty="0"/>
              <a:t>Согласование ключей)</a:t>
            </a:r>
            <a:r>
              <a:rPr lang="en-US" dirty="0"/>
              <a:t>, SHA256/512</a:t>
            </a:r>
            <a:r>
              <a:rPr lang="ru-RU" dirty="0"/>
              <a:t> </a:t>
            </a:r>
            <a:r>
              <a:rPr lang="en-US" dirty="0"/>
              <a:t>/ BLAKE2b/BLAKE2s (hash, </a:t>
            </a:r>
            <a:r>
              <a:rPr lang="ru-RU" dirty="0"/>
              <a:t>построение </a:t>
            </a:r>
            <a:r>
              <a:rPr lang="en-US" dirty="0"/>
              <a:t>PRF </a:t>
            </a:r>
            <a:r>
              <a:rPr lang="ru-RU" dirty="0"/>
              <a:t>в </a:t>
            </a:r>
            <a:r>
              <a:rPr lang="en-US" dirty="0"/>
              <a:t>HKDF</a:t>
            </a:r>
            <a:r>
              <a:rPr lang="ru-RU" dirty="0"/>
              <a:t>),</a:t>
            </a:r>
            <a:r>
              <a:rPr lang="en-US" dirty="0"/>
              <a:t> AES-GCM/ChaChaPoly (AEAD).</a:t>
            </a:r>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19</a:t>
            </a:fld>
            <a:endParaRPr lang="ru-RU" dirty="0"/>
          </a:p>
        </p:txBody>
      </p:sp>
    </p:spTree>
    <p:extLst>
      <p:ext uri="{BB962C8B-B14F-4D97-AF65-F5344CB8AC3E}">
        <p14:creationId xmlns:p14="http://schemas.microsoft.com/office/powerpoint/2010/main" val="3942615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Протоколы </a:t>
            </a:r>
            <a:r>
              <a:rPr lang="en-US" dirty="0"/>
              <a:t>Noise</a:t>
            </a:r>
            <a:endParaRPr lang="ru-RU" dirty="0"/>
          </a:p>
        </p:txBody>
      </p:sp>
      <p:sp>
        <p:nvSpPr>
          <p:cNvPr id="3" name="Объект 2"/>
          <p:cNvSpPr>
            <a:spLocks noGrp="1"/>
          </p:cNvSpPr>
          <p:nvPr>
            <p:ph idx="1"/>
          </p:nvPr>
        </p:nvSpPr>
        <p:spPr/>
        <p:txBody>
          <a:bodyPr/>
          <a:lstStyle/>
          <a:p>
            <a:pPr marL="0" indent="0">
              <a:buNone/>
            </a:pPr>
            <a:r>
              <a:rPr lang="ru-RU" dirty="0"/>
              <a:t>2 основных этапа – согласование ключа и использование ключа в защищенном канале связи</a:t>
            </a:r>
          </a:p>
          <a:p>
            <a:pPr marL="0" indent="0">
              <a:buNone/>
            </a:pPr>
            <a:endParaRPr lang="ru-RU" dirty="0"/>
          </a:p>
          <a:p>
            <a:pPr marL="0" indent="0">
              <a:buNone/>
            </a:pPr>
            <a:r>
              <a:rPr lang="ru-RU" dirty="0"/>
              <a:t>Согласование ключа – Диффи-Хеллман + </a:t>
            </a:r>
            <a:r>
              <a:rPr lang="en-US" dirty="0"/>
              <a:t>HKDF</a:t>
            </a:r>
            <a:endParaRPr lang="ru-RU" dirty="0"/>
          </a:p>
          <a:p>
            <a:pPr marL="0" indent="0">
              <a:buNone/>
            </a:pPr>
            <a:endParaRPr lang="ru-RU" dirty="0"/>
          </a:p>
          <a:p>
            <a:pPr marL="0" indent="0">
              <a:buNone/>
            </a:pPr>
            <a:r>
              <a:rPr lang="ru-RU" dirty="0"/>
              <a:t>Защищенный канал – </a:t>
            </a:r>
            <a:r>
              <a:rPr lang="en-US" dirty="0"/>
              <a:t>AEAD </a:t>
            </a:r>
            <a:r>
              <a:rPr lang="ru-RU" dirty="0"/>
              <a:t>шифрование</a:t>
            </a:r>
          </a:p>
          <a:p>
            <a:pPr marL="0" indent="0">
              <a:buNone/>
            </a:pPr>
            <a:endParaRPr lang="ru-RU" dirty="0"/>
          </a:p>
          <a:p>
            <a:pPr marL="0" indent="0">
              <a:buNone/>
            </a:pPr>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20</a:t>
            </a:fld>
            <a:endParaRPr lang="ru-RU" dirty="0"/>
          </a:p>
        </p:txBody>
      </p:sp>
    </p:spTree>
    <p:extLst>
      <p:ext uri="{BB962C8B-B14F-4D97-AF65-F5344CB8AC3E}">
        <p14:creationId xmlns:p14="http://schemas.microsoft.com/office/powerpoint/2010/main" val="1498532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Протоколы </a:t>
            </a:r>
            <a:r>
              <a:rPr lang="en-US" dirty="0"/>
              <a:t>Noise</a:t>
            </a:r>
            <a:endParaRPr lang="ru-RU" dirty="0"/>
          </a:p>
        </p:txBody>
      </p:sp>
      <p:sp>
        <p:nvSpPr>
          <p:cNvPr id="3" name="Объект 2"/>
          <p:cNvSpPr>
            <a:spLocks noGrp="1"/>
          </p:cNvSpPr>
          <p:nvPr>
            <p:ph idx="1"/>
          </p:nvPr>
        </p:nvSpPr>
        <p:spPr/>
        <p:txBody>
          <a:bodyPr/>
          <a:lstStyle/>
          <a:p>
            <a:r>
              <a:rPr lang="ru-RU" dirty="0"/>
              <a:t>Каждый протокол состоит из шаблонов</a:t>
            </a:r>
          </a:p>
          <a:p>
            <a:r>
              <a:rPr lang="ru-RU" dirty="0"/>
              <a:t>шаблон описываем передаваемые сообщения в виде одного или нескольких токенов</a:t>
            </a:r>
          </a:p>
          <a:p>
            <a:r>
              <a:rPr lang="ru-RU" dirty="0"/>
              <a:t>Каждая сторона протокола обрабатывает последовательность токенов. Сначала постностью происходит обработка на передающей стороне.</a:t>
            </a:r>
            <a:r>
              <a:rPr lang="en-US" dirty="0"/>
              <a:t> </a:t>
            </a:r>
          </a:p>
          <a:p>
            <a:r>
              <a:rPr lang="ru-RU" dirty="0"/>
              <a:t>После каждого обработки каждой строки в паттерне отправителем может быть передано сообщение, для защиты которого используется текущий симметричный ключ, при его наличии</a:t>
            </a:r>
          </a:p>
        </p:txBody>
      </p:sp>
      <p:sp>
        <p:nvSpPr>
          <p:cNvPr id="4" name="Номер слайда 3"/>
          <p:cNvSpPr>
            <a:spLocks noGrp="1"/>
          </p:cNvSpPr>
          <p:nvPr>
            <p:ph type="sldNum" sz="quarter" idx="12"/>
          </p:nvPr>
        </p:nvSpPr>
        <p:spPr/>
        <p:txBody>
          <a:bodyPr/>
          <a:lstStyle/>
          <a:p>
            <a:fld id="{AC4B6EA2-3DAB-415A-81B1-2E2A41D203B5}" type="slidenum">
              <a:rPr lang="ru-RU" smtClean="0"/>
              <a:t>21</a:t>
            </a:fld>
            <a:endParaRPr lang="ru-RU" dirty="0"/>
          </a:p>
        </p:txBody>
      </p:sp>
    </p:spTree>
    <p:extLst>
      <p:ext uri="{BB962C8B-B14F-4D97-AF65-F5344CB8AC3E}">
        <p14:creationId xmlns:p14="http://schemas.microsoft.com/office/powerpoint/2010/main" val="3571717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Токены </a:t>
            </a:r>
            <a:r>
              <a:rPr lang="en-US" dirty="0"/>
              <a:t>Noise</a:t>
            </a:r>
            <a:endParaRPr lang="ru-RU" dirty="0"/>
          </a:p>
        </p:txBody>
      </p:sp>
      <p:sp>
        <p:nvSpPr>
          <p:cNvPr id="3" name="Объект 2"/>
          <p:cNvSpPr>
            <a:spLocks noGrp="1"/>
          </p:cNvSpPr>
          <p:nvPr>
            <p:ph idx="1"/>
          </p:nvPr>
        </p:nvSpPr>
        <p:spPr/>
        <p:txBody>
          <a:bodyPr>
            <a:normAutofit fontScale="85000" lnSpcReduction="20000"/>
          </a:bodyPr>
          <a:lstStyle/>
          <a:p>
            <a:r>
              <a:rPr lang="es-ES" dirty="0"/>
              <a:t>"e" –</a:t>
            </a:r>
            <a:r>
              <a:rPr lang="ru-RU" dirty="0"/>
              <a:t> сгенерировать и передать эфемерный ключ Диффи-Хеллмана </a:t>
            </a:r>
            <a:r>
              <a:rPr lang="en-US" dirty="0"/>
              <a:t>/ </a:t>
            </a:r>
            <a:r>
              <a:rPr lang="ru-RU" dirty="0"/>
              <a:t>получить эфемерный ключ Диффи-Хеллмана</a:t>
            </a:r>
            <a:endParaRPr lang="es-ES" dirty="0"/>
          </a:p>
          <a:p>
            <a:r>
              <a:rPr lang="es-ES" dirty="0"/>
              <a:t>"s"</a:t>
            </a:r>
            <a:r>
              <a:rPr lang="ru-RU" dirty="0"/>
              <a:t> – передать статический </a:t>
            </a:r>
            <a:r>
              <a:rPr lang="es-ES" dirty="0"/>
              <a:t> </a:t>
            </a:r>
            <a:r>
              <a:rPr lang="ru-RU" dirty="0"/>
              <a:t>ключ Диффи-Хеллмана </a:t>
            </a:r>
            <a:r>
              <a:rPr lang="en-US" dirty="0"/>
              <a:t>/ </a:t>
            </a:r>
            <a:r>
              <a:rPr lang="ru-RU" dirty="0"/>
              <a:t>получить эфемерный ключ Диффи-Хеллмана</a:t>
            </a:r>
            <a:endParaRPr lang="es-ES" dirty="0"/>
          </a:p>
          <a:p>
            <a:r>
              <a:rPr lang="es-ES" dirty="0"/>
              <a:t>"ee"</a:t>
            </a:r>
            <a:r>
              <a:rPr lang="ru-RU" dirty="0"/>
              <a:t> – использовать свой эфемерный ключ и эфемерный ключ получателя для выработки симметричного ключа. Данный ключ используется для </a:t>
            </a:r>
            <a:r>
              <a:rPr lang="en-US" dirty="0"/>
              <a:t>AEAD </a:t>
            </a:r>
            <a:r>
              <a:rPr lang="ru-RU" dirty="0"/>
              <a:t>шифрование всех передаваемый в дальнейшем данных, пока не будет выработан новый ключ</a:t>
            </a:r>
            <a:endParaRPr lang="es-ES" dirty="0"/>
          </a:p>
          <a:p>
            <a:r>
              <a:rPr lang="es-ES" dirty="0"/>
              <a:t>"es",“se","ss",</a:t>
            </a:r>
            <a:r>
              <a:rPr lang="ru-RU" dirty="0"/>
              <a:t> </a:t>
            </a:r>
            <a:r>
              <a:rPr lang="en-US" dirty="0"/>
              <a:t>- </a:t>
            </a:r>
            <a:r>
              <a:rPr lang="ru-RU" dirty="0"/>
              <a:t>аналогично </a:t>
            </a:r>
            <a:r>
              <a:rPr lang="en-US" dirty="0"/>
              <a:t>“ee”</a:t>
            </a:r>
            <a:r>
              <a:rPr lang="ru-RU" dirty="0"/>
              <a:t>, но для комбинаций эфемерный-статический ключ. Первая буква в токене означает ключ передающей стороны.</a:t>
            </a:r>
            <a:r>
              <a:rPr lang="es-ES" dirty="0"/>
              <a:t> </a:t>
            </a:r>
          </a:p>
          <a:p>
            <a:r>
              <a:rPr lang="es-ES" dirty="0"/>
              <a:t>"psk“</a:t>
            </a:r>
            <a:r>
              <a:rPr lang="en-US" dirty="0"/>
              <a:t> – </a:t>
            </a:r>
            <a:r>
              <a:rPr lang="ru-RU" dirty="0"/>
              <a:t>использование пред-согласованного симметрично ключа для выработки сессионного ключа. Полученный ключ используется для </a:t>
            </a:r>
            <a:r>
              <a:rPr lang="en-US" dirty="0"/>
              <a:t>AEAD </a:t>
            </a:r>
            <a:r>
              <a:rPr lang="ru-RU" dirty="0"/>
              <a:t>шифрование всех передаваемый в дальнейшем данных, пока не будет выработан новый ключ</a:t>
            </a:r>
            <a:endParaRPr lang="es-ES" dirty="0"/>
          </a:p>
          <a:p>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22</a:t>
            </a:fld>
            <a:endParaRPr lang="ru-RU" dirty="0"/>
          </a:p>
        </p:txBody>
      </p:sp>
    </p:spTree>
    <p:extLst>
      <p:ext uri="{BB962C8B-B14F-4D97-AF65-F5344CB8AC3E}">
        <p14:creationId xmlns:p14="http://schemas.microsoft.com/office/powerpoint/2010/main" val="936989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 Классический Диффи-Хеллман</a:t>
            </a:r>
          </a:p>
        </p:txBody>
      </p:sp>
      <p:sp>
        <p:nvSpPr>
          <p:cNvPr id="3" name="Объект 2"/>
          <p:cNvSpPr>
            <a:spLocks noGrp="1"/>
          </p:cNvSpPr>
          <p:nvPr>
            <p:ph idx="1"/>
          </p:nvPr>
        </p:nvSpPr>
        <p:spPr/>
        <p:txBody>
          <a:bodyPr>
            <a:normAutofit fontScale="92500" lnSpcReduction="20000"/>
          </a:bodyPr>
          <a:lstStyle/>
          <a:p>
            <a:r>
              <a:rPr lang="en-US" dirty="0"/>
              <a:t>-&gt; e</a:t>
            </a:r>
            <a:endParaRPr lang="ru-RU" dirty="0"/>
          </a:p>
          <a:p>
            <a:r>
              <a:rPr lang="en-US" dirty="0"/>
              <a:t>&lt;- e, ee</a:t>
            </a:r>
            <a:endParaRPr lang="ru-RU" dirty="0"/>
          </a:p>
          <a:p>
            <a:pPr marL="0" indent="0">
              <a:buNone/>
            </a:pPr>
            <a:r>
              <a:rPr lang="ru-RU" dirty="0"/>
              <a:t>Строка 1.</a:t>
            </a:r>
          </a:p>
          <a:p>
            <a:pPr marL="0" indent="0">
              <a:buNone/>
            </a:pPr>
            <a:r>
              <a:rPr lang="ru-RU" dirty="0"/>
              <a:t>Шаг 1. Генерация и отправка эфемерного ключа </a:t>
            </a:r>
            <a:r>
              <a:rPr lang="en-US" dirty="0"/>
              <a:t>Ae-&gt;B</a:t>
            </a:r>
          </a:p>
          <a:p>
            <a:pPr marL="0" indent="0">
              <a:buNone/>
            </a:pPr>
            <a:r>
              <a:rPr lang="ru-RU" dirty="0"/>
              <a:t>Шаг 2. Сторона </a:t>
            </a:r>
            <a:r>
              <a:rPr lang="en-US" dirty="0"/>
              <a:t>B </a:t>
            </a:r>
            <a:r>
              <a:rPr lang="ru-RU" dirty="0"/>
              <a:t>получает эфемерный ключ </a:t>
            </a:r>
            <a:r>
              <a:rPr lang="en-US" dirty="0"/>
              <a:t>Ae</a:t>
            </a:r>
            <a:endParaRPr lang="ru-RU" dirty="0"/>
          </a:p>
          <a:p>
            <a:pPr marL="0" indent="0">
              <a:buNone/>
            </a:pPr>
            <a:r>
              <a:rPr lang="ru-RU" dirty="0"/>
              <a:t>Строка 2.</a:t>
            </a:r>
          </a:p>
          <a:p>
            <a:pPr marL="0" indent="0">
              <a:buNone/>
            </a:pPr>
            <a:r>
              <a:rPr lang="ru-RU" dirty="0"/>
              <a:t>Шаг 3. Генерация и отправка эфемерного ключа </a:t>
            </a:r>
            <a:r>
              <a:rPr lang="en-US" dirty="0"/>
              <a:t>Be-&gt;A</a:t>
            </a:r>
            <a:endParaRPr lang="ru-RU" dirty="0"/>
          </a:p>
          <a:p>
            <a:pPr marL="0" indent="0">
              <a:buNone/>
            </a:pPr>
            <a:r>
              <a:rPr lang="ru-RU" dirty="0"/>
              <a:t>Шаг 4. Выработка сессионного ключа из </a:t>
            </a:r>
            <a:r>
              <a:rPr lang="en-US" dirty="0"/>
              <a:t>Ae </a:t>
            </a:r>
            <a:r>
              <a:rPr lang="ru-RU" dirty="0"/>
              <a:t>и </a:t>
            </a:r>
            <a:r>
              <a:rPr lang="en-US" dirty="0"/>
              <a:t>Be </a:t>
            </a:r>
            <a:r>
              <a:rPr lang="ru-RU" dirty="0"/>
              <a:t>на стороне </a:t>
            </a:r>
            <a:r>
              <a:rPr lang="en-US" dirty="0"/>
              <a:t>B</a:t>
            </a:r>
            <a:endParaRPr lang="ru-RU" dirty="0"/>
          </a:p>
          <a:p>
            <a:pPr marL="0" indent="0">
              <a:buNone/>
            </a:pPr>
            <a:r>
              <a:rPr lang="ru-RU" dirty="0"/>
              <a:t>Шаг 5. Сторона </a:t>
            </a:r>
            <a:r>
              <a:rPr lang="en-US" dirty="0"/>
              <a:t>A </a:t>
            </a:r>
            <a:r>
              <a:rPr lang="ru-RU" dirty="0"/>
              <a:t>получает эфемерный ключ </a:t>
            </a:r>
            <a:r>
              <a:rPr lang="en-US" dirty="0"/>
              <a:t>Bb</a:t>
            </a:r>
            <a:endParaRPr lang="ru-RU" dirty="0"/>
          </a:p>
          <a:p>
            <a:pPr marL="0" indent="0">
              <a:buNone/>
            </a:pPr>
            <a:r>
              <a:rPr lang="ru-RU" dirty="0"/>
              <a:t>Шаг 6. Выработка сессионного ключа из </a:t>
            </a:r>
            <a:r>
              <a:rPr lang="en-US" dirty="0"/>
              <a:t>Ae </a:t>
            </a:r>
            <a:r>
              <a:rPr lang="ru-RU" dirty="0"/>
              <a:t>и </a:t>
            </a:r>
            <a:r>
              <a:rPr lang="en-US" dirty="0"/>
              <a:t>Be </a:t>
            </a:r>
            <a:r>
              <a:rPr lang="ru-RU" dirty="0"/>
              <a:t>на стороне </a:t>
            </a:r>
            <a:r>
              <a:rPr lang="en-US"/>
              <a:t>A </a:t>
            </a:r>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23</a:t>
            </a:fld>
            <a:endParaRPr lang="ru-RU" dirty="0"/>
          </a:p>
        </p:txBody>
      </p:sp>
    </p:spTree>
    <p:extLst>
      <p:ext uri="{BB962C8B-B14F-4D97-AF65-F5344CB8AC3E}">
        <p14:creationId xmlns:p14="http://schemas.microsoft.com/office/powerpoint/2010/main" val="2171713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Пример Диффи-Хеллман с односторонней и двухсторонней аутентификацией</a:t>
            </a:r>
          </a:p>
        </p:txBody>
      </p:sp>
      <p:sp>
        <p:nvSpPr>
          <p:cNvPr id="3" name="Объект 2"/>
          <p:cNvSpPr>
            <a:spLocks noGrp="1"/>
          </p:cNvSpPr>
          <p:nvPr>
            <p:ph idx="1"/>
          </p:nvPr>
        </p:nvSpPr>
        <p:spPr/>
        <p:txBody>
          <a:bodyPr/>
          <a:lstStyle/>
          <a:p>
            <a:r>
              <a:rPr lang="en-US" dirty="0"/>
              <a:t>-&gt; e</a:t>
            </a:r>
          </a:p>
          <a:p>
            <a:r>
              <a:rPr lang="en-US" dirty="0"/>
              <a:t>&lt;- e, ee, s, es</a:t>
            </a:r>
            <a:endParaRPr lang="ru-RU" dirty="0"/>
          </a:p>
          <a:p>
            <a:endParaRPr lang="ru-RU" dirty="0"/>
          </a:p>
          <a:p>
            <a:r>
              <a:rPr lang="pt-BR" dirty="0"/>
              <a:t>-&gt; e</a:t>
            </a:r>
          </a:p>
          <a:p>
            <a:r>
              <a:rPr lang="pt-BR" dirty="0"/>
              <a:t>&lt;- e, ee, s, es</a:t>
            </a:r>
          </a:p>
          <a:p>
            <a:r>
              <a:rPr lang="pt-BR" dirty="0"/>
              <a:t>-&gt; s, se</a:t>
            </a:r>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24</a:t>
            </a:fld>
            <a:endParaRPr lang="ru-RU" dirty="0"/>
          </a:p>
        </p:txBody>
      </p:sp>
    </p:spTree>
    <p:extLst>
      <p:ext uri="{BB962C8B-B14F-4D97-AF65-F5344CB8AC3E}">
        <p14:creationId xmlns:p14="http://schemas.microsoft.com/office/powerpoint/2010/main" val="3468592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Именование паттернов</a:t>
            </a:r>
          </a:p>
        </p:txBody>
      </p:sp>
      <p:sp>
        <p:nvSpPr>
          <p:cNvPr id="3" name="Объект 2"/>
          <p:cNvSpPr>
            <a:spLocks noGrp="1"/>
          </p:cNvSpPr>
          <p:nvPr>
            <p:ph idx="1"/>
          </p:nvPr>
        </p:nvSpPr>
        <p:spPr/>
        <p:txBody>
          <a:bodyPr>
            <a:normAutofit lnSpcReduction="10000"/>
          </a:bodyPr>
          <a:lstStyle/>
          <a:p>
            <a:pPr marL="0" indent="0">
              <a:buNone/>
            </a:pPr>
            <a:r>
              <a:rPr lang="ru-RU" dirty="0"/>
              <a:t>Односторонние шаблоны реализуют неинтерактивное согласование ключа, при котором инициатор передаёт единственное сообщение </a:t>
            </a:r>
            <a:endParaRPr lang="en-US" dirty="0"/>
          </a:p>
          <a:p>
            <a:pPr marL="0" indent="0">
              <a:buNone/>
            </a:pPr>
            <a:r>
              <a:rPr lang="en-US" dirty="0"/>
              <a:t>A():</a:t>
            </a:r>
          </a:p>
          <a:p>
            <a:pPr marL="0" indent="0">
              <a:buNone/>
            </a:pPr>
            <a:r>
              <a:rPr lang="en-US" dirty="0"/>
              <a:t>&lt;pre-messages&gt;</a:t>
            </a:r>
          </a:p>
          <a:p>
            <a:pPr marL="0" indent="0">
              <a:buNone/>
            </a:pPr>
            <a:r>
              <a:rPr lang="en-US" dirty="0"/>
              <a:t>...</a:t>
            </a:r>
          </a:p>
          <a:p>
            <a:pPr marL="0" indent="0">
              <a:buNone/>
            </a:pPr>
            <a:r>
              <a:rPr lang="en-US" dirty="0"/>
              <a:t>&lt;messages&gt;</a:t>
            </a:r>
          </a:p>
          <a:p>
            <a:pPr marL="0" indent="0">
              <a:buNone/>
            </a:pPr>
            <a:r>
              <a:rPr lang="ru-RU" dirty="0"/>
              <a:t>где A - имя шаблона, pre-message - сообщения, передаваемые в шаблоне пред-сообщения, message - сообщения передаваемые в шаблоне сообщения.</a:t>
            </a:r>
          </a:p>
        </p:txBody>
      </p:sp>
      <p:sp>
        <p:nvSpPr>
          <p:cNvPr id="4" name="Номер слайда 3"/>
          <p:cNvSpPr>
            <a:spLocks noGrp="1"/>
          </p:cNvSpPr>
          <p:nvPr>
            <p:ph type="sldNum" sz="quarter" idx="12"/>
          </p:nvPr>
        </p:nvSpPr>
        <p:spPr/>
        <p:txBody>
          <a:bodyPr/>
          <a:lstStyle/>
          <a:p>
            <a:fld id="{AC4B6EA2-3DAB-415A-81B1-2E2A41D203B5}" type="slidenum">
              <a:rPr lang="ru-RU" smtClean="0"/>
              <a:t>25</a:t>
            </a:fld>
            <a:endParaRPr lang="ru-RU" dirty="0"/>
          </a:p>
        </p:txBody>
      </p:sp>
    </p:spTree>
    <p:extLst>
      <p:ext uri="{BB962C8B-B14F-4D97-AF65-F5344CB8AC3E}">
        <p14:creationId xmlns:p14="http://schemas.microsoft.com/office/powerpoint/2010/main" val="1031651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Именование Шаблонов</a:t>
            </a:r>
          </a:p>
        </p:txBody>
      </p:sp>
      <p:sp>
        <p:nvSpPr>
          <p:cNvPr id="3" name="Объект 2"/>
          <p:cNvSpPr>
            <a:spLocks noGrp="1"/>
          </p:cNvSpPr>
          <p:nvPr>
            <p:ph idx="1"/>
          </p:nvPr>
        </p:nvSpPr>
        <p:spPr/>
        <p:txBody>
          <a:bodyPr>
            <a:normAutofit fontScale="85000" lnSpcReduction="20000"/>
          </a:bodyPr>
          <a:lstStyle/>
          <a:p>
            <a:r>
              <a:rPr lang="ru-RU" dirty="0"/>
              <a:t>N: отсутствие статического ключа инициатора </a:t>
            </a:r>
          </a:p>
          <a:p>
            <a:r>
              <a:rPr lang="ru-RU" dirty="0"/>
              <a:t>K: статический ключ инициатора известен получателю </a:t>
            </a:r>
          </a:p>
          <a:p>
            <a:r>
              <a:rPr lang="ru-RU" dirty="0"/>
              <a:t>X: статический ключ инициатора передаётся получателю</a:t>
            </a:r>
            <a:endParaRPr lang="en-US" dirty="0"/>
          </a:p>
          <a:p>
            <a:pPr marL="0" indent="0">
              <a:buNone/>
            </a:pPr>
            <a:r>
              <a:rPr lang="ru-RU" dirty="0"/>
              <a:t>Токены "s", "e", "e, s" внутри скобок означают что инициатор инициирован со следующими статическими / эфемерными ключами. Токены "rs", "re","re</a:t>
            </a:r>
            <a:r>
              <a:rPr lang="en-US" dirty="0"/>
              <a:t>”</a:t>
            </a:r>
            <a:r>
              <a:rPr lang="ru-RU" dirty="0"/>
              <a:t>, </a:t>
            </a:r>
            <a:r>
              <a:rPr lang="en-US" dirty="0"/>
              <a:t>“</a:t>
            </a:r>
            <a:r>
              <a:rPr lang="ru-RU" dirty="0"/>
              <a:t>rs" обозначают инициатор инициирован со знанием следующих открытых статических / эфемерных ключей получателя.  </a:t>
            </a:r>
            <a:endParaRPr lang="en-US" dirty="0"/>
          </a:p>
          <a:p>
            <a:pPr marL="0" indent="0">
              <a:buNone/>
            </a:pPr>
            <a:r>
              <a:rPr lang="ru-RU" dirty="0"/>
              <a:t>Пример</a:t>
            </a:r>
            <a:r>
              <a:rPr lang="en-US" dirty="0"/>
              <a:t>:</a:t>
            </a:r>
          </a:p>
          <a:p>
            <a:pPr marL="0" indent="0">
              <a:buNone/>
            </a:pPr>
            <a:r>
              <a:rPr lang="en-US" dirty="0"/>
              <a:t>N(rs):</a:t>
            </a:r>
          </a:p>
          <a:p>
            <a:pPr marL="0" indent="0">
              <a:buNone/>
            </a:pPr>
            <a:r>
              <a:rPr lang="en-US" dirty="0"/>
              <a:t>&lt;- s</a:t>
            </a:r>
          </a:p>
          <a:p>
            <a:pPr marL="0" indent="0">
              <a:buNone/>
            </a:pPr>
            <a:r>
              <a:rPr lang="en-US" dirty="0"/>
              <a:t>...</a:t>
            </a:r>
          </a:p>
          <a:p>
            <a:pPr marL="0" indent="0">
              <a:buNone/>
            </a:pPr>
            <a:r>
              <a:rPr lang="en-US" dirty="0"/>
              <a:t>-&gt; e, es</a:t>
            </a:r>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26</a:t>
            </a:fld>
            <a:endParaRPr lang="ru-RU" dirty="0"/>
          </a:p>
        </p:txBody>
      </p:sp>
    </p:spTree>
    <p:extLst>
      <p:ext uri="{BB962C8B-B14F-4D97-AF65-F5344CB8AC3E}">
        <p14:creationId xmlns:p14="http://schemas.microsoft.com/office/powerpoint/2010/main" val="4153657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Именование шаблонов</a:t>
            </a:r>
          </a:p>
        </p:txBody>
      </p:sp>
      <p:sp>
        <p:nvSpPr>
          <p:cNvPr id="3" name="Объект 2"/>
          <p:cNvSpPr>
            <a:spLocks noGrp="1"/>
          </p:cNvSpPr>
          <p:nvPr>
            <p:ph idx="1"/>
          </p:nvPr>
        </p:nvSpPr>
        <p:spPr/>
        <p:txBody>
          <a:bodyPr>
            <a:normAutofit lnSpcReduction="10000"/>
          </a:bodyPr>
          <a:lstStyle/>
          <a:p>
            <a:pPr marL="0" indent="0">
              <a:buNone/>
            </a:pPr>
            <a:r>
              <a:rPr lang="ru-RU" dirty="0"/>
              <a:t>Интерактивные шаблоны состоят из одного или нескольких шаблонов сообщений, передаваемых между получателем и инициатором. </a:t>
            </a:r>
            <a:endParaRPr lang="en-US" dirty="0"/>
          </a:p>
          <a:p>
            <a:pPr marL="0" indent="0">
              <a:buNone/>
            </a:pPr>
            <a:r>
              <a:rPr lang="en-US" dirty="0"/>
              <a:t> AA():</a:t>
            </a:r>
          </a:p>
          <a:p>
            <a:pPr marL="0" indent="0">
              <a:buNone/>
            </a:pPr>
            <a:r>
              <a:rPr lang="en-US" dirty="0"/>
              <a:t>  &lt;pre-messages&gt;</a:t>
            </a:r>
          </a:p>
          <a:p>
            <a:pPr marL="0" indent="0">
              <a:buNone/>
            </a:pPr>
            <a:r>
              <a:rPr lang="en-US" dirty="0"/>
              <a:t>  ...</a:t>
            </a:r>
          </a:p>
          <a:p>
            <a:pPr marL="0" indent="0">
              <a:buNone/>
            </a:pPr>
            <a:r>
              <a:rPr lang="en-US" dirty="0"/>
              <a:t>  &lt;messages&gt;</a:t>
            </a:r>
          </a:p>
          <a:p>
            <a:pPr marL="0" indent="0">
              <a:buNone/>
            </a:pPr>
            <a:r>
              <a:rPr lang="ru-RU" dirty="0"/>
              <a:t>где AA - имя шаблона, pre-message - сообщения, передаваемые в шаблоне пред-сообщения, message - сообщения передаваемые в шаблоне. </a:t>
            </a:r>
          </a:p>
        </p:txBody>
      </p:sp>
      <p:sp>
        <p:nvSpPr>
          <p:cNvPr id="4" name="Номер слайда 3"/>
          <p:cNvSpPr>
            <a:spLocks noGrp="1"/>
          </p:cNvSpPr>
          <p:nvPr>
            <p:ph type="sldNum" sz="quarter" idx="12"/>
          </p:nvPr>
        </p:nvSpPr>
        <p:spPr/>
        <p:txBody>
          <a:bodyPr/>
          <a:lstStyle/>
          <a:p>
            <a:fld id="{AC4B6EA2-3DAB-415A-81B1-2E2A41D203B5}" type="slidenum">
              <a:rPr lang="ru-RU" smtClean="0"/>
              <a:t>27</a:t>
            </a:fld>
            <a:endParaRPr lang="ru-RU" dirty="0"/>
          </a:p>
        </p:txBody>
      </p:sp>
    </p:spTree>
    <p:extLst>
      <p:ext uri="{BB962C8B-B14F-4D97-AF65-F5344CB8AC3E}">
        <p14:creationId xmlns:p14="http://schemas.microsoft.com/office/powerpoint/2010/main" val="3224402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Именование шаблонов</a:t>
            </a:r>
          </a:p>
        </p:txBody>
      </p:sp>
      <p:sp>
        <p:nvSpPr>
          <p:cNvPr id="3" name="Объект 2"/>
          <p:cNvSpPr>
            <a:spLocks noGrp="1"/>
          </p:cNvSpPr>
          <p:nvPr>
            <p:ph idx="1"/>
          </p:nvPr>
        </p:nvSpPr>
        <p:spPr/>
        <p:txBody>
          <a:bodyPr>
            <a:normAutofit fontScale="85000" lnSpcReduction="20000"/>
          </a:bodyPr>
          <a:lstStyle/>
          <a:p>
            <a:pPr marL="0" indent="0">
              <a:buNone/>
            </a:pPr>
            <a:r>
              <a:rPr lang="ru-RU" dirty="0"/>
              <a:t>Первая буква в имени шаблона определяет статический ключ инициатора, и может принимать одно из следующих значений: </a:t>
            </a:r>
          </a:p>
          <a:p>
            <a:r>
              <a:rPr lang="ru-RU" dirty="0"/>
              <a:t>N: отсутствие статического ключа инициатора </a:t>
            </a:r>
          </a:p>
          <a:p>
            <a:r>
              <a:rPr lang="ru-RU" dirty="0"/>
              <a:t>K: статический ключ инициатора известен получателю </a:t>
            </a:r>
          </a:p>
          <a:p>
            <a:r>
              <a:rPr lang="ru-RU" dirty="0"/>
              <a:t>X: Статический ключ инициатора передаётся получателю </a:t>
            </a:r>
          </a:p>
          <a:p>
            <a:r>
              <a:rPr lang="ru-RU" dirty="0"/>
              <a:t>I: Статический ключ инициатора немедленно передаётся получателю, даже в условиях отсутствия зашиты идентичности. </a:t>
            </a:r>
          </a:p>
          <a:p>
            <a:pPr marL="0" indent="0">
              <a:buNone/>
            </a:pPr>
            <a:r>
              <a:rPr lang="ru-RU" dirty="0"/>
              <a:t>Вторая буква в имени шаблона определяет статический ключ получателя, и может принимать одно из следующих значений: </a:t>
            </a:r>
          </a:p>
          <a:p>
            <a:r>
              <a:rPr lang="ru-RU" dirty="0"/>
              <a:t>N: отсутствие статического ключа получателя </a:t>
            </a:r>
          </a:p>
          <a:p>
            <a:r>
              <a:rPr lang="ru-RU" dirty="0"/>
              <a:t>K: статический ключ получателя известен инициатору </a:t>
            </a:r>
          </a:p>
          <a:p>
            <a:r>
              <a:rPr lang="ru-RU" dirty="0"/>
              <a:t>X: статический ключ получателя передаётся инициатору. </a:t>
            </a:r>
          </a:p>
          <a:p>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28</a:t>
            </a:fld>
            <a:endParaRPr lang="ru-RU" dirty="0"/>
          </a:p>
        </p:txBody>
      </p:sp>
    </p:spTree>
    <p:extLst>
      <p:ext uri="{BB962C8B-B14F-4D97-AF65-F5344CB8AC3E}">
        <p14:creationId xmlns:p14="http://schemas.microsoft.com/office/powerpoint/2010/main" val="3551687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Именование паттернов</a:t>
            </a:r>
          </a:p>
        </p:txBody>
      </p:sp>
      <p:sp>
        <p:nvSpPr>
          <p:cNvPr id="3" name="Объект 2"/>
          <p:cNvSpPr>
            <a:spLocks noGrp="1"/>
          </p:cNvSpPr>
          <p:nvPr>
            <p:ph idx="1"/>
          </p:nvPr>
        </p:nvSpPr>
        <p:spPr/>
        <p:txBody>
          <a:bodyPr/>
          <a:lstStyle/>
          <a:p>
            <a:pPr marL="0" indent="0">
              <a:buNone/>
            </a:pPr>
            <a:r>
              <a:rPr lang="ru-RU" dirty="0"/>
              <a:t>Пример</a:t>
            </a:r>
            <a:endParaRPr lang="en-US" dirty="0"/>
          </a:p>
          <a:p>
            <a:pPr marL="0" indent="0">
              <a:buNone/>
            </a:pPr>
            <a:r>
              <a:rPr lang="pt-BR" dirty="0"/>
              <a:t>IK(s, rs):</a:t>
            </a:r>
          </a:p>
          <a:p>
            <a:pPr marL="0" indent="0">
              <a:buNone/>
            </a:pPr>
            <a:r>
              <a:rPr lang="pt-BR" dirty="0"/>
              <a:t>&lt;- s</a:t>
            </a:r>
          </a:p>
          <a:p>
            <a:pPr marL="0" indent="0">
              <a:buNone/>
            </a:pPr>
            <a:r>
              <a:rPr lang="pt-BR" dirty="0"/>
              <a:t>...</a:t>
            </a:r>
          </a:p>
          <a:p>
            <a:pPr marL="0" indent="0">
              <a:buNone/>
            </a:pPr>
            <a:r>
              <a:rPr lang="pt-BR" dirty="0"/>
              <a:t>-&gt; e, es, s, ss</a:t>
            </a:r>
          </a:p>
          <a:p>
            <a:pPr marL="0" indent="0">
              <a:buNone/>
            </a:pPr>
            <a:r>
              <a:rPr lang="pt-BR" dirty="0"/>
              <a:t>&lt;- e, ee, se</a:t>
            </a:r>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29</a:t>
            </a:fld>
            <a:endParaRPr lang="ru-RU" dirty="0"/>
          </a:p>
        </p:txBody>
      </p:sp>
    </p:spTree>
    <p:extLst>
      <p:ext uri="{BB962C8B-B14F-4D97-AF65-F5344CB8AC3E}">
        <p14:creationId xmlns:p14="http://schemas.microsoft.com/office/powerpoint/2010/main" val="1551288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753B02-E7DC-45C4-BDCB-99B9716FE7AD}"/>
              </a:ext>
            </a:extLst>
          </p:cNvPr>
          <p:cNvSpPr>
            <a:spLocks noGrp="1"/>
          </p:cNvSpPr>
          <p:nvPr>
            <p:ph type="title"/>
          </p:nvPr>
        </p:nvSpPr>
        <p:spPr/>
        <p:txBody>
          <a:bodyPr/>
          <a:lstStyle/>
          <a:p>
            <a:r>
              <a:rPr lang="ru-RU" dirty="0"/>
              <a:t>Состояния </a:t>
            </a:r>
            <a:r>
              <a:rPr lang="en-US" dirty="0"/>
              <a:t>Noise</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9E3B9FA5-80B5-41F2-A6FB-8A4826F53957}"/>
                  </a:ext>
                </a:extLst>
              </p:cNvPr>
              <p:cNvSpPr>
                <a:spLocks noGrp="1"/>
              </p:cNvSpPr>
              <p:nvPr>
                <p:ph idx="1"/>
              </p:nvPr>
            </p:nvSpPr>
            <p:spPr/>
            <p:txBody>
              <a:bodyPr>
                <a:normAutofit lnSpcReduction="10000"/>
              </a:bodyPr>
              <a:lstStyle/>
              <a:p>
                <a:pPr marL="0" indent="0">
                  <a:buNone/>
                </a:pPr>
                <a:r>
                  <a:rPr lang="en-US" dirty="0"/>
                  <a:t>Symmetric state</a:t>
                </a:r>
                <a:endParaRPr lang="en-US" i="1" dirty="0">
                  <a:latin typeface="Cambria Math" panose="02040503050406030204" pitchFamily="18" charset="0"/>
                </a:endParaRPr>
              </a:p>
              <a:p>
                <a14:m>
                  <m:oMath xmlns:m="http://schemas.openxmlformats.org/officeDocument/2006/math">
                    <m:r>
                      <a:rPr lang="en-US" i="1" dirty="0" smtClean="0">
                        <a:solidFill>
                          <a:srgbClr val="7030A0"/>
                        </a:solidFill>
                        <a:latin typeface="Cambria Math" panose="02040503050406030204" pitchFamily="18" charset="0"/>
                      </a:rPr>
                      <m:t>h</m:t>
                    </m:r>
                  </m:oMath>
                </a14:m>
                <a:r>
                  <a:rPr lang="en-US" dirty="0"/>
                  <a:t> – </a:t>
                </a:r>
                <a:r>
                  <a:rPr lang="ru-RU" dirty="0"/>
                  <a:t>текущее хэш-значение всех переданных и полученных данных</a:t>
                </a:r>
                <a:endParaRPr lang="en-US" dirty="0"/>
              </a:p>
              <a:p>
                <a:pPr lvl="1"/>
                <a14:m>
                  <m:oMath xmlns:m="http://schemas.openxmlformats.org/officeDocument/2006/math">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𝐻𝐴𝑆𝐻</m:t>
                    </m:r>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𝑑𝑎𝑡𝑎</m:t>
                    </m:r>
                    <m:r>
                      <a:rPr lang="en-US" b="0" i="1" smtClean="0">
                        <a:latin typeface="Cambria Math" panose="02040503050406030204" pitchFamily="18" charset="0"/>
                      </a:rPr>
                      <m:t>)</m:t>
                    </m:r>
                  </m:oMath>
                </a14:m>
                <a:endParaRPr lang="en-US" dirty="0"/>
              </a:p>
              <a:p>
                <a14:m>
                  <m:oMath xmlns:m="http://schemas.openxmlformats.org/officeDocument/2006/math">
                    <m:r>
                      <a:rPr lang="en-US" i="1" dirty="0" smtClean="0">
                        <a:solidFill>
                          <a:srgbClr val="00B050"/>
                        </a:solidFill>
                        <a:latin typeface="Cambria Math" panose="02040503050406030204" pitchFamily="18" charset="0"/>
                      </a:rPr>
                      <m:t>𝑐𝑘</m:t>
                    </m:r>
                    <m:r>
                      <a:rPr lang="en-US" b="0" i="1" dirty="0" smtClean="0">
                        <a:latin typeface="Cambria Math" panose="02040503050406030204" pitchFamily="18" charset="0"/>
                      </a:rPr>
                      <m:t> </m:t>
                    </m:r>
                  </m:oMath>
                </a14:m>
                <a:r>
                  <a:rPr lang="en-US" dirty="0"/>
                  <a:t>– “chaining key”</a:t>
                </a:r>
                <a:r>
                  <a:rPr lang="ru-RU" dirty="0"/>
                  <a:t>, используется как один из входов </a:t>
                </a:r>
                <a:r>
                  <a:rPr lang="en-US" dirty="0"/>
                  <a:t>KDF (</a:t>
                </a:r>
                <a:r>
                  <a:rPr lang="ru-RU" dirty="0"/>
                  <a:t>другой вход – результат </a:t>
                </a:r>
                <a14:m>
                  <m:oMath xmlns:m="http://schemas.openxmlformats.org/officeDocument/2006/math">
                    <m:r>
                      <a:rPr lang="en-US" i="1" dirty="0" smtClean="0">
                        <a:latin typeface="Cambria Math" panose="02040503050406030204" pitchFamily="18" charset="0"/>
                      </a:rPr>
                      <m:t>𝐷𝐻</m:t>
                    </m:r>
                  </m:oMath>
                </a14:m>
                <a:r>
                  <a:rPr lang="en-US" dirty="0"/>
                  <a:t>)</a:t>
                </a:r>
                <a:endParaRPr lang="ru-RU" dirty="0"/>
              </a:p>
              <a:p>
                <a:pPr marL="0" indent="0">
                  <a:buNone/>
                </a:pPr>
                <a:r>
                  <a:rPr lang="en-US" dirty="0"/>
                  <a:t>Cipher state</a:t>
                </a:r>
              </a:p>
              <a:p>
                <a14:m>
                  <m:oMath xmlns:m="http://schemas.openxmlformats.org/officeDocument/2006/math">
                    <m:r>
                      <a:rPr lang="en-US" b="0" i="1" dirty="0" smtClean="0">
                        <a:solidFill>
                          <a:srgbClr val="FF0000"/>
                        </a:solidFill>
                        <a:latin typeface="Cambria Math" panose="02040503050406030204" pitchFamily="18" charset="0"/>
                      </a:rPr>
                      <m:t>𝑘</m:t>
                    </m:r>
                  </m:oMath>
                </a14:m>
                <a:r>
                  <a:rPr lang="en-US" dirty="0"/>
                  <a:t> – </a:t>
                </a:r>
                <a:r>
                  <a:rPr lang="ru-RU" dirty="0"/>
                  <a:t>текущий ключ шифрования данных</a:t>
                </a:r>
                <a:r>
                  <a:rPr lang="en-US" dirty="0"/>
                  <a:t> </a:t>
                </a:r>
                <a:r>
                  <a:rPr lang="ru-RU" dirty="0"/>
                  <a:t>для </a:t>
                </a:r>
                <a:r>
                  <a:rPr lang="en-US" dirty="0"/>
                  <a:t>AEAD</a:t>
                </a:r>
              </a:p>
              <a:p>
                <a:pPr lvl="1"/>
                <a14:m>
                  <m:oMath xmlns:m="http://schemas.openxmlformats.org/officeDocument/2006/math">
                    <m:r>
                      <a:rPr lang="en-US">
                        <a:latin typeface="Cambria Math" panose="02040503050406030204" pitchFamily="18" charset="0"/>
                      </a:rPr>
                      <m:t>(</m:t>
                    </m:r>
                    <m:r>
                      <a:rPr lang="en-US" i="1" smtClean="0">
                        <a:solidFill>
                          <a:srgbClr val="FF0000"/>
                        </a:solidFill>
                        <a:latin typeface="Cambria Math" panose="02040503050406030204" pitchFamily="18" charset="0"/>
                      </a:rPr>
                      <m:t>𝑘</m:t>
                    </m:r>
                    <m:r>
                      <a:rPr lang="en-US" i="1">
                        <a:latin typeface="Cambria Math" panose="02040503050406030204" pitchFamily="18" charset="0"/>
                      </a:rPr>
                      <m:t>,</m:t>
                    </m:r>
                    <m:r>
                      <a:rPr lang="en-US" i="1" dirty="0" smtClean="0">
                        <a:solidFill>
                          <a:srgbClr val="00B050"/>
                        </a:solidFill>
                        <a:latin typeface="Cambria Math" panose="02040503050406030204" pitchFamily="18" charset="0"/>
                      </a:rPr>
                      <m:t>𝑐𝑘</m:t>
                    </m:r>
                    <m:r>
                      <a:rPr lang="en-US" i="1" dirty="0">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𝐻𝐾𝐷𝐹</m:t>
                    </m:r>
                    <m:r>
                      <a:rPr lang="en-US" i="1">
                        <a:latin typeface="Cambria Math" panose="02040503050406030204" pitchFamily="18" charset="0"/>
                      </a:rPr>
                      <m:t>(</m:t>
                    </m:r>
                    <m:r>
                      <a:rPr lang="en-US" i="1">
                        <a:latin typeface="Cambria Math" panose="02040503050406030204" pitchFamily="18" charset="0"/>
                      </a:rPr>
                      <m:t>𝐷𝐻</m:t>
                    </m:r>
                    <m:r>
                      <a:rPr lang="en-US" i="1">
                        <a:latin typeface="Cambria Math" panose="02040503050406030204" pitchFamily="18" charset="0"/>
                      </a:rPr>
                      <m:t>(…,…)</m:t>
                    </m:r>
                    <m:r>
                      <a:rPr lang="en-US">
                        <a:latin typeface="Cambria Math" panose="02040503050406030204" pitchFamily="18" charset="0"/>
                      </a:rPr>
                      <m:t>,</m:t>
                    </m:r>
                    <m:r>
                      <a:rPr lang="en-US" b="0" i="1" smtClean="0">
                        <a:solidFill>
                          <a:srgbClr val="00B050"/>
                        </a:solidFill>
                        <a:latin typeface="Cambria Math" panose="02040503050406030204" pitchFamily="18" charset="0"/>
                      </a:rPr>
                      <m:t>𝑐</m:t>
                    </m:r>
                    <m:r>
                      <a:rPr lang="en-US" i="1">
                        <a:solidFill>
                          <a:srgbClr val="00B050"/>
                        </a:solidFill>
                        <a:latin typeface="Cambria Math" panose="02040503050406030204" pitchFamily="18" charset="0"/>
                      </a:rPr>
                      <m:t>𝑘</m:t>
                    </m:r>
                    <m:r>
                      <a:rPr lang="en-US">
                        <a:latin typeface="Cambria Math" panose="02040503050406030204" pitchFamily="18" charset="0"/>
                      </a:rPr>
                      <m:t>)</m:t>
                    </m:r>
                  </m:oMath>
                </a14:m>
                <a:endParaRPr lang="en-US" dirty="0"/>
              </a:p>
              <a:p>
                <a:pPr lvl="1"/>
                <a:r>
                  <a:rPr lang="ru-RU" dirty="0"/>
                  <a:t>Шифртекст </a:t>
                </a:r>
                <a14:m>
                  <m:oMath xmlns:m="http://schemas.openxmlformats.org/officeDocument/2006/math">
                    <m:r>
                      <a:rPr lang="ru-RU" b="0" i="1" smtClean="0">
                        <a:latin typeface="Cambria Math" panose="02040503050406030204" pitchFamily="18" charset="0"/>
                      </a:rPr>
                      <m:t>с=</m:t>
                    </m:r>
                    <m:r>
                      <a:rPr lang="en-US" b="0" i="1" smtClean="0">
                        <a:latin typeface="Cambria Math" panose="02040503050406030204" pitchFamily="18" charset="0"/>
                      </a:rPr>
                      <m:t>𝐴𝐸𝐴𝐷</m:t>
                    </m:r>
                    <m:r>
                      <a:rPr lang="en-US" b="0" i="1" smtClean="0">
                        <a:latin typeface="Cambria Math" panose="02040503050406030204" pitchFamily="18" charset="0"/>
                      </a:rPr>
                      <m:t>(</m:t>
                    </m:r>
                    <m:r>
                      <m:rPr>
                        <m:sty m:val="p"/>
                      </m:rPr>
                      <a:rPr lang="en-US" b="0" i="0" smtClean="0">
                        <a:latin typeface="Cambria Math" panose="02040503050406030204" pitchFamily="18" charset="0"/>
                      </a:rPr>
                      <m:t>key</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𝑘</m:t>
                    </m:r>
                    <m:r>
                      <a:rPr lang="en-US" b="0" i="1" smtClean="0">
                        <a:latin typeface="Cambria Math" panose="02040503050406030204" pitchFamily="18" charset="0"/>
                      </a:rPr>
                      <m:t>, </m:t>
                    </m:r>
                    <m:r>
                      <m:rPr>
                        <m:sty m:val="p"/>
                      </m:rPr>
                      <a:rPr lang="en-US" b="0" i="0" smtClean="0">
                        <a:latin typeface="Cambria Math" panose="02040503050406030204" pitchFamily="18" charset="0"/>
                      </a:rPr>
                      <m:t>ad</m:t>
                    </m:r>
                    <m:r>
                      <a:rPr lang="en-US" b="0" i="1" smtClean="0">
                        <a:latin typeface="Cambria Math" panose="02040503050406030204" pitchFamily="18" charset="0"/>
                      </a:rPr>
                      <m:t>:</m:t>
                    </m:r>
                    <m:r>
                      <a:rPr lang="en-US" b="0" i="1" smtClean="0">
                        <a:solidFill>
                          <a:srgbClr val="7030A0"/>
                        </a:solidFill>
                        <a:latin typeface="Cambria Math" panose="02040503050406030204" pitchFamily="18" charset="0"/>
                      </a:rPr>
                      <m:t>h</m:t>
                    </m:r>
                    <m:r>
                      <a:rPr lang="en-US" b="0" i="1" smtClean="0">
                        <a:latin typeface="Cambria Math" panose="02040503050406030204" pitchFamily="18" charset="0"/>
                      </a:rPr>
                      <m:t>, </m:t>
                    </m:r>
                    <m:r>
                      <a:rPr lang="en-US" b="0" i="1" smtClean="0">
                        <a:latin typeface="Cambria Math" panose="02040503050406030204" pitchFamily="18" charset="0"/>
                      </a:rPr>
                      <m:t>𝑝𝑙𝑎𝑖𝑛𝑡𝑒𝑥𝑡</m:t>
                    </m:r>
                    <m:r>
                      <a:rPr lang="en-US" b="0" i="1" smtClean="0">
                        <a:latin typeface="Cambria Math" panose="02040503050406030204" pitchFamily="18" charset="0"/>
                      </a:rPr>
                      <m:t>)</m:t>
                    </m:r>
                  </m:oMath>
                </a14:m>
                <a:endParaRPr lang="en-US" dirty="0"/>
              </a:p>
              <a:p>
                <a14:m>
                  <m:oMath xmlns:m="http://schemas.openxmlformats.org/officeDocument/2006/math">
                    <m:r>
                      <a:rPr lang="en-US" b="0" i="1" smtClean="0">
                        <a:latin typeface="Cambria Math" panose="02040503050406030204" pitchFamily="18" charset="0"/>
                      </a:rPr>
                      <m:t>𝑛</m:t>
                    </m:r>
                  </m:oMath>
                </a14:m>
                <a:r>
                  <a:rPr lang="en-US" dirty="0"/>
                  <a:t> –</a:t>
                </a:r>
                <a:r>
                  <a:rPr lang="ru-RU" dirty="0"/>
                  <a:t> </a:t>
                </a:r>
                <a:r>
                  <a:rPr lang="en-US" dirty="0"/>
                  <a:t>nonce</a:t>
                </a:r>
                <a:r>
                  <a:rPr lang="ru-RU" dirty="0"/>
                  <a:t>, выставляется 0 при смене </a:t>
                </a:r>
                <a14:m>
                  <m:oMath xmlns:m="http://schemas.openxmlformats.org/officeDocument/2006/math">
                    <m:r>
                      <a:rPr lang="en-US" i="1" dirty="0">
                        <a:solidFill>
                          <a:srgbClr val="FF0000"/>
                        </a:solidFill>
                        <a:latin typeface="Cambria Math" panose="02040503050406030204" pitchFamily="18" charset="0"/>
                      </a:rPr>
                      <m:t>𝑘</m:t>
                    </m:r>
                  </m:oMath>
                </a14:m>
                <a:endParaRPr lang="ru-RU" dirty="0"/>
              </a:p>
            </p:txBody>
          </p:sp>
        </mc:Choice>
        <mc:Fallback xmlns="">
          <p:sp>
            <p:nvSpPr>
              <p:cNvPr id="3" name="Объект 2">
                <a:extLst>
                  <a:ext uri="{FF2B5EF4-FFF2-40B4-BE49-F238E27FC236}">
                    <a16:creationId xmlns:a16="http://schemas.microsoft.com/office/drawing/2014/main" id="{9E3B9FA5-80B5-41F2-A6FB-8A4826F53957}"/>
                  </a:ext>
                </a:extLst>
              </p:cNvPr>
              <p:cNvSpPr>
                <a:spLocks noGrp="1" noRot="1" noChangeAspect="1" noMove="1" noResize="1" noEditPoints="1" noAdjustHandles="1" noChangeArrowheads="1" noChangeShapeType="1" noTextEdit="1"/>
              </p:cNvSpPr>
              <p:nvPr>
                <p:ph idx="1"/>
              </p:nvPr>
            </p:nvSpPr>
            <p:spPr>
              <a:blipFill>
                <a:blip r:embed="rId2"/>
                <a:stretch>
                  <a:fillRect l="-1217" t="-3081" r="-464" b="-196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D2780E95-AF98-4625-A2A5-B6CF81D6E3C9}"/>
              </a:ext>
            </a:extLst>
          </p:cNvPr>
          <p:cNvSpPr>
            <a:spLocks noGrp="1"/>
          </p:cNvSpPr>
          <p:nvPr>
            <p:ph type="sldNum" sz="quarter" idx="12"/>
          </p:nvPr>
        </p:nvSpPr>
        <p:spPr/>
        <p:txBody>
          <a:bodyPr/>
          <a:lstStyle/>
          <a:p>
            <a:fld id="{AC4B6EA2-3DAB-415A-81B1-2E2A41D203B5}" type="slidenum">
              <a:rPr lang="ru-RU" smtClean="0"/>
              <a:t>30</a:t>
            </a:fld>
            <a:endParaRPr lang="ru-RU" dirty="0"/>
          </a:p>
        </p:txBody>
      </p:sp>
    </p:spTree>
    <p:extLst>
      <p:ext uri="{BB962C8B-B14F-4D97-AF65-F5344CB8AC3E}">
        <p14:creationId xmlns:p14="http://schemas.microsoft.com/office/powerpoint/2010/main" val="1708399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7D0A67-0B52-448D-AA84-66E555E7AF6D}"/>
              </a:ext>
            </a:extLst>
          </p:cNvPr>
          <p:cNvSpPr>
            <a:spLocks noGrp="1"/>
          </p:cNvSpPr>
          <p:nvPr>
            <p:ph type="title"/>
          </p:nvPr>
        </p:nvSpPr>
        <p:spPr/>
        <p:txBody>
          <a:bodyPr/>
          <a:lstStyle/>
          <a:p>
            <a:r>
              <a:rPr lang="ru-RU" dirty="0"/>
              <a:t>Функционирование протокола </a:t>
            </a:r>
            <a:r>
              <a:rPr lang="en-US" dirty="0"/>
              <a:t>Noise</a:t>
            </a:r>
            <a:endParaRPr lang="ru-RU"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184E4A88-245A-4F59-8238-DC17B1497324}"/>
                  </a:ext>
                </a:extLst>
              </p:cNvPr>
              <p:cNvSpPr>
                <a:spLocks noGrp="1"/>
              </p:cNvSpPr>
              <p:nvPr>
                <p:ph idx="1"/>
              </p:nvPr>
            </p:nvSpPr>
            <p:spPr/>
            <p:txBody>
              <a:bodyPr/>
              <a:lstStyle/>
              <a:p>
                <a:pPr marL="0" indent="0">
                  <a:buNone/>
                </a:pPr>
                <a:r>
                  <a:rPr lang="ru-RU" dirty="0"/>
                  <a:t>При каждом полученном или отправленном открытом ключе он подмешивается в </a:t>
                </a:r>
                <a14:m>
                  <m:oMath xmlns:m="http://schemas.openxmlformats.org/officeDocument/2006/math">
                    <m:r>
                      <a:rPr lang="en-US" i="1" dirty="0" smtClean="0">
                        <a:solidFill>
                          <a:srgbClr val="7030A0"/>
                        </a:solidFill>
                        <a:latin typeface="Cambria Math" panose="02040503050406030204" pitchFamily="18" charset="0"/>
                      </a:rPr>
                      <m:t>h</m:t>
                    </m:r>
                  </m:oMath>
                </a14:m>
                <a:r>
                  <a:rPr lang="en-US" dirty="0"/>
                  <a:t>.</a:t>
                </a:r>
              </a:p>
              <a:p>
                <a:pPr marL="0" indent="0">
                  <a:buNone/>
                </a:pPr>
                <a:r>
                  <a:rPr lang="ru-RU" dirty="0"/>
                  <a:t>При отправке или получении любого открытого текста он подмешивается в </a:t>
                </a:r>
                <a14:m>
                  <m:oMath xmlns:m="http://schemas.openxmlformats.org/officeDocument/2006/math">
                    <m:r>
                      <a:rPr lang="en-US" i="1" dirty="0" smtClean="0">
                        <a:solidFill>
                          <a:srgbClr val="7030A0"/>
                        </a:solidFill>
                        <a:latin typeface="Cambria Math" panose="02040503050406030204" pitchFamily="18" charset="0"/>
                      </a:rPr>
                      <m:t>h</m:t>
                    </m:r>
                  </m:oMath>
                </a14:m>
                <a:r>
                  <a:rPr lang="ru-RU" dirty="0"/>
                  <a:t> (после расшифрования, если он был зашифрован)</a:t>
                </a:r>
                <a:r>
                  <a:rPr lang="en-US" dirty="0"/>
                  <a:t>.</a:t>
                </a:r>
                <a:endParaRPr lang="ru-RU" dirty="0"/>
              </a:p>
              <a:p>
                <a:pPr marL="0" indent="0">
                  <a:buNone/>
                </a:pPr>
                <a:r>
                  <a:rPr lang="ru-RU" dirty="0"/>
                  <a:t>При выполнении </a:t>
                </a:r>
                <a:r>
                  <a:rPr lang="en-US" dirty="0"/>
                  <a:t>DH</a:t>
                </a:r>
                <a:r>
                  <a:rPr lang="ru-RU" dirty="0"/>
                  <a:t> вырабатывается новый ключ </a:t>
                </a:r>
                <a14:m>
                  <m:oMath xmlns:m="http://schemas.openxmlformats.org/officeDocument/2006/math">
                    <m:r>
                      <a:rPr lang="en-US" i="1" dirty="0" smtClean="0">
                        <a:solidFill>
                          <a:srgbClr val="FF0000"/>
                        </a:solidFill>
                        <a:latin typeface="Cambria Math" panose="02040503050406030204" pitchFamily="18" charset="0"/>
                      </a:rPr>
                      <m:t>𝑘</m:t>
                    </m:r>
                  </m:oMath>
                </a14:m>
                <a:r>
                  <a:rPr lang="ru-RU" dirty="0"/>
                  <a:t>, который используется для шифрования всех передаваемых в дальнейшем данных, включая открытые ключи.</a:t>
                </a:r>
                <a:endParaRPr lang="en-US" dirty="0"/>
              </a:p>
              <a:p>
                <a:pPr marL="0" indent="0">
                  <a:buNone/>
                </a:pPr>
                <a:endParaRPr lang="ru-RU" dirty="0"/>
              </a:p>
            </p:txBody>
          </p:sp>
        </mc:Choice>
        <mc:Fallback xmlns="">
          <p:sp>
            <p:nvSpPr>
              <p:cNvPr id="3" name="Объект 2">
                <a:extLst>
                  <a:ext uri="{FF2B5EF4-FFF2-40B4-BE49-F238E27FC236}">
                    <a16:creationId xmlns:a16="http://schemas.microsoft.com/office/drawing/2014/main" id="{184E4A88-245A-4F59-8238-DC17B1497324}"/>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1AC95798-5CC9-4A93-B309-B8B6D4C130EA}"/>
              </a:ext>
            </a:extLst>
          </p:cNvPr>
          <p:cNvSpPr>
            <a:spLocks noGrp="1"/>
          </p:cNvSpPr>
          <p:nvPr>
            <p:ph type="sldNum" sz="quarter" idx="12"/>
          </p:nvPr>
        </p:nvSpPr>
        <p:spPr/>
        <p:txBody>
          <a:bodyPr/>
          <a:lstStyle/>
          <a:p>
            <a:fld id="{AC4B6EA2-3DAB-415A-81B1-2E2A41D203B5}" type="slidenum">
              <a:rPr lang="ru-RU" smtClean="0"/>
              <a:t>31</a:t>
            </a:fld>
            <a:endParaRPr lang="ru-RU" dirty="0"/>
          </a:p>
        </p:txBody>
      </p:sp>
    </p:spTree>
    <p:extLst>
      <p:ext uri="{BB962C8B-B14F-4D97-AF65-F5344CB8AC3E}">
        <p14:creationId xmlns:p14="http://schemas.microsoft.com/office/powerpoint/2010/main" val="15158531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Функционирование протокола </a:t>
            </a:r>
            <a:r>
              <a:rPr lang="en-US" dirty="0"/>
              <a:t>Noise</a:t>
            </a:r>
            <a:endParaRPr lang="ru-RU" dirty="0"/>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47850"/>
            <a:ext cx="7497015" cy="4351338"/>
          </a:xfrm>
        </p:spPr>
      </p:pic>
      <p:sp>
        <p:nvSpPr>
          <p:cNvPr id="3" name="Номер слайда 2"/>
          <p:cNvSpPr>
            <a:spLocks noGrp="1"/>
          </p:cNvSpPr>
          <p:nvPr>
            <p:ph type="sldNum" sz="quarter" idx="12"/>
          </p:nvPr>
        </p:nvSpPr>
        <p:spPr/>
        <p:txBody>
          <a:bodyPr/>
          <a:lstStyle/>
          <a:p>
            <a:fld id="{AC4B6EA2-3DAB-415A-81B1-2E2A41D203B5}" type="slidenum">
              <a:rPr lang="ru-RU" smtClean="0"/>
              <a:t>32</a:t>
            </a:fld>
            <a:endParaRPr lang="ru-RU" dirty="0"/>
          </a:p>
        </p:txBody>
      </p:sp>
      <p:sp>
        <p:nvSpPr>
          <p:cNvPr id="5" name="Объект 2">
            <a:extLst>
              <a:ext uri="{FF2B5EF4-FFF2-40B4-BE49-F238E27FC236}">
                <a16:creationId xmlns:a16="http://schemas.microsoft.com/office/drawing/2014/main" id="{06BDF5D6-7B95-46CE-AC7A-FE2A22B9F2EB}"/>
              </a:ext>
            </a:extLst>
          </p:cNvPr>
          <p:cNvSpPr txBox="1">
            <a:spLocks/>
          </p:cNvSpPr>
          <p:nvPr/>
        </p:nvSpPr>
        <p:spPr>
          <a:xfrm>
            <a:off x="8478079" y="1853648"/>
            <a:ext cx="356152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dirty="0"/>
              <a:t>Пример</a:t>
            </a:r>
            <a:r>
              <a:rPr lang="en-US" dirty="0"/>
              <a:t> </a:t>
            </a:r>
          </a:p>
          <a:p>
            <a:pPr marL="0" indent="0">
              <a:buFont typeface="Arial" panose="020B0604020202020204" pitchFamily="34" charset="0"/>
              <a:buNone/>
            </a:pPr>
            <a:r>
              <a:rPr lang="en-US" dirty="0"/>
              <a:t>NX:</a:t>
            </a:r>
          </a:p>
          <a:p>
            <a:pPr marL="0" indent="0">
              <a:buFont typeface="Arial" panose="020B0604020202020204" pitchFamily="34" charset="0"/>
              <a:buNone/>
            </a:pPr>
            <a:r>
              <a:rPr lang="pt-BR" dirty="0"/>
              <a:t>-&gt; e</a:t>
            </a:r>
            <a:r>
              <a:rPr lang="en-US" dirty="0"/>
              <a:t>, payload1</a:t>
            </a:r>
            <a:endParaRPr lang="ru-RU" dirty="0"/>
          </a:p>
          <a:p>
            <a:pPr marL="0" indent="0">
              <a:buFont typeface="Arial" panose="020B0604020202020204" pitchFamily="34" charset="0"/>
              <a:buNone/>
            </a:pPr>
            <a:r>
              <a:rPr lang="pt-BR" dirty="0"/>
              <a:t>&lt;- e, ee, s, se, payload2</a:t>
            </a:r>
            <a:endParaRPr lang="ru-RU" dirty="0"/>
          </a:p>
        </p:txBody>
      </p:sp>
    </p:spTree>
    <p:extLst>
      <p:ext uri="{BB962C8B-B14F-4D97-AF65-F5344CB8AC3E}">
        <p14:creationId xmlns:p14="http://schemas.microsoft.com/office/powerpoint/2010/main" val="7917386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BD0DEE-B3F1-4BC2-9759-40A1E461C622}"/>
              </a:ext>
            </a:extLst>
          </p:cNvPr>
          <p:cNvSpPr>
            <a:spLocks noGrp="1"/>
          </p:cNvSpPr>
          <p:nvPr>
            <p:ph type="title"/>
          </p:nvPr>
        </p:nvSpPr>
        <p:spPr/>
        <p:txBody>
          <a:bodyPr/>
          <a:lstStyle/>
          <a:p>
            <a:r>
              <a:rPr lang="ru-RU" dirty="0"/>
              <a:t>Свойства </a:t>
            </a:r>
            <a:r>
              <a:rPr lang="en-US" dirty="0"/>
              <a:t>payload (</a:t>
            </a:r>
            <a:r>
              <a:rPr lang="ru-RU" dirty="0"/>
              <a:t>инициатор)</a:t>
            </a:r>
          </a:p>
        </p:txBody>
      </p:sp>
      <p:sp>
        <p:nvSpPr>
          <p:cNvPr id="3" name="Объект 2">
            <a:extLst>
              <a:ext uri="{FF2B5EF4-FFF2-40B4-BE49-F238E27FC236}">
                <a16:creationId xmlns:a16="http://schemas.microsoft.com/office/drawing/2014/main" id="{F4A87225-5DD5-4408-8A64-E58AA2F565DA}"/>
              </a:ext>
            </a:extLst>
          </p:cNvPr>
          <p:cNvSpPr>
            <a:spLocks noGrp="1"/>
          </p:cNvSpPr>
          <p:nvPr>
            <p:ph idx="1"/>
          </p:nvPr>
        </p:nvSpPr>
        <p:spPr>
          <a:xfrm>
            <a:off x="838200" y="1451113"/>
            <a:ext cx="10515600" cy="4725850"/>
          </a:xfrm>
        </p:spPr>
        <p:txBody>
          <a:bodyPr>
            <a:normAutofit/>
          </a:bodyPr>
          <a:lstStyle/>
          <a:p>
            <a:pPr marL="0" indent="0">
              <a:buNone/>
            </a:pPr>
            <a:r>
              <a:rPr lang="en-US" sz="2400" b="1" dirty="0"/>
              <a:t>0. No authentication. </a:t>
            </a:r>
            <a:r>
              <a:rPr lang="en-US" sz="2400" dirty="0"/>
              <a:t>This payload may have been sent by any party,</a:t>
            </a:r>
            <a:r>
              <a:rPr lang="ru-RU" sz="2400" dirty="0"/>
              <a:t> </a:t>
            </a:r>
            <a:r>
              <a:rPr lang="en-US" sz="2400" dirty="0"/>
              <a:t>including an active attacker.</a:t>
            </a:r>
            <a:endParaRPr lang="ru-RU" sz="2400" dirty="0"/>
          </a:p>
          <a:p>
            <a:pPr marL="0" indent="0">
              <a:buNone/>
            </a:pPr>
            <a:r>
              <a:rPr lang="en-US" sz="2400" b="1" dirty="0"/>
              <a:t>1. Sender authentication vulnerable to key-compromise impersonation (KCI). </a:t>
            </a:r>
            <a:r>
              <a:rPr lang="en-US" sz="2400" dirty="0"/>
              <a:t>The sender authentication is based on a static-static DH</a:t>
            </a:r>
            <a:r>
              <a:rPr lang="ru-RU" sz="2400" dirty="0"/>
              <a:t> </a:t>
            </a:r>
            <a:r>
              <a:rPr lang="en-US" sz="2400" dirty="0"/>
              <a:t>("ss") involving both parties’ static key pairs. If the recipient’s long-term</a:t>
            </a:r>
            <a:r>
              <a:rPr lang="ru-RU" sz="2400" dirty="0"/>
              <a:t> </a:t>
            </a:r>
            <a:r>
              <a:rPr lang="en-US" sz="2400" dirty="0"/>
              <a:t>private key has been compromised, this authentication can be forged. Note</a:t>
            </a:r>
            <a:r>
              <a:rPr lang="ru-RU" sz="2400" dirty="0"/>
              <a:t> </a:t>
            </a:r>
            <a:r>
              <a:rPr lang="en-US" sz="2400" dirty="0"/>
              <a:t>that a future version of Noise might include signatures, which could improve</a:t>
            </a:r>
            <a:r>
              <a:rPr lang="ru-RU" sz="2400" dirty="0"/>
              <a:t> </a:t>
            </a:r>
            <a:r>
              <a:rPr lang="en-US" sz="2400" dirty="0"/>
              <a:t>this security property, but brings other trade-offs.</a:t>
            </a:r>
          </a:p>
          <a:p>
            <a:pPr marL="0" indent="0">
              <a:buNone/>
            </a:pPr>
            <a:r>
              <a:rPr lang="en-US" sz="2400" b="1" dirty="0"/>
              <a:t>2. Sender authentication resistant to key-compromise impersonation (KCI). </a:t>
            </a:r>
            <a:r>
              <a:rPr lang="en-US" sz="2400" dirty="0"/>
              <a:t>The sender authentication is based on an ephemeral-static</a:t>
            </a:r>
            <a:r>
              <a:rPr lang="ru-RU" sz="2400" dirty="0"/>
              <a:t> </a:t>
            </a:r>
            <a:r>
              <a:rPr lang="en-US" sz="2400" dirty="0"/>
              <a:t>DH ("es" or "se") between the sender’s static key pair and the recipient’s</a:t>
            </a:r>
            <a:r>
              <a:rPr lang="ru-RU" sz="2400" dirty="0"/>
              <a:t> </a:t>
            </a:r>
            <a:r>
              <a:rPr lang="en-US" sz="2400" dirty="0"/>
              <a:t>ephemeral key pair. Assuming the corresponding private keys are secure,</a:t>
            </a:r>
            <a:r>
              <a:rPr lang="ru-RU" sz="2400" dirty="0"/>
              <a:t> </a:t>
            </a:r>
            <a:r>
              <a:rPr lang="en-US" sz="2400" dirty="0"/>
              <a:t>this authentication cannot be forged</a:t>
            </a:r>
            <a:endParaRPr lang="ru-RU" sz="2400" dirty="0"/>
          </a:p>
        </p:txBody>
      </p:sp>
      <p:sp>
        <p:nvSpPr>
          <p:cNvPr id="4" name="Номер слайда 3">
            <a:extLst>
              <a:ext uri="{FF2B5EF4-FFF2-40B4-BE49-F238E27FC236}">
                <a16:creationId xmlns:a16="http://schemas.microsoft.com/office/drawing/2014/main" id="{6527BADF-6231-454E-8DB7-F456D6C91C03}"/>
              </a:ext>
            </a:extLst>
          </p:cNvPr>
          <p:cNvSpPr>
            <a:spLocks noGrp="1"/>
          </p:cNvSpPr>
          <p:nvPr>
            <p:ph type="sldNum" sz="quarter" idx="12"/>
          </p:nvPr>
        </p:nvSpPr>
        <p:spPr/>
        <p:txBody>
          <a:bodyPr/>
          <a:lstStyle/>
          <a:p>
            <a:fld id="{AC4B6EA2-3DAB-415A-81B1-2E2A41D203B5}" type="slidenum">
              <a:rPr lang="ru-RU" smtClean="0"/>
              <a:t>33</a:t>
            </a:fld>
            <a:endParaRPr lang="ru-RU" dirty="0"/>
          </a:p>
        </p:txBody>
      </p:sp>
    </p:spTree>
    <p:extLst>
      <p:ext uri="{BB962C8B-B14F-4D97-AF65-F5344CB8AC3E}">
        <p14:creationId xmlns:p14="http://schemas.microsoft.com/office/powerpoint/2010/main" val="675054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D1949F-020C-4C80-ADC6-C869E9B9455B}"/>
              </a:ext>
            </a:extLst>
          </p:cNvPr>
          <p:cNvSpPr>
            <a:spLocks noGrp="1"/>
          </p:cNvSpPr>
          <p:nvPr>
            <p:ph type="title"/>
          </p:nvPr>
        </p:nvSpPr>
        <p:spPr/>
        <p:txBody>
          <a:bodyPr/>
          <a:lstStyle/>
          <a:p>
            <a:r>
              <a:rPr lang="ru-RU" dirty="0"/>
              <a:t>Свойства </a:t>
            </a:r>
            <a:r>
              <a:rPr lang="en-US" dirty="0"/>
              <a:t>payload (</a:t>
            </a:r>
            <a:r>
              <a:rPr lang="ru-RU" dirty="0"/>
              <a:t>получатель)</a:t>
            </a:r>
          </a:p>
        </p:txBody>
      </p:sp>
      <p:sp>
        <p:nvSpPr>
          <p:cNvPr id="3" name="Объект 2">
            <a:extLst>
              <a:ext uri="{FF2B5EF4-FFF2-40B4-BE49-F238E27FC236}">
                <a16:creationId xmlns:a16="http://schemas.microsoft.com/office/drawing/2014/main" id="{6F8F5284-D530-49C0-A9EF-E9219005DAFF}"/>
              </a:ext>
            </a:extLst>
          </p:cNvPr>
          <p:cNvSpPr>
            <a:spLocks noGrp="1"/>
          </p:cNvSpPr>
          <p:nvPr>
            <p:ph idx="1"/>
          </p:nvPr>
        </p:nvSpPr>
        <p:spPr/>
        <p:txBody>
          <a:bodyPr>
            <a:normAutofit/>
          </a:bodyPr>
          <a:lstStyle/>
          <a:p>
            <a:pPr marL="0" indent="0">
              <a:buNone/>
            </a:pPr>
            <a:r>
              <a:rPr lang="en-US" sz="2400" b="1" dirty="0"/>
              <a:t>0. No confidentiality. </a:t>
            </a:r>
            <a:r>
              <a:rPr lang="en-US" sz="2400" dirty="0"/>
              <a:t>This payload is sent in cleartext.</a:t>
            </a:r>
          </a:p>
          <a:p>
            <a:pPr marL="0" indent="0">
              <a:buNone/>
            </a:pPr>
            <a:r>
              <a:rPr lang="en-US" sz="2400" b="1" dirty="0"/>
              <a:t>1. Encryption to an ephemeral recipient. </a:t>
            </a:r>
            <a:r>
              <a:rPr lang="en-US" sz="2400" dirty="0"/>
              <a:t>This payload has forward</a:t>
            </a:r>
            <a:r>
              <a:rPr lang="ru-RU" sz="2400" dirty="0"/>
              <a:t> </a:t>
            </a:r>
            <a:r>
              <a:rPr lang="en-US" sz="2400" dirty="0"/>
              <a:t>secrecy, since encryption involves an ephemeral-ephemeral DH ("</a:t>
            </a:r>
            <a:r>
              <a:rPr lang="en-US" sz="2400" dirty="0" err="1"/>
              <a:t>ee</a:t>
            </a:r>
            <a:r>
              <a:rPr lang="en-US" sz="2400" dirty="0"/>
              <a:t>").</a:t>
            </a:r>
            <a:r>
              <a:rPr lang="ru-RU" sz="2400" dirty="0"/>
              <a:t> </a:t>
            </a:r>
            <a:r>
              <a:rPr lang="en-US" sz="2400" dirty="0"/>
              <a:t>However, the sender has not authenticated the recipient, so this payload</a:t>
            </a:r>
            <a:r>
              <a:rPr lang="ru-RU" sz="2400" dirty="0"/>
              <a:t> </a:t>
            </a:r>
            <a:r>
              <a:rPr lang="en-US" sz="2400" dirty="0"/>
              <a:t>might be sent to any party, including an active attacker.</a:t>
            </a:r>
          </a:p>
          <a:p>
            <a:pPr marL="0" indent="0">
              <a:buNone/>
            </a:pPr>
            <a:r>
              <a:rPr lang="en-US" sz="2400" b="1" dirty="0"/>
              <a:t>2. Encryption to a known recipient, forward secrecy for sender</a:t>
            </a:r>
            <a:r>
              <a:rPr lang="ru-RU" sz="2400" b="1" dirty="0"/>
              <a:t> </a:t>
            </a:r>
            <a:r>
              <a:rPr lang="en-US" sz="2400" b="1" dirty="0"/>
              <a:t>compromise only, vulnerable to replay</a:t>
            </a:r>
            <a:r>
              <a:rPr lang="en-US" sz="2400" dirty="0"/>
              <a:t>. This payload is encrypted</a:t>
            </a:r>
            <a:r>
              <a:rPr lang="ru-RU" sz="2400" dirty="0"/>
              <a:t> </a:t>
            </a:r>
            <a:r>
              <a:rPr lang="en-US" sz="2400" dirty="0"/>
              <a:t>based only on DHs involving the recipient’s static key pair. If the recipient’s</a:t>
            </a:r>
            <a:r>
              <a:rPr lang="ru-RU" sz="2400" dirty="0"/>
              <a:t> </a:t>
            </a:r>
            <a:r>
              <a:rPr lang="en-US" sz="2400" dirty="0"/>
              <a:t>static private key is compromised, even at a later date, this payload can be</a:t>
            </a:r>
            <a:r>
              <a:rPr lang="ru-RU" sz="2400" dirty="0"/>
              <a:t> </a:t>
            </a:r>
            <a:r>
              <a:rPr lang="en-US" sz="2400" dirty="0"/>
              <a:t>decrypted. This message can also be replayed, since there’s no ephemeral</a:t>
            </a:r>
            <a:r>
              <a:rPr lang="ru-RU" sz="2400" dirty="0"/>
              <a:t> </a:t>
            </a:r>
            <a:r>
              <a:rPr lang="en-US" sz="2400" dirty="0"/>
              <a:t>contribution from the recipient.</a:t>
            </a:r>
            <a:endParaRPr lang="ru-RU" sz="2400" dirty="0"/>
          </a:p>
        </p:txBody>
      </p:sp>
      <p:sp>
        <p:nvSpPr>
          <p:cNvPr id="4" name="Номер слайда 3">
            <a:extLst>
              <a:ext uri="{FF2B5EF4-FFF2-40B4-BE49-F238E27FC236}">
                <a16:creationId xmlns:a16="http://schemas.microsoft.com/office/drawing/2014/main" id="{E1DC8FC6-673F-4504-9EA7-DD917317E638}"/>
              </a:ext>
            </a:extLst>
          </p:cNvPr>
          <p:cNvSpPr>
            <a:spLocks noGrp="1"/>
          </p:cNvSpPr>
          <p:nvPr>
            <p:ph type="sldNum" sz="quarter" idx="12"/>
          </p:nvPr>
        </p:nvSpPr>
        <p:spPr/>
        <p:txBody>
          <a:bodyPr/>
          <a:lstStyle/>
          <a:p>
            <a:fld id="{AC4B6EA2-3DAB-415A-81B1-2E2A41D203B5}" type="slidenum">
              <a:rPr lang="ru-RU" smtClean="0"/>
              <a:t>34</a:t>
            </a:fld>
            <a:endParaRPr lang="ru-RU" dirty="0"/>
          </a:p>
        </p:txBody>
      </p:sp>
    </p:spTree>
    <p:extLst>
      <p:ext uri="{BB962C8B-B14F-4D97-AF65-F5344CB8AC3E}">
        <p14:creationId xmlns:p14="http://schemas.microsoft.com/office/powerpoint/2010/main" val="4576469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18BEC7-F60E-413F-9461-2CE2C211385D}"/>
              </a:ext>
            </a:extLst>
          </p:cNvPr>
          <p:cNvSpPr>
            <a:spLocks noGrp="1"/>
          </p:cNvSpPr>
          <p:nvPr>
            <p:ph type="title"/>
          </p:nvPr>
        </p:nvSpPr>
        <p:spPr/>
        <p:txBody>
          <a:bodyPr/>
          <a:lstStyle/>
          <a:p>
            <a:r>
              <a:rPr lang="ru-RU" dirty="0"/>
              <a:t>Свойства </a:t>
            </a:r>
            <a:r>
              <a:rPr lang="en-US" dirty="0"/>
              <a:t>payload (</a:t>
            </a:r>
            <a:r>
              <a:rPr lang="ru-RU" dirty="0"/>
              <a:t>получатель)</a:t>
            </a:r>
          </a:p>
        </p:txBody>
      </p:sp>
      <p:sp>
        <p:nvSpPr>
          <p:cNvPr id="3" name="Объект 2">
            <a:extLst>
              <a:ext uri="{FF2B5EF4-FFF2-40B4-BE49-F238E27FC236}">
                <a16:creationId xmlns:a16="http://schemas.microsoft.com/office/drawing/2014/main" id="{70D6D4DE-5A97-4ED6-AEF9-107AB583F6E5}"/>
              </a:ext>
            </a:extLst>
          </p:cNvPr>
          <p:cNvSpPr>
            <a:spLocks noGrp="1"/>
          </p:cNvSpPr>
          <p:nvPr>
            <p:ph idx="1"/>
          </p:nvPr>
        </p:nvSpPr>
        <p:spPr>
          <a:xfrm>
            <a:off x="838200" y="1825625"/>
            <a:ext cx="10515600" cy="4351338"/>
          </a:xfrm>
        </p:spPr>
        <p:txBody>
          <a:bodyPr>
            <a:normAutofit/>
          </a:bodyPr>
          <a:lstStyle/>
          <a:p>
            <a:pPr marL="0" indent="0">
              <a:buNone/>
            </a:pPr>
            <a:r>
              <a:rPr lang="ru-RU" sz="2400" b="1" dirty="0"/>
              <a:t>3. </a:t>
            </a:r>
            <a:r>
              <a:rPr lang="en-US" sz="2400" b="1" dirty="0"/>
              <a:t>Encryption to a known recipient, weak forward secrecy.</a:t>
            </a:r>
            <a:r>
              <a:rPr lang="en-US" sz="2400" dirty="0"/>
              <a:t> This payload is encrypted based on an ephemeral-ephemeral DH and also an ephemeral-static DH involving the recipient's static key pair. However, the binding between the recipient's alleged ephemeral public key and the recipient's static public key hasn't been verified by the sender, so the recipient's alleged ephemeral public key may have been forged by an active attacker. In this case, the attacker could later compromise the recipient's static private key to decrypt the payload. </a:t>
            </a:r>
            <a:endParaRPr lang="ru-RU" sz="2400" dirty="0"/>
          </a:p>
        </p:txBody>
      </p:sp>
      <p:sp>
        <p:nvSpPr>
          <p:cNvPr id="4" name="Номер слайда 3">
            <a:extLst>
              <a:ext uri="{FF2B5EF4-FFF2-40B4-BE49-F238E27FC236}">
                <a16:creationId xmlns:a16="http://schemas.microsoft.com/office/drawing/2014/main" id="{AC997418-8CF1-4670-8C31-AFC68380CF25}"/>
              </a:ext>
            </a:extLst>
          </p:cNvPr>
          <p:cNvSpPr>
            <a:spLocks noGrp="1"/>
          </p:cNvSpPr>
          <p:nvPr>
            <p:ph type="sldNum" sz="quarter" idx="12"/>
          </p:nvPr>
        </p:nvSpPr>
        <p:spPr/>
        <p:txBody>
          <a:bodyPr/>
          <a:lstStyle/>
          <a:p>
            <a:fld id="{AC4B6EA2-3DAB-415A-81B1-2E2A41D203B5}" type="slidenum">
              <a:rPr lang="ru-RU" smtClean="0"/>
              <a:t>35</a:t>
            </a:fld>
            <a:endParaRPr lang="ru-RU" dirty="0"/>
          </a:p>
        </p:txBody>
      </p:sp>
    </p:spTree>
    <p:extLst>
      <p:ext uri="{BB962C8B-B14F-4D97-AF65-F5344CB8AC3E}">
        <p14:creationId xmlns:p14="http://schemas.microsoft.com/office/powerpoint/2010/main" val="574112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18BEC7-F60E-413F-9461-2CE2C211385D}"/>
              </a:ext>
            </a:extLst>
          </p:cNvPr>
          <p:cNvSpPr>
            <a:spLocks noGrp="1"/>
          </p:cNvSpPr>
          <p:nvPr>
            <p:ph type="title"/>
          </p:nvPr>
        </p:nvSpPr>
        <p:spPr/>
        <p:txBody>
          <a:bodyPr/>
          <a:lstStyle/>
          <a:p>
            <a:r>
              <a:rPr lang="ru-RU" dirty="0"/>
              <a:t>Свойства </a:t>
            </a:r>
            <a:r>
              <a:rPr lang="en-US" dirty="0"/>
              <a:t>payload (</a:t>
            </a:r>
            <a:r>
              <a:rPr lang="ru-RU" dirty="0"/>
              <a:t>получатель)</a:t>
            </a:r>
          </a:p>
        </p:txBody>
      </p:sp>
      <p:sp>
        <p:nvSpPr>
          <p:cNvPr id="3" name="Объект 2">
            <a:extLst>
              <a:ext uri="{FF2B5EF4-FFF2-40B4-BE49-F238E27FC236}">
                <a16:creationId xmlns:a16="http://schemas.microsoft.com/office/drawing/2014/main" id="{70D6D4DE-5A97-4ED6-AEF9-107AB583F6E5}"/>
              </a:ext>
            </a:extLst>
          </p:cNvPr>
          <p:cNvSpPr>
            <a:spLocks noGrp="1"/>
          </p:cNvSpPr>
          <p:nvPr>
            <p:ph idx="1"/>
          </p:nvPr>
        </p:nvSpPr>
        <p:spPr>
          <a:xfrm>
            <a:off x="838200" y="1825625"/>
            <a:ext cx="10515600" cy="4351338"/>
          </a:xfrm>
        </p:spPr>
        <p:txBody>
          <a:bodyPr>
            <a:normAutofit/>
          </a:bodyPr>
          <a:lstStyle/>
          <a:p>
            <a:pPr marL="0" indent="0">
              <a:buNone/>
            </a:pPr>
            <a:r>
              <a:rPr lang="ru-RU" sz="2400" b="1" dirty="0"/>
              <a:t>4. </a:t>
            </a:r>
            <a:r>
              <a:rPr lang="en-US" sz="2400" b="1" dirty="0"/>
              <a:t>Encryption to a known recipient, weak forward secrecy if the sender's private key has been compromised.</a:t>
            </a:r>
            <a:r>
              <a:rPr lang="en-US" sz="2400" dirty="0"/>
              <a:t> This payload is encrypted based on an ephemeral-ephemeral DH, and also based on an ephemeral-static DH involving the recipient's static key pair. However, the binding between the recipient's alleged ephemeral public and the recipient's static public key has only been verified based on DHs involving both those public keys and the sender's static private key. Thus, if the sender's static private key was previously compromised, the recipient's alleged ephemeral public key may have been forged by an active attacker. In this case, the attacker could later compromise the intended recipient's static private key to decrypt the payload (this is a variant of a "KCI" attack enabling a "weak forward secrecy" attack). Note that a future version of Noise might include signatures, which could improve this security property, but brings other trade-offs.</a:t>
            </a:r>
            <a:endParaRPr lang="ru-RU" sz="2400" dirty="0"/>
          </a:p>
        </p:txBody>
      </p:sp>
      <p:sp>
        <p:nvSpPr>
          <p:cNvPr id="4" name="Номер слайда 3">
            <a:extLst>
              <a:ext uri="{FF2B5EF4-FFF2-40B4-BE49-F238E27FC236}">
                <a16:creationId xmlns:a16="http://schemas.microsoft.com/office/drawing/2014/main" id="{AC997418-8CF1-4670-8C31-AFC68380CF25}"/>
              </a:ext>
            </a:extLst>
          </p:cNvPr>
          <p:cNvSpPr>
            <a:spLocks noGrp="1"/>
          </p:cNvSpPr>
          <p:nvPr>
            <p:ph type="sldNum" sz="quarter" idx="12"/>
          </p:nvPr>
        </p:nvSpPr>
        <p:spPr/>
        <p:txBody>
          <a:bodyPr/>
          <a:lstStyle/>
          <a:p>
            <a:fld id="{AC4B6EA2-3DAB-415A-81B1-2E2A41D203B5}" type="slidenum">
              <a:rPr lang="ru-RU" smtClean="0"/>
              <a:t>36</a:t>
            </a:fld>
            <a:endParaRPr lang="ru-RU" dirty="0"/>
          </a:p>
        </p:txBody>
      </p:sp>
    </p:spTree>
    <p:extLst>
      <p:ext uri="{BB962C8B-B14F-4D97-AF65-F5344CB8AC3E}">
        <p14:creationId xmlns:p14="http://schemas.microsoft.com/office/powerpoint/2010/main" val="40811663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C56604-B53C-4D9C-AD38-E74EB94D1066}"/>
              </a:ext>
            </a:extLst>
          </p:cNvPr>
          <p:cNvSpPr>
            <a:spLocks noGrp="1"/>
          </p:cNvSpPr>
          <p:nvPr>
            <p:ph type="title"/>
          </p:nvPr>
        </p:nvSpPr>
        <p:spPr/>
        <p:txBody>
          <a:bodyPr/>
          <a:lstStyle/>
          <a:p>
            <a:r>
              <a:rPr lang="ru-RU" dirty="0"/>
              <a:t>Свойства </a:t>
            </a:r>
            <a:r>
              <a:rPr lang="en-US" dirty="0"/>
              <a:t>payload (</a:t>
            </a:r>
            <a:r>
              <a:rPr lang="ru-RU" dirty="0"/>
              <a:t>получатель)</a:t>
            </a:r>
          </a:p>
        </p:txBody>
      </p:sp>
      <p:sp>
        <p:nvSpPr>
          <p:cNvPr id="3" name="Объект 2">
            <a:extLst>
              <a:ext uri="{FF2B5EF4-FFF2-40B4-BE49-F238E27FC236}">
                <a16:creationId xmlns:a16="http://schemas.microsoft.com/office/drawing/2014/main" id="{1FD5C305-E954-4986-A371-5D863E4B2CC7}"/>
              </a:ext>
            </a:extLst>
          </p:cNvPr>
          <p:cNvSpPr>
            <a:spLocks noGrp="1"/>
          </p:cNvSpPr>
          <p:nvPr>
            <p:ph idx="1"/>
          </p:nvPr>
        </p:nvSpPr>
        <p:spPr/>
        <p:txBody>
          <a:bodyPr/>
          <a:lstStyle/>
          <a:p>
            <a:pPr marL="0" indent="0">
              <a:buNone/>
            </a:pPr>
            <a:r>
              <a:rPr lang="ru-RU" b="1" dirty="0"/>
              <a:t>5. </a:t>
            </a:r>
            <a:r>
              <a:rPr lang="en-US" b="1" dirty="0"/>
              <a:t>Encryption to a known recipient, strong forward secrecy.</a:t>
            </a:r>
            <a:r>
              <a:rPr lang="en-US" dirty="0"/>
              <a:t> This payload is encrypted based on an ephemeral-ephemeral DH as well as an ephemeral-static DH with the recipient's static key pair. Assuming the ephemeral private keys are secure, and the recipient is not being actively impersonated by an attacker that has stolen its static private key, this payload cannot be decrypted.</a:t>
            </a:r>
            <a:endParaRPr lang="ru-RU" dirty="0"/>
          </a:p>
        </p:txBody>
      </p:sp>
      <p:sp>
        <p:nvSpPr>
          <p:cNvPr id="4" name="Номер слайда 3">
            <a:extLst>
              <a:ext uri="{FF2B5EF4-FFF2-40B4-BE49-F238E27FC236}">
                <a16:creationId xmlns:a16="http://schemas.microsoft.com/office/drawing/2014/main" id="{F231208F-D67F-4BA7-8CEB-040C451EDBAD}"/>
              </a:ext>
            </a:extLst>
          </p:cNvPr>
          <p:cNvSpPr>
            <a:spLocks noGrp="1"/>
          </p:cNvSpPr>
          <p:nvPr>
            <p:ph type="sldNum" sz="quarter" idx="12"/>
          </p:nvPr>
        </p:nvSpPr>
        <p:spPr/>
        <p:txBody>
          <a:bodyPr/>
          <a:lstStyle/>
          <a:p>
            <a:fld id="{AC4B6EA2-3DAB-415A-81B1-2E2A41D203B5}" type="slidenum">
              <a:rPr lang="ru-RU" smtClean="0"/>
              <a:t>37</a:t>
            </a:fld>
            <a:endParaRPr lang="ru-RU" dirty="0"/>
          </a:p>
        </p:txBody>
      </p:sp>
    </p:spTree>
    <p:extLst>
      <p:ext uri="{BB962C8B-B14F-4D97-AF65-F5344CB8AC3E}">
        <p14:creationId xmlns:p14="http://schemas.microsoft.com/office/powerpoint/2010/main" val="37872966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37D4A3-E0DD-4535-8791-D71A3FF2A900}"/>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D5BE5D5-76B8-48DB-9965-D82FA7118ACC}"/>
              </a:ext>
            </a:extLst>
          </p:cNvPr>
          <p:cNvSpPr>
            <a:spLocks noGrp="1"/>
          </p:cNvSpPr>
          <p:nvPr>
            <p:ph idx="1"/>
          </p:nvPr>
        </p:nvSpPr>
        <p:spPr/>
        <p:txBody>
          <a:bodyPr/>
          <a:lstStyle/>
          <a:p>
            <a:endParaRPr lang="ru-RU" dirty="0"/>
          </a:p>
        </p:txBody>
      </p:sp>
      <p:sp>
        <p:nvSpPr>
          <p:cNvPr id="4" name="Номер слайда 3">
            <a:extLst>
              <a:ext uri="{FF2B5EF4-FFF2-40B4-BE49-F238E27FC236}">
                <a16:creationId xmlns:a16="http://schemas.microsoft.com/office/drawing/2014/main" id="{AEF2144D-91ED-418B-B3A2-300A4784EA94}"/>
              </a:ext>
            </a:extLst>
          </p:cNvPr>
          <p:cNvSpPr>
            <a:spLocks noGrp="1"/>
          </p:cNvSpPr>
          <p:nvPr>
            <p:ph type="sldNum" sz="quarter" idx="12"/>
          </p:nvPr>
        </p:nvSpPr>
        <p:spPr/>
        <p:txBody>
          <a:bodyPr/>
          <a:lstStyle/>
          <a:p>
            <a:fld id="{AC4B6EA2-3DAB-415A-81B1-2E2A41D203B5}" type="slidenum">
              <a:rPr lang="ru-RU" smtClean="0"/>
              <a:t>38</a:t>
            </a:fld>
            <a:endParaRPr lang="ru-RU" dirty="0"/>
          </a:p>
        </p:txBody>
      </p:sp>
    </p:spTree>
    <p:extLst>
      <p:ext uri="{BB962C8B-B14F-4D97-AF65-F5344CB8AC3E}">
        <p14:creationId xmlns:p14="http://schemas.microsoft.com/office/powerpoint/2010/main" val="3984330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Больше про </a:t>
            </a:r>
            <a:r>
              <a:rPr lang="en-US" dirty="0"/>
              <a:t>noise</a:t>
            </a:r>
            <a:endParaRPr lang="ru-RU" dirty="0"/>
          </a:p>
        </p:txBody>
      </p:sp>
      <p:sp>
        <p:nvSpPr>
          <p:cNvPr id="3" name="Объект 2"/>
          <p:cNvSpPr>
            <a:spLocks noGrp="1"/>
          </p:cNvSpPr>
          <p:nvPr>
            <p:ph idx="1"/>
          </p:nvPr>
        </p:nvSpPr>
        <p:spPr/>
        <p:txBody>
          <a:bodyPr/>
          <a:lstStyle/>
          <a:p>
            <a:r>
              <a:rPr lang="en-US">
                <a:hlinkClick r:id="rId2"/>
              </a:rPr>
              <a:t>https</a:t>
            </a:r>
            <a:r>
              <a:rPr lang="en-US" dirty="0">
                <a:hlinkClick r:id="rId2"/>
              </a:rPr>
              <a:t>://noiseprotocol.org/</a:t>
            </a:r>
            <a:endParaRPr lang="en-US" dirty="0"/>
          </a:p>
          <a:p>
            <a:r>
              <a:rPr lang="en-US" dirty="0">
                <a:hlinkClick r:id="rId3"/>
              </a:rPr>
              <a:t>https://www.nccgroup.com/us/about-us/newsroom-and-events/blog/2018/august/introducing-disco/</a:t>
            </a:r>
            <a:endParaRPr lang="en-US" dirty="0"/>
          </a:p>
        </p:txBody>
      </p:sp>
      <p:sp>
        <p:nvSpPr>
          <p:cNvPr id="4" name="Номер слайда 3"/>
          <p:cNvSpPr>
            <a:spLocks noGrp="1"/>
          </p:cNvSpPr>
          <p:nvPr>
            <p:ph type="sldNum" sz="quarter" idx="12"/>
          </p:nvPr>
        </p:nvSpPr>
        <p:spPr/>
        <p:txBody>
          <a:bodyPr/>
          <a:lstStyle/>
          <a:p>
            <a:fld id="{AC4B6EA2-3DAB-415A-81B1-2E2A41D203B5}" type="slidenum">
              <a:rPr lang="ru-RU" smtClean="0"/>
              <a:t>39</a:t>
            </a:fld>
            <a:endParaRPr lang="ru-RU" dirty="0"/>
          </a:p>
        </p:txBody>
      </p:sp>
    </p:spTree>
    <p:extLst>
      <p:ext uri="{BB962C8B-B14F-4D97-AF65-F5344CB8AC3E}">
        <p14:creationId xmlns:p14="http://schemas.microsoft.com/office/powerpoint/2010/main" val="3803676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err="1"/>
              <a:t>WireGuard</a:t>
            </a:r>
            <a:endParaRPr lang="ru-RU" dirty="0"/>
          </a:p>
        </p:txBody>
      </p:sp>
      <p:sp>
        <p:nvSpPr>
          <p:cNvPr id="3" name="Объект 2"/>
          <p:cNvSpPr>
            <a:spLocks noGrp="1"/>
          </p:cNvSpPr>
          <p:nvPr>
            <p:ph idx="1"/>
          </p:nvPr>
        </p:nvSpPr>
        <p:spPr/>
        <p:txBody>
          <a:bodyPr/>
          <a:lstStyle/>
          <a:p>
            <a:pPr marL="0" indent="0">
              <a:buNone/>
            </a:pPr>
            <a:r>
              <a:rPr lang="ru-RU" dirty="0"/>
              <a:t>Черновик стандарта построения </a:t>
            </a:r>
            <a:r>
              <a:rPr lang="en-US" dirty="0"/>
              <a:t>VPN </a:t>
            </a:r>
            <a:r>
              <a:rPr lang="ru-RU" dirty="0"/>
              <a:t>соединений.</a:t>
            </a:r>
            <a:endParaRPr lang="en-US" dirty="0"/>
          </a:p>
          <a:p>
            <a:r>
              <a:rPr lang="ru-RU" dirty="0"/>
              <a:t>Все пакеты аутентифицированы, неаутентифицированные отбрасываются. Не отвечать на неаутентифицированные пакеты.</a:t>
            </a:r>
          </a:p>
          <a:p>
            <a:r>
              <a:rPr lang="en-US" dirty="0"/>
              <a:t>1 RRT handshake</a:t>
            </a:r>
            <a:r>
              <a:rPr lang="ru-RU" dirty="0"/>
              <a:t> (</a:t>
            </a:r>
            <a:r>
              <a:rPr lang="en-US" dirty="0"/>
              <a:t>Noise IK)</a:t>
            </a:r>
            <a:endParaRPr lang="ru-RU" dirty="0"/>
          </a:p>
          <a:p>
            <a:r>
              <a:rPr lang="ru-RU" dirty="0"/>
              <a:t>Использование метки времени </a:t>
            </a:r>
            <a:r>
              <a:rPr lang="en-US" dirty="0"/>
              <a:t>TAI64N</a:t>
            </a:r>
            <a:r>
              <a:rPr lang="ru-RU" dirty="0"/>
              <a:t> в первом сообщении</a:t>
            </a:r>
          </a:p>
          <a:p>
            <a:r>
              <a:rPr lang="ru-RU" dirty="0"/>
              <a:t>Опциональное использование </a:t>
            </a:r>
            <a:r>
              <a:rPr lang="en-US" dirty="0"/>
              <a:t>psk </a:t>
            </a:r>
            <a:r>
              <a:rPr lang="ru-RU" dirty="0"/>
              <a:t>для смягчения угрозы перед квантовым противником</a:t>
            </a:r>
          </a:p>
          <a:p>
            <a:r>
              <a:rPr lang="ru-RU" dirty="0"/>
              <a:t>Использование </a:t>
            </a:r>
            <a:r>
              <a:rPr lang="en-US" dirty="0"/>
              <a:t>cookie </a:t>
            </a:r>
            <a:r>
              <a:rPr lang="ru-RU" dirty="0"/>
              <a:t>для смягчения </a:t>
            </a:r>
            <a:r>
              <a:rPr lang="en-US" dirty="0"/>
              <a:t>DOS</a:t>
            </a:r>
            <a:endParaRPr lang="ru-RU" dirty="0"/>
          </a:p>
          <a:p>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40</a:t>
            </a:fld>
            <a:endParaRPr lang="ru-RU" dirty="0"/>
          </a:p>
        </p:txBody>
      </p:sp>
    </p:spTree>
    <p:extLst>
      <p:ext uri="{BB962C8B-B14F-4D97-AF65-F5344CB8AC3E}">
        <p14:creationId xmlns:p14="http://schemas.microsoft.com/office/powerpoint/2010/main" val="10912205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Маршрутизация </a:t>
            </a:r>
            <a:r>
              <a:rPr lang="en-US" dirty="0" err="1"/>
              <a:t>WireGuard</a:t>
            </a:r>
            <a:endParaRPr lang="ru-RU" dirty="0"/>
          </a:p>
        </p:txBody>
      </p:sp>
      <p:sp>
        <p:nvSpPr>
          <p:cNvPr id="3" name="Объект 2"/>
          <p:cNvSpPr>
            <a:spLocks noGrp="1"/>
          </p:cNvSpPr>
          <p:nvPr>
            <p:ph idx="1"/>
          </p:nvPr>
        </p:nvSpPr>
        <p:spPr/>
        <p:txBody>
          <a:bodyPr/>
          <a:lstStyle/>
          <a:p>
            <a:pPr marL="0" indent="0">
              <a:buNone/>
            </a:pPr>
            <a:r>
              <a:rPr lang="ru-RU" dirty="0"/>
              <a:t>Сетевой интерфейс имеет статическую пару ключей, назначенный порт и таблицу маршрутизации. В таблице маршрутизации для каждой записи хранится статический открытый ключ принимающей стороны.</a:t>
            </a:r>
          </a:p>
        </p:txBody>
      </p:sp>
      <p:pic>
        <p:nvPicPr>
          <p:cNvPr id="4" name="Рисунок 3"/>
          <p:cNvPicPr>
            <a:picLocks noChangeAspect="1"/>
          </p:cNvPicPr>
          <p:nvPr/>
        </p:nvPicPr>
        <p:blipFill>
          <a:blip r:embed="rId2"/>
          <a:stretch>
            <a:fillRect/>
          </a:stretch>
        </p:blipFill>
        <p:spPr>
          <a:xfrm>
            <a:off x="971916" y="3529013"/>
            <a:ext cx="10125075" cy="2647950"/>
          </a:xfrm>
          <a:prstGeom prst="rect">
            <a:avLst/>
          </a:prstGeom>
        </p:spPr>
      </p:pic>
      <p:sp>
        <p:nvSpPr>
          <p:cNvPr id="5" name="Номер слайда 4"/>
          <p:cNvSpPr>
            <a:spLocks noGrp="1"/>
          </p:cNvSpPr>
          <p:nvPr>
            <p:ph type="sldNum" sz="quarter" idx="12"/>
          </p:nvPr>
        </p:nvSpPr>
        <p:spPr/>
        <p:txBody>
          <a:bodyPr/>
          <a:lstStyle/>
          <a:p>
            <a:fld id="{AC4B6EA2-3DAB-415A-81B1-2E2A41D203B5}" type="slidenum">
              <a:rPr lang="ru-RU" smtClean="0"/>
              <a:t>41</a:t>
            </a:fld>
            <a:endParaRPr lang="ru-RU" dirty="0"/>
          </a:p>
        </p:txBody>
      </p:sp>
    </p:spTree>
    <p:extLst>
      <p:ext uri="{BB962C8B-B14F-4D97-AF65-F5344CB8AC3E}">
        <p14:creationId xmlns:p14="http://schemas.microsoft.com/office/powerpoint/2010/main" val="1129078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Маршрутизация </a:t>
            </a:r>
            <a:r>
              <a:rPr lang="en-US" dirty="0" err="1"/>
              <a:t>WireGuard</a:t>
            </a:r>
            <a:endParaRPr lang="ru-RU" dirty="0"/>
          </a:p>
        </p:txBody>
      </p:sp>
      <p:sp>
        <p:nvSpPr>
          <p:cNvPr id="3" name="Объект 2"/>
          <p:cNvSpPr>
            <a:spLocks noGrp="1"/>
          </p:cNvSpPr>
          <p:nvPr>
            <p:ph idx="1"/>
          </p:nvPr>
        </p:nvSpPr>
        <p:spPr/>
        <p:txBody>
          <a:bodyPr>
            <a:normAutofit lnSpcReduction="10000"/>
          </a:bodyPr>
          <a:lstStyle/>
          <a:p>
            <a:pPr marL="0" indent="0">
              <a:buNone/>
            </a:pPr>
            <a:r>
              <a:rPr lang="ru-RU" dirty="0"/>
              <a:t>При отправке или получении пакета через интерфейс </a:t>
            </a:r>
            <a:r>
              <a:rPr lang="en-US" dirty="0" err="1"/>
              <a:t>WireGuard</a:t>
            </a:r>
            <a:r>
              <a:rPr lang="ru-RU" dirty="0"/>
              <a:t> из таблицы маршрутизации извлекается соответствующий открытый ключ, используемый для построения защищенного канала связи.</a:t>
            </a:r>
          </a:p>
          <a:p>
            <a:pPr marL="0" indent="0">
              <a:buNone/>
            </a:pPr>
            <a:r>
              <a:rPr lang="ru-RU" dirty="0"/>
              <a:t>При получении пакета от других узлов их адреса добавляются в таблицу маршрутизации в поле </a:t>
            </a:r>
            <a:r>
              <a:rPr lang="en-US" dirty="0"/>
              <a:t>Internet Endpoint</a:t>
            </a:r>
            <a:r>
              <a:rPr lang="ru-RU" dirty="0"/>
              <a:t>. Данное поле может быть заполнено вручную на этапе конфигурации.</a:t>
            </a:r>
          </a:p>
          <a:p>
            <a:pPr marL="0" indent="0">
              <a:buNone/>
            </a:pPr>
            <a:r>
              <a:rPr lang="ru-RU" dirty="0"/>
              <a:t>Пусть узел с конфигурацией 2</a:t>
            </a:r>
            <a:r>
              <a:rPr lang="en-US" dirty="0"/>
              <a:t>b </a:t>
            </a:r>
            <a:r>
              <a:rPr lang="ru-RU" dirty="0"/>
              <a:t>отправляет пакет узлу с предконфигурированном адресом 192.95.5.69:41414. Тогда на узле получателя при получении пакеты будет добавлена запись </a:t>
            </a:r>
            <a:r>
              <a:rPr lang="en-US" dirty="0"/>
              <a:t>Internet Endpoint</a:t>
            </a:r>
            <a:r>
              <a:rPr lang="ru-RU" dirty="0"/>
              <a:t> об узле отправителя (конфигурация </a:t>
            </a:r>
            <a:r>
              <a:rPr lang="en-US" dirty="0"/>
              <a:t>1b)</a:t>
            </a:r>
            <a:r>
              <a:rPr lang="ru-RU" dirty="0"/>
              <a:t>.</a:t>
            </a:r>
            <a:r>
              <a:rPr lang="en-US" dirty="0"/>
              <a:t> </a:t>
            </a:r>
            <a:r>
              <a:rPr lang="ru-RU" dirty="0"/>
              <a:t>Порты отправки и получения должны совпадать.</a:t>
            </a:r>
            <a:r>
              <a:rPr lang="en-US" dirty="0"/>
              <a:t> </a:t>
            </a:r>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42</a:t>
            </a:fld>
            <a:endParaRPr lang="ru-RU" dirty="0"/>
          </a:p>
        </p:txBody>
      </p:sp>
    </p:spTree>
    <p:extLst>
      <p:ext uri="{BB962C8B-B14F-4D97-AF65-F5344CB8AC3E}">
        <p14:creationId xmlns:p14="http://schemas.microsoft.com/office/powerpoint/2010/main" val="1627944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Маршрутизация </a:t>
            </a:r>
            <a:r>
              <a:rPr lang="en-US" dirty="0" err="1"/>
              <a:t>WireGuard</a:t>
            </a:r>
            <a:endParaRPr lang="ru-RU" dirty="0"/>
          </a:p>
        </p:txBody>
      </p:sp>
      <p:pic>
        <p:nvPicPr>
          <p:cNvPr id="4" name="Рисунок 3"/>
          <p:cNvPicPr>
            <a:picLocks noChangeAspect="1"/>
          </p:cNvPicPr>
          <p:nvPr/>
        </p:nvPicPr>
        <p:blipFill>
          <a:blip r:embed="rId2"/>
          <a:stretch>
            <a:fillRect/>
          </a:stretch>
        </p:blipFill>
        <p:spPr>
          <a:xfrm>
            <a:off x="1347787" y="1690688"/>
            <a:ext cx="9496425" cy="2057400"/>
          </a:xfrm>
          <a:prstGeom prst="rect">
            <a:avLst/>
          </a:prstGeom>
        </p:spPr>
      </p:pic>
      <p:pic>
        <p:nvPicPr>
          <p:cNvPr id="5" name="Рисунок 4"/>
          <p:cNvPicPr>
            <a:picLocks noChangeAspect="1"/>
          </p:cNvPicPr>
          <p:nvPr/>
        </p:nvPicPr>
        <p:blipFill>
          <a:blip r:embed="rId3"/>
          <a:stretch>
            <a:fillRect/>
          </a:stretch>
        </p:blipFill>
        <p:spPr>
          <a:xfrm>
            <a:off x="838200" y="3883025"/>
            <a:ext cx="10191750" cy="2571750"/>
          </a:xfrm>
          <a:prstGeom prst="rect">
            <a:avLst/>
          </a:prstGeom>
        </p:spPr>
      </p:pic>
      <p:sp>
        <p:nvSpPr>
          <p:cNvPr id="3" name="Номер слайда 2"/>
          <p:cNvSpPr>
            <a:spLocks noGrp="1"/>
          </p:cNvSpPr>
          <p:nvPr>
            <p:ph type="sldNum" sz="quarter" idx="12"/>
          </p:nvPr>
        </p:nvSpPr>
        <p:spPr/>
        <p:txBody>
          <a:bodyPr/>
          <a:lstStyle/>
          <a:p>
            <a:fld id="{AC4B6EA2-3DAB-415A-81B1-2E2A41D203B5}" type="slidenum">
              <a:rPr lang="ru-RU" smtClean="0"/>
              <a:t>43</a:t>
            </a:fld>
            <a:endParaRPr lang="ru-RU" dirty="0"/>
          </a:p>
        </p:txBody>
      </p:sp>
    </p:spTree>
    <p:extLst>
      <p:ext uri="{BB962C8B-B14F-4D97-AF65-F5344CB8AC3E}">
        <p14:creationId xmlns:p14="http://schemas.microsoft.com/office/powerpoint/2010/main" val="22556446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Процедура инкапсуляции </a:t>
            </a:r>
            <a:r>
              <a:rPr lang="en-US" dirty="0" err="1"/>
              <a:t>WireGuard</a:t>
            </a:r>
            <a:endParaRPr lang="ru-RU" dirty="0"/>
          </a:p>
        </p:txBody>
      </p:sp>
      <p:sp>
        <p:nvSpPr>
          <p:cNvPr id="3" name="Объект 2"/>
          <p:cNvSpPr>
            <a:spLocks noGrp="1"/>
          </p:cNvSpPr>
          <p:nvPr>
            <p:ph idx="1"/>
          </p:nvPr>
        </p:nvSpPr>
        <p:spPr/>
        <p:txBody>
          <a:bodyPr/>
          <a:lstStyle/>
          <a:p>
            <a:pPr marL="0" indent="0">
              <a:buNone/>
            </a:pPr>
            <a:r>
              <a:rPr lang="ru-RU" dirty="0"/>
              <a:t>Пакет с </a:t>
            </a:r>
            <a:r>
              <a:rPr lang="en-US" dirty="0"/>
              <a:t>PT </a:t>
            </a:r>
            <a:r>
              <a:rPr lang="ru-RU" dirty="0"/>
              <a:t>приходит на интерфейс</a:t>
            </a:r>
            <a:r>
              <a:rPr lang="en-US" dirty="0"/>
              <a:t> </a:t>
            </a:r>
            <a:r>
              <a:rPr lang="en-US" dirty="0" err="1"/>
              <a:t>WireGuard</a:t>
            </a:r>
            <a:r>
              <a:rPr lang="ru-RU" dirty="0"/>
              <a:t>.</a:t>
            </a:r>
            <a:endParaRPr lang="en-US" dirty="0"/>
          </a:p>
          <a:p>
            <a:pPr marL="0" indent="0">
              <a:buNone/>
            </a:pPr>
            <a:r>
              <a:rPr lang="ru-RU" dirty="0"/>
              <a:t>Определяется узел получателя и его открытый ключ.</a:t>
            </a:r>
          </a:p>
          <a:p>
            <a:pPr marL="0" indent="0">
              <a:buNone/>
            </a:pPr>
            <a:r>
              <a:rPr lang="ru-RU" dirty="0"/>
              <a:t>Определяется ключ и счётчик для использования в </a:t>
            </a:r>
            <a:r>
              <a:rPr lang="en-US" dirty="0"/>
              <a:t>ChaCha20Poly1305</a:t>
            </a:r>
            <a:r>
              <a:rPr lang="ru-RU" dirty="0"/>
              <a:t>. Содержимое пакета шифруется.</a:t>
            </a:r>
          </a:p>
          <a:p>
            <a:pPr marL="0" indent="0">
              <a:buNone/>
            </a:pPr>
            <a:r>
              <a:rPr lang="ru-RU" dirty="0"/>
              <a:t>К содержимому пакета добавляется заголовок.</a:t>
            </a:r>
          </a:p>
          <a:p>
            <a:pPr marL="0" indent="0">
              <a:buNone/>
            </a:pPr>
            <a:r>
              <a:rPr lang="ru-RU" dirty="0"/>
              <a:t>Результат отправляется узлу в виде </a:t>
            </a:r>
            <a:r>
              <a:rPr lang="en-US" dirty="0"/>
              <a:t>UDP </a:t>
            </a:r>
            <a:r>
              <a:rPr lang="ru-RU" dirty="0"/>
              <a:t>пакета по адресу </a:t>
            </a:r>
            <a:r>
              <a:rPr lang="en-US" dirty="0"/>
              <a:t>Internet Endpoint</a:t>
            </a:r>
            <a:r>
              <a:rPr lang="ru-RU" dirty="0"/>
              <a:t>. </a:t>
            </a:r>
          </a:p>
        </p:txBody>
      </p:sp>
      <p:sp>
        <p:nvSpPr>
          <p:cNvPr id="4" name="Номер слайда 3"/>
          <p:cNvSpPr>
            <a:spLocks noGrp="1"/>
          </p:cNvSpPr>
          <p:nvPr>
            <p:ph type="sldNum" sz="quarter" idx="12"/>
          </p:nvPr>
        </p:nvSpPr>
        <p:spPr/>
        <p:txBody>
          <a:bodyPr/>
          <a:lstStyle/>
          <a:p>
            <a:fld id="{AC4B6EA2-3DAB-415A-81B1-2E2A41D203B5}" type="slidenum">
              <a:rPr lang="ru-RU" smtClean="0"/>
              <a:t>44</a:t>
            </a:fld>
            <a:endParaRPr lang="ru-RU" dirty="0"/>
          </a:p>
        </p:txBody>
      </p:sp>
    </p:spTree>
    <p:extLst>
      <p:ext uri="{BB962C8B-B14F-4D97-AF65-F5344CB8AC3E}">
        <p14:creationId xmlns:p14="http://schemas.microsoft.com/office/powerpoint/2010/main" val="31145838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Криптография </a:t>
            </a:r>
            <a:r>
              <a:rPr lang="en-US" dirty="0" err="1"/>
              <a:t>WireGuard</a:t>
            </a:r>
            <a:endParaRPr lang="ru-RU" dirty="0"/>
          </a:p>
        </p:txBody>
      </p:sp>
      <p:sp>
        <p:nvSpPr>
          <p:cNvPr id="3" name="Объект 2"/>
          <p:cNvSpPr>
            <a:spLocks noGrp="1"/>
          </p:cNvSpPr>
          <p:nvPr>
            <p:ph idx="1"/>
          </p:nvPr>
        </p:nvSpPr>
        <p:spPr/>
        <p:txBody>
          <a:bodyPr>
            <a:normAutofit fontScale="92500" lnSpcReduction="10000"/>
          </a:bodyPr>
          <a:lstStyle/>
          <a:p>
            <a:pPr marL="0" indent="0">
              <a:buNone/>
            </a:pPr>
            <a:r>
              <a:rPr lang="ru-RU" dirty="0"/>
              <a:t>Основа – </a:t>
            </a:r>
            <a:r>
              <a:rPr lang="en-US" dirty="0"/>
              <a:t>Noise </a:t>
            </a:r>
            <a:r>
              <a:rPr lang="ru-RU" dirty="0"/>
              <a:t>«</a:t>
            </a:r>
            <a:r>
              <a:rPr lang="en-US" dirty="0"/>
              <a:t>IK</a:t>
            </a:r>
            <a:r>
              <a:rPr lang="ru-RU" dirty="0"/>
              <a:t>» (явная аутентичность ключа + </a:t>
            </a:r>
            <a:r>
              <a:rPr lang="en-US" dirty="0"/>
              <a:t>forward secrecy</a:t>
            </a:r>
            <a:r>
              <a:rPr lang="ru-RU" dirty="0"/>
              <a:t>)</a:t>
            </a:r>
          </a:p>
          <a:p>
            <a:pPr marL="0" indent="0">
              <a:buNone/>
            </a:pPr>
            <a:r>
              <a:rPr lang="pt-BR" dirty="0"/>
              <a:t>IK(s, rs):</a:t>
            </a:r>
          </a:p>
          <a:p>
            <a:pPr marL="0" indent="0">
              <a:buNone/>
            </a:pPr>
            <a:r>
              <a:rPr lang="pt-BR" dirty="0"/>
              <a:t>&lt;- s</a:t>
            </a:r>
          </a:p>
          <a:p>
            <a:pPr marL="0" indent="0">
              <a:buNone/>
            </a:pPr>
            <a:r>
              <a:rPr lang="pt-BR" dirty="0"/>
              <a:t>...</a:t>
            </a:r>
          </a:p>
          <a:p>
            <a:pPr marL="0" indent="0">
              <a:buNone/>
            </a:pPr>
            <a:r>
              <a:rPr lang="pt-BR" dirty="0"/>
              <a:t>-&gt; e, es, s, ss</a:t>
            </a:r>
          </a:p>
          <a:p>
            <a:pPr marL="0" indent="0">
              <a:buNone/>
            </a:pPr>
            <a:r>
              <a:rPr lang="pt-BR" dirty="0"/>
              <a:t>&lt;- e, ee, se</a:t>
            </a:r>
          </a:p>
          <a:p>
            <a:pPr marL="0" indent="0">
              <a:buNone/>
            </a:pPr>
            <a:r>
              <a:rPr lang="ru-RU" dirty="0"/>
              <a:t>Первое передаваемое сообщение после </a:t>
            </a:r>
            <a:r>
              <a:rPr lang="en-US" dirty="0"/>
              <a:t>handshake </a:t>
            </a:r>
            <a:r>
              <a:rPr lang="ru-RU" dirty="0"/>
              <a:t>аутентифицирует инициатора.</a:t>
            </a:r>
          </a:p>
          <a:p>
            <a:pPr marL="0" indent="0">
              <a:buNone/>
            </a:pPr>
            <a:r>
              <a:rPr lang="ru-RU" dirty="0"/>
              <a:t>Используемые примитивы – </a:t>
            </a:r>
            <a:r>
              <a:rPr lang="en-US" dirty="0"/>
              <a:t>ECDH </a:t>
            </a:r>
            <a:r>
              <a:rPr lang="ru-RU" dirty="0"/>
              <a:t>2551</a:t>
            </a:r>
            <a:r>
              <a:rPr lang="en-US" dirty="0"/>
              <a:t>9, ChaCha20Poly1305, HKDF, BLAKE2s (MAC, PRF), BLAKE2s (Hash), HMAC </a:t>
            </a:r>
          </a:p>
          <a:p>
            <a:pPr marL="0" indent="0">
              <a:buNone/>
            </a:pPr>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45</a:t>
            </a:fld>
            <a:endParaRPr lang="ru-RU" dirty="0"/>
          </a:p>
        </p:txBody>
      </p:sp>
    </p:spTree>
    <p:extLst>
      <p:ext uri="{BB962C8B-B14F-4D97-AF65-F5344CB8AC3E}">
        <p14:creationId xmlns:p14="http://schemas.microsoft.com/office/powerpoint/2010/main" val="35650195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Использование метки времени</a:t>
            </a:r>
          </a:p>
        </p:txBody>
      </p:sp>
      <p:sp>
        <p:nvSpPr>
          <p:cNvPr id="3" name="Объект 2"/>
          <p:cNvSpPr>
            <a:spLocks noGrp="1"/>
          </p:cNvSpPr>
          <p:nvPr>
            <p:ph idx="1"/>
          </p:nvPr>
        </p:nvSpPr>
        <p:spPr/>
        <p:txBody>
          <a:bodyPr/>
          <a:lstStyle/>
          <a:p>
            <a:pPr marL="0" indent="0">
              <a:buNone/>
            </a:pPr>
            <a:r>
              <a:rPr lang="ru-RU" dirty="0"/>
              <a:t>Благодаря </a:t>
            </a:r>
            <a:r>
              <a:rPr lang="en-US" dirty="0"/>
              <a:t>1-RTT </a:t>
            </a:r>
            <a:r>
              <a:rPr lang="ru-RU" dirty="0"/>
              <a:t>нет необходимости хранить состояние при согласовании ключа. </a:t>
            </a:r>
          </a:p>
          <a:p>
            <a:pPr marL="0" indent="0">
              <a:buNone/>
            </a:pPr>
            <a:r>
              <a:rPr lang="ru-RU" dirty="0"/>
              <a:t>Возможна атака повтором, в которой противник повторяет </a:t>
            </a:r>
            <a:r>
              <a:rPr lang="en-US" dirty="0"/>
              <a:t>handshake</a:t>
            </a:r>
            <a:r>
              <a:rPr lang="ru-RU" dirty="0"/>
              <a:t>, заставляя получателя разорвать существующую сессию (</a:t>
            </a:r>
            <a:r>
              <a:rPr lang="en-US" dirty="0"/>
              <a:t>DOS)</a:t>
            </a:r>
            <a:r>
              <a:rPr lang="ru-RU" dirty="0"/>
              <a:t>.</a:t>
            </a:r>
          </a:p>
          <a:p>
            <a:pPr marL="0" indent="0">
              <a:buNone/>
            </a:pPr>
            <a:r>
              <a:rPr lang="ru-RU" dirty="0"/>
              <a:t>Для защиты используется метка времени в формате </a:t>
            </a:r>
            <a:r>
              <a:rPr lang="en-US" dirty="0"/>
              <a:t>TAI64N</a:t>
            </a:r>
            <a:r>
              <a:rPr lang="ru-RU" dirty="0"/>
              <a:t>, используемая в теле первого передаваемого инициатором сообщения. Получатель хранит последнюю полученную метку времени. Все метки времени, младше полученной считаются недействительными.</a:t>
            </a:r>
          </a:p>
        </p:txBody>
      </p:sp>
      <p:sp>
        <p:nvSpPr>
          <p:cNvPr id="4" name="Номер слайда 3"/>
          <p:cNvSpPr>
            <a:spLocks noGrp="1"/>
          </p:cNvSpPr>
          <p:nvPr>
            <p:ph type="sldNum" sz="quarter" idx="12"/>
          </p:nvPr>
        </p:nvSpPr>
        <p:spPr/>
        <p:txBody>
          <a:bodyPr/>
          <a:lstStyle/>
          <a:p>
            <a:fld id="{AC4B6EA2-3DAB-415A-81B1-2E2A41D203B5}" type="slidenum">
              <a:rPr lang="ru-RU" smtClean="0"/>
              <a:t>46</a:t>
            </a:fld>
            <a:endParaRPr lang="ru-RU" dirty="0"/>
          </a:p>
        </p:txBody>
      </p:sp>
    </p:spTree>
    <p:extLst>
      <p:ext uri="{BB962C8B-B14F-4D97-AF65-F5344CB8AC3E}">
        <p14:creationId xmlns:p14="http://schemas.microsoft.com/office/powerpoint/2010/main" val="42706474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Использование </a:t>
            </a:r>
            <a:r>
              <a:rPr lang="en-US" dirty="0"/>
              <a:t>psk</a:t>
            </a:r>
            <a:endParaRPr lang="ru-RU" dirty="0"/>
          </a:p>
        </p:txBody>
      </p:sp>
      <p:sp>
        <p:nvSpPr>
          <p:cNvPr id="3" name="Объект 2"/>
          <p:cNvSpPr>
            <a:spLocks noGrp="1"/>
          </p:cNvSpPr>
          <p:nvPr>
            <p:ph idx="1"/>
          </p:nvPr>
        </p:nvSpPr>
        <p:spPr/>
        <p:txBody>
          <a:bodyPr>
            <a:normAutofit fontScale="92500" lnSpcReduction="10000"/>
          </a:bodyPr>
          <a:lstStyle/>
          <a:p>
            <a:pPr marL="0" indent="0">
              <a:buNone/>
            </a:pPr>
            <a:r>
              <a:rPr lang="ru-RU" dirty="0"/>
              <a:t>Стойкость протокола основана на стойкости </a:t>
            </a:r>
            <a:r>
              <a:rPr lang="en-US" dirty="0"/>
              <a:t>ECDH</a:t>
            </a:r>
            <a:r>
              <a:rPr lang="ru-RU" dirty="0"/>
              <a:t>, которая сводится к сложности задачи дискретного логарифмирования.</a:t>
            </a:r>
          </a:p>
          <a:p>
            <a:pPr marL="0" indent="0">
              <a:buNone/>
            </a:pPr>
            <a:r>
              <a:rPr lang="ru-RU" dirty="0"/>
              <a:t>При квантовом противники данная задача является эффективно вычислимой. </a:t>
            </a:r>
          </a:p>
          <a:p>
            <a:pPr marL="0" indent="0">
              <a:buNone/>
            </a:pPr>
            <a:r>
              <a:rPr lang="ru-RU" dirty="0"/>
              <a:t>Возможна квантовая атака – противник хранит все текущие сессии, до момента получения в своё распоряжение квантового компьютера. Затем он может расшифровать весь перехваченный трафик, построив атаку на </a:t>
            </a:r>
            <a:r>
              <a:rPr lang="en-US" dirty="0"/>
              <a:t>ECDH</a:t>
            </a:r>
            <a:r>
              <a:rPr lang="ru-RU" dirty="0"/>
              <a:t>.</a:t>
            </a:r>
          </a:p>
          <a:p>
            <a:pPr marL="0" indent="0">
              <a:buNone/>
            </a:pPr>
            <a:r>
              <a:rPr lang="ru-RU" dirty="0"/>
              <a:t>Возможно использование смягчения – использования статического симметричного ключа </a:t>
            </a:r>
            <a:r>
              <a:rPr lang="en-US" dirty="0"/>
              <a:t>psk</a:t>
            </a:r>
            <a:r>
              <a:rPr lang="ru-RU" dirty="0"/>
              <a:t>, который используется для «подмешивания» в </a:t>
            </a:r>
            <a:r>
              <a:rPr lang="en-US" dirty="0" err="1"/>
              <a:t>ck</a:t>
            </a:r>
            <a:r>
              <a:rPr lang="en-US" dirty="0"/>
              <a:t> symmetric state </a:t>
            </a:r>
            <a:r>
              <a:rPr lang="ru-RU" dirty="0"/>
              <a:t>(см токен </a:t>
            </a:r>
            <a:r>
              <a:rPr lang="en-US" dirty="0"/>
              <a:t>psk Noise)</a:t>
            </a:r>
            <a:r>
              <a:rPr lang="ru-RU" dirty="0"/>
              <a:t> как начальный ключевой материал </a:t>
            </a:r>
            <a:r>
              <a:rPr lang="en-US" dirty="0"/>
              <a:t>HKDF</a:t>
            </a:r>
            <a:r>
              <a:rPr lang="ru-RU" dirty="0"/>
              <a:t>.</a:t>
            </a:r>
          </a:p>
        </p:txBody>
      </p:sp>
      <p:sp>
        <p:nvSpPr>
          <p:cNvPr id="4" name="Номер слайда 3"/>
          <p:cNvSpPr>
            <a:spLocks noGrp="1"/>
          </p:cNvSpPr>
          <p:nvPr>
            <p:ph type="sldNum" sz="quarter" idx="12"/>
          </p:nvPr>
        </p:nvSpPr>
        <p:spPr/>
        <p:txBody>
          <a:bodyPr/>
          <a:lstStyle/>
          <a:p>
            <a:fld id="{AC4B6EA2-3DAB-415A-81B1-2E2A41D203B5}" type="slidenum">
              <a:rPr lang="ru-RU" smtClean="0"/>
              <a:t>47</a:t>
            </a:fld>
            <a:endParaRPr lang="ru-RU" dirty="0"/>
          </a:p>
        </p:txBody>
      </p:sp>
    </p:spTree>
    <p:extLst>
      <p:ext uri="{BB962C8B-B14F-4D97-AF65-F5344CB8AC3E}">
        <p14:creationId xmlns:p14="http://schemas.microsoft.com/office/powerpoint/2010/main" val="1923159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Cookie </a:t>
            </a:r>
            <a:r>
              <a:rPr lang="ru-RU" dirty="0"/>
              <a:t>и </a:t>
            </a:r>
            <a:r>
              <a:rPr lang="en-US" dirty="0"/>
              <a:t>DOS</a:t>
            </a:r>
            <a:endParaRPr lang="ru-RU" dirty="0"/>
          </a:p>
        </p:txBody>
      </p:sp>
      <p:sp>
        <p:nvSpPr>
          <p:cNvPr id="3" name="Объект 2"/>
          <p:cNvSpPr>
            <a:spLocks noGrp="1"/>
          </p:cNvSpPr>
          <p:nvPr>
            <p:ph idx="1"/>
          </p:nvPr>
        </p:nvSpPr>
        <p:spPr>
          <a:xfrm>
            <a:off x="838200" y="1825625"/>
            <a:ext cx="8068408" cy="4351338"/>
          </a:xfrm>
        </p:spPr>
        <p:txBody>
          <a:bodyPr/>
          <a:lstStyle/>
          <a:p>
            <a:pPr marL="0" indent="0">
              <a:buNone/>
            </a:pPr>
            <a:r>
              <a:rPr lang="ru-RU" dirty="0"/>
              <a:t>Возможна атака на узел получателя в виде отправки множества сообщений в рамках </a:t>
            </a:r>
            <a:r>
              <a:rPr lang="en-US" dirty="0"/>
              <a:t>handshake</a:t>
            </a:r>
            <a:r>
              <a:rPr lang="ru-RU" dirty="0"/>
              <a:t>. Для ответов ему необходимо вычислять </a:t>
            </a:r>
            <a:r>
              <a:rPr lang="en-US" dirty="0"/>
              <a:t>ECDH</a:t>
            </a:r>
            <a:r>
              <a:rPr lang="ru-RU" dirty="0"/>
              <a:t>, что является трудозатратой операций и может привести к </a:t>
            </a:r>
            <a:r>
              <a:rPr lang="en-US" dirty="0"/>
              <a:t>DOS</a:t>
            </a:r>
            <a:r>
              <a:rPr lang="ru-RU" dirty="0"/>
              <a:t>.</a:t>
            </a:r>
          </a:p>
          <a:p>
            <a:pPr marL="0" indent="0">
              <a:buNone/>
            </a:pPr>
            <a:r>
              <a:rPr lang="ru-RU" dirty="0"/>
              <a:t>Смягчение – при нагрузке узел может не отвечать на </a:t>
            </a:r>
            <a:r>
              <a:rPr lang="en-US" dirty="0"/>
              <a:t>handshake </a:t>
            </a:r>
            <a:r>
              <a:rPr lang="ru-RU" dirty="0"/>
              <a:t>а отправлять специальный ответ с </a:t>
            </a:r>
            <a:r>
              <a:rPr lang="en-US" dirty="0"/>
              <a:t>cookie</a:t>
            </a:r>
            <a:r>
              <a:rPr lang="ru-RU" dirty="0"/>
              <a:t>, ожидая особый ответ от инициатора.</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02384" y="1952381"/>
            <a:ext cx="3253824" cy="3138365"/>
          </a:xfrm>
          <a:prstGeom prst="rect">
            <a:avLst/>
          </a:prstGeom>
        </p:spPr>
      </p:pic>
      <p:sp>
        <p:nvSpPr>
          <p:cNvPr id="5" name="Номер слайда 4"/>
          <p:cNvSpPr>
            <a:spLocks noGrp="1"/>
          </p:cNvSpPr>
          <p:nvPr>
            <p:ph type="sldNum" sz="quarter" idx="12"/>
          </p:nvPr>
        </p:nvSpPr>
        <p:spPr/>
        <p:txBody>
          <a:bodyPr/>
          <a:lstStyle/>
          <a:p>
            <a:fld id="{AC4B6EA2-3DAB-415A-81B1-2E2A41D203B5}" type="slidenum">
              <a:rPr lang="ru-RU" smtClean="0"/>
              <a:t>48</a:t>
            </a:fld>
            <a:endParaRPr lang="ru-RU" dirty="0"/>
          </a:p>
        </p:txBody>
      </p:sp>
    </p:spTree>
    <p:extLst>
      <p:ext uri="{BB962C8B-B14F-4D97-AF65-F5344CB8AC3E}">
        <p14:creationId xmlns:p14="http://schemas.microsoft.com/office/powerpoint/2010/main" val="19174689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Cookie </a:t>
            </a:r>
            <a:r>
              <a:rPr lang="ru-RU" dirty="0"/>
              <a:t>и </a:t>
            </a:r>
            <a:r>
              <a:rPr lang="en-US" dirty="0"/>
              <a:t>DOS</a:t>
            </a:r>
            <a:endParaRPr lang="ru-RU" dirty="0"/>
          </a:p>
        </p:txBody>
      </p:sp>
      <p:sp>
        <p:nvSpPr>
          <p:cNvPr id="3" name="Объект 2"/>
          <p:cNvSpPr>
            <a:spLocks noGrp="1"/>
          </p:cNvSpPr>
          <p:nvPr>
            <p:ph idx="1"/>
          </p:nvPr>
        </p:nvSpPr>
        <p:spPr>
          <a:xfrm>
            <a:off x="838200" y="1816833"/>
            <a:ext cx="10515600" cy="4351338"/>
          </a:xfrm>
        </p:spPr>
        <p:txBody>
          <a:bodyPr/>
          <a:lstStyle/>
          <a:p>
            <a:pPr marL="0" indent="0">
              <a:buNone/>
            </a:pPr>
            <a:r>
              <a:rPr lang="ru-RU" dirty="0"/>
              <a:t>Получатель хранит секретное случайное значение, изменяемое каждые 2 минуты. </a:t>
            </a:r>
            <a:r>
              <a:rPr lang="en-US" dirty="0"/>
              <a:t>Cookie – </a:t>
            </a:r>
            <a:r>
              <a:rPr lang="ru-RU" dirty="0"/>
              <a:t>есть </a:t>
            </a:r>
            <a:r>
              <a:rPr lang="en-US" dirty="0"/>
              <a:t>MAC </a:t>
            </a:r>
            <a:r>
              <a:rPr lang="ru-RU" dirty="0"/>
              <a:t>от </a:t>
            </a:r>
            <a:r>
              <a:rPr lang="en-US" dirty="0"/>
              <a:t>Ip </a:t>
            </a:r>
            <a:r>
              <a:rPr lang="ru-RU" dirty="0"/>
              <a:t>инициатора, с использованием секретного значения в качестве ключа.</a:t>
            </a:r>
            <a:r>
              <a:rPr lang="en-US" dirty="0"/>
              <a:t> </a:t>
            </a:r>
            <a:endParaRPr lang="ru-RU" dirty="0"/>
          </a:p>
          <a:p>
            <a:pPr marL="0" indent="0">
              <a:buNone/>
            </a:pPr>
            <a:r>
              <a:rPr lang="ru-RU" dirty="0"/>
              <a:t>Инициатор при получении </a:t>
            </a:r>
            <a:r>
              <a:rPr lang="en-US" dirty="0"/>
              <a:t>cookie </a:t>
            </a:r>
            <a:r>
              <a:rPr lang="ru-RU" dirty="0"/>
              <a:t>использует его в качестве ключа для вычисления </a:t>
            </a:r>
            <a:r>
              <a:rPr lang="en-US" dirty="0"/>
              <a:t>MAC </a:t>
            </a:r>
            <a:r>
              <a:rPr lang="ru-RU" dirty="0"/>
              <a:t>от собственного запроса.</a:t>
            </a:r>
          </a:p>
          <a:p>
            <a:pPr marL="0" indent="0">
              <a:buNone/>
            </a:pPr>
            <a:r>
              <a:rPr lang="ru-RU" dirty="0"/>
              <a:t>Получатель проверяет </a:t>
            </a:r>
            <a:r>
              <a:rPr lang="en-US" dirty="0"/>
              <a:t>MAC </a:t>
            </a:r>
            <a:r>
              <a:rPr lang="ru-RU" dirty="0"/>
              <a:t>от запроса пользователя.</a:t>
            </a:r>
          </a:p>
          <a:p>
            <a:pPr marL="0" indent="0">
              <a:buNone/>
            </a:pPr>
            <a:r>
              <a:rPr lang="ru-RU" dirty="0"/>
              <a:t>Цель – привязка источника сообщений к его адресу. Количество сообщений с фиксированного </a:t>
            </a:r>
            <a:r>
              <a:rPr lang="en-US" dirty="0"/>
              <a:t>Ip </a:t>
            </a:r>
            <a:r>
              <a:rPr lang="ru-RU" dirty="0"/>
              <a:t>можно ограничивать стандартными средствами.</a:t>
            </a:r>
          </a:p>
        </p:txBody>
      </p:sp>
      <p:sp>
        <p:nvSpPr>
          <p:cNvPr id="4" name="Номер слайда 3"/>
          <p:cNvSpPr>
            <a:spLocks noGrp="1"/>
          </p:cNvSpPr>
          <p:nvPr>
            <p:ph type="sldNum" sz="quarter" idx="12"/>
          </p:nvPr>
        </p:nvSpPr>
        <p:spPr/>
        <p:txBody>
          <a:bodyPr/>
          <a:lstStyle/>
          <a:p>
            <a:fld id="{AC4B6EA2-3DAB-415A-81B1-2E2A41D203B5}" type="slidenum">
              <a:rPr lang="ru-RU" smtClean="0"/>
              <a:t>49</a:t>
            </a:fld>
            <a:endParaRPr lang="ru-RU" dirty="0"/>
          </a:p>
        </p:txBody>
      </p:sp>
    </p:spTree>
    <p:extLst>
      <p:ext uri="{BB962C8B-B14F-4D97-AF65-F5344CB8AC3E}">
        <p14:creationId xmlns:p14="http://schemas.microsoft.com/office/powerpoint/2010/main" val="35387938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Cookie </a:t>
            </a:r>
            <a:r>
              <a:rPr lang="ru-RU" dirty="0"/>
              <a:t>и </a:t>
            </a:r>
            <a:r>
              <a:rPr lang="en-US" dirty="0"/>
              <a:t>DOS</a:t>
            </a:r>
            <a:endParaRPr lang="ru-RU" dirty="0"/>
          </a:p>
        </p:txBody>
      </p:sp>
      <p:sp>
        <p:nvSpPr>
          <p:cNvPr id="3" name="Объект 2"/>
          <p:cNvSpPr>
            <a:spLocks noGrp="1"/>
          </p:cNvSpPr>
          <p:nvPr>
            <p:ph idx="1"/>
          </p:nvPr>
        </p:nvSpPr>
        <p:spPr/>
        <p:txBody>
          <a:bodyPr/>
          <a:lstStyle/>
          <a:p>
            <a:pPr marL="0" indent="0">
              <a:buNone/>
            </a:pPr>
            <a:r>
              <a:rPr lang="ru-RU" dirty="0"/>
              <a:t>Возможны проблемы – </a:t>
            </a:r>
            <a:r>
              <a:rPr lang="en-US" dirty="0"/>
              <a:t>cookie </a:t>
            </a:r>
            <a:r>
              <a:rPr lang="ru-RU" dirty="0"/>
              <a:t>не защищены,</a:t>
            </a:r>
            <a:r>
              <a:rPr lang="en-US" dirty="0"/>
              <a:t> </a:t>
            </a:r>
            <a:r>
              <a:rPr lang="ru-RU" dirty="0"/>
              <a:t>приходится отвечать на неаутентифицированные сообщения, противник может организовать </a:t>
            </a:r>
            <a:r>
              <a:rPr lang="en-US" dirty="0"/>
              <a:t>DOS </a:t>
            </a:r>
            <a:r>
              <a:rPr lang="ru-RU" dirty="0"/>
              <a:t>инициатора, отправляя невалидные </a:t>
            </a:r>
            <a:r>
              <a:rPr lang="en-US" dirty="0"/>
              <a:t>cookie</a:t>
            </a:r>
            <a:endParaRPr lang="ru-RU" dirty="0"/>
          </a:p>
          <a:p>
            <a:pPr marL="0" indent="0">
              <a:buNone/>
            </a:pPr>
            <a:endParaRPr lang="ru-RU" dirty="0"/>
          </a:p>
          <a:p>
            <a:pPr marL="0" indent="0">
              <a:buNone/>
            </a:pPr>
            <a:r>
              <a:rPr lang="ru-RU" dirty="0"/>
              <a:t>Решение – больше </a:t>
            </a:r>
            <a:r>
              <a:rPr lang="en-US" dirty="0"/>
              <a:t>cookie </a:t>
            </a:r>
            <a:r>
              <a:rPr lang="ru-RU" dirty="0"/>
              <a:t>богу </a:t>
            </a:r>
            <a:r>
              <a:rPr lang="en-US" dirty="0"/>
              <a:t>cookie</a:t>
            </a:r>
          </a:p>
          <a:p>
            <a:pPr marL="0" indent="0">
              <a:buNone/>
            </a:pPr>
            <a:endParaRPr lang="en-US" dirty="0"/>
          </a:p>
          <a:p>
            <a:pPr marL="0" indent="0">
              <a:buNone/>
            </a:pPr>
            <a:r>
              <a:rPr lang="ru-RU" dirty="0"/>
              <a:t>Использование двух различных </a:t>
            </a:r>
            <a:r>
              <a:rPr lang="en-US" dirty="0"/>
              <a:t>mac </a:t>
            </a:r>
            <a:endParaRPr lang="ru-RU" dirty="0"/>
          </a:p>
          <a:p>
            <a:pPr marL="0" indent="0">
              <a:buNone/>
            </a:pPr>
            <a:r>
              <a:rPr lang="ru-RU" dirty="0"/>
              <a:t>В качестве ответов на </a:t>
            </a:r>
            <a:r>
              <a:rPr lang="en-US" dirty="0"/>
              <a:t>cookie</a:t>
            </a:r>
            <a:endParaRPr lang="ru-RU"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3992" y="3431522"/>
            <a:ext cx="4519246" cy="2745442"/>
          </a:xfrm>
          <a:prstGeom prst="rect">
            <a:avLst/>
          </a:prstGeom>
        </p:spPr>
      </p:pic>
      <p:sp>
        <p:nvSpPr>
          <p:cNvPr id="5" name="Номер слайда 4"/>
          <p:cNvSpPr>
            <a:spLocks noGrp="1"/>
          </p:cNvSpPr>
          <p:nvPr>
            <p:ph type="sldNum" sz="quarter" idx="12"/>
          </p:nvPr>
        </p:nvSpPr>
        <p:spPr/>
        <p:txBody>
          <a:bodyPr/>
          <a:lstStyle/>
          <a:p>
            <a:fld id="{AC4B6EA2-3DAB-415A-81B1-2E2A41D203B5}" type="slidenum">
              <a:rPr lang="ru-RU" smtClean="0"/>
              <a:t>50</a:t>
            </a:fld>
            <a:endParaRPr lang="ru-RU" dirty="0"/>
          </a:p>
        </p:txBody>
      </p:sp>
    </p:spTree>
    <p:extLst>
      <p:ext uri="{BB962C8B-B14F-4D97-AF65-F5344CB8AC3E}">
        <p14:creationId xmlns:p14="http://schemas.microsoft.com/office/powerpoint/2010/main" val="28878541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 приходится отвечать на неаутентифицированные сообщения</a:t>
            </a:r>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88086" y="2309752"/>
            <a:ext cx="4476730" cy="2666694"/>
          </a:xfrm>
        </p:spPr>
      </p:pic>
      <p:sp>
        <p:nvSpPr>
          <p:cNvPr id="5" name="Объект 2"/>
          <p:cNvSpPr txBox="1">
            <a:spLocks/>
          </p:cNvSpPr>
          <p:nvPr/>
        </p:nvSpPr>
        <p:spPr>
          <a:xfrm>
            <a:off x="838200" y="1825625"/>
            <a:ext cx="616926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msg.mac1</a:t>
            </a:r>
            <a:r>
              <a:rPr lang="ru-RU" dirty="0"/>
              <a:t> – используем хэш от открытого ключа получателя в качестве ключа и вычисляем для всех байтов сообщения до </a:t>
            </a:r>
            <a:r>
              <a:rPr lang="en-US" dirty="0"/>
              <a:t>msg.mac1</a:t>
            </a:r>
            <a:r>
              <a:rPr lang="ru-RU" dirty="0"/>
              <a:t>. Присутствует в сообщении инициатора при </a:t>
            </a:r>
            <a:r>
              <a:rPr lang="en-US" dirty="0"/>
              <a:t>handshake</a:t>
            </a:r>
            <a:r>
              <a:rPr lang="ru-RU" dirty="0"/>
              <a:t> всегда, даже без нагрузки. Цель – узел должен знать с кем он общается (нет атак «из вне» от сторонних систем).</a:t>
            </a:r>
          </a:p>
          <a:p>
            <a:pPr marL="0" indent="0">
              <a:buNone/>
            </a:pPr>
            <a:endParaRPr lang="ru-RU" dirty="0"/>
          </a:p>
        </p:txBody>
      </p:sp>
      <p:sp>
        <p:nvSpPr>
          <p:cNvPr id="3" name="Номер слайда 2"/>
          <p:cNvSpPr>
            <a:spLocks noGrp="1"/>
          </p:cNvSpPr>
          <p:nvPr>
            <p:ph type="sldNum" sz="quarter" idx="12"/>
          </p:nvPr>
        </p:nvSpPr>
        <p:spPr/>
        <p:txBody>
          <a:bodyPr/>
          <a:lstStyle/>
          <a:p>
            <a:fld id="{AC4B6EA2-3DAB-415A-81B1-2E2A41D203B5}" type="slidenum">
              <a:rPr lang="ru-RU" smtClean="0"/>
              <a:t>51</a:t>
            </a:fld>
            <a:endParaRPr lang="ru-RU" dirty="0"/>
          </a:p>
        </p:txBody>
      </p:sp>
    </p:spTree>
    <p:extLst>
      <p:ext uri="{BB962C8B-B14F-4D97-AF65-F5344CB8AC3E}">
        <p14:creationId xmlns:p14="http://schemas.microsoft.com/office/powerpoint/2010/main" val="25178850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 </a:t>
            </a:r>
            <a:r>
              <a:rPr lang="en-US" dirty="0"/>
              <a:t>cookie </a:t>
            </a:r>
            <a:r>
              <a:rPr lang="ru-RU" dirty="0"/>
              <a:t>не защищены</a:t>
            </a:r>
          </a:p>
        </p:txBody>
      </p:sp>
      <p:sp>
        <p:nvSpPr>
          <p:cNvPr id="3" name="Объект 2"/>
          <p:cNvSpPr>
            <a:spLocks noGrp="1"/>
          </p:cNvSpPr>
          <p:nvPr>
            <p:ph idx="1"/>
          </p:nvPr>
        </p:nvSpPr>
        <p:spPr/>
        <p:txBody>
          <a:bodyPr/>
          <a:lstStyle/>
          <a:p>
            <a:pPr marL="0" indent="0">
              <a:buNone/>
            </a:pPr>
            <a:r>
              <a:rPr lang="en-US" dirty="0"/>
              <a:t>Cookie </a:t>
            </a:r>
            <a:r>
              <a:rPr lang="ru-RU" dirty="0"/>
              <a:t>будут шифроваться </a:t>
            </a:r>
            <a:r>
              <a:rPr lang="en-US" dirty="0"/>
              <a:t>AEAD</a:t>
            </a:r>
            <a:r>
              <a:rPr lang="ru-RU" dirty="0"/>
              <a:t> с использованием открытого ключа получателя. Цель – не знаешь </a:t>
            </a:r>
            <a:r>
              <a:rPr lang="en-US" dirty="0"/>
              <a:t>PK </a:t>
            </a:r>
            <a:r>
              <a:rPr lang="ru-RU" dirty="0"/>
              <a:t>получателя, не можешь пользоваться </a:t>
            </a:r>
            <a:r>
              <a:rPr lang="en-US" dirty="0"/>
              <a:t>cookie</a:t>
            </a:r>
            <a:r>
              <a:rPr lang="ru-RU" dirty="0"/>
              <a:t>.</a:t>
            </a:r>
          </a:p>
        </p:txBody>
      </p:sp>
      <p:pic>
        <p:nvPicPr>
          <p:cNvPr id="8" name="Рисунок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9277" y="3121269"/>
            <a:ext cx="4526954" cy="3055694"/>
          </a:xfrm>
          <a:prstGeom prst="rect">
            <a:avLst/>
          </a:prstGeom>
        </p:spPr>
      </p:pic>
      <p:sp>
        <p:nvSpPr>
          <p:cNvPr id="4" name="Номер слайда 3"/>
          <p:cNvSpPr>
            <a:spLocks noGrp="1"/>
          </p:cNvSpPr>
          <p:nvPr>
            <p:ph type="sldNum" sz="quarter" idx="12"/>
          </p:nvPr>
        </p:nvSpPr>
        <p:spPr/>
        <p:txBody>
          <a:bodyPr/>
          <a:lstStyle/>
          <a:p>
            <a:fld id="{AC4B6EA2-3DAB-415A-81B1-2E2A41D203B5}" type="slidenum">
              <a:rPr lang="ru-RU" smtClean="0"/>
              <a:t>52</a:t>
            </a:fld>
            <a:endParaRPr lang="ru-RU" dirty="0"/>
          </a:p>
        </p:txBody>
      </p:sp>
    </p:spTree>
    <p:extLst>
      <p:ext uri="{BB962C8B-B14F-4D97-AF65-F5344CB8AC3E}">
        <p14:creationId xmlns:p14="http://schemas.microsoft.com/office/powerpoint/2010/main" val="37851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 </a:t>
            </a:r>
            <a:r>
              <a:rPr lang="en-US" dirty="0"/>
              <a:t>DOS </a:t>
            </a:r>
            <a:r>
              <a:rPr lang="ru-RU" dirty="0"/>
              <a:t>на инициатора</a:t>
            </a:r>
          </a:p>
        </p:txBody>
      </p:sp>
      <p:sp>
        <p:nvSpPr>
          <p:cNvPr id="3" name="Объект 2"/>
          <p:cNvSpPr>
            <a:spLocks noGrp="1"/>
          </p:cNvSpPr>
          <p:nvPr>
            <p:ph idx="1"/>
          </p:nvPr>
        </p:nvSpPr>
        <p:spPr/>
        <p:txBody>
          <a:bodyPr/>
          <a:lstStyle/>
          <a:p>
            <a:pPr marL="0" indent="0">
              <a:buNone/>
            </a:pPr>
            <a:r>
              <a:rPr lang="ru-RU" dirty="0"/>
              <a:t>Отвечая зашифрованной </a:t>
            </a:r>
            <a:r>
              <a:rPr lang="en-US" dirty="0"/>
              <a:t>AEAD</a:t>
            </a:r>
            <a:r>
              <a:rPr lang="ru-RU" dirty="0"/>
              <a:t> </a:t>
            </a:r>
            <a:r>
              <a:rPr lang="en-US" dirty="0"/>
              <a:t>cookie </a:t>
            </a:r>
            <a:r>
              <a:rPr lang="ru-RU" dirty="0"/>
              <a:t>инициатор добавляет в присоединённые данные </a:t>
            </a:r>
            <a:r>
              <a:rPr lang="en-US" dirty="0"/>
              <a:t>(AD) msg.mac1</a:t>
            </a:r>
            <a:r>
              <a:rPr lang="ru-RU" dirty="0"/>
              <a:t> исходного сообщения инициатора. Цель – инициатор уверен, что </a:t>
            </a:r>
            <a:r>
              <a:rPr lang="en-US" dirty="0"/>
              <a:t>cookie </a:t>
            </a:r>
            <a:r>
              <a:rPr lang="ru-RU" dirty="0"/>
              <a:t>создана для его запроса.</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2196" y="3327400"/>
            <a:ext cx="4965700" cy="2984500"/>
          </a:xfrm>
          <a:prstGeom prst="rect">
            <a:avLst/>
          </a:prstGeom>
        </p:spPr>
      </p:pic>
      <p:sp>
        <p:nvSpPr>
          <p:cNvPr id="5" name="Номер слайда 4"/>
          <p:cNvSpPr>
            <a:spLocks noGrp="1"/>
          </p:cNvSpPr>
          <p:nvPr>
            <p:ph type="sldNum" sz="quarter" idx="12"/>
          </p:nvPr>
        </p:nvSpPr>
        <p:spPr/>
        <p:txBody>
          <a:bodyPr/>
          <a:lstStyle/>
          <a:p>
            <a:fld id="{AC4B6EA2-3DAB-415A-81B1-2E2A41D203B5}" type="slidenum">
              <a:rPr lang="ru-RU" smtClean="0"/>
              <a:t>53</a:t>
            </a:fld>
            <a:endParaRPr lang="ru-RU" dirty="0"/>
          </a:p>
        </p:txBody>
      </p:sp>
    </p:spTree>
    <p:extLst>
      <p:ext uri="{BB962C8B-B14F-4D97-AF65-F5344CB8AC3E}">
        <p14:creationId xmlns:p14="http://schemas.microsoft.com/office/powerpoint/2010/main" val="31490512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Второй </a:t>
            </a:r>
            <a:r>
              <a:rPr lang="en-US" dirty="0"/>
              <a:t>MAC</a:t>
            </a:r>
            <a:endParaRPr lang="ru-RU" dirty="0"/>
          </a:p>
        </p:txBody>
      </p:sp>
      <p:sp>
        <p:nvSpPr>
          <p:cNvPr id="3" name="Объект 2"/>
          <p:cNvSpPr>
            <a:spLocks noGrp="1"/>
          </p:cNvSpPr>
          <p:nvPr>
            <p:ph idx="1"/>
          </p:nvPr>
        </p:nvSpPr>
        <p:spPr/>
        <p:txBody>
          <a:bodyPr>
            <a:normAutofit lnSpcReduction="10000"/>
          </a:bodyPr>
          <a:lstStyle/>
          <a:p>
            <a:pPr marL="0" indent="0">
              <a:buNone/>
            </a:pPr>
            <a:r>
              <a:rPr lang="en-US" dirty="0"/>
              <a:t>msg.mac2 </a:t>
            </a:r>
            <a:r>
              <a:rPr lang="ru-RU" dirty="0"/>
              <a:t>использует </a:t>
            </a:r>
            <a:r>
              <a:rPr lang="en-US" dirty="0"/>
              <a:t>cookie </a:t>
            </a:r>
            <a:r>
              <a:rPr lang="ru-RU" dirty="0"/>
              <a:t>в качестве ключа и вычисляется для всех байтов сообщения до </a:t>
            </a:r>
            <a:r>
              <a:rPr lang="en-US" dirty="0"/>
              <a:t>msg.mac2</a:t>
            </a:r>
            <a:r>
              <a:rPr lang="ru-RU" dirty="0"/>
              <a:t>. Получатель проверяет данный</a:t>
            </a:r>
            <a:r>
              <a:rPr lang="en-US" dirty="0"/>
              <a:t> MAC</a:t>
            </a:r>
            <a:r>
              <a:rPr lang="ru-RU" dirty="0"/>
              <a:t> и отвечает на </a:t>
            </a:r>
            <a:r>
              <a:rPr lang="en-US" dirty="0"/>
              <a:t>handshake.</a:t>
            </a:r>
            <a:r>
              <a:rPr lang="ru-RU" dirty="0"/>
              <a:t> Используется только под нагрузкой.</a:t>
            </a:r>
          </a:p>
          <a:p>
            <a:pPr marL="0" indent="0">
              <a:buNone/>
            </a:pPr>
            <a:endParaRPr lang="ru-RU" dirty="0"/>
          </a:p>
          <a:p>
            <a:pPr marL="0" indent="0">
              <a:buNone/>
            </a:pPr>
            <a:r>
              <a:rPr lang="ru-RU" dirty="0"/>
              <a:t>Итого – получатель всегда проверяет </a:t>
            </a:r>
            <a:r>
              <a:rPr lang="en-US" dirty="0"/>
              <a:t>msg.mac1 </a:t>
            </a:r>
            <a:r>
              <a:rPr lang="ru-RU" dirty="0"/>
              <a:t>в первом сообщение, если под нагрузкой отправляет зашифрованную </a:t>
            </a:r>
            <a:r>
              <a:rPr lang="en-US" dirty="0"/>
              <a:t>cookie </a:t>
            </a:r>
            <a:r>
              <a:rPr lang="ru-RU" dirty="0"/>
              <a:t>с </a:t>
            </a:r>
            <a:r>
              <a:rPr lang="en-US" dirty="0"/>
              <a:t>msg.mac1</a:t>
            </a:r>
            <a:r>
              <a:rPr lang="ru-RU" dirty="0"/>
              <a:t> в качестве </a:t>
            </a:r>
            <a:r>
              <a:rPr lang="en-US" dirty="0"/>
              <a:t>AD</a:t>
            </a:r>
            <a:r>
              <a:rPr lang="ru-RU" dirty="0"/>
              <a:t>, затем проверяет </a:t>
            </a:r>
            <a:r>
              <a:rPr lang="en-US" dirty="0"/>
              <a:t>msg.mac2</a:t>
            </a:r>
            <a:r>
              <a:rPr lang="ru-RU" dirty="0"/>
              <a:t> и продолжает </a:t>
            </a:r>
            <a:r>
              <a:rPr lang="en-US" dirty="0"/>
              <a:t>handshake. </a:t>
            </a:r>
            <a:r>
              <a:rPr lang="ru-RU" dirty="0"/>
              <a:t>Если нагрузки нет - </a:t>
            </a:r>
            <a:r>
              <a:rPr lang="en-US" dirty="0"/>
              <a:t>msg.mac2 </a:t>
            </a:r>
            <a:r>
              <a:rPr lang="ru-RU" dirty="0"/>
              <a:t>не проверяется.</a:t>
            </a:r>
          </a:p>
          <a:p>
            <a:pPr marL="0" indent="0">
              <a:buNone/>
            </a:pPr>
            <a:r>
              <a:rPr lang="en-US" dirty="0"/>
              <a:t>msg.mac</a:t>
            </a:r>
            <a:r>
              <a:rPr lang="ru-RU" dirty="0"/>
              <a:t>1 и </a:t>
            </a:r>
            <a:r>
              <a:rPr lang="en-US" dirty="0"/>
              <a:t>msg.mac2</a:t>
            </a:r>
            <a:r>
              <a:rPr lang="ru-RU" dirty="0"/>
              <a:t> аутентифицируют все передаваемые данные в сообщении на момент их формирования.</a:t>
            </a:r>
          </a:p>
        </p:txBody>
      </p:sp>
      <p:sp>
        <p:nvSpPr>
          <p:cNvPr id="4" name="Номер слайда 3"/>
          <p:cNvSpPr>
            <a:spLocks noGrp="1"/>
          </p:cNvSpPr>
          <p:nvPr>
            <p:ph type="sldNum" sz="quarter" idx="12"/>
          </p:nvPr>
        </p:nvSpPr>
        <p:spPr/>
        <p:txBody>
          <a:bodyPr/>
          <a:lstStyle/>
          <a:p>
            <a:fld id="{AC4B6EA2-3DAB-415A-81B1-2E2A41D203B5}" type="slidenum">
              <a:rPr lang="ru-RU" smtClean="0"/>
              <a:t>54</a:t>
            </a:fld>
            <a:endParaRPr lang="ru-RU" dirty="0"/>
          </a:p>
        </p:txBody>
      </p:sp>
    </p:spTree>
    <p:extLst>
      <p:ext uri="{BB962C8B-B14F-4D97-AF65-F5344CB8AC3E}">
        <p14:creationId xmlns:p14="http://schemas.microsoft.com/office/powerpoint/2010/main" val="6426746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Итого</a:t>
            </a:r>
          </a:p>
        </p:txBody>
      </p:sp>
      <p:sp>
        <p:nvSpPr>
          <p:cNvPr id="3" name="Объект 2"/>
          <p:cNvSpPr>
            <a:spLocks noGrp="1"/>
          </p:cNvSpPr>
          <p:nvPr>
            <p:ph idx="1"/>
          </p:nvPr>
        </p:nvSpPr>
        <p:spPr/>
        <p:txBody>
          <a:bodyPr/>
          <a:lstStyle/>
          <a:p>
            <a:endParaRPr lang="ru-RU" dirty="0"/>
          </a:p>
        </p:txBody>
      </p:sp>
      <p:pic>
        <p:nvPicPr>
          <p:cNvPr id="4" name="Рисунок 3"/>
          <p:cNvPicPr>
            <a:picLocks noChangeAspect="1"/>
          </p:cNvPicPr>
          <p:nvPr/>
        </p:nvPicPr>
        <p:blipFill>
          <a:blip r:embed="rId2"/>
          <a:stretch>
            <a:fillRect/>
          </a:stretch>
        </p:blipFill>
        <p:spPr>
          <a:xfrm>
            <a:off x="1714499" y="2246043"/>
            <a:ext cx="8513518" cy="4308622"/>
          </a:xfrm>
          <a:prstGeom prst="rect">
            <a:avLst/>
          </a:prstGeom>
        </p:spPr>
      </p:pic>
      <p:sp>
        <p:nvSpPr>
          <p:cNvPr id="5" name="Номер слайда 4"/>
          <p:cNvSpPr>
            <a:spLocks noGrp="1"/>
          </p:cNvSpPr>
          <p:nvPr>
            <p:ph type="sldNum" sz="quarter" idx="12"/>
          </p:nvPr>
        </p:nvSpPr>
        <p:spPr/>
        <p:txBody>
          <a:bodyPr/>
          <a:lstStyle/>
          <a:p>
            <a:fld id="{AC4B6EA2-3DAB-415A-81B1-2E2A41D203B5}" type="slidenum">
              <a:rPr lang="ru-RU" smtClean="0"/>
              <a:t>55</a:t>
            </a:fld>
            <a:endParaRPr lang="ru-RU" dirty="0"/>
          </a:p>
        </p:txBody>
      </p:sp>
    </p:spTree>
    <p:extLst>
      <p:ext uri="{BB962C8B-B14F-4D97-AF65-F5344CB8AC3E}">
        <p14:creationId xmlns:p14="http://schemas.microsoft.com/office/powerpoint/2010/main" val="8485687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Сообщение инициатора</a:t>
            </a:r>
          </a:p>
        </p:txBody>
      </p:sp>
      <p:sp>
        <p:nvSpPr>
          <p:cNvPr id="3" name="Объект 2"/>
          <p:cNvSpPr>
            <a:spLocks noGrp="1"/>
          </p:cNvSpPr>
          <p:nvPr>
            <p:ph idx="1"/>
          </p:nvPr>
        </p:nvSpPr>
        <p:spPr/>
        <p:txBody>
          <a:bodyPr/>
          <a:lstStyle/>
          <a:p>
            <a:endParaRPr lang="ru-RU" dirty="0"/>
          </a:p>
        </p:txBody>
      </p:sp>
      <p:pic>
        <p:nvPicPr>
          <p:cNvPr id="4" name="Рисунок 3"/>
          <p:cNvPicPr>
            <a:picLocks noChangeAspect="1"/>
          </p:cNvPicPr>
          <p:nvPr/>
        </p:nvPicPr>
        <p:blipFill>
          <a:blip r:embed="rId2"/>
          <a:stretch>
            <a:fillRect/>
          </a:stretch>
        </p:blipFill>
        <p:spPr>
          <a:xfrm>
            <a:off x="975945" y="2492254"/>
            <a:ext cx="6011008" cy="2829400"/>
          </a:xfrm>
          <a:prstGeom prst="rect">
            <a:avLst/>
          </a:prstGeom>
        </p:spPr>
      </p:pic>
      <p:pic>
        <p:nvPicPr>
          <p:cNvPr id="5" name="Рисунок 4"/>
          <p:cNvPicPr>
            <a:picLocks noChangeAspect="1"/>
          </p:cNvPicPr>
          <p:nvPr/>
        </p:nvPicPr>
        <p:blipFill>
          <a:blip r:embed="rId3"/>
          <a:stretch>
            <a:fillRect/>
          </a:stretch>
        </p:blipFill>
        <p:spPr>
          <a:xfrm>
            <a:off x="6986953" y="4545928"/>
            <a:ext cx="5103535" cy="1676207"/>
          </a:xfrm>
          <a:prstGeom prst="rect">
            <a:avLst/>
          </a:prstGeom>
        </p:spPr>
      </p:pic>
      <p:pic>
        <p:nvPicPr>
          <p:cNvPr id="6" name="Рисунок 5"/>
          <p:cNvPicPr>
            <a:picLocks noChangeAspect="1"/>
          </p:cNvPicPr>
          <p:nvPr/>
        </p:nvPicPr>
        <p:blipFill>
          <a:blip r:embed="rId4"/>
          <a:stretch>
            <a:fillRect/>
          </a:stretch>
        </p:blipFill>
        <p:spPr>
          <a:xfrm>
            <a:off x="7134684" y="573516"/>
            <a:ext cx="4124231" cy="3837475"/>
          </a:xfrm>
          <a:prstGeom prst="rect">
            <a:avLst/>
          </a:prstGeom>
        </p:spPr>
      </p:pic>
      <p:sp>
        <p:nvSpPr>
          <p:cNvPr id="7" name="Номер слайда 6"/>
          <p:cNvSpPr>
            <a:spLocks noGrp="1"/>
          </p:cNvSpPr>
          <p:nvPr>
            <p:ph type="sldNum" sz="quarter" idx="12"/>
          </p:nvPr>
        </p:nvSpPr>
        <p:spPr/>
        <p:txBody>
          <a:bodyPr/>
          <a:lstStyle/>
          <a:p>
            <a:fld id="{AC4B6EA2-3DAB-415A-81B1-2E2A41D203B5}" type="slidenum">
              <a:rPr lang="ru-RU" smtClean="0"/>
              <a:t>56</a:t>
            </a:fld>
            <a:endParaRPr lang="ru-RU" dirty="0"/>
          </a:p>
        </p:txBody>
      </p:sp>
    </p:spTree>
    <p:extLst>
      <p:ext uri="{BB962C8B-B14F-4D97-AF65-F5344CB8AC3E}">
        <p14:creationId xmlns:p14="http://schemas.microsoft.com/office/powerpoint/2010/main" val="5527633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Сообщение получателя </a:t>
            </a:r>
          </a:p>
        </p:txBody>
      </p:sp>
      <p:sp>
        <p:nvSpPr>
          <p:cNvPr id="3" name="Объект 2"/>
          <p:cNvSpPr>
            <a:spLocks noGrp="1"/>
          </p:cNvSpPr>
          <p:nvPr>
            <p:ph idx="1"/>
          </p:nvPr>
        </p:nvSpPr>
        <p:spPr/>
        <p:txBody>
          <a:bodyPr/>
          <a:lstStyle/>
          <a:p>
            <a:endParaRPr lang="ru-RU" dirty="0"/>
          </a:p>
        </p:txBody>
      </p:sp>
      <p:pic>
        <p:nvPicPr>
          <p:cNvPr id="4" name="Рисунок 3"/>
          <p:cNvPicPr>
            <a:picLocks noChangeAspect="1"/>
          </p:cNvPicPr>
          <p:nvPr/>
        </p:nvPicPr>
        <p:blipFill>
          <a:blip r:embed="rId2"/>
          <a:stretch>
            <a:fillRect/>
          </a:stretch>
        </p:blipFill>
        <p:spPr>
          <a:xfrm>
            <a:off x="882259" y="2467340"/>
            <a:ext cx="6126310" cy="2439073"/>
          </a:xfrm>
          <a:prstGeom prst="rect">
            <a:avLst/>
          </a:prstGeom>
        </p:spPr>
      </p:pic>
      <p:pic>
        <p:nvPicPr>
          <p:cNvPr id="5" name="Рисунок 4"/>
          <p:cNvPicPr>
            <a:picLocks noChangeAspect="1"/>
          </p:cNvPicPr>
          <p:nvPr/>
        </p:nvPicPr>
        <p:blipFill>
          <a:blip r:embed="rId3"/>
          <a:stretch>
            <a:fillRect/>
          </a:stretch>
        </p:blipFill>
        <p:spPr>
          <a:xfrm>
            <a:off x="7168662" y="1275801"/>
            <a:ext cx="3429000" cy="3495675"/>
          </a:xfrm>
          <a:prstGeom prst="rect">
            <a:avLst/>
          </a:prstGeom>
        </p:spPr>
      </p:pic>
      <p:pic>
        <p:nvPicPr>
          <p:cNvPr id="6" name="Рисунок 5"/>
          <p:cNvPicPr>
            <a:picLocks noChangeAspect="1"/>
          </p:cNvPicPr>
          <p:nvPr/>
        </p:nvPicPr>
        <p:blipFill>
          <a:blip r:embed="rId4"/>
          <a:stretch>
            <a:fillRect/>
          </a:stretch>
        </p:blipFill>
        <p:spPr>
          <a:xfrm>
            <a:off x="7088465" y="4906413"/>
            <a:ext cx="5103535" cy="1676207"/>
          </a:xfrm>
          <a:prstGeom prst="rect">
            <a:avLst/>
          </a:prstGeom>
        </p:spPr>
      </p:pic>
      <p:sp>
        <p:nvSpPr>
          <p:cNvPr id="7" name="Номер слайда 6"/>
          <p:cNvSpPr>
            <a:spLocks noGrp="1"/>
          </p:cNvSpPr>
          <p:nvPr>
            <p:ph type="sldNum" sz="quarter" idx="12"/>
          </p:nvPr>
        </p:nvSpPr>
        <p:spPr/>
        <p:txBody>
          <a:bodyPr/>
          <a:lstStyle/>
          <a:p>
            <a:fld id="{AC4B6EA2-3DAB-415A-81B1-2E2A41D203B5}" type="slidenum">
              <a:rPr lang="ru-RU" smtClean="0"/>
              <a:t>57</a:t>
            </a:fld>
            <a:endParaRPr lang="ru-RU" dirty="0"/>
          </a:p>
        </p:txBody>
      </p:sp>
    </p:spTree>
    <p:extLst>
      <p:ext uri="{BB962C8B-B14F-4D97-AF65-F5344CB8AC3E}">
        <p14:creationId xmlns:p14="http://schemas.microsoft.com/office/powerpoint/2010/main" val="41021132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Сообщение с </a:t>
            </a:r>
            <a:r>
              <a:rPr lang="en-US" dirty="0"/>
              <a:t>cookie</a:t>
            </a:r>
            <a:endParaRPr lang="ru-RU" dirty="0"/>
          </a:p>
        </p:txBody>
      </p:sp>
      <p:sp>
        <p:nvSpPr>
          <p:cNvPr id="3" name="Объект 2"/>
          <p:cNvSpPr>
            <a:spLocks noGrp="1"/>
          </p:cNvSpPr>
          <p:nvPr>
            <p:ph idx="1"/>
          </p:nvPr>
        </p:nvSpPr>
        <p:spPr/>
        <p:txBody>
          <a:bodyPr/>
          <a:lstStyle/>
          <a:p>
            <a:endParaRPr lang="ru-RU" dirty="0"/>
          </a:p>
        </p:txBody>
      </p:sp>
      <p:pic>
        <p:nvPicPr>
          <p:cNvPr id="4" name="Рисунок 3"/>
          <p:cNvPicPr>
            <a:picLocks noChangeAspect="1"/>
          </p:cNvPicPr>
          <p:nvPr/>
        </p:nvPicPr>
        <p:blipFill>
          <a:blip r:embed="rId2"/>
          <a:stretch>
            <a:fillRect/>
          </a:stretch>
        </p:blipFill>
        <p:spPr>
          <a:xfrm>
            <a:off x="3629025" y="1891445"/>
            <a:ext cx="4933950" cy="1685925"/>
          </a:xfrm>
          <a:prstGeom prst="rect">
            <a:avLst/>
          </a:prstGeom>
        </p:spPr>
      </p:pic>
      <p:pic>
        <p:nvPicPr>
          <p:cNvPr id="5" name="Рисунок 4"/>
          <p:cNvPicPr>
            <a:picLocks noChangeAspect="1"/>
          </p:cNvPicPr>
          <p:nvPr/>
        </p:nvPicPr>
        <p:blipFill>
          <a:blip r:embed="rId3"/>
          <a:stretch>
            <a:fillRect/>
          </a:stretch>
        </p:blipFill>
        <p:spPr>
          <a:xfrm>
            <a:off x="1000125" y="4001294"/>
            <a:ext cx="10191750" cy="1743075"/>
          </a:xfrm>
          <a:prstGeom prst="rect">
            <a:avLst/>
          </a:prstGeom>
        </p:spPr>
      </p:pic>
      <p:sp>
        <p:nvSpPr>
          <p:cNvPr id="6" name="Номер слайда 5"/>
          <p:cNvSpPr>
            <a:spLocks noGrp="1"/>
          </p:cNvSpPr>
          <p:nvPr>
            <p:ph type="sldNum" sz="quarter" idx="12"/>
          </p:nvPr>
        </p:nvSpPr>
        <p:spPr/>
        <p:txBody>
          <a:bodyPr/>
          <a:lstStyle/>
          <a:p>
            <a:fld id="{AC4B6EA2-3DAB-415A-81B1-2E2A41D203B5}" type="slidenum">
              <a:rPr lang="ru-RU" smtClean="0"/>
              <a:t>58</a:t>
            </a:fld>
            <a:endParaRPr lang="ru-RU" dirty="0"/>
          </a:p>
        </p:txBody>
      </p:sp>
    </p:spTree>
    <p:extLst>
      <p:ext uri="{BB962C8B-B14F-4D97-AF65-F5344CB8AC3E}">
        <p14:creationId xmlns:p14="http://schemas.microsoft.com/office/powerpoint/2010/main" val="10092739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Выработка транспортного ключа</a:t>
            </a:r>
          </a:p>
        </p:txBody>
      </p:sp>
      <p:sp>
        <p:nvSpPr>
          <p:cNvPr id="3" name="Объект 2"/>
          <p:cNvSpPr>
            <a:spLocks noGrp="1"/>
          </p:cNvSpPr>
          <p:nvPr>
            <p:ph idx="1"/>
          </p:nvPr>
        </p:nvSpPr>
        <p:spPr/>
        <p:txBody>
          <a:bodyPr/>
          <a:lstStyle/>
          <a:p>
            <a:r>
              <a:rPr lang="ru-RU" dirty="0"/>
              <a:t>Нулевые начальные </a:t>
            </a:r>
            <a:r>
              <a:rPr lang="en-US" dirty="0"/>
              <a:t>nonce</a:t>
            </a:r>
            <a:r>
              <a:rPr lang="ru-RU" dirty="0"/>
              <a:t>, </a:t>
            </a:r>
            <a:r>
              <a:rPr lang="en-US" dirty="0"/>
              <a:t>KDF </a:t>
            </a:r>
            <a:r>
              <a:rPr lang="ru-RU" dirty="0"/>
              <a:t>от </a:t>
            </a:r>
            <a:r>
              <a:rPr lang="en-US" dirty="0"/>
              <a:t>ck (</a:t>
            </a:r>
            <a:r>
              <a:rPr lang="ru-RU" dirty="0"/>
              <a:t>см </a:t>
            </a:r>
            <a:r>
              <a:rPr lang="en-US" dirty="0"/>
              <a:t>Noise).</a:t>
            </a:r>
            <a:endParaRPr lang="ru-RU" dirty="0"/>
          </a:p>
        </p:txBody>
      </p:sp>
      <p:pic>
        <p:nvPicPr>
          <p:cNvPr id="4" name="Рисунок 3"/>
          <p:cNvPicPr>
            <a:picLocks noChangeAspect="1"/>
          </p:cNvPicPr>
          <p:nvPr/>
        </p:nvPicPr>
        <p:blipFill>
          <a:blip r:embed="rId2"/>
          <a:stretch>
            <a:fillRect/>
          </a:stretch>
        </p:blipFill>
        <p:spPr>
          <a:xfrm>
            <a:off x="3296387" y="2927839"/>
            <a:ext cx="4895846" cy="1142999"/>
          </a:xfrm>
          <a:prstGeom prst="rect">
            <a:avLst/>
          </a:prstGeom>
        </p:spPr>
      </p:pic>
      <p:sp>
        <p:nvSpPr>
          <p:cNvPr id="5" name="Номер слайда 4"/>
          <p:cNvSpPr>
            <a:spLocks noGrp="1"/>
          </p:cNvSpPr>
          <p:nvPr>
            <p:ph type="sldNum" sz="quarter" idx="12"/>
          </p:nvPr>
        </p:nvSpPr>
        <p:spPr/>
        <p:txBody>
          <a:bodyPr/>
          <a:lstStyle/>
          <a:p>
            <a:fld id="{AC4B6EA2-3DAB-415A-81B1-2E2A41D203B5}" type="slidenum">
              <a:rPr lang="ru-RU" smtClean="0"/>
              <a:t>59</a:t>
            </a:fld>
            <a:endParaRPr lang="ru-RU" dirty="0"/>
          </a:p>
        </p:txBody>
      </p:sp>
    </p:spTree>
    <p:extLst>
      <p:ext uri="{BB962C8B-B14F-4D97-AF65-F5344CB8AC3E}">
        <p14:creationId xmlns:p14="http://schemas.microsoft.com/office/powerpoint/2010/main" val="24663243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Использование транспортного ключа</a:t>
            </a:r>
          </a:p>
        </p:txBody>
      </p:sp>
      <p:sp>
        <p:nvSpPr>
          <p:cNvPr id="3" name="Объект 2"/>
          <p:cNvSpPr>
            <a:spLocks noGrp="1"/>
          </p:cNvSpPr>
          <p:nvPr>
            <p:ph idx="1"/>
          </p:nvPr>
        </p:nvSpPr>
        <p:spPr/>
        <p:txBody>
          <a:bodyPr/>
          <a:lstStyle/>
          <a:p>
            <a:endParaRPr lang="ru-RU" dirty="0"/>
          </a:p>
        </p:txBody>
      </p:sp>
      <p:pic>
        <p:nvPicPr>
          <p:cNvPr id="4" name="Рисунок 3"/>
          <p:cNvPicPr>
            <a:picLocks noChangeAspect="1"/>
          </p:cNvPicPr>
          <p:nvPr/>
        </p:nvPicPr>
        <p:blipFill>
          <a:blip r:embed="rId2"/>
          <a:stretch>
            <a:fillRect/>
          </a:stretch>
        </p:blipFill>
        <p:spPr>
          <a:xfrm>
            <a:off x="838200" y="2683852"/>
            <a:ext cx="5086350" cy="1771650"/>
          </a:xfrm>
          <a:prstGeom prst="rect">
            <a:avLst/>
          </a:prstGeom>
        </p:spPr>
      </p:pic>
      <p:pic>
        <p:nvPicPr>
          <p:cNvPr id="5" name="Рисунок 4"/>
          <p:cNvPicPr>
            <a:picLocks noChangeAspect="1"/>
          </p:cNvPicPr>
          <p:nvPr/>
        </p:nvPicPr>
        <p:blipFill>
          <a:blip r:embed="rId3"/>
          <a:stretch>
            <a:fillRect/>
          </a:stretch>
        </p:blipFill>
        <p:spPr>
          <a:xfrm>
            <a:off x="6732173" y="2916482"/>
            <a:ext cx="4405483" cy="1822573"/>
          </a:xfrm>
          <a:prstGeom prst="rect">
            <a:avLst/>
          </a:prstGeom>
        </p:spPr>
      </p:pic>
      <p:sp>
        <p:nvSpPr>
          <p:cNvPr id="6" name="Номер слайда 5"/>
          <p:cNvSpPr>
            <a:spLocks noGrp="1"/>
          </p:cNvSpPr>
          <p:nvPr>
            <p:ph type="sldNum" sz="quarter" idx="12"/>
          </p:nvPr>
        </p:nvSpPr>
        <p:spPr/>
        <p:txBody>
          <a:bodyPr/>
          <a:lstStyle/>
          <a:p>
            <a:fld id="{AC4B6EA2-3DAB-415A-81B1-2E2A41D203B5}" type="slidenum">
              <a:rPr lang="ru-RU" smtClean="0"/>
              <a:t>60</a:t>
            </a:fld>
            <a:endParaRPr lang="ru-RU" dirty="0"/>
          </a:p>
        </p:txBody>
      </p:sp>
    </p:spTree>
    <p:extLst>
      <p:ext uri="{BB962C8B-B14F-4D97-AF65-F5344CB8AC3E}">
        <p14:creationId xmlns:p14="http://schemas.microsoft.com/office/powerpoint/2010/main" val="15376816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err="1"/>
              <a:t>WireGuard</a:t>
            </a:r>
            <a:endParaRPr lang="ru-RU" dirty="0"/>
          </a:p>
        </p:txBody>
      </p:sp>
      <p:sp>
        <p:nvSpPr>
          <p:cNvPr id="3" name="Объект 2"/>
          <p:cNvSpPr>
            <a:spLocks noGrp="1"/>
          </p:cNvSpPr>
          <p:nvPr>
            <p:ph idx="1"/>
          </p:nvPr>
        </p:nvSpPr>
        <p:spPr/>
        <p:txBody>
          <a:bodyPr/>
          <a:lstStyle/>
          <a:p>
            <a:r>
              <a:rPr lang="ru-RU" dirty="0"/>
              <a:t>Всё ещё в разработке. Текущая версия не рекомендована к использованию в продакшене.</a:t>
            </a:r>
          </a:p>
          <a:p>
            <a:r>
              <a:rPr lang="ru-RU" dirty="0"/>
              <a:t>Активно внедряется с 2020 года</a:t>
            </a:r>
            <a:endParaRPr lang="en-US" dirty="0"/>
          </a:p>
          <a:p>
            <a:r>
              <a:rPr lang="en-US" dirty="0"/>
              <a:t>Whitepaper </a:t>
            </a:r>
            <a:r>
              <a:rPr lang="en-US" dirty="0">
                <a:hlinkClick r:id="rId2"/>
              </a:rPr>
              <a:t>https://www.wireguard.com/papers/wireguard.pdf</a:t>
            </a:r>
            <a:endParaRPr lang="en-US" dirty="0"/>
          </a:p>
          <a:p>
            <a:endParaRPr lang="ru-RU" dirty="0"/>
          </a:p>
        </p:txBody>
      </p:sp>
      <p:sp>
        <p:nvSpPr>
          <p:cNvPr id="4" name="Номер слайда 3"/>
          <p:cNvSpPr>
            <a:spLocks noGrp="1"/>
          </p:cNvSpPr>
          <p:nvPr>
            <p:ph type="sldNum" sz="quarter" idx="12"/>
          </p:nvPr>
        </p:nvSpPr>
        <p:spPr/>
        <p:txBody>
          <a:bodyPr/>
          <a:lstStyle/>
          <a:p>
            <a:fld id="{AC4B6EA2-3DAB-415A-81B1-2E2A41D203B5}" type="slidenum">
              <a:rPr lang="ru-RU" smtClean="0"/>
              <a:t>61</a:t>
            </a:fld>
            <a:endParaRPr lang="ru-RU" dirty="0"/>
          </a:p>
        </p:txBody>
      </p:sp>
    </p:spTree>
    <p:extLst>
      <p:ext uri="{BB962C8B-B14F-4D97-AF65-F5344CB8AC3E}">
        <p14:creationId xmlns:p14="http://schemas.microsoft.com/office/powerpoint/2010/main" val="178922985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TotalTime>
  <Words>3141</Words>
  <Application>Microsoft Office PowerPoint</Application>
  <PresentationFormat>Широкоэкранный</PresentationFormat>
  <Paragraphs>337</Paragraphs>
  <Slides>61</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61</vt:i4>
      </vt:variant>
    </vt:vector>
  </HeadingPairs>
  <TitlesOfParts>
    <vt:vector size="66" baseType="lpstr">
      <vt:lpstr>Arial</vt:lpstr>
      <vt:lpstr>Calibri</vt:lpstr>
      <vt:lpstr>Calibri Light</vt:lpstr>
      <vt:lpstr>Cambria Math</vt:lpstr>
      <vt:lpstr>Тема Office</vt:lpstr>
      <vt:lpstr>Построение защищенных каналов связи</vt:lpstr>
      <vt:lpstr>Защищенный канал связи</vt:lpstr>
      <vt:lpstr>Защищенный канал связи</vt:lpstr>
      <vt:lpstr>Защищенный канал связи</vt:lpstr>
      <vt:lpstr>Аутентификация в каналах связи</vt:lpstr>
      <vt:lpstr>Аутентификация в каналах связи</vt:lpstr>
      <vt:lpstr>Аутентификация с использованием асимметричной криптографии</vt:lpstr>
      <vt:lpstr>Некоторые требования к протоколам согласования ключей</vt:lpstr>
      <vt:lpstr>Некоторые модели стойкости протоколов</vt:lpstr>
      <vt:lpstr>Презентация PowerPoint</vt:lpstr>
      <vt:lpstr>TLS 1.3</vt:lpstr>
      <vt:lpstr>Согласование ключей в TSL 1.3</vt:lpstr>
      <vt:lpstr>Аутентифицированное шифрование</vt:lpstr>
      <vt:lpstr>TLS 1.2 vs TLS 1.3 handshake</vt:lpstr>
      <vt:lpstr>Электронные подписи</vt:lpstr>
      <vt:lpstr>Наборы алгоритмов</vt:lpstr>
      <vt:lpstr>TLS 1.3 vs 1.2 public key Handshake</vt:lpstr>
      <vt:lpstr>TSL 1.3 ссылки</vt:lpstr>
      <vt:lpstr>Noise</vt:lpstr>
      <vt:lpstr>Протоколы Noise</vt:lpstr>
      <vt:lpstr>Протоколы Noise</vt:lpstr>
      <vt:lpstr>Токены Noise</vt:lpstr>
      <vt:lpstr>Пример Классический Диффи-Хеллман</vt:lpstr>
      <vt:lpstr>Пример Диффи-Хеллман с односторонней и двухсторонней аутентификацией</vt:lpstr>
      <vt:lpstr>Именование паттернов</vt:lpstr>
      <vt:lpstr>Именование Шаблонов</vt:lpstr>
      <vt:lpstr>Именование шаблонов</vt:lpstr>
      <vt:lpstr>Именование шаблонов</vt:lpstr>
      <vt:lpstr>Именование паттернов</vt:lpstr>
      <vt:lpstr>Состояния Noise</vt:lpstr>
      <vt:lpstr>Функционирование протокола Noise</vt:lpstr>
      <vt:lpstr>Функционирование протокола Noise</vt:lpstr>
      <vt:lpstr>Свойства payload (инициатор)</vt:lpstr>
      <vt:lpstr>Свойства payload (получатель)</vt:lpstr>
      <vt:lpstr>Свойства payload (получатель)</vt:lpstr>
      <vt:lpstr>Свойства payload (получатель)</vt:lpstr>
      <vt:lpstr>Свойства payload (получатель)</vt:lpstr>
      <vt:lpstr>Презентация PowerPoint</vt:lpstr>
      <vt:lpstr>Больше про noise</vt:lpstr>
      <vt:lpstr>WireGuard</vt:lpstr>
      <vt:lpstr>Маршрутизация WireGuard</vt:lpstr>
      <vt:lpstr>Маршрутизация WireGuard</vt:lpstr>
      <vt:lpstr>Маршрутизация WireGuard</vt:lpstr>
      <vt:lpstr>Процедура инкапсуляции WireGuard</vt:lpstr>
      <vt:lpstr>Криптография WireGuard</vt:lpstr>
      <vt:lpstr>Использование метки времени</vt:lpstr>
      <vt:lpstr>Использование psk</vt:lpstr>
      <vt:lpstr>Cookie и DOS</vt:lpstr>
      <vt:lpstr>Cookie и DOS</vt:lpstr>
      <vt:lpstr>Cookie и DOS</vt:lpstr>
      <vt:lpstr>… приходится отвечать на неаутентифицированные сообщения</vt:lpstr>
      <vt:lpstr>… cookie не защищены</vt:lpstr>
      <vt:lpstr>… DOS на инициатора</vt:lpstr>
      <vt:lpstr>Второй MAC</vt:lpstr>
      <vt:lpstr>Итого</vt:lpstr>
      <vt:lpstr>Сообщение инициатора</vt:lpstr>
      <vt:lpstr>Сообщение получателя </vt:lpstr>
      <vt:lpstr>Сообщение с cookie</vt:lpstr>
      <vt:lpstr>Выработка транспортного ключа</vt:lpstr>
      <vt:lpstr>Использование транспортного ключа</vt:lpstr>
      <vt:lpstr>WireGuard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Построение защищенных каналов связи</dc:title>
  <dc:creator>Fasjeit</dc:creator>
  <cp:lastModifiedBy>Fasjeit</cp:lastModifiedBy>
  <cp:revision>278</cp:revision>
  <dcterms:created xsi:type="dcterms:W3CDTF">2020-12-07T06:38:42Z</dcterms:created>
  <dcterms:modified xsi:type="dcterms:W3CDTF">2025-12-12T17:19:22Z</dcterms:modified>
</cp:coreProperties>
</file>