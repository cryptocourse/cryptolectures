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96" r:id="rId2"/>
    <p:sldId id="505" r:id="rId3"/>
    <p:sldId id="506" r:id="rId4"/>
    <p:sldId id="507" r:id="rId5"/>
    <p:sldId id="440" r:id="rId6"/>
    <p:sldId id="444" r:id="rId7"/>
    <p:sldId id="448" r:id="rId8"/>
    <p:sldId id="470" r:id="rId9"/>
    <p:sldId id="471" r:id="rId10"/>
    <p:sldId id="472" r:id="rId11"/>
    <p:sldId id="442" r:id="rId12"/>
    <p:sldId id="473" r:id="rId13"/>
    <p:sldId id="475" r:id="rId14"/>
    <p:sldId id="474" r:id="rId15"/>
    <p:sldId id="476" r:id="rId16"/>
    <p:sldId id="477" r:id="rId17"/>
    <p:sldId id="479" r:id="rId18"/>
    <p:sldId id="478" r:id="rId19"/>
    <p:sldId id="480" r:id="rId20"/>
    <p:sldId id="482" r:id="rId21"/>
    <p:sldId id="481" r:id="rId22"/>
    <p:sldId id="483" r:id="rId23"/>
    <p:sldId id="485" r:id="rId24"/>
    <p:sldId id="486" r:id="rId25"/>
    <p:sldId id="487" r:id="rId26"/>
    <p:sldId id="488" r:id="rId27"/>
    <p:sldId id="489" r:id="rId28"/>
    <p:sldId id="484" r:id="rId29"/>
    <p:sldId id="490" r:id="rId30"/>
    <p:sldId id="492" r:id="rId31"/>
    <p:sldId id="493" r:id="rId32"/>
    <p:sldId id="503" r:id="rId33"/>
    <p:sldId id="491" r:id="rId34"/>
    <p:sldId id="494" r:id="rId35"/>
    <p:sldId id="495" r:id="rId36"/>
    <p:sldId id="496" r:id="rId37"/>
    <p:sldId id="498" r:id="rId38"/>
    <p:sldId id="500" r:id="rId39"/>
    <p:sldId id="501" r:id="rId40"/>
    <p:sldId id="502" r:id="rId41"/>
    <p:sldId id="504" r:id="rId42"/>
    <p:sldId id="509" r:id="rId43"/>
    <p:sldId id="508" r:id="rId4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  <p14:sldId id="505"/>
            <p14:sldId id="506"/>
            <p14:sldId id="507"/>
          </p14:sldIdLst>
        </p14:section>
        <p14:section name="Лирическое отступление в блочные шифры" id="{166FB796-C804-494D-81E1-46F5EBC53402}">
          <p14:sldIdLst>
            <p14:sldId id="440"/>
            <p14:sldId id="444"/>
            <p14:sldId id="448"/>
            <p14:sldId id="470"/>
            <p14:sldId id="471"/>
            <p14:sldId id="472"/>
            <p14:sldId id="442"/>
          </p14:sldIdLst>
        </p14:section>
        <p14:section name="Зашифрование выхода беспрификсной PRF" id="{18788C7A-D9AB-44EB-970F-32D0872360AF}">
          <p14:sldIdLst>
            <p14:sldId id="473"/>
            <p14:sldId id="475"/>
            <p14:sldId id="474"/>
            <p14:sldId id="476"/>
            <p14:sldId id="477"/>
            <p14:sldId id="479"/>
            <p14:sldId id="478"/>
            <p14:sldId id="480"/>
          </p14:sldIdLst>
        </p14:section>
        <p14:section name="Беспрификсное кодирование" id="{029A8DA4-11FA-4457-93F3-BD1BED91405D}">
          <p14:sldIdLst>
            <p14:sldId id="482"/>
            <p14:sldId id="481"/>
            <p14:sldId id="483"/>
          </p14:sldIdLst>
        </p14:section>
        <p14:section name="Беспрификсное кодирование с рандомизацией" id="{CB1772CE-B57F-46D8-BBCB-F5C8D5D33337}">
          <p14:sldIdLst>
            <p14:sldId id="485"/>
            <p14:sldId id="486"/>
            <p14:sldId id="487"/>
            <p14:sldId id="488"/>
          </p14:sldIdLst>
        </p14:section>
        <p14:section name="Построение инъективных функций" id="{22013A09-DCFF-4593-A365-2AAE7B3D6844}">
          <p14:sldIdLst>
            <p14:sldId id="489"/>
          </p14:sldIdLst>
        </p14:section>
        <p14:section name="CMAC (OMAC)" id="{B6714CD6-A49F-4206-BF62-640A90904708}">
          <p14:sldIdLst>
            <p14:sldId id="484"/>
            <p14:sldId id="490"/>
            <p14:sldId id="492"/>
            <p14:sldId id="493"/>
            <p14:sldId id="503"/>
          </p14:sldIdLst>
        </p14:section>
        <p14:section name="PMAC" id="{C3080F1D-9C76-414C-8EA4-9C087EDA93DB}">
          <p14:sldIdLst>
            <p14:sldId id="491"/>
            <p14:sldId id="494"/>
          </p14:sldIdLst>
        </p14:section>
        <p14:section name="CW-mac" id="{0532A29F-7973-4F7E-84F6-C56353BBD596}">
          <p14:sldIdLst>
            <p14:sldId id="495"/>
            <p14:sldId id="496"/>
            <p14:sldId id="498"/>
            <p14:sldId id="500"/>
            <p14:sldId id="501"/>
            <p14:sldId id="502"/>
            <p14:sldId id="504"/>
            <p14:sldId id="509"/>
          </p14:sldIdLst>
        </p14:section>
        <p14:section name="Старые тесты" id="{5C5CDB86-5828-4477-A52D-AF42AB0EFF0C}">
          <p14:sldIdLst>
            <p14:sldId id="50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05" d="100"/>
          <a:sy n="105" d="100"/>
        </p:scale>
        <p:origin x="92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12.11.2025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 the PRF</a:t>
            </a:r>
            <a:r>
              <a:rPr lang="en-US" baseline="0" dirty="0"/>
              <a:t> is only used for short messages and yet we get a MAC for long messages.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FF38DAD-5F37-4EA5-A798-26ED1E453939}" type="slidenum">
              <a:rPr lang="en-US" smtClean="0"/>
              <a:pPr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229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12.11.2025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12.11.2025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12.11.2025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12.11.2025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12.11.2025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en-US" dirty="0"/>
              <a:t> MAC: </a:t>
            </a:r>
            <a:r>
              <a:rPr lang="ru-RU" dirty="0"/>
              <a:t>схемы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202</a:t>
            </a:r>
            <a:r>
              <a:rPr lang="en-US"/>
              <a:t>5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28541" y="1408579"/>
            <a:ext cx="6148754" cy="4351338"/>
          </a:xfrm>
        </p:spPr>
        <p:txBody>
          <a:bodyPr/>
          <a:lstStyle/>
          <a:p>
            <a:r>
              <a:rPr lang="ru-RU" dirty="0"/>
              <a:t>Положить телефон экраном вниз справа от себя</a:t>
            </a:r>
          </a:p>
          <a:p>
            <a:r>
              <a:rPr lang="ru-RU" dirty="0"/>
              <a:t>Не разговаривать с соседями</a:t>
            </a:r>
          </a:p>
          <a:p>
            <a:r>
              <a:rPr lang="ru-RU" dirty="0"/>
              <a:t>Не пользоваться конспектами и электронными устройствами</a:t>
            </a:r>
          </a:p>
          <a:p>
            <a:r>
              <a:rPr lang="ru-RU" dirty="0"/>
              <a:t>Написать номер (по таблице) и ФИО на листочке</a:t>
            </a:r>
          </a:p>
          <a:p>
            <a:r>
              <a:rPr lang="ru-RU" dirty="0"/>
              <a:t>Написать краткий ответ на вопрос</a:t>
            </a:r>
            <a:endParaRPr lang="en-US" dirty="0"/>
          </a:p>
          <a:p>
            <a:r>
              <a:rPr lang="ru-RU" dirty="0"/>
              <a:t>Дождаться окончания теста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85371" y="1408578"/>
            <a:ext cx="5318614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/>
              <a:t>4 </a:t>
            </a:r>
            <a:r>
              <a:rPr lang="ru-RU" sz="2600" dirty="0"/>
              <a:t>вопроса. </a:t>
            </a:r>
            <a:endParaRPr lang="en-US" sz="2600" dirty="0"/>
          </a:p>
          <a:p>
            <a:endParaRPr lang="en-US" sz="2600" dirty="0"/>
          </a:p>
          <a:p>
            <a:r>
              <a:rPr lang="ru-RU" sz="2600" dirty="0"/>
              <a:t>Краткие ответы.</a:t>
            </a:r>
          </a:p>
        </p:txBody>
      </p:sp>
    </p:spTree>
    <p:extLst>
      <p:ext uri="{BB962C8B-B14F-4D97-AF65-F5344CB8AC3E}">
        <p14:creationId xmlns:p14="http://schemas.microsoft.com/office/powerpoint/2010/main" val="2257511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Игра на стойкость </a:t>
                </a:r>
                <a:r>
                  <a:rPr lang="en-US" sz="2800" dirty="0"/>
                  <a:t>MAC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800" b="1" dirty="0"/>
                  <a:t> </a:t>
                </a:r>
                <a:r>
                  <a:rPr lang="ru-RU" sz="2800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2800" dirty="0"/>
                  <a:t>.</a:t>
                </a:r>
                <a:endParaRPr lang="ru-RU" sz="2800" dirty="0"/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0465" b="-325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4"/>
          <p:cNvSpPr>
            <a:spLocks noChangeArrowheads="1"/>
          </p:cNvSpPr>
          <p:nvPr/>
        </p:nvSpPr>
        <p:spPr bwMode="auto">
          <a:xfrm>
            <a:off x="2149293" y="2827955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7"/>
              <p:cNvSpPr>
                <a:spLocks noChangeArrowheads="1"/>
              </p:cNvSpPr>
              <p:nvPr/>
            </p:nvSpPr>
            <p:spPr bwMode="auto">
              <a:xfrm>
                <a:off x="7330893" y="2827955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330893" y="2827955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2075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1"/>
          <p:cNvGrpSpPr>
            <a:grpSpLocks/>
          </p:cNvGrpSpPr>
          <p:nvPr/>
        </p:nvGrpSpPr>
        <p:grpSpPr bwMode="auto">
          <a:xfrm>
            <a:off x="3501843" y="3048880"/>
            <a:ext cx="3771900" cy="400050"/>
            <a:chOff x="1776" y="1798"/>
            <a:chExt cx="2400" cy="336"/>
          </a:xfrm>
        </p:grpSpPr>
        <p:sp>
          <p:nvSpPr>
            <p:cNvPr id="2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615" y="1798"/>
                  <a:ext cx="630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1−???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6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15" y="1798"/>
                  <a:ext cx="630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Group 20"/>
          <p:cNvGrpSpPr>
            <a:grpSpLocks/>
          </p:cNvGrpSpPr>
          <p:nvPr/>
        </p:nvGrpSpPr>
        <p:grpSpPr bwMode="auto">
          <a:xfrm>
            <a:off x="3539943" y="3567851"/>
            <a:ext cx="3733800" cy="400051"/>
            <a:chOff x="1776" y="2109"/>
            <a:chExt cx="2352" cy="336"/>
          </a:xfrm>
        </p:grpSpPr>
        <p:sp>
          <p:nvSpPr>
            <p:cNvPr id="2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583" y="2109"/>
                  <a:ext cx="6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2−???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9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583" y="2109"/>
                  <a:ext cx="624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0" name="Rectangle 18"/>
          <p:cNvSpPr>
            <a:spLocks noChangeArrowheads="1"/>
          </p:cNvSpPr>
          <p:nvPr/>
        </p:nvSpPr>
        <p:spPr bwMode="auto">
          <a:xfrm>
            <a:off x="1509533" y="2534079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5108234" y="3756241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32" name="Line 5"/>
          <p:cNvSpPr>
            <a:spLocks noChangeShapeType="1"/>
          </p:cNvSpPr>
          <p:nvPr/>
        </p:nvSpPr>
        <p:spPr bwMode="auto">
          <a:xfrm>
            <a:off x="9434333" y="3566003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Box 6"/>
              <p:cNvSpPr txBox="1">
                <a:spLocks noChangeArrowheads="1"/>
              </p:cNvSpPr>
              <p:nvPr/>
            </p:nvSpPr>
            <p:spPr bwMode="auto">
              <a:xfrm>
                <a:off x="9649690" y="3135671"/>
                <a:ext cx="471365" cy="40011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−???</m:t>
                      </m:r>
                    </m:oMath>
                  </m:oMathPara>
                </a14:m>
                <a:endParaRPr lang="en-US" sz="2000" i="1" dirty="0"/>
              </a:p>
            </p:txBody>
          </p:sp>
        </mc:Choice>
        <mc:Fallback xmlns="">
          <p:sp>
            <p:nvSpPr>
              <p:cNvPr id="3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649690" y="3135671"/>
                <a:ext cx="471365" cy="400110"/>
              </a:xfrm>
              <a:prstGeom prst="rect">
                <a:avLst/>
              </a:prstGeom>
              <a:blipFill rotWithShape="0">
                <a:blip r:embed="rId6"/>
                <a:stretch>
                  <a:fillRect r="-961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/>
          <p:cNvSpPr txBox="1"/>
          <p:nvPr/>
        </p:nvSpPr>
        <p:spPr>
          <a:xfrm>
            <a:off x="5108234" y="2651663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2466341" y="344853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66341" y="3448539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/>
              <p:cNvSpPr/>
              <p:nvPr/>
            </p:nvSpPr>
            <p:spPr>
              <a:xfrm>
                <a:off x="1334251" y="4861599"/>
                <a:ext cx="272209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000" dirty="0"/>
                  <a:t>4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???</m:t>
                    </m:r>
                  </m:oMath>
                </a14:m>
                <a:endParaRPr lang="ru-RU" sz="2000" dirty="0"/>
              </a:p>
            </p:txBody>
          </p:sp>
        </mc:Choice>
        <mc:Fallback xmlns="">
          <p:sp>
            <p:nvSpPr>
              <p:cNvPr id="36" name="Прямоугольник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251" y="4861599"/>
                <a:ext cx="2722092" cy="400110"/>
              </a:xfrm>
              <a:prstGeom prst="rect">
                <a:avLst/>
              </a:prstGeom>
              <a:blipFill rotWithShape="0">
                <a:blip r:embed="rId8"/>
                <a:stretch>
                  <a:fillRect l="-2466" t="-9231" b="-276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545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79633" y="375503"/>
            <a:ext cx="5811715" cy="2847914"/>
          </a:xfrm>
        </p:spPr>
        <p:txBody>
          <a:bodyPr>
            <a:noAutofit/>
          </a:bodyPr>
          <a:lstStyle/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TIME</a:t>
            </a:r>
            <a:r>
              <a:rPr lang="en-US" sz="15000" dirty="0">
                <a:solidFill>
                  <a:schemeClr val="bg1"/>
                </a:solidFill>
              </a:rPr>
              <a:t> </a:t>
            </a:r>
            <a:endParaRPr lang="ru-RU" sz="150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17512" y="3223417"/>
            <a:ext cx="3145924" cy="27043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UP</a:t>
            </a:r>
            <a:endParaRPr lang="ru-RU" sz="20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8005482" y="1189831"/>
            <a:ext cx="30748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0" dirty="0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en-US" sz="20000" dirty="0">
                <a:solidFill>
                  <a:schemeClr val="bg1"/>
                </a:solidFill>
              </a:rPr>
              <a:t> </a:t>
            </a:r>
            <a:endParaRPr lang="ru-RU" sz="20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691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Целостность сообщений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</p:spPr>
            <p:txBody>
              <a:bodyPr/>
              <a:lstStyle/>
              <a:p>
                <a:r>
                  <a:rPr lang="ru-RU" dirty="0"/>
                  <a:t>Задача – обеспечить целостность сообщений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 при передаче</a:t>
                </a:r>
              </a:p>
              <a:p>
                <a:r>
                  <a:rPr lang="ru-RU" dirty="0"/>
                  <a:t>Обеспечиваем только </a:t>
                </a:r>
                <a:r>
                  <a:rPr lang="ru-RU" b="1" dirty="0"/>
                  <a:t>целостность</a:t>
                </a:r>
                <a:r>
                  <a:rPr lang="ru-RU" dirty="0"/>
                  <a:t>, сообщения предполагаются открытыми</a:t>
                </a:r>
              </a:p>
              <a:p>
                <a:r>
                  <a:rPr lang="ru-RU" dirty="0"/>
                  <a:t>Основная идея – создать небольшую по длине величину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(tag, </a:t>
                </a:r>
                <a:r>
                  <a:rPr lang="ru-RU" dirty="0"/>
                  <a:t>метка) на основе сообщения, и передать данную величину вместе с сообщением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На стороне получателя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вычисляется для полученного сообщения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производится сравнение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. В случае равенства полагается, что целостность сообщения не нарушена.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7490"/>
                <a:ext cx="10515600" cy="4351338"/>
              </a:xfrm>
              <a:blipFill rotWithShape="0">
                <a:blip r:embed="rId2"/>
                <a:stretch>
                  <a:fillRect l="-928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2595" y="4607626"/>
            <a:ext cx="7940439" cy="2250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301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</a:t>
            </a:r>
            <a:r>
              <a:rPr lang="en-US" dirty="0"/>
              <a:t>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MAC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пара эффективных алгоритмов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алгоритм выработки </a:t>
                </a:r>
                <a:r>
                  <a:rPr lang="en-US" dirty="0"/>
                  <a:t>MAC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dirty="0"/>
                  <a:t> – алгоритм проверки </a:t>
                </a:r>
                <a:r>
                  <a:rPr lang="en-US" dirty="0"/>
                  <a:t>MAC</a:t>
                </a:r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ru-RU" dirty="0"/>
                  <a:t> – множество сообщений,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множество ключей,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 – множество кодов аутентичности (меток). Тогда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 - вероятностный алгоритм,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детерминированный алгоритм, вычисляющий результат проверки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r>
                  <a:rPr lang="ru-RU" dirty="0"/>
                  <a:t>Свойство корректности -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144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стойкость </a:t>
            </a:r>
            <a:r>
              <a:rPr lang="en-US" dirty="0"/>
              <a:t>MAC</a:t>
            </a:r>
            <a:br>
              <a:rPr lang="en-US" dirty="0"/>
            </a:br>
            <a:r>
              <a:rPr lang="ru-RU" dirty="0"/>
              <a:t>(</a:t>
            </a:r>
            <a:r>
              <a:rPr lang="en-US" dirty="0"/>
              <a:t>chosen message attack)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Противник побеждает в игре, если пара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верная пара сообщение – </a:t>
                </a:r>
                <a:r>
                  <a:rPr lang="en-US" dirty="0"/>
                  <a:t>MA</a:t>
                </a:r>
                <a:r>
                  <a:rPr lang="ru-RU" dirty="0"/>
                  <a:t>С, т.е.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Преимуществом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против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].</a:t>
                </a:r>
              </a:p>
              <a:p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называется стойким </a:t>
                </a:r>
                <a:r>
                  <a:rPr lang="en-US" dirty="0"/>
                  <a:t>MA</a:t>
                </a:r>
                <a:r>
                  <a:rPr lang="ru-RU" dirty="0"/>
                  <a:t>С,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𝑀𝐴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пренебрежимо малая величина.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649478" y="4901502"/>
            <a:ext cx="1295400" cy="145484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31078" y="4901502"/>
                <a:ext cx="1295400" cy="1454847"/>
              </a:xfrm>
              <a:prstGeom prst="rect">
                <a:avLst/>
              </a:prstGeom>
              <a:blipFill rotWithShape="0">
                <a:blip r:embed="rId3"/>
                <a:stretch>
                  <a:fillRect t="-1660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4002028" y="5116474"/>
            <a:ext cx="3771900" cy="400050"/>
            <a:chOff x="1776" y="1793"/>
            <a:chExt cx="2400" cy="336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6" y="1793"/>
                  <a:ext cx="34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51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4040128" y="5639016"/>
            <a:ext cx="3733800" cy="400051"/>
            <a:chOff x="1776" y="2107"/>
            <a:chExt cx="2352" cy="336"/>
          </a:xfrm>
        </p:grpSpPr>
        <p:sp>
          <p:nvSpPr>
            <p:cNvPr id="1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2" y="2107"/>
                  <a:ext cx="1143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←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2" y="2107"/>
                  <a:ext cx="1143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5" name="Rectangle 18"/>
          <p:cNvSpPr>
            <a:spLocks noChangeArrowheads="1"/>
          </p:cNvSpPr>
          <p:nvPr/>
        </p:nvSpPr>
        <p:spPr bwMode="auto">
          <a:xfrm>
            <a:off x="2009718" y="4607626"/>
            <a:ext cx="7924800" cy="1920172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608419" y="5829788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p:sp>
        <p:nvSpPr>
          <p:cNvPr id="17" name="Line 5"/>
          <p:cNvSpPr>
            <a:spLocks noChangeShapeType="1"/>
          </p:cNvSpPr>
          <p:nvPr/>
        </p:nvSpPr>
        <p:spPr bwMode="auto">
          <a:xfrm>
            <a:off x="9934518" y="5639550"/>
            <a:ext cx="3860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Box 6"/>
              <p:cNvSpPr txBox="1">
                <a:spLocks noChangeArrowheads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149875" y="5209218"/>
                <a:ext cx="471365" cy="461665"/>
              </a:xfrm>
              <a:prstGeom prst="rect">
                <a:avLst/>
              </a:prstGeom>
              <a:blipFill rotWithShape="0">
                <a:blip r:embed="rId6"/>
                <a:stretch>
                  <a:fillRect r="-7532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/>
          <p:cNvSpPr txBox="1"/>
          <p:nvPr/>
        </p:nvSpPr>
        <p:spPr>
          <a:xfrm>
            <a:off x="5608419" y="4725210"/>
            <a:ext cx="41549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/>
              <a:t>…</a:t>
            </a:r>
            <a:endParaRPr lang="ru-RU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13"/>
              <p:cNvSpPr txBox="1">
                <a:spLocks noChangeArrowheads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0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6526" y="5522086"/>
                <a:ext cx="632609" cy="423129"/>
              </a:xfrm>
              <a:prstGeom prst="rect">
                <a:avLst/>
              </a:prstGeom>
              <a:blipFill rotWithShape="0">
                <a:blip r:embed="rId7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762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𝐶𝐵𝐶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– цепочка </a:t>
                </a:r>
                <a:r>
                  <a:rPr lang="en-US" dirty="0"/>
                  <a:t>CBC </a:t>
                </a:r>
                <a:r>
                  <a:rPr lang="ru-RU" dirty="0"/>
                  <a:t>с использованием </a:t>
                </a:r>
                <a:r>
                  <a:rPr lang="en-US" dirty="0"/>
                  <a:t>PRF</a:t>
                </a:r>
                <a:r>
                  <a:rPr lang="ru-RU" dirty="0"/>
                  <a:t>. В качестве значение используется последний элемент цепочки.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2822925"/>
            <a:ext cx="5581650" cy="216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06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каскадная конструкция. Выход каждой итерации </a:t>
                </a:r>
                <a:r>
                  <a:rPr lang="en-US" dirty="0"/>
                  <a:t>PRF</a:t>
                </a:r>
                <a:r>
                  <a:rPr lang="ru-RU" dirty="0"/>
                  <a:t> используется к качестве ключа в следующей итерации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682" y="2801587"/>
            <a:ext cx="6238875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75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835730"/>
            <a:ext cx="10515600" cy="185255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38200" y="1690688"/>
            <a:ext cx="10515600" cy="214504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9.3.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𝐶𝐵𝐶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стойкой </a:t>
                </a:r>
                <a:r>
                  <a:rPr lang="ru-RU" dirty="0" err="1"/>
                  <a:t>беспрификсной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, причём для любого </a:t>
                </a:r>
                <a:r>
                  <a:rPr lang="ru-RU" dirty="0" err="1"/>
                  <a:t>беспрификсного</a:t>
                </a:r>
                <a:r>
                  <a:rPr lang="ru-RU" dirty="0"/>
                  <a:t>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делающего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существует противник в игре на </a:t>
                </a:r>
                <a:r>
                  <a:rPr lang="en-US" dirty="0"/>
                  <a:t>PRF</a:t>
                </a:r>
                <a:r>
                  <a:rPr lang="ru-RU" dirty="0"/>
                  <a:t>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𝐶𝐵𝐶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𝑄𝑙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Теорема 9.4</a:t>
                </a:r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ru-RU" dirty="0"/>
                  <a:t>. Для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ограниченной величины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является стойкой </a:t>
                </a:r>
                <a:r>
                  <a:rPr lang="ru-RU" dirty="0" err="1"/>
                  <a:t>беспрификсной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, причём для любого </a:t>
                </a:r>
                <a:r>
                  <a:rPr lang="ru-RU" dirty="0" err="1"/>
                  <a:t>беспрификсного</a:t>
                </a:r>
                <a:r>
                  <a:rPr lang="ru-RU" dirty="0"/>
                  <a:t> противника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, делающего не более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существует противник в игре на </a:t>
                </a:r>
                <a:r>
                  <a:rPr lang="en-US" dirty="0"/>
                  <a:t>PRF</a:t>
                </a:r>
                <a:r>
                  <a:rPr lang="ru-RU" dirty="0"/>
                  <a:t>, причём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𝐶𝐵𝐶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без доказательства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 b="-26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436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стойкий </a:t>
            </a:r>
            <a:r>
              <a:rPr lang="en-US" dirty="0"/>
              <a:t>PRF </a:t>
            </a:r>
            <a:r>
              <a:rPr lang="ru-RU" dirty="0"/>
              <a:t>на основе </a:t>
            </a:r>
            <a:r>
              <a:rPr lang="ru-RU" dirty="0" err="1"/>
              <a:t>беспификсных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lang="ru-RU" dirty="0"/>
              <a:t>Рассмотрим 3 способа построения </a:t>
            </a:r>
            <a:r>
              <a:rPr lang="en-US" dirty="0"/>
              <a:t>PRF </a:t>
            </a:r>
            <a:r>
              <a:rPr lang="ru-RU" dirty="0"/>
              <a:t>на основе </a:t>
            </a:r>
            <a:r>
              <a:rPr lang="ru-RU" dirty="0" err="1"/>
              <a:t>беспрификсных</a:t>
            </a:r>
            <a:r>
              <a:rPr lang="ru-RU" dirty="0"/>
              <a:t>  </a:t>
            </a:r>
            <a:r>
              <a:rPr lang="en-US" dirty="0"/>
              <a:t>PRF:</a:t>
            </a:r>
          </a:p>
          <a:p>
            <a:pPr marL="342900" lvl="1" indent="-342900"/>
            <a:r>
              <a:rPr lang="ru-RU" sz="2400" dirty="0" err="1"/>
              <a:t>Зашифрование</a:t>
            </a:r>
            <a:r>
              <a:rPr lang="ru-RU" sz="2400" dirty="0"/>
              <a:t> выхода</a:t>
            </a:r>
            <a:r>
              <a:rPr lang="en-US" sz="2400" dirty="0"/>
              <a:t> </a:t>
            </a:r>
            <a:r>
              <a:rPr lang="ru-RU" sz="2400" dirty="0" err="1"/>
              <a:t>беспрификсной</a:t>
            </a:r>
            <a:r>
              <a:rPr lang="ru-RU" sz="2400" dirty="0"/>
              <a:t> </a:t>
            </a:r>
            <a:r>
              <a:rPr lang="en-US" sz="2400" dirty="0"/>
              <a:t>PRF</a:t>
            </a:r>
            <a:r>
              <a:rPr lang="en-US" dirty="0"/>
              <a:t>: </a:t>
            </a:r>
            <a:r>
              <a:rPr lang="ru-RU" dirty="0" err="1"/>
              <a:t>зашифрование</a:t>
            </a:r>
            <a:r>
              <a:rPr lang="ru-RU" dirty="0"/>
              <a:t> выхода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 </a:t>
            </a:r>
            <a:r>
              <a:rPr lang="ru-RU" dirty="0"/>
              <a:t> с использованием другой </a:t>
            </a:r>
            <a:r>
              <a:rPr lang="en-US" dirty="0"/>
              <a:t>PRF</a:t>
            </a:r>
          </a:p>
          <a:p>
            <a:pPr marL="342900" lvl="1" indent="-342900"/>
            <a:r>
              <a:rPr lang="ru-RU" dirty="0" err="1"/>
              <a:t>Беспрификсное</a:t>
            </a:r>
            <a:r>
              <a:rPr lang="ru-RU" dirty="0"/>
              <a:t> к</a:t>
            </a:r>
            <a:r>
              <a:rPr lang="ru-RU" sz="2400" dirty="0"/>
              <a:t>одирование</a:t>
            </a:r>
            <a:r>
              <a:rPr lang="en-US" sz="2400" dirty="0"/>
              <a:t>: </a:t>
            </a:r>
            <a:r>
              <a:rPr lang="ru-RU" sz="2400" dirty="0"/>
              <a:t>преобразовать входные данные так, чтобы все они были </a:t>
            </a:r>
            <a:r>
              <a:rPr lang="ru-RU" sz="2400" dirty="0" err="1"/>
              <a:t>беспрификсными</a:t>
            </a:r>
            <a:endParaRPr lang="ru-RU" sz="2400" dirty="0"/>
          </a:p>
          <a:p>
            <a:pPr marL="342900" lvl="1" indent="-342900"/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  <a:r>
              <a:rPr lang="en-US" dirty="0"/>
              <a:t>: CMAC</a:t>
            </a:r>
            <a:endParaRPr lang="ru-RU" sz="2400" dirty="0"/>
          </a:p>
          <a:p>
            <a:pPr marL="342900" lvl="1" indent="-342900"/>
            <a:endParaRPr lang="ru-RU" sz="24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870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PRF: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– PRF: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𝑃𝐹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21" y="3241963"/>
            <a:ext cx="7485848" cy="2462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2983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является </a:t>
                </a:r>
                <a:r>
                  <a:rPr lang="ru-RU" b="1" dirty="0"/>
                  <a:t>расширяемой </a:t>
                </a:r>
                <a:r>
                  <a:rPr lang="en-US" b="1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PRF CBC </a:t>
                </a:r>
                <a:r>
                  <a:rPr lang="ru-RU" dirty="0"/>
                  <a:t>и каскадной конструкции являются расширяемыми.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0972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838200" y="2609534"/>
            <a:ext cx="10515600" cy="251937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30030" y="1825625"/>
                <a:ext cx="10423769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функция </a:t>
                </a:r>
                <a:r>
                  <a:rPr lang="en-US" dirty="0"/>
                  <a:t>CBC </a:t>
                </a:r>
                <a:r>
                  <a:rPr lang="ru-RU" dirty="0"/>
                  <a:t>или каскадная конструкция то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10.1.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– расширяемая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сверх полиномиальная,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– число запросов 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определённая ранее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0030" y="1825625"/>
                <a:ext cx="10423769" cy="4351338"/>
              </a:xfrm>
              <a:blipFill rotWithShape="0">
                <a:blip r:embed="rId2"/>
                <a:stretch>
                  <a:fillRect l="-105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1417" y="5128910"/>
            <a:ext cx="5569165" cy="183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373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 Рассмотрим идею доказательства. Самая неочевидная часть результирующей формулы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𝐸𝐹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𝑃𝑅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𝑎𝑑𝑣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𝑝𝑓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𝑃𝐹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 это слагаемое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. Рассмотрим причину его появления.</a:t>
                </a:r>
              </a:p>
              <a:p>
                <a:pPr marL="0" indent="0">
                  <a:buNone/>
                </a:pPr>
                <a:r>
                  <a:rPr lang="ru-RU" dirty="0"/>
                  <a:t>Пусть противник запрашивает у оракула (претендента)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кодов аутентичности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различных сообщений. Так как размер области значений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есть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ru-RU" dirty="0"/>
                  <a:t>, то используя парадокс дней рождений за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d>
                      </m:e>
                    </m:rad>
                  </m:oMath>
                </a14:m>
                <a:r>
                  <a:rPr lang="ru-RU" dirty="0"/>
                  <a:t> произойдёт коллизия, и итоговое значение </a:t>
                </a:r>
                <a:r>
                  <a:rPr lang="en-US" dirty="0"/>
                  <a:t>MAC </a:t>
                </a:r>
                <a:r>
                  <a:rPr lang="ru-RU" dirty="0"/>
                  <a:t>тоже даст коллизию. Т.е. мы нашли пару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Так как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ru-RU" dirty="0"/>
                  <a:t> расширяемая, то противник имея </a:t>
                </a:r>
                <a:r>
                  <a:rPr lang="en-US" dirty="0"/>
                  <a:t>MAC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ru-RU" dirty="0"/>
                  <a:t> для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фактически имеет </a:t>
                </a:r>
                <a:r>
                  <a:rPr lang="en-US" dirty="0"/>
                  <a:t>MAC </a:t>
                </a:r>
                <a:r>
                  <a:rPr lang="ru-RU" dirty="0"/>
                  <a:t>для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66705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Зашифрование</a:t>
            </a:r>
            <a:r>
              <a:rPr lang="ru-RU" dirty="0"/>
              <a:t> выхода</a:t>
            </a:r>
            <a:r>
              <a:rPr lang="en-US" dirty="0"/>
              <a:t>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0746" y="1695893"/>
            <a:ext cx="6227618" cy="4660457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51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55073" y="1856252"/>
            <a:ext cx="10515600" cy="254381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ECBC 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10.2. </a:t>
                </a:r>
                <a:r>
                  <a:rPr lang="ru-RU" dirty="0" err="1"/>
                  <a:t>Зашфированный</a:t>
                </a:r>
                <a:r>
                  <a:rPr lang="ru-RU" dirty="0"/>
                  <a:t> </a:t>
                </a:r>
                <a:r>
                  <a:rPr lang="en-US" dirty="0"/>
                  <a:t>CBC MAC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𝐸𝐶𝐵𝐶</m:t>
                    </m:r>
                  </m:oMath>
                </a14:m>
                <a:r>
                  <a:rPr lang="ru-RU" dirty="0"/>
                  <a:t>, зашифрованный с использованием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сверх полиномиальная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число блоков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– число запросов противника к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𝐸𝐶𝐵𝐶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 – </a:t>
                </a:r>
                <a:r>
                  <a:rPr lang="ru-RU" dirty="0"/>
                  <a:t>стойкая</a:t>
                </a:r>
                <a:r>
                  <a:rPr lang="en-US" dirty="0"/>
                  <a:t> 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𝐸𝐶𝐵𝐶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следствие </a:t>
                </a:r>
                <a:r>
                  <a:rPr lang="ru-RU" b="1" dirty="0"/>
                  <a:t>Теоремы 10.1.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74149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42682" y="3360371"/>
            <a:ext cx="10511118" cy="135954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</m:oMath>
                </a14:m>
                <a:r>
                  <a:rPr lang="en-US" dirty="0" err="1"/>
                  <a:t>fpad</a:t>
                </a:r>
                <a:r>
                  <a:rPr lang="en-US" dirty="0"/>
                  <a:t>, </a:t>
                </a:r>
                <a:r>
                  <a:rPr lang="en-US" dirty="0" err="1"/>
                  <a:t>fpad</a:t>
                </a:r>
                <a:r>
                  <a:rPr lang="en-US" dirty="0"/>
                  <a:t> – </a:t>
                </a:r>
                <a:r>
                  <a:rPr lang="ru-RU" dirty="0"/>
                  <a:t>фиксированное дополнение,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</a:t>
                </a:r>
                <a:r>
                  <a:rPr lang="en-US" dirty="0"/>
                  <a:t> (</a:t>
                </a:r>
                <a:r>
                  <a:rPr lang="ru-RU" dirty="0"/>
                  <a:t>например все 0).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Теорема 10.3.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𝑁𝑀𝐴𝐶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ru-RU" dirty="0"/>
                  <a:t> использующая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𝑁𝑀𝐴𝐶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𝑃𝑅𝐹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следствие </a:t>
                </a:r>
                <a:r>
                  <a:rPr lang="ru-RU" b="1" dirty="0"/>
                  <a:t>Теоремы 10.1.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 rotWithShape="0"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962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NMAC </a:t>
            </a:r>
            <a:r>
              <a:rPr lang="ru-RU" dirty="0"/>
              <a:t>и </a:t>
            </a:r>
            <a:r>
              <a:rPr lang="en-US" dirty="0"/>
              <a:t>ECBC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Рассмотренные конструкции являются стойкими </a:t>
            </a:r>
            <a:r>
              <a:rPr lang="en-US" dirty="0"/>
              <a:t>PRF </a:t>
            </a:r>
            <a:r>
              <a:rPr lang="ru-RU" dirty="0"/>
              <a:t>и следовательно стойкими </a:t>
            </a:r>
            <a:r>
              <a:rPr lang="en-US" dirty="0"/>
              <a:t>MAC</a:t>
            </a:r>
            <a:endParaRPr lang="ru-RU" dirty="0"/>
          </a:p>
          <a:p>
            <a:r>
              <a:rPr lang="ru-RU" dirty="0"/>
              <a:t>Нет необходимости знать длину сообщения заранее, можно обновлять полученное значение </a:t>
            </a:r>
            <a:r>
              <a:rPr lang="en-US" dirty="0"/>
              <a:t>MAC </a:t>
            </a:r>
            <a:r>
              <a:rPr lang="ru-RU" dirty="0"/>
              <a:t>при получении новых блоков сообщения, не дожидаясь получения сообщения целиком</a:t>
            </a:r>
          </a:p>
          <a:p>
            <a:r>
              <a:rPr lang="ru-RU" dirty="0"/>
              <a:t>Можно использовать для сообщений произвольной длинны, </a:t>
            </a:r>
            <a:r>
              <a:rPr lang="ru-RU" b="1" dirty="0"/>
              <a:t>кратной размеру блока </a:t>
            </a:r>
            <a:r>
              <a:rPr lang="en-US" dirty="0"/>
              <a:t>PRF (</a:t>
            </a:r>
            <a:r>
              <a:rPr lang="ru-RU" dirty="0"/>
              <a:t>чаще всего – блочного шифра)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33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4343889"/>
            <a:ext cx="10515600" cy="128184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Цель – закодировать «префиксные строки» в </a:t>
                </a:r>
                <a:r>
                  <a:rPr lang="ru-RU" dirty="0" err="1"/>
                  <a:t>беспрификсные</a:t>
                </a:r>
                <a:r>
                  <a:rPr lang="ru-RU" dirty="0"/>
                  <a:t>, для использования в </a:t>
                </a:r>
                <a:r>
                  <a:rPr lang="ru-RU" dirty="0" err="1"/>
                  <a:t>беспрификсных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для получения </a:t>
                </a:r>
                <a:r>
                  <a:rPr lang="en-US" dirty="0"/>
                  <a:t>MAC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множество непустых строк, длины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элементов в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ru-RU" dirty="0"/>
                  <a:t> называется </a:t>
                </a:r>
                <a:r>
                  <a:rPr lang="ru-RU" dirty="0" err="1"/>
                  <a:t>беспрификсным</a:t>
                </a:r>
                <a:r>
                  <a:rPr lang="ru-RU" dirty="0"/>
                  <a:t> кодированием,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инъективна и множество элементов из образа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</a:t>
                </a:r>
                <a:r>
                  <a:rPr lang="ru-RU" dirty="0"/>
                  <a:t> </a:t>
                </a:r>
                <a:r>
                  <a:rPr lang="ru-RU" dirty="0" err="1"/>
                  <a:t>беспрификсное</a:t>
                </a:r>
                <a:r>
                  <a:rPr lang="ru-RU" dirty="0"/>
                  <a:t> множество.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10.4.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беспрификсное</a:t>
                </a:r>
                <a:r>
                  <a:rPr lang="ru-RU" dirty="0"/>
                  <a:t> кодирование,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Тогда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стойкая </a:t>
                </a:r>
                <a:r>
                  <a:rPr lang="en-US" dirty="0"/>
                  <a:t>PRF</a:t>
                </a:r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Очевидно следует из определения беспрификсной </a:t>
                </a:r>
                <a:r>
                  <a:rPr lang="en-US" dirty="0"/>
                  <a:t>PRF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 rotWithShape="0">
                <a:blip r:embed="rId2"/>
                <a:stretch>
                  <a:fillRect l="-1043" t="-2016" r="-2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071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Метод 1. Добавление длины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r>
                  <a:rPr lang="ru-RU" dirty="0"/>
                  <a:t>Метод 2. «Остановочные биты»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0,1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&gt;0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Очевидна инъективность и беспрификсность образа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8262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Позволяет использовать </a:t>
            </a:r>
            <a:r>
              <a:rPr lang="ru-RU" dirty="0" err="1"/>
              <a:t>беспрификсные</a:t>
            </a:r>
            <a:r>
              <a:rPr lang="ru-RU" dirty="0"/>
              <a:t> </a:t>
            </a:r>
            <a:r>
              <a:rPr lang="en-US" dirty="0"/>
              <a:t>PRF </a:t>
            </a:r>
            <a:r>
              <a:rPr lang="ru-RU" dirty="0"/>
              <a:t>в качестве </a:t>
            </a:r>
            <a:r>
              <a:rPr lang="en-US" dirty="0"/>
              <a:t>MAC</a:t>
            </a:r>
          </a:p>
          <a:p>
            <a:r>
              <a:rPr lang="ru-RU" dirty="0"/>
              <a:t>Добавление длины сообщения увеличивает длину сообщений как входа для </a:t>
            </a:r>
            <a:r>
              <a:rPr lang="ru-RU" dirty="0" err="1"/>
              <a:t>беспрификсной</a:t>
            </a:r>
            <a:r>
              <a:rPr lang="ru-RU" dirty="0"/>
              <a:t> </a:t>
            </a:r>
            <a:r>
              <a:rPr lang="en-US" dirty="0"/>
              <a:t>PRF</a:t>
            </a:r>
            <a:r>
              <a:rPr lang="ru-RU" dirty="0"/>
              <a:t>, так как </a:t>
            </a:r>
            <a:r>
              <a:rPr lang="ru-RU" dirty="0" err="1"/>
              <a:t>беспрификсное</a:t>
            </a:r>
            <a:r>
              <a:rPr lang="ru-RU" dirty="0"/>
              <a:t> кодирование – избыточно. </a:t>
            </a:r>
          </a:p>
          <a:p>
            <a:r>
              <a:rPr lang="ru-RU" dirty="0"/>
              <a:t>Добавление длины к сообщению не позволяет использовать </a:t>
            </a:r>
            <a:r>
              <a:rPr lang="en-US" dirty="0"/>
              <a:t>MAC </a:t>
            </a:r>
            <a:r>
              <a:rPr lang="ru-RU" dirty="0"/>
              <a:t>в поточном режиме (когда сообщение передаётся по частям), так как длина сообщения заранее не известна</a:t>
            </a:r>
          </a:p>
          <a:p>
            <a:r>
              <a:rPr lang="ru-RU" dirty="0"/>
              <a:t>Так как в основном используются блочные шифры – добавление данных </a:t>
            </a:r>
            <a:r>
              <a:rPr lang="ru-RU" dirty="0" err="1"/>
              <a:t>беспрификсным</a:t>
            </a:r>
            <a:r>
              <a:rPr lang="ru-RU" dirty="0"/>
              <a:t> кодирование означает добавление лишних блоков</a:t>
            </a:r>
          </a:p>
          <a:p>
            <a:r>
              <a:rPr lang="ru-RU" dirty="0"/>
              <a:t>Использование «остановочных битов» также увеличивает длину сообщения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004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ru-RU" dirty="0"/>
                  <a:t>. Обозначим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префикс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ru-RU" dirty="0"/>
                  <a:t> или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префикс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 (т.е.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ru-RU" dirty="0"/>
                  <a:t> отношение «</a:t>
                </a:r>
                <a:r>
                  <a:rPr lang="ru-RU" dirty="0" err="1"/>
                  <a:t>префиксности</a:t>
                </a:r>
                <a:r>
                  <a:rPr lang="ru-RU" dirty="0"/>
                  <a:t>» на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ru-RU" dirty="0"/>
                  <a:t>).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действительное число,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ru-RU" dirty="0"/>
                  <a:t>. Вероятностное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 это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𝑝𝑟𝑓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Где вероятность рассматривается при случайном равновероятном выборе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Пример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⊕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821" r="-156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284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3548242"/>
            <a:ext cx="10515600" cy="160564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𝑝𝑟𝑓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&gt;0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вероятностное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кодирование. 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Определим</a:t>
                </a:r>
                <a:r>
                  <a:rPr lang="en-US" dirty="0"/>
                  <a:t> 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10.5.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𝑃𝐹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 err="1"/>
                  <a:t>беспрификсная</a:t>
                </a:r>
                <a:r>
                  <a:rPr lang="ru-RU" dirty="0"/>
                  <a:t> </a:t>
                </a:r>
                <a:r>
                  <a:rPr lang="en-US" dirty="0"/>
                  <a:t>PRF,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𝑝𝑟𝑓</m:t>
                    </m:r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вероятностное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префиксное кодирование,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, введённая выше – стойкая </a:t>
                </a:r>
                <a:r>
                  <a:rPr lang="en-US" dirty="0"/>
                  <a:t>PRF: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𝑎𝑑𝑣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𝑝𝑓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без доказательства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2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2947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Беспрификсное</a:t>
            </a:r>
            <a:r>
              <a:rPr lang="ru-RU" dirty="0"/>
              <a:t> кодирование с рандомизацией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617" y="1825625"/>
            <a:ext cx="6867897" cy="4904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9822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 </a:t>
            </a:r>
            <a:r>
              <a:rPr lang="ru-RU" dirty="0"/>
              <a:t>для сообщений, некратных длине блока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Все рассмотренные до этого схемы были применимы только для сообщений длины кратных длине блока </a:t>
                </a:r>
                <a:r>
                  <a:rPr lang="en-US" dirty="0"/>
                  <a:t>PRF (</a:t>
                </a:r>
                <a:r>
                  <a:rPr lang="ru-RU" dirty="0"/>
                  <a:t>блочного шифра).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инъекция. Определим </a:t>
                </a:r>
                <a:r>
                  <a:rPr lang="en-US" dirty="0"/>
                  <a:t>PRF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𝑏𝑖𝑡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𝑏𝑖𝑡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𝑖𝑛𝑗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10.6. </a:t>
                </a:r>
                <a:r>
                  <a:rPr lang="en-US" dirty="0"/>
                  <a:t>PRF </a:t>
                </a:r>
                <a:r>
                  <a:rPr lang="ru-RU" dirty="0"/>
                  <a:t>введённая выше – стойкая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𝑛𝑙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очевидно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1737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инъективных 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+1 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𝑖𝑛𝑗</m:t>
                    </m:r>
                  </m:oMath>
                </a14:m>
                <a:r>
                  <a:rPr lang="en-US" dirty="0"/>
                  <a:t>:</a:t>
                </a:r>
              </a:p>
              <a:p>
                <a:r>
                  <a:rPr lang="ru-RU" dirty="0"/>
                  <a:t>Если входное сообщение имеет длину не кратную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– добавить 10…00 до длинны кратной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Иначе – добавить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блок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ru-RU" dirty="0"/>
                  <a:t>Инъективна и обратима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1821" r="-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444" y="4899032"/>
            <a:ext cx="8021698" cy="1457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668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Стандарт </a:t>
            </a:r>
            <a:r>
              <a:rPr lang="en-US" dirty="0"/>
              <a:t>NIST</a:t>
            </a:r>
            <a:endParaRPr lang="ru-RU" dirty="0"/>
          </a:p>
          <a:p>
            <a:r>
              <a:rPr lang="ru-RU" dirty="0"/>
              <a:t>Один из наиболее популярных алгоритмов вычисления </a:t>
            </a:r>
            <a:r>
              <a:rPr lang="en-US" dirty="0"/>
              <a:t>MAC (</a:t>
            </a:r>
            <a:r>
              <a:rPr lang="ru-RU" dirty="0"/>
              <a:t>самый популярных после </a:t>
            </a:r>
            <a:r>
              <a:rPr lang="en-US" dirty="0"/>
              <a:t>HMAC)</a:t>
            </a:r>
            <a:endParaRPr lang="ru-RU" dirty="0"/>
          </a:p>
          <a:p>
            <a:r>
              <a:rPr lang="ru-RU" dirty="0"/>
              <a:t>Использует три различных ключа (могут быть выработаны на основе одного ключа)</a:t>
            </a:r>
          </a:p>
          <a:p>
            <a:r>
              <a:rPr lang="ru-RU" dirty="0"/>
              <a:t>Текущее название алгоритма, описываемое стандартом – </a:t>
            </a:r>
            <a:r>
              <a:rPr lang="en-US" dirty="0"/>
              <a:t>OMAC</a:t>
            </a:r>
            <a:r>
              <a:rPr lang="ru-RU" dirty="0"/>
              <a:t> (до этого – </a:t>
            </a:r>
            <a:r>
              <a:rPr lang="en-US"/>
              <a:t>TMAC).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8102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910" y="1976004"/>
            <a:ext cx="9589139" cy="415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81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В текущей вариации (</a:t>
                </a:r>
                <a:r>
                  <a:rPr lang="en-US" dirty="0"/>
                  <a:t>OMAC)</a:t>
                </a:r>
                <a:r>
                  <a:rPr lang="ru-RU" dirty="0"/>
                  <a:t> использует единственный ключ для генерации этих трех ключей</a:t>
                </a:r>
                <a:r>
                  <a:rPr lang="en-US" dirty="0"/>
                  <a:t> </a:t>
                </a:r>
                <a:r>
                  <a:rPr lang="ru-RU" dirty="0"/>
                  <a:t>для некоторой константы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53" y="2876408"/>
            <a:ext cx="8688079" cy="252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091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OMAC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Фактически</a:t>
                </a:r>
                <a:r>
                  <a:rPr lang="en-US" dirty="0"/>
                  <a:t> </a:t>
                </a:r>
                <a:r>
                  <a:rPr lang="ru-RU" dirty="0"/>
                  <a:t>для получения трех ключей реализуется умножение в кольце многочленов на некоторую константу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endParaRPr lang="ru-RU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54" y="3182144"/>
            <a:ext cx="8567400" cy="20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317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Trunkated</a:t>
            </a:r>
            <a:r>
              <a:rPr lang="en-US" dirty="0"/>
              <a:t> CBC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Основная идея – не дать противнику возможность воспользоваться </a:t>
            </a:r>
            <a:r>
              <a:rPr lang="en-US" dirty="0"/>
              <a:t>MAC </a:t>
            </a:r>
            <a:r>
              <a:rPr lang="ru-RU" dirty="0"/>
              <a:t>для осуществления префиксной атаки.</a:t>
            </a:r>
          </a:p>
          <a:p>
            <a:pPr marL="0" indent="0">
              <a:buNone/>
            </a:pPr>
            <a:r>
              <a:rPr lang="ru-RU" dirty="0"/>
              <a:t>Использование части кода аутентичности. Используется в ГОСТ 28147-98</a:t>
            </a:r>
          </a:p>
          <a:p>
            <a:pPr marL="0" indent="0">
              <a:buNone/>
            </a:pPr>
            <a:r>
              <a:rPr lang="ru-RU" dirty="0"/>
              <a:t>Оптимально использовать половину исходного </a:t>
            </a:r>
            <a:r>
              <a:rPr lang="en-US" dirty="0"/>
              <a:t>MAC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Основной недостаток – фактически понижаем</a:t>
            </a:r>
            <a:r>
              <a:rPr lang="en-US" dirty="0"/>
              <a:t> </a:t>
            </a:r>
            <a:r>
              <a:rPr lang="ru-RU" dirty="0"/>
              <a:t>достижимый параметр стойкости в 2 раза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542" y="4425722"/>
            <a:ext cx="9354915" cy="243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8310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7056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PMAC – </a:t>
            </a:r>
            <a:r>
              <a:rPr lang="ru-RU" dirty="0"/>
              <a:t>параллельный </a:t>
            </a:r>
            <a:r>
              <a:rPr lang="en-US" dirty="0"/>
              <a:t>MAC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Возможность добавлять и удалять блоки из итогового значения </a:t>
            </a:r>
            <a:r>
              <a:rPr lang="en-US" dirty="0"/>
              <a:t>MAC</a:t>
            </a:r>
            <a:endParaRPr lang="ru-RU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ru-RU" dirty="0"/>
              <a:t>Основная идея – использование «различных» ключей для каждого блока, полученных через умножение в кольце многочленов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Возможность вычислять </a:t>
            </a:r>
            <a:r>
              <a:rPr lang="en-US" dirty="0"/>
              <a:t>MAC </a:t>
            </a:r>
            <a:r>
              <a:rPr lang="ru-RU" dirty="0"/>
              <a:t>параллельно для всех блоков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Был патентован (США), разрешено бесплатное использование в образовательных и </a:t>
            </a:r>
            <a:r>
              <a:rPr lang="en-US" dirty="0"/>
              <a:t>open-sour</a:t>
            </a:r>
            <a:r>
              <a:rPr lang="ru-RU" dirty="0"/>
              <a:t>с</a:t>
            </a:r>
            <a:r>
              <a:rPr lang="en-US" dirty="0"/>
              <a:t>e </a:t>
            </a:r>
            <a:r>
              <a:rPr lang="ru-RU" dirty="0"/>
              <a:t>проектах. В настоящий момент </a:t>
            </a:r>
            <a:r>
              <a:rPr lang="ru-RU"/>
              <a:t>патент истёк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4226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PMAC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08862" y="374759"/>
            <a:ext cx="6804561" cy="5981591"/>
          </a:xfrm>
          <a:prstGeom prst="rect">
            <a:avLst/>
          </a:prstGeom>
        </p:spPr>
      </p:pic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5982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64771"/>
            <a:ext cx="10972800" cy="1143000"/>
          </a:xfrm>
        </p:spPr>
        <p:txBody>
          <a:bodyPr>
            <a:normAutofit fontScale="90000"/>
          </a:bodyPr>
          <a:lstStyle/>
          <a:p>
            <a:r>
              <a:rPr lang="ru-RU" dirty="0"/>
              <a:t>Одноразовый </a:t>
            </a:r>
            <a:r>
              <a:rPr lang="en-US" dirty="0"/>
              <a:t>MAC  </a:t>
            </a:r>
            <a:br>
              <a:rPr lang="ru-RU" dirty="0"/>
            </a:br>
            <a:r>
              <a:rPr lang="en-US" sz="3600" dirty="0"/>
              <a:t>(</a:t>
            </a:r>
            <a:r>
              <a:rPr lang="ru-RU" sz="3600" dirty="0"/>
              <a:t>по аналогии с одноразовым блокнотом</a:t>
            </a:r>
            <a:r>
              <a:rPr lang="en-US" sz="3600" dirty="0"/>
              <a:t>)</a:t>
            </a:r>
            <a:br>
              <a:rPr lang="en-US" sz="3600" dirty="0"/>
            </a:b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603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12800" y="1142999"/>
                <a:ext cx="10972800" cy="584200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ru-RU" dirty="0"/>
                  <a:t>Введём игру</a:t>
                </a: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spcBef>
                    <a:spcPct val="100000"/>
                  </a:spcBef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spcBef>
                    <a:spcPts val="48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стойкий одноразовый </a:t>
                </a:r>
                <a:r>
                  <a:rPr lang="en-US" dirty="0"/>
                  <a:t>MAC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𝐴𝑑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 величина</a:t>
                </a:r>
                <a:endParaRPr lang="en-US" dirty="0"/>
              </a:p>
            </p:txBody>
          </p:sp>
        </mc:Choice>
        <mc:Fallback xmlns="">
          <p:sp>
            <p:nvSpPr>
              <p:cNvPr id="2560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142999"/>
                <a:ext cx="10972800" cy="5842000"/>
              </a:xfrm>
              <a:blipFill>
                <a:blip r:embed="rId2"/>
                <a:stretch>
                  <a:fillRect l="-1000" t="-15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20" name="Rectangle 20"/>
          <p:cNvSpPr>
            <a:spLocks noChangeArrowheads="1"/>
          </p:cNvSpPr>
          <p:nvPr/>
        </p:nvSpPr>
        <p:spPr bwMode="auto">
          <a:xfrm>
            <a:off x="1930400" y="2006600"/>
            <a:ext cx="1727200" cy="1447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/>
            <a:r>
              <a:rPr lang="en-US" sz="2400"/>
              <a:t>Chal.</a:t>
            </a:r>
          </a:p>
        </p:txBody>
      </p:sp>
      <p:sp>
        <p:nvSpPr>
          <p:cNvPr id="25622" name="Rectangle 22"/>
          <p:cNvSpPr>
            <a:spLocks noChangeArrowheads="1"/>
          </p:cNvSpPr>
          <p:nvPr/>
        </p:nvSpPr>
        <p:spPr bwMode="auto">
          <a:xfrm>
            <a:off x="8839200" y="2006600"/>
            <a:ext cx="1727200" cy="1447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pPr algn="ctr"/>
            <a:r>
              <a:rPr lang="en-US" sz="2400"/>
              <a:t>Adv.</a:t>
            </a:r>
          </a:p>
        </p:txBody>
      </p:sp>
      <p:sp>
        <p:nvSpPr>
          <p:cNvPr id="25623" name="Text Box 23"/>
          <p:cNvSpPr txBox="1">
            <a:spLocks noChangeArrowheads="1"/>
          </p:cNvSpPr>
          <p:nvPr/>
        </p:nvSpPr>
        <p:spPr bwMode="auto">
          <a:xfrm>
            <a:off x="2336801" y="2360613"/>
            <a:ext cx="856325" cy="502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667" i="1" dirty="0" err="1"/>
              <a:t>k</a:t>
            </a:r>
            <a:r>
              <a:rPr lang="en-US" sz="2667" dirty="0" err="1">
                <a:sym typeface="Symbol" charset="0"/>
              </a:rPr>
              <a:t></a:t>
            </a:r>
            <a:r>
              <a:rPr lang="en-US" sz="2667" i="1" dirty="0" err="1">
                <a:sym typeface="Symbol" charset="0"/>
              </a:rPr>
              <a:t>K</a:t>
            </a:r>
            <a:endParaRPr lang="en-US" sz="2667" b="1" i="1" dirty="0">
              <a:cs typeface="Arial" charset="0"/>
              <a:sym typeface="Symbol" charset="0"/>
            </a:endParaRPr>
          </a:p>
        </p:txBody>
      </p:sp>
      <p:grpSp>
        <p:nvGrpSpPr>
          <p:cNvPr id="25643" name="Group 43"/>
          <p:cNvGrpSpPr>
            <a:grpSpLocks/>
          </p:cNvGrpSpPr>
          <p:nvPr/>
        </p:nvGrpSpPr>
        <p:grpSpPr bwMode="auto">
          <a:xfrm>
            <a:off x="3759200" y="2895605"/>
            <a:ext cx="5080000" cy="503238"/>
            <a:chOff x="1776" y="1968"/>
            <a:chExt cx="2400" cy="317"/>
          </a:xfrm>
        </p:grpSpPr>
        <p:sp>
          <p:nvSpPr>
            <p:cNvPr id="25624" name="Line 24"/>
            <p:cNvSpPr>
              <a:spLocks noChangeShapeType="1"/>
            </p:cNvSpPr>
            <p:nvPr/>
          </p:nvSpPr>
          <p:spPr bwMode="auto">
            <a:xfrm flipH="1">
              <a:off x="1776" y="2246"/>
              <a:ext cx="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25" name="Text Box 25"/>
            <p:cNvSpPr txBox="1">
              <a:spLocks noChangeArrowheads="1"/>
            </p:cNvSpPr>
            <p:nvPr/>
          </p:nvSpPr>
          <p:spPr bwMode="auto">
            <a:xfrm>
              <a:off x="2725" y="1968"/>
              <a:ext cx="405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dirty="0"/>
                <a:t>(</a:t>
              </a:r>
              <a:r>
                <a:rPr lang="en-US" sz="2667" i="1" dirty="0" err="1"/>
                <a:t>m</a:t>
              </a:r>
              <a:r>
                <a:rPr lang="en-US" sz="2667" dirty="0" err="1"/>
                <a:t>,</a:t>
              </a:r>
              <a:r>
                <a:rPr lang="en-US" sz="2667" i="1" dirty="0" err="1"/>
                <a:t>t</a:t>
              </a:r>
              <a:r>
                <a:rPr lang="en-US" sz="2667" dirty="0"/>
                <a:t>)</a:t>
              </a:r>
              <a:endParaRPr lang="en-US" sz="2667" dirty="0">
                <a:sym typeface="Symbol" charset="0"/>
              </a:endParaRPr>
            </a:p>
          </p:txBody>
        </p:sp>
      </p:grpSp>
      <p:sp>
        <p:nvSpPr>
          <p:cNvPr id="25631" name="Rectangle 31"/>
          <p:cNvSpPr>
            <a:spLocks noChangeArrowheads="1"/>
          </p:cNvSpPr>
          <p:nvPr/>
        </p:nvSpPr>
        <p:spPr bwMode="auto">
          <a:xfrm>
            <a:off x="1016000" y="1701800"/>
            <a:ext cx="10566400" cy="2057400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/>
          </a:p>
        </p:txBody>
      </p:sp>
      <p:grpSp>
        <p:nvGrpSpPr>
          <p:cNvPr id="25632" name="Group 32"/>
          <p:cNvGrpSpPr>
            <a:grpSpLocks/>
          </p:cNvGrpSpPr>
          <p:nvPr/>
        </p:nvGrpSpPr>
        <p:grpSpPr bwMode="auto">
          <a:xfrm>
            <a:off x="3657600" y="1701802"/>
            <a:ext cx="5080000" cy="508000"/>
            <a:chOff x="1776" y="1968"/>
            <a:chExt cx="2400" cy="320"/>
          </a:xfrm>
        </p:grpSpPr>
        <p:sp>
          <p:nvSpPr>
            <p:cNvPr id="25633" name="Line 33"/>
            <p:cNvSpPr>
              <a:spLocks noChangeShapeType="1"/>
            </p:cNvSpPr>
            <p:nvPr/>
          </p:nvSpPr>
          <p:spPr bwMode="auto">
            <a:xfrm flipH="1">
              <a:off x="1776" y="2288"/>
              <a:ext cx="24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34" name="Text Box 34"/>
            <p:cNvSpPr txBox="1">
              <a:spLocks noChangeArrowheads="1"/>
            </p:cNvSpPr>
            <p:nvPr/>
          </p:nvSpPr>
          <p:spPr bwMode="auto">
            <a:xfrm>
              <a:off x="2734" y="1968"/>
              <a:ext cx="596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i="1" dirty="0"/>
                <a:t>m</a:t>
              </a:r>
              <a:r>
                <a:rPr lang="en-US" sz="2667" baseline="-25000" dirty="0"/>
                <a:t>1</a:t>
              </a:r>
              <a:r>
                <a:rPr lang="en-US" sz="2667" dirty="0"/>
                <a:t> </a:t>
              </a:r>
              <a:r>
                <a:rPr lang="en-US" sz="2667" dirty="0">
                  <a:sym typeface="Symbol" charset="0"/>
                </a:rPr>
                <a:t> </a:t>
              </a:r>
              <a:r>
                <a:rPr lang="en-US" sz="2667" i="1" dirty="0">
                  <a:sym typeface="Symbol" charset="0"/>
                </a:rPr>
                <a:t>M</a:t>
              </a:r>
            </a:p>
          </p:txBody>
        </p:sp>
      </p:grpSp>
      <p:grpSp>
        <p:nvGrpSpPr>
          <p:cNvPr id="25639" name="Group 39"/>
          <p:cNvGrpSpPr>
            <a:grpSpLocks/>
          </p:cNvGrpSpPr>
          <p:nvPr/>
        </p:nvGrpSpPr>
        <p:grpSpPr bwMode="auto">
          <a:xfrm>
            <a:off x="3657600" y="2235205"/>
            <a:ext cx="4978400" cy="503238"/>
            <a:chOff x="1728" y="1854"/>
            <a:chExt cx="2352" cy="317"/>
          </a:xfrm>
        </p:grpSpPr>
        <p:sp>
          <p:nvSpPr>
            <p:cNvPr id="25636" name="Line 36"/>
            <p:cNvSpPr>
              <a:spLocks noChangeShapeType="1"/>
            </p:cNvSpPr>
            <p:nvPr/>
          </p:nvSpPr>
          <p:spPr bwMode="auto">
            <a:xfrm>
              <a:off x="1728" y="2170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37" name="Text Box 37"/>
            <p:cNvSpPr txBox="1">
              <a:spLocks noChangeArrowheads="1"/>
            </p:cNvSpPr>
            <p:nvPr/>
          </p:nvSpPr>
          <p:spPr bwMode="auto">
            <a:xfrm>
              <a:off x="2592" y="1854"/>
              <a:ext cx="898" cy="31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2667" i="1" dirty="0"/>
                <a:t>t</a:t>
              </a:r>
              <a:r>
                <a:rPr lang="en-US" sz="2667" baseline="-25000" dirty="0"/>
                <a:t>1</a:t>
              </a:r>
              <a:r>
                <a:rPr lang="en-US" sz="2667" dirty="0"/>
                <a:t> </a:t>
              </a:r>
              <a:r>
                <a:rPr lang="en-US" sz="2667" dirty="0">
                  <a:sym typeface="Symbol" charset="0"/>
                </a:rPr>
                <a:t></a:t>
              </a:r>
              <a:r>
                <a:rPr lang="en-US" sz="2667" dirty="0"/>
                <a:t> </a:t>
              </a:r>
              <a:r>
                <a:rPr lang="en-US" sz="2667" i="1" dirty="0"/>
                <a:t>S</a:t>
              </a:r>
              <a:r>
                <a:rPr lang="en-US" sz="2667" dirty="0"/>
                <a:t>(</a:t>
              </a:r>
              <a:r>
                <a:rPr lang="en-US" sz="2667" i="1" dirty="0"/>
                <a:t>k</a:t>
              </a:r>
              <a:r>
                <a:rPr lang="en-US" sz="2667" dirty="0"/>
                <a:t>,</a:t>
              </a:r>
              <a:r>
                <a:rPr lang="en-US" sz="2667" i="1" dirty="0"/>
                <a:t>m</a:t>
              </a:r>
              <a:r>
                <a:rPr lang="en-US" sz="2667" baseline="-25000" dirty="0"/>
                <a:t>1</a:t>
              </a:r>
              <a:r>
                <a:rPr lang="en-US" sz="2667" dirty="0"/>
                <a:t>)</a:t>
              </a:r>
            </a:p>
          </p:txBody>
        </p:sp>
      </p:grpSp>
      <p:grpSp>
        <p:nvGrpSpPr>
          <p:cNvPr id="25644" name="Group 44"/>
          <p:cNvGrpSpPr>
            <a:grpSpLocks/>
          </p:cNvGrpSpPr>
          <p:nvPr/>
        </p:nvGrpSpPr>
        <p:grpSpPr bwMode="auto">
          <a:xfrm>
            <a:off x="1259418" y="3936999"/>
            <a:ext cx="7679270" cy="1119186"/>
            <a:chOff x="595" y="2638"/>
            <a:chExt cx="3628" cy="7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41" name="Text Box 41"/>
                <p:cNvSpPr txBox="1">
                  <a:spLocks noChangeArrowheads="1"/>
                </p:cNvSpPr>
                <p:nvPr/>
              </p:nvSpPr>
              <p:spPr bwMode="auto">
                <a:xfrm>
                  <a:off x="624" y="2638"/>
                  <a:ext cx="3599" cy="705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="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/>
                <a:p>
                  <a:r>
                    <a:rPr lang="en-US" sz="2667" b="1" i="1" dirty="0"/>
                    <a:t>b</a:t>
                  </a:r>
                  <a:r>
                    <a:rPr lang="en-US" sz="2667" dirty="0"/>
                    <a:t>=1    </a:t>
                  </a:r>
                  <a:r>
                    <a:rPr lang="ru-RU" sz="2667" dirty="0"/>
                    <a:t>если</a:t>
                  </a:r>
                  <a:r>
                    <a:rPr lang="en-US" sz="2667" dirty="0"/>
                    <a:t>  </a:t>
                  </a:r>
                  <a14:m>
                    <m:oMath xmlns:m="http://schemas.openxmlformats.org/officeDocument/2006/math">
                      <m:r>
                        <a:rPr lang="en-US" sz="2667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ru-RU" sz="2667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r>
                    <a:rPr lang="en-US" sz="2667" dirty="0"/>
                    <a:t>   and  </a:t>
                  </a:r>
                  <a14:m>
                    <m:oMath xmlns:m="http://schemas.openxmlformats.org/officeDocument/2006/math">
                      <m:r>
                        <a:rPr lang="en-US" sz="2667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667" i="1" dirty="0" err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667" i="1" dirty="0">
                          <a:latin typeface="Cambria Math" panose="02040503050406030204" pitchFamily="18" charset="0"/>
                        </a:rPr>
                        <m:t>)  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≠  (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𝑚</m:t>
                      </m:r>
                      <m:r>
                        <a:rPr lang="en-US" sz="2667" i="1" baseline="-25000" dirty="0">
                          <a:latin typeface="Cambria Math" panose="02040503050406030204" pitchFamily="18" charset="0"/>
                          <a:sym typeface="Symbol" charset="0"/>
                        </a:rPr>
                        <m:t>1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,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𝑡</m:t>
                      </m:r>
                      <m:r>
                        <a:rPr lang="en-US" sz="2667" i="1" baseline="-25000" dirty="0">
                          <a:latin typeface="Cambria Math" panose="02040503050406030204" pitchFamily="18" charset="0"/>
                          <a:sym typeface="Symbol" charset="0"/>
                        </a:rPr>
                        <m:t>1</m:t>
                      </m:r>
                      <m:r>
                        <a:rPr lang="en-US" sz="2667" i="1" dirty="0">
                          <a:latin typeface="Cambria Math" panose="02040503050406030204" pitchFamily="18" charset="0"/>
                          <a:sym typeface="Symbol" charset="0"/>
                        </a:rPr>
                        <m:t>)</m:t>
                      </m:r>
                    </m:oMath>
                  </a14:m>
                  <a:endParaRPr lang="en-US" sz="2667" dirty="0">
                    <a:sym typeface="Symbol" charset="0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lang="en-US" sz="2667" b="1" i="1" dirty="0">
                      <a:sym typeface="Symbol" charset="0"/>
                    </a:rPr>
                    <a:t>b</a:t>
                  </a:r>
                  <a:r>
                    <a:rPr lang="en-US" sz="2667" dirty="0">
                      <a:sym typeface="Symbol" charset="0"/>
                    </a:rPr>
                    <a:t>=0   </a:t>
                  </a:r>
                  <a:r>
                    <a:rPr lang="ru-RU" sz="2667" dirty="0">
                      <a:sym typeface="Symbol" charset="0"/>
                    </a:rPr>
                    <a:t>иначе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25641" name="Text Box 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24" y="2638"/>
                  <a:ext cx="3599" cy="705"/>
                </a:xfrm>
                <a:prstGeom prst="rect">
                  <a:avLst/>
                </a:prstGeom>
                <a:blipFill>
                  <a:blip r:embed="rId3"/>
                  <a:stretch>
                    <a:fillRect l="-1521" t="-5464" b="-8197"/>
                  </a:stretch>
                </a:blipFill>
                <a:ln>
                  <a:noFill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42" name="AutoShape 42"/>
            <p:cNvSpPr>
              <a:spLocks/>
            </p:cNvSpPr>
            <p:nvPr/>
          </p:nvSpPr>
          <p:spPr bwMode="auto">
            <a:xfrm>
              <a:off x="595" y="2718"/>
              <a:ext cx="29" cy="594"/>
            </a:xfrm>
            <a:prstGeom prst="lef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40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2134662" y="3336931"/>
            <a:ext cx="404278" cy="707662"/>
            <a:chOff x="1775617" y="2433910"/>
            <a:chExt cx="303209" cy="530746"/>
          </a:xfrm>
        </p:grpSpPr>
        <p:sp>
          <p:nvSpPr>
            <p:cNvPr id="25640" name="Line 40"/>
            <p:cNvSpPr>
              <a:spLocks noChangeShapeType="1"/>
            </p:cNvSpPr>
            <p:nvPr/>
          </p:nvSpPr>
          <p:spPr bwMode="auto">
            <a:xfrm>
              <a:off x="2057400" y="2590800"/>
              <a:ext cx="0" cy="37385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2400"/>
            </a:p>
          </p:txBody>
        </p:sp>
        <p:sp>
          <p:nvSpPr>
            <p:cNvPr id="25645" name="Text Box 45"/>
            <p:cNvSpPr txBox="1">
              <a:spLocks noChangeArrowheads="1"/>
            </p:cNvSpPr>
            <p:nvPr/>
          </p:nvSpPr>
          <p:spPr bwMode="auto">
            <a:xfrm>
              <a:off x="1775617" y="2433910"/>
              <a:ext cx="303209" cy="4385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sz="3200" b="1" i="1" dirty="0"/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88857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Одноразовый </a:t>
            </a:r>
            <a:r>
              <a:rPr lang="en-US" dirty="0"/>
              <a:t>MAC :  </a:t>
            </a:r>
            <a:r>
              <a:rPr lang="ru-RU" dirty="0"/>
              <a:t>пример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000"/>
                <a:ext cx="11887200" cy="5461000"/>
              </a:xfrm>
            </p:spPr>
            <p:txBody>
              <a:bodyPr>
                <a:normAutofit/>
              </a:bodyPr>
              <a:lstStyle/>
              <a:p>
                <a:pPr marL="0" indent="0">
                  <a:spcBef>
                    <a:spcPts val="3168"/>
                  </a:spcBef>
                  <a:buNone/>
                </a:pPr>
                <a:r>
                  <a:rPr lang="ru-RU" dirty="0"/>
                  <a:t>Стойкий против любых (не только эффективных) противников</a:t>
                </a:r>
                <a:endParaRPr lang="en-US" dirty="0"/>
              </a:p>
              <a:p>
                <a:pPr marL="0" indent="0">
                  <a:spcBef>
                    <a:spcPts val="3168"/>
                  </a:spcBef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большое простое число</a:t>
                </a:r>
                <a:r>
                  <a:rPr lang="en-US" dirty="0"/>
                  <a:t> </a:t>
                </a:r>
              </a:p>
              <a:p>
                <a:pPr marL="0" indent="0">
                  <a:spcBef>
                    <a:spcPts val="3168"/>
                  </a:spcBef>
                  <a:buNone/>
                </a:pPr>
                <a:r>
                  <a:rPr lang="en-US" baseline="30000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1,…,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ru-RU" baseline="3000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r>
                  <a:rPr lang="en-US" baseline="30000" dirty="0"/>
                  <a:t>	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𝑚𝑠𝑔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, …, 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endParaRPr lang="ru-RU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𝑚𝑠𝑔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+…+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полином степени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b="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:endParaRPr lang="ru-RU" baseline="30000" dirty="0"/>
              </a:p>
              <a:p>
                <a:pPr marL="0" indent="0">
                  <a:buNone/>
                  <a:tabLst>
                    <a:tab pos="770447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dirty="0" err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𝑚𝑠𝑔</m:t>
                      </m:r>
                      <m:r>
                        <a:rPr lang="en-US" b="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 =  </m:t>
                      </m:r>
                      <m:r>
                        <a:rPr lang="en-US" b="0" i="1" dirty="0" err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baseline="-25000" dirty="0" err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𝑚𝑠𝑔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  (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000"/>
                <a:ext cx="11887200" cy="5461000"/>
              </a:xfrm>
              <a:blipFill>
                <a:blip r:embed="rId2"/>
                <a:stretch>
                  <a:fillRect l="-923" t="-16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0837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Одноразовый</a:t>
            </a:r>
            <a:r>
              <a:rPr lang="en-US" dirty="0"/>
              <a:t> MAC ⇒ </a:t>
            </a:r>
            <a:r>
              <a:rPr lang="ru-RU" dirty="0"/>
              <a:t>Многоразовый</a:t>
            </a:r>
            <a:r>
              <a:rPr lang="en-US" dirty="0"/>
              <a:t> MAC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2540" y="1509156"/>
                <a:ext cx="11379200" cy="54610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стойкий одноразовый </a:t>
                </a:r>
                <a:r>
                  <a:rPr lang="en-US" dirty="0"/>
                  <a:t>MAC </a:t>
                </a:r>
                <a:r>
                  <a:rPr lang="ru-RU" dirty="0"/>
                  <a:t>на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 {0,1}</m:t>
                    </m:r>
                    <m:r>
                      <a:rPr lang="en-US" i="1" baseline="3000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)</m:t>
                    </m:r>
                  </m:oMath>
                </a14:m>
                <a:r>
                  <a:rPr lang="en-US" dirty="0"/>
                  <a:t> .</a:t>
                </a:r>
              </a:p>
              <a:p>
                <a:pPr marL="0" indent="0">
                  <a:buNone/>
                </a:pP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𝐾𝐹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begChr m:val="{"/>
                        <m:endChr m:val="}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{0,1}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стойкая </a:t>
                </a:r>
                <a:r>
                  <a:rPr lang="en-US" dirty="0"/>
                  <a:t>PRF.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Carter-</a:t>
                </a:r>
                <a:r>
                  <a:rPr lang="en-US" dirty="0" err="1"/>
                  <a:t>Wegman</a:t>
                </a:r>
                <a:r>
                  <a:rPr lang="en-US" dirty="0"/>
                  <a:t> MAC:   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𝑐𝑤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baseline="-2500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 baseline="-2500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  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𝑐𝑤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d>
                                <m:d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</m:d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  <m:t>иначе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Является недетерминированным</a:t>
                </a: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2540" y="1509156"/>
                <a:ext cx="11379200" cy="5461000"/>
              </a:xfrm>
              <a:blipFill rotWithShape="0">
                <a:blip r:embed="rId3"/>
                <a:stretch>
                  <a:fillRect l="-964" t="-1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/>
          <p:cNvGrpSpPr/>
          <p:nvPr/>
        </p:nvGrpSpPr>
        <p:grpSpPr>
          <a:xfrm>
            <a:off x="5911460" y="2417514"/>
            <a:ext cx="2156281" cy="934413"/>
            <a:chOff x="7522713" y="918440"/>
            <a:chExt cx="1617212" cy="700810"/>
          </a:xfrm>
        </p:grpSpPr>
        <p:sp>
          <p:nvSpPr>
            <p:cNvPr id="4" name="Right Brace 3"/>
            <p:cNvSpPr/>
            <p:nvPr/>
          </p:nvSpPr>
          <p:spPr>
            <a:xfrm rot="16200000">
              <a:off x="7865613" y="1123950"/>
              <a:ext cx="152400" cy="83820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581901" y="918440"/>
              <a:ext cx="1558024" cy="5116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2347"/>
                </a:lnSpc>
              </a:pPr>
              <a:r>
                <a:rPr lang="ru-RU" sz="2400" dirty="0"/>
                <a:t>Быстрая,</a:t>
              </a:r>
            </a:p>
            <a:p>
              <a:pPr algn="ctr">
                <a:lnSpc>
                  <a:spcPts val="2347"/>
                </a:lnSpc>
              </a:pPr>
              <a:r>
                <a:rPr lang="ru-RU" sz="2400" dirty="0"/>
                <a:t>Длинный вход</a:t>
              </a:r>
              <a:endParaRPr lang="en-US" sz="2400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3818257" y="2397922"/>
            <a:ext cx="2093203" cy="934413"/>
            <a:chOff x="5730148" y="1755272"/>
            <a:chExt cx="1569902" cy="700809"/>
          </a:xfrm>
        </p:grpSpPr>
        <p:sp>
          <p:nvSpPr>
            <p:cNvPr id="8" name="Right Brace 7"/>
            <p:cNvSpPr/>
            <p:nvPr/>
          </p:nvSpPr>
          <p:spPr>
            <a:xfrm rot="16200000">
              <a:off x="6420534" y="1993216"/>
              <a:ext cx="189131" cy="73660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30148" y="1755272"/>
              <a:ext cx="1569902" cy="5116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ts val="2347"/>
                </a:lnSpc>
              </a:pPr>
              <a:r>
                <a:rPr lang="ru-RU" sz="2400" dirty="0"/>
                <a:t>Медленная,</a:t>
              </a:r>
            </a:p>
            <a:p>
              <a:pPr algn="ctr">
                <a:lnSpc>
                  <a:spcPts val="2347"/>
                </a:lnSpc>
              </a:pPr>
              <a:r>
                <a:rPr lang="ru-RU" sz="2400" dirty="0"/>
                <a:t>Короткий вход</a:t>
              </a:r>
              <a:endParaRPr lang="en-US" sz="2400" dirty="0"/>
            </a:p>
          </p:txBody>
        </p:sp>
      </p:grpSp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6509" y="4495958"/>
            <a:ext cx="5673499" cy="201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0329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Carter-</a:t>
            </a:r>
            <a:r>
              <a:rPr lang="en-US" dirty="0" err="1"/>
              <a:t>Wegman</a:t>
            </a:r>
            <a:r>
              <a:rPr lang="en-US" dirty="0"/>
              <a:t> MAC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098974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Наиболее быстрые современные </a:t>
            </a:r>
            <a:r>
              <a:rPr lang="en-US" dirty="0"/>
              <a:t>MAC</a:t>
            </a:r>
          </a:p>
          <a:p>
            <a:r>
              <a:rPr lang="en-US" dirty="0"/>
              <a:t>VMAC</a:t>
            </a:r>
          </a:p>
          <a:p>
            <a:r>
              <a:rPr lang="en-US" dirty="0"/>
              <a:t>UMAC</a:t>
            </a:r>
          </a:p>
          <a:p>
            <a:r>
              <a:rPr lang="en-US" dirty="0"/>
              <a:t>Poly1305-AES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99071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Poly1305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2267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Poly1305: 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,..,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сообщение,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16</m:t>
                        </m:r>
                      </m:den>
                    </m:f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</a:t>
                </a:r>
                <a:r>
                  <a:rPr lang="ru-RU" dirty="0">
                    <a:latin typeface="Cambria Math" panose="02040503050406030204" pitchFamily="18" charset="0"/>
                  </a:rPr>
                  <a:t>(округление сверху)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−16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−15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−14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120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128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16</m:t>
                    </m:r>
                  </m:oMath>
                </a14:m>
                <a:r>
                  <a:rPr lang="ru-RU" dirty="0"/>
                  <a:t> не делит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−16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−15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…+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mod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−8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8(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16)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Простыми словами – дополнить каждые 16 байт до 17, добавляя 1. Если не хватает до 16 байт – добавить 100…000 чтоб хватало.</a:t>
                </a: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22676"/>
              </a:xfrm>
              <a:blipFill>
                <a:blip r:embed="rId2"/>
                <a:stretch>
                  <a:fillRect l="-1043" t="-2635" r="-406" b="-25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45805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834" y="261440"/>
            <a:ext cx="4692114" cy="659656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Poly1305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9959"/>
                <a:ext cx="6797634" cy="506185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</a:rPr>
                        <m:t>Poly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1305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𝐴𝐸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+…+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mod</m:t>
                              </m:r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130</m:t>
                                  </m:r>
                                </m:sup>
                              </m:sSup>
                              <m:r>
                                <a:rPr lang="en-US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−5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𝐴𝐸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mod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128</m:t>
                          </m:r>
                        </m:sup>
                      </m:sSup>
                    </m:oMath>
                  </m:oMathPara>
                </a14:m>
                <a:endParaRPr lang="ru-RU" b="0" i="1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b="0" i="1" dirty="0"/>
                  <a:t> – </a:t>
                </a:r>
                <a:r>
                  <a:rPr lang="en-US" b="0" dirty="0"/>
                  <a:t>nonce</a:t>
                </a:r>
                <a:r>
                  <a:rPr lang="ru-RU" b="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234</m:t>
                        </m:r>
                      </m:sup>
                    </m:sSup>
                  </m:oMath>
                </a14:m>
                <a:r>
                  <a:rPr lang="ru-RU" b="0" dirty="0"/>
                  <a:t> - ключ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 – подписываемое сообщение. 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ru-RU" dirty="0"/>
                  <a:t> (некоторые биты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ru-RU" dirty="0"/>
                  <a:t> просто выставляются константами в 0 или 1. Возможно использование полностью случайного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ru-RU" dirty="0"/>
                  <a:t> для увеличения параметра стойкости до 128 бит, но снижения производительности)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130</m:t>
                        </m:r>
                      </m:sup>
                    </m:sSup>
                    <m:r>
                      <a:rPr lang="en-US" i="1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−5</m:t>
                    </m:r>
                  </m:oMath>
                </a14:m>
                <a:r>
                  <a:rPr lang="ru-RU" dirty="0"/>
                  <a:t> – выбранное простое число </a:t>
                </a:r>
              </a:p>
              <a:p>
                <a:r>
                  <a:rPr lang="ru-RU" dirty="0"/>
                  <a:t>106 бит стойкости</a:t>
                </a:r>
                <a:r>
                  <a:rPr lang="en-US" dirty="0"/>
                  <a:t> (</a:t>
                </a:r>
                <a:r>
                  <a:rPr lang="ru-RU" dirty="0"/>
                  <a:t>число случайный бит в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)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9959"/>
                <a:ext cx="6797634" cy="5061856"/>
              </a:xfrm>
              <a:blipFill>
                <a:blip r:embed="rId3"/>
                <a:stretch>
                  <a:fillRect l="-1256" r="-17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503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7636702" y="668215"/>
                <a:ext cx="4305300" cy="506185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/>
                  <a:t>NB: </a:t>
                </a:r>
                <a:r>
                  <a:rPr lang="ru-RU" dirty="0"/>
                  <a:t>картинка слева предполагает, что правая часть ключа </a:t>
                </a:r>
                <a:r>
                  <a:rPr lang="en-US" dirty="0"/>
                  <a:t>Poly1305</a:t>
                </a:r>
                <a:r>
                  <a:rPr lang="ru-RU" dirty="0"/>
                  <a:t> уже получена ранее как выход некоторой </a:t>
                </a:r>
                <a:r>
                  <a:rPr lang="en-US" dirty="0"/>
                  <a:t>PRF</a:t>
                </a:r>
                <a:r>
                  <a:rPr lang="ru-RU" dirty="0"/>
                  <a:t>, вычисленной от некоторого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поэтому явного вычисления</a:t>
                </a:r>
                <a:r>
                  <a:rPr lang="en-US" dirty="0"/>
                  <a:t> PRF </a:t>
                </a:r>
                <a:r>
                  <a:rPr lang="ru-RU" dirty="0"/>
                  <a:t>нет.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В качестве </a:t>
                </a:r>
                <a:r>
                  <a:rPr lang="en-US" dirty="0"/>
                  <a:t>PRF </a:t>
                </a:r>
                <a:r>
                  <a:rPr lang="ru-RU" dirty="0"/>
                  <a:t>используется не только </a:t>
                </a:r>
                <a:r>
                  <a:rPr lang="en-US" dirty="0"/>
                  <a:t>AES</a:t>
                </a:r>
                <a:r>
                  <a:rPr lang="ru-RU" dirty="0"/>
                  <a:t>, но и </a:t>
                </a:r>
                <a:r>
                  <a:rPr lang="en-US" dirty="0"/>
                  <a:t>ChaCha20 (</a:t>
                </a:r>
                <a:r>
                  <a:rPr lang="ru-RU" dirty="0"/>
                  <a:t>обычно в рамках построения аутентифицированного шифрования </a:t>
                </a:r>
                <a:r>
                  <a:rPr lang="en-US" dirty="0" err="1"/>
                  <a:t>ChaCha</a:t>
                </a:r>
                <a:r>
                  <a:rPr lang="en-US" dirty="0"/>
                  <a:t> 20 – Poly 1305</a:t>
                </a:r>
                <a:r>
                  <a:rPr lang="ru-RU" dirty="0"/>
                  <a:t>) </a:t>
                </a:r>
              </a:p>
            </p:txBody>
          </p:sp>
        </mc:Choice>
        <mc:Fallback xmlns="">
          <p:sp>
            <p:nvSpPr>
              <p:cNvPr id="7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636702" y="668215"/>
                <a:ext cx="4305300" cy="5061856"/>
              </a:xfrm>
              <a:blipFill>
                <a:blip r:embed="rId2"/>
                <a:stretch>
                  <a:fillRect l="-2266" t="-1687" r="-1983" b="-60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Рисунок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8215"/>
            <a:ext cx="7636702" cy="5304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9016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965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Тест.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84285" y="5433158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284285" y="5819530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84284" y="6205902"/>
            <a:ext cx="10688515" cy="317012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838200" y="1031953"/>
                <a:ext cx="10134599" cy="39780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2800" dirty="0"/>
                  <a:t>1 –</a:t>
                </a:r>
                <a:r>
                  <a:rPr lang="en-US" sz="2800" dirty="0"/>
                  <a:t> </a:t>
                </a:r>
                <a:r>
                  <a:rPr lang="ru-RU" sz="2800" dirty="0"/>
                  <a:t>Стойкая </a:t>
                </a:r>
                <a:r>
                  <a:rPr lang="en-US" sz="2800" dirty="0"/>
                  <a:t>PRF</a:t>
                </a:r>
                <a:r>
                  <a:rPr lang="ru-RU" sz="2800" dirty="0"/>
                  <a:t> со </a:t>
                </a:r>
                <a:r>
                  <a:rPr lang="ru-RU" sz="2800" dirty="0" err="1"/>
                  <a:t>сверх-полиномиальной</a:t>
                </a:r>
                <a:r>
                  <a:rPr lang="ru-RU" sz="2800" dirty="0"/>
                  <a:t> областью значений. </a:t>
                </a:r>
                <a:r>
                  <a:rPr lang="ru-RU" sz="2800" b="1" dirty="0"/>
                  <a:t>Является ли она стойкой </a:t>
                </a:r>
                <a:r>
                  <a:rPr lang="en-US" sz="2800" b="1" dirty="0"/>
                  <a:t>MAC</a:t>
                </a:r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2 – </a:t>
                </a:r>
                <a:r>
                  <a:rPr lang="ru-RU" sz="2800" dirty="0"/>
                  <a:t>Стойкий блочный шифр со </a:t>
                </a:r>
                <a:r>
                  <a:rPr lang="ru-RU" sz="2800" dirty="0" err="1"/>
                  <a:t>сверх-полиномиальной</a:t>
                </a:r>
                <a:r>
                  <a:rPr lang="ru-RU" sz="2800" dirty="0"/>
                  <a:t> областью значений. </a:t>
                </a:r>
                <a:r>
                  <a:rPr lang="ru-RU" sz="2800" b="1" dirty="0"/>
                  <a:t>Является ли он стойким </a:t>
                </a:r>
                <a:r>
                  <a:rPr lang="en-US" sz="2800" b="1" dirty="0"/>
                  <a:t>MAC</a:t>
                </a:r>
                <a:r>
                  <a:rPr lang="en-US" sz="2800" dirty="0"/>
                  <a:t>?</a:t>
                </a:r>
              </a:p>
              <a:p>
                <a:r>
                  <a:rPr lang="ru-RU" sz="2800" dirty="0"/>
                  <a:t>3 – Связь преимущества противника в игре против </a:t>
                </a:r>
                <a:r>
                  <a:rPr lang="en-US" sz="2800" dirty="0"/>
                  <a:t>MAC </a:t>
                </a:r>
                <a:r>
                  <a:rPr lang="ru-RU" sz="2800" b="1" dirty="0"/>
                  <a:t>с и без запросов на проверку </a:t>
                </a:r>
                <a:r>
                  <a:rPr lang="en-US" sz="2800" b="1" dirty="0"/>
                  <a:t>MAC</a:t>
                </a:r>
                <a:r>
                  <a:rPr lang="ru-RU" sz="2800" dirty="0"/>
                  <a:t>.</a:t>
                </a:r>
                <a:endParaRPr lang="en-US" sz="2800" dirty="0"/>
              </a:p>
              <a:p>
                <a:r>
                  <a:rPr lang="ru-RU" sz="2800" dirty="0"/>
                  <a:t>4 –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800" dirty="0"/>
                  <a:t> – стойкая </a:t>
                </a:r>
                <a:r>
                  <a:rPr lang="en-US" sz="2800" dirty="0"/>
                  <a:t>PRP</a:t>
                </a:r>
                <a:r>
                  <a:rPr lang="ru-RU" sz="2800" dirty="0"/>
                  <a:t>. Пусть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800" dirty="0"/>
                  <a:t> – цепочка </a:t>
                </a:r>
                <a:r>
                  <a:rPr lang="en-US" sz="2800" dirty="0"/>
                  <a:t>CBC</a:t>
                </a:r>
                <a:r>
                  <a:rPr lang="ru-RU" sz="2800" dirty="0"/>
                  <a:t> с использованием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sz="2800" dirty="0"/>
                  <a:t> (результат – последний блок). Является ли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sz="2800" dirty="0"/>
                  <a:t> стойким </a:t>
                </a:r>
                <a:r>
                  <a:rPr lang="en-US" sz="2800" dirty="0"/>
                  <a:t>MAC</a:t>
                </a:r>
                <a:r>
                  <a:rPr lang="ru-RU" sz="2800" dirty="0"/>
                  <a:t> для произвольных сообщений</a:t>
                </a:r>
                <a:r>
                  <a:rPr lang="en-US" sz="2800" dirty="0"/>
                  <a:t>?</a:t>
                </a:r>
                <a:r>
                  <a:rPr lang="ru-RU" sz="2800" dirty="0"/>
                  <a:t> </a:t>
                </a:r>
                <a:r>
                  <a:rPr lang="ru-RU" sz="2800" b="1" dirty="0"/>
                  <a:t>Почему?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031953"/>
                <a:ext cx="10134599" cy="3978012"/>
              </a:xfrm>
              <a:prstGeom prst="rect">
                <a:avLst/>
              </a:prstGeom>
              <a:blipFill rotWithShape="0">
                <a:blip r:embed="rId2"/>
                <a:stretch>
                  <a:fillRect l="-1264" t="-1378" r="-241" b="-33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508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6" dur="59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9000"/>
                            </p:stCondLst>
                            <p:childTnLst>
                              <p:par>
                                <p:cTn id="9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9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8000"/>
                            </p:stCondLst>
                            <p:childTnLst>
                              <p:par>
                                <p:cTn id="13" presetID="22" presetClass="exit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4" dur="59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58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4603</TotalTime>
  <Words>2540</Words>
  <Application>Microsoft Office PowerPoint</Application>
  <PresentationFormat>Широкоэкранный</PresentationFormat>
  <Paragraphs>291</Paragraphs>
  <Slides>43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Consolas</vt:lpstr>
      <vt:lpstr>Symbol</vt:lpstr>
      <vt:lpstr>Тема Office</vt:lpstr>
      <vt:lpstr>Прикладная Криптография: Симметричные криптосистемы  MAC: схемы</vt:lpstr>
      <vt:lpstr>Тест.</vt:lpstr>
      <vt:lpstr>Тест.</vt:lpstr>
      <vt:lpstr>TIME </vt:lpstr>
      <vt:lpstr>Целостность сообщений</vt:lpstr>
      <vt:lpstr>Определение MAC</vt:lpstr>
      <vt:lpstr>Игра на стойкость MAC (chosen message attack)</vt:lpstr>
      <vt:lpstr>Беспрификсные PRF</vt:lpstr>
      <vt:lpstr>Беспрификсные PRF</vt:lpstr>
      <vt:lpstr>Беспрификсные PRF</vt:lpstr>
      <vt:lpstr>Построение стойкий PRF на основе беспификсных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Зашифрование выхода беспрификсной PRF</vt:lpstr>
      <vt:lpstr>ECBC MAC</vt:lpstr>
      <vt:lpstr>NMAC</vt:lpstr>
      <vt:lpstr>NMAC и ECBC MAC</vt:lpstr>
      <vt:lpstr>Беспрификсное кодирование</vt:lpstr>
      <vt:lpstr>Беспрификсное кодирование</vt:lpstr>
      <vt:lpstr>Беспрификсное кодирование</vt:lpstr>
      <vt:lpstr>Беспрификсное кодирование с рандомизацией</vt:lpstr>
      <vt:lpstr>Беспрификсное кодирование с рандомизацией</vt:lpstr>
      <vt:lpstr>Беспрификсное кодирование с рандомизацией</vt:lpstr>
      <vt:lpstr>MAC для сообщений, некратных длине блока</vt:lpstr>
      <vt:lpstr>Построение инъективных функций</vt:lpstr>
      <vt:lpstr>CMAC</vt:lpstr>
      <vt:lpstr>CMAC</vt:lpstr>
      <vt:lpstr>OMAC</vt:lpstr>
      <vt:lpstr>OMAC</vt:lpstr>
      <vt:lpstr>Trunkated CBC MAC</vt:lpstr>
      <vt:lpstr>PMAC</vt:lpstr>
      <vt:lpstr>PMAC</vt:lpstr>
      <vt:lpstr>Одноразовый MAC   (по аналогии с одноразовым блокнотом) </vt:lpstr>
      <vt:lpstr>Одноразовый MAC :  пример</vt:lpstr>
      <vt:lpstr>Одноразовый MAC ⇒ Многоразовый MAC</vt:lpstr>
      <vt:lpstr>Carter-Wegman MAC</vt:lpstr>
      <vt:lpstr>Poly1305</vt:lpstr>
      <vt:lpstr>Poly1305</vt:lpstr>
      <vt:lpstr>Презентация PowerPoint</vt:lpstr>
      <vt:lpstr>Презентация PowerPoint</vt:lpstr>
      <vt:lpstr>Тест.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1292</cp:revision>
  <dcterms:created xsi:type="dcterms:W3CDTF">2018-08-24T12:25:18Z</dcterms:created>
  <dcterms:modified xsi:type="dcterms:W3CDTF">2025-11-12T11:38:10Z</dcterms:modified>
</cp:coreProperties>
</file>