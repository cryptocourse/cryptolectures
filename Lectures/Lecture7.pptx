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4"/>
  </p:notesMasterIdLst>
  <p:sldIdLst>
    <p:sldId id="296" r:id="rId2"/>
    <p:sldId id="410" r:id="rId3"/>
    <p:sldId id="414" r:id="rId4"/>
    <p:sldId id="412" r:id="rId5"/>
    <p:sldId id="368" r:id="rId6"/>
    <p:sldId id="409" r:id="rId7"/>
    <p:sldId id="374" r:id="rId8"/>
    <p:sldId id="375" r:id="rId9"/>
    <p:sldId id="376" r:id="rId10"/>
    <p:sldId id="377" r:id="rId11"/>
    <p:sldId id="379" r:id="rId12"/>
    <p:sldId id="378" r:id="rId13"/>
    <p:sldId id="380" r:id="rId14"/>
    <p:sldId id="381" r:id="rId15"/>
    <p:sldId id="382" r:id="rId16"/>
    <p:sldId id="383" r:id="rId17"/>
    <p:sldId id="384" r:id="rId18"/>
    <p:sldId id="385" r:id="rId19"/>
    <p:sldId id="386" r:id="rId20"/>
    <p:sldId id="388" r:id="rId21"/>
    <p:sldId id="387" r:id="rId22"/>
    <p:sldId id="389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397" r:id="rId31"/>
    <p:sldId id="398" r:id="rId32"/>
    <p:sldId id="399" r:id="rId33"/>
    <p:sldId id="401" r:id="rId34"/>
    <p:sldId id="402" r:id="rId35"/>
    <p:sldId id="403" r:id="rId36"/>
    <p:sldId id="400" r:id="rId37"/>
    <p:sldId id="405" r:id="rId38"/>
    <p:sldId id="408" r:id="rId39"/>
    <p:sldId id="407" r:id="rId40"/>
    <p:sldId id="413" r:id="rId41"/>
    <p:sldId id="411" r:id="rId42"/>
    <p:sldId id="415" r:id="rId4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410"/>
            <p14:sldId id="414"/>
            <p14:sldId id="412"/>
          </p14:sldIdLst>
        </p14:section>
        <p14:section name="Лирическое отступление в блочные шифры" id="{166FB796-C804-494D-81E1-46F5EBC53402}">
          <p14:sldIdLst>
            <p14:sldId id="368"/>
            <p14:sldId id="409"/>
          </p14:sldIdLst>
        </p14:section>
        <p14:section name="гибридная конструкция" id="{8D7119DD-8269-4067-B041-CBC75DC9F3BE}">
          <p14:sldIdLst>
            <p14:sldId id="374"/>
            <p14:sldId id="375"/>
            <p14:sldId id="376"/>
            <p14:sldId id="377"/>
            <p14:sldId id="379"/>
            <p14:sldId id="378"/>
            <p14:sldId id="380"/>
            <p14:sldId id="381"/>
            <p14:sldId id="382"/>
            <p14:sldId id="383"/>
            <p14:sldId id="384"/>
          </p14:sldIdLst>
        </p14:section>
        <p14:section name="Рандомизированный CRT режим" id="{2C77A2BA-BD35-45BF-901F-8D54177E878C}">
          <p14:sldIdLst>
            <p14:sldId id="385"/>
            <p14:sldId id="386"/>
            <p14:sldId id="388"/>
            <p14:sldId id="387"/>
            <p14:sldId id="389"/>
            <p14:sldId id="390"/>
            <p14:sldId id="391"/>
            <p14:sldId id="392"/>
            <p14:sldId id="393"/>
            <p14:sldId id="394"/>
            <p14:sldId id="395"/>
          </p14:sldIdLst>
        </p14:section>
        <p14:section name="CBC" id="{C4CD0A65-B822-46E5-B632-31A9388536BE}">
          <p14:sldIdLst>
            <p14:sldId id="396"/>
            <p14:sldId id="397"/>
            <p14:sldId id="398"/>
            <p14:sldId id="399"/>
            <p14:sldId id="401"/>
            <p14:sldId id="402"/>
            <p14:sldId id="403"/>
            <p14:sldId id="400"/>
            <p14:sldId id="405"/>
          </p14:sldIdLst>
        </p14:section>
        <p14:section name="Практические аспекты" id="{0532A29F-7973-4F7E-84F6-C56353BBD596}">
          <p14:sldIdLst>
            <p14:sldId id="408"/>
            <p14:sldId id="407"/>
            <p14:sldId id="413"/>
          </p14:sldIdLst>
        </p14:section>
        <p14:section name="тесты" id="{7AE8E877-5DA7-464C-B1A0-6D7A6DFD43E7}">
          <p14:sldIdLst>
            <p14:sldId id="411"/>
            <p14:sldId id="41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08" d="100"/>
          <a:sy n="108" d="100"/>
        </p:scale>
        <p:origin x="888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28.10.2026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28.10.2026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.png"/><Relationship Id="rId3" Type="http://schemas.openxmlformats.org/officeDocument/2006/relationships/image" Target="../media/image59.png"/><Relationship Id="rId12" Type="http://schemas.openxmlformats.org/officeDocument/2006/relationships/image" Target="../media/image69.png"/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.png"/><Relationship Id="rId11" Type="http://schemas.openxmlformats.org/officeDocument/2006/relationships/image" Target="../media/image80.png"/><Relationship Id="rId5" Type="http://schemas.openxmlformats.org/officeDocument/2006/relationships/image" Target="../media/image61.png"/><Relationship Id="rId10" Type="http://schemas.openxmlformats.org/officeDocument/2006/relationships/image" Target="../media/image67.png"/><Relationship Id="rId4" Type="http://schemas.openxmlformats.org/officeDocument/2006/relationships/image" Target="../media/image60.png"/><Relationship Id="rId9" Type="http://schemas.openxmlformats.org/officeDocument/2006/relationships/image" Target="../media/image3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0.png"/><Relationship Id="rId13" Type="http://schemas.openxmlformats.org/officeDocument/2006/relationships/image" Target="../media/image690.png"/><Relationship Id="rId3" Type="http://schemas.openxmlformats.org/officeDocument/2006/relationships/image" Target="../media/image590.png"/><Relationship Id="rId7" Type="http://schemas.openxmlformats.org/officeDocument/2006/relationships/image" Target="../media/image411.png"/><Relationship Id="rId12" Type="http://schemas.openxmlformats.org/officeDocument/2006/relationships/image" Target="../media/image6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0.png"/><Relationship Id="rId5" Type="http://schemas.openxmlformats.org/officeDocument/2006/relationships/image" Target="../media/image610.png"/><Relationship Id="rId10" Type="http://schemas.openxmlformats.org/officeDocument/2006/relationships/image" Target="../media/image511.png"/><Relationship Id="rId4" Type="http://schemas.openxmlformats.org/officeDocument/2006/relationships/image" Target="../media/image600.png"/><Relationship Id="rId9" Type="http://schemas.openxmlformats.org/officeDocument/2006/relationships/image" Target="../media/image650.png"/><Relationship Id="rId14" Type="http://schemas.openxmlformats.org/officeDocument/2006/relationships/image" Target="../media/image4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1.png"/><Relationship Id="rId4" Type="http://schemas.openxmlformats.org/officeDocument/2006/relationships/image" Target="../media/image78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1.png"/><Relationship Id="rId4" Type="http://schemas.openxmlformats.org/officeDocument/2006/relationships/image" Target="../media/image14.png"/><Relationship Id="rId9" Type="http://schemas.openxmlformats.org/officeDocument/2006/relationships/image" Target="../media/image1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1.png"/><Relationship Id="rId4" Type="http://schemas.openxmlformats.org/officeDocument/2006/relationships/image" Target="../media/image78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1.png"/><Relationship Id="rId4" Type="http://schemas.openxmlformats.org/officeDocument/2006/relationships/image" Target="../media/image78.png"/><Relationship Id="rId9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1.png"/><Relationship Id="rId4" Type="http://schemas.openxmlformats.org/officeDocument/2006/relationships/image" Target="../media/image78.png"/><Relationship Id="rId9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78.png"/><Relationship Id="rId9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471.png"/><Relationship Id="rId7" Type="http://schemas.openxmlformats.org/officeDocument/2006/relationships/image" Target="../media/image10.png"/><Relationship Id="rId12" Type="http://schemas.openxmlformats.org/officeDocument/2006/relationships/image" Target="../media/image6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78.png"/><Relationship Id="rId9" Type="http://schemas.openxmlformats.org/officeDocument/2006/relationships/image" Target="../media/image4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700.png"/><Relationship Id="rId12" Type="http://schemas.openxmlformats.org/officeDocument/2006/relationships/image" Target="../media/image69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0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71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700.png"/><Relationship Id="rId12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0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7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700.png"/><Relationship Id="rId12" Type="http://schemas.openxmlformats.org/officeDocument/2006/relationships/image" Target="../media/image69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0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7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66.png"/><Relationship Id="rId7" Type="http://schemas.openxmlformats.org/officeDocument/2006/relationships/image" Target="../media/image700.png"/><Relationship Id="rId12" Type="http://schemas.openxmlformats.org/officeDocument/2006/relationships/image" Target="../media/image6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0.png"/><Relationship Id="rId5" Type="http://schemas.openxmlformats.org/officeDocument/2006/relationships/image" Target="../media/image36.png"/><Relationship Id="rId4" Type="http://schemas.openxmlformats.org/officeDocument/2006/relationships/image" Target="../media/image78.png"/><Relationship Id="rId9" Type="http://schemas.openxmlformats.org/officeDocument/2006/relationships/image" Target="../media/image7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7" Type="http://schemas.openxmlformats.org/officeDocument/2006/relationships/image" Target="../media/image472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60.png"/><Relationship Id="rId9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CPA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/>
              <a:t>МИФИ 202</a:t>
            </a:r>
            <a:r>
              <a:rPr lang="ru-RU" dirty="0"/>
              <a:t>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BC688E6-CAA3-48E8-B759-4A9F32261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483" y="3429000"/>
            <a:ext cx="1895475" cy="19335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F23C9C-A8C7-43E3-8A8A-E9E23C484FDE}"/>
              </a:ext>
            </a:extLst>
          </p:cNvPr>
          <p:cNvSpPr txBox="1"/>
          <p:nvPr/>
        </p:nvSpPr>
        <p:spPr>
          <a:xfrm>
            <a:off x="9424478" y="5362575"/>
            <a:ext cx="1935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Плейлист в ожидании пары</a:t>
            </a:r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Прямоугольник 7"/>
              <p:cNvSpPr/>
              <p:nvPr/>
            </p:nvSpPr>
            <p:spPr>
              <a:xfrm>
                <a:off x="185371" y="1408578"/>
                <a:ext cx="5318614" cy="20928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стойкость </a:t>
                </a:r>
                <a:r>
                  <a:rPr lang="en-US" sz="2600" dirty="0"/>
                  <a:t>CPA </a:t>
                </a:r>
                <a:r>
                  <a:rPr lang="ru-RU" sz="2600" dirty="0"/>
                  <a:t>стойкость шифра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dirty="0"/>
                  <a:t> для противника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endParaRPr lang="en-US" sz="2600" dirty="0"/>
              </a:p>
              <a:p>
                <a:r>
                  <a:rPr lang="en-US" sz="2600" dirty="0"/>
                  <a:t>3 </a:t>
                </a:r>
                <a:r>
                  <a:rPr lang="ru-RU" sz="2600" dirty="0"/>
                  <a:t>вопроса. </a:t>
                </a:r>
              </a:p>
            </p:txBody>
          </p:sp>
        </mc:Choice>
        <mc:Fallback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2092881"/>
              </a:xfrm>
              <a:prstGeom prst="rect">
                <a:avLst/>
              </a:prstGeom>
              <a:blipFill>
                <a:blip r:embed="rId2"/>
                <a:stretch>
                  <a:fillRect l="-2062" t="-2332" r="-115" b="-69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064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838200" y="1379471"/>
                <a:ext cx="10068339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 – </a:t>
                </a:r>
                <a:r>
                  <a:rPr lang="ru-RU" sz="2400" dirty="0"/>
                  <a:t>Может ли противник получить зашифрование произвольного сообщения в рамках игры?</a:t>
                </a:r>
              </a:p>
              <a:p>
                <a:endParaRPr lang="ru-RU" sz="2400" dirty="0"/>
              </a:p>
              <a:p>
                <a:r>
                  <a:rPr lang="ru-RU" sz="2400" dirty="0"/>
                  <a:t>2 – Предъявляются ли какие-либо требования на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(множество шифртекстов)? Если да – то какие?</a:t>
                </a:r>
              </a:p>
              <a:p>
                <a:endParaRPr lang="ru-RU" sz="2400" dirty="0"/>
              </a:p>
              <a:p>
                <a:r>
                  <a:rPr lang="en-US" sz="2400" dirty="0"/>
                  <a:t>3</a:t>
                </a:r>
                <a:r>
                  <a:rPr lang="ru-RU" sz="2400"/>
                  <a:t> </a:t>
                </a:r>
                <a:r>
                  <a:rPr lang="ru-RU" sz="2400" dirty="0"/>
                  <a:t>– Является ли стойкая </a:t>
                </a:r>
                <a:r>
                  <a:rPr lang="en-US" sz="2400" dirty="0"/>
                  <a:t>PRP</a:t>
                </a:r>
                <a:r>
                  <a:rPr lang="ru-RU" sz="2400" dirty="0"/>
                  <a:t> </a:t>
                </a:r>
                <a:r>
                  <a:rPr lang="en-US" sz="2400" dirty="0"/>
                  <a:t>CPA-</a:t>
                </a:r>
                <a:r>
                  <a:rPr lang="ru-RU" sz="2400" dirty="0"/>
                  <a:t>стойким шифром? Почему?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79471"/>
                <a:ext cx="10068339" cy="2677656"/>
              </a:xfrm>
              <a:prstGeom prst="rect">
                <a:avLst/>
              </a:prstGeom>
              <a:blipFill>
                <a:blip r:embed="rId2"/>
                <a:stretch>
                  <a:fillRect l="-969" t="-1818" b="-40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273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3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Шифр называется </a:t>
                </a:r>
                <a:r>
                  <a:rPr lang="en-US" dirty="0"/>
                  <a:t>CPA </a:t>
                </a:r>
                <a:r>
                  <a:rPr lang="ru-RU" dirty="0"/>
                  <a:t>стойким, если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CPA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  <a:p>
                <a:r>
                  <a:rPr lang="ru-RU" dirty="0"/>
                  <a:t>Детерминированный шифр не может быть </a:t>
                </a:r>
                <a:r>
                  <a:rPr lang="en-US" dirty="0"/>
                  <a:t>CPA </a:t>
                </a:r>
                <a:r>
                  <a:rPr lang="ru-RU" dirty="0"/>
                  <a:t>стойким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28369"/>
            <a:ext cx="3733800" cy="506017"/>
            <a:chOff x="1776" y="2005"/>
            <a:chExt cx="2352" cy="425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6" y="2005"/>
                  <a:ext cx="1072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6" y="2005"/>
                  <a:ext cx="1072" cy="425"/>
                </a:xfrm>
                <a:prstGeom prst="rect">
                  <a:avLst/>
                </a:prstGeom>
                <a:blipFill>
                  <a:blip r:embed="rId6"/>
                  <a:stretch>
                    <a:fillRect r="-3226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508286"/>
            <a:ext cx="3733800" cy="510780"/>
            <a:chOff x="1776" y="1993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9" y="1993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9" y="1993"/>
                  <a:ext cx="1048" cy="429"/>
                </a:xfrm>
                <a:prstGeom prst="rect">
                  <a:avLst/>
                </a:prstGeom>
                <a:blipFill>
                  <a:blip r:embed="rId9"/>
                  <a:stretch>
                    <a:fillRect r="-256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blipFill rotWithShape="0">
                <a:blip r:embed="rId11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88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семантически стойким при использовании множества ключей, если  величина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285510"/>
            <a:ext cx="3733800" cy="525068"/>
            <a:chOff x="1776" y="1969"/>
            <a:chExt cx="2352" cy="441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6" y="1969"/>
                  <a:ext cx="1139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6" y="1969"/>
                  <a:ext cx="1139" cy="425"/>
                </a:xfrm>
                <a:prstGeom prst="rect">
                  <a:avLst/>
                </a:prstGeom>
                <a:blipFill>
                  <a:blip r:embed="rId7"/>
                  <a:stretch>
                    <a:fillRect r="-2703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491616"/>
            <a:ext cx="3733800" cy="513161"/>
            <a:chOff x="1776" y="1979"/>
            <a:chExt cx="2352" cy="431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7" y="1979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7" y="1979"/>
                  <a:ext cx="1095" cy="429"/>
                </a:xfrm>
                <a:prstGeom prst="rect">
                  <a:avLst/>
                </a:prstGeom>
                <a:blipFill>
                  <a:blip r:embed="rId10"/>
                  <a:stretch>
                    <a:fillRect r="-3158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Прямоугольник 28"/>
              <p:cNvSpPr/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29" name="Прямоугольник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275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CPA </a:t>
            </a:r>
            <a:r>
              <a:rPr lang="ru-RU" dirty="0"/>
              <a:t>шифров из семантически стойких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семантически стойкий 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Попробуем построить </a:t>
                </a:r>
                <a:r>
                  <a:rPr lang="en-US" dirty="0"/>
                  <a:t>CPA </a:t>
                </a:r>
                <a:r>
                  <a:rPr lang="ru-RU" dirty="0"/>
                  <a:t>стойкий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используя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Ключом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для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будет ключ для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. Для шифрования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 выбирается случайный вход для </a:t>
                </a:r>
                <a:r>
                  <a:rPr lang="en-US" dirty="0"/>
                  <a:t>PRF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. Далее вычисляется ключ для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 Затем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 шифруется с использование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 Шифр текстом</a:t>
                </a:r>
                <a:r>
                  <a:rPr lang="ru-RU" dirty="0"/>
                  <a:t> является пара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Называется – </a:t>
                </a:r>
                <a:r>
                  <a:rPr lang="ru-RU" b="1" dirty="0"/>
                  <a:t>гибридная конструкция</a:t>
                </a:r>
                <a:r>
                  <a:rPr lang="ru-RU" dirty="0"/>
                  <a:t>.</a:t>
                </a:r>
                <a:endParaRPr lang="en-US" dirty="0"/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08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CPA </a:t>
            </a:r>
            <a:r>
              <a:rPr lang="ru-RU" dirty="0"/>
              <a:t>шифров из семантически стойких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7.1.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семантически стойкий шифр,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 err="1"/>
                  <a:t>сверх-полиномиальная</a:t>
                </a:r>
                <a:r>
                  <a:rPr lang="ru-RU" dirty="0"/>
                  <a:t>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CPA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/>
                  <a:t>CPA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и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ru-RU" dirty="0"/>
                  <a:t> в игре на семантическую стойкость,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CP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05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CPA </a:t>
            </a:r>
            <a:r>
              <a:rPr lang="ru-RU" dirty="0"/>
              <a:t>шифров из семантически стойких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⊳ </m:t>
                      </m:r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CP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Перепишем формулу выше через альтернативные определения на угадывание бита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CP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S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Основная идея доказательства – определим игру 0 между противником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и претендентом в игре против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. Определим игры 1, 2, 3. В каждый из них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будет играть против разных претендентов.</a:t>
                </a:r>
                <a:r>
                  <a:rPr lang="en-US" dirty="0"/>
                  <a:t> </a:t>
                </a:r>
                <a:r>
                  <a:rPr lang="ru-RU" dirty="0"/>
                  <a:t>Покажем переходы между этими играми.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как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719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Для игры, введённой ниже, имеем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40471" y="4528725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661063" y="4922237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807435" cy="108472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k’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807435" cy="1084721"/>
              </a:xfrm>
              <a:prstGeom prst="rect">
                <a:avLst/>
              </a:prstGeom>
              <a:blipFill>
                <a:blip r:embed="rId9"/>
                <a:stretch>
                  <a:fillRect l="-1684" b="-168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96455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</a:t>
            </a:r>
            <a:r>
              <a:rPr lang="en-US" dirty="0"/>
              <a:t>1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390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Введём игру 1, отличающуюся от игры 0, заменой псевдослучайной функции на случайную.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Покажем, что существует противник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против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: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3900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40471" y="4528725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661063" y="4922237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807435" cy="108472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>
                    <a:solidFill>
                      <a:srgbClr val="FF0000"/>
                    </a:solidFill>
                  </a:rPr>
                  <a:t>f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b="0" i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1600" b="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807435" cy="1084721"/>
              </a:xfrm>
              <a:prstGeom prst="rect">
                <a:avLst/>
              </a:prstGeom>
              <a:blipFill>
                <a:blip r:embed="rId9"/>
                <a:stretch>
                  <a:fillRect l="-1684" b="-168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82625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Структура противника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" name="Заголовок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7586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Рассмотрим структуру противника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имеющим доступ к противнику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CPA </a:t>
                </a:r>
                <a:r>
                  <a:rPr lang="ru-RU" dirty="0"/>
                  <a:t>(игры 0-1).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758609"/>
              </a:xfrm>
              <a:blipFill>
                <a:blip r:embed="rId3"/>
                <a:stretch>
                  <a:fillRect l="-1043" t="-16000" r="-696" b="-176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497" y="2584234"/>
            <a:ext cx="6103464" cy="38816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872902"/>
                <a:ext cx="4877297" cy="38485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После получений пары сообщений от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выбирает случайный элемент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получая его образ от претендента (случайный или псевдослучайный). Затем он случайно выбирает одно из сообщений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и шифрует его на полученном образе.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После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итераций он выдаёт результат</a:t>
                </a:r>
                <a:r>
                  <a:rPr lang="en-US" dirty="0"/>
                  <a:t> </a:t>
                </a:r>
                <a:r>
                  <a:rPr lang="ru-RU" dirty="0"/>
                  <a:t>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72902"/>
                <a:ext cx="4877297" cy="3848573"/>
              </a:xfrm>
              <a:prstGeom prst="rect">
                <a:avLst/>
              </a:prstGeom>
              <a:blipFill>
                <a:blip r:embed="rId5"/>
                <a:stretch>
                  <a:fillRect l="-2000" t="-2215" r="-1500" b="-33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842739" y="6409012"/>
                <a:ext cx="27864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else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:0</m:t>
                      </m:r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2739" y="6409012"/>
                <a:ext cx="2786468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8517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0882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игру, реализующую случайную функцию. Функция будет генерировать случайные входы на новых значениях, запоминая их. На старых (уже полученных ранее значениях) будет выдаваться результат, полученный ранее.</a:t>
                </a:r>
                <a:r>
                  <a:rPr lang="en-US" dirty="0"/>
                  <a:t> </a:t>
                </a:r>
                <a:r>
                  <a:rPr lang="ru-RU" dirty="0"/>
                  <a:t>Очевидно, что это просто «переопределение» игры</a:t>
                </a:r>
                <a:r>
                  <a:rPr lang="en-US" dirty="0"/>
                  <a:t> 1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0882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40471" y="4528725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661063" y="4922237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807435" cy="1285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0" i="1" dirty="0">
                  <a:solidFill>
                    <a:srgbClr val="FF0000"/>
                  </a:solidFill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1600" b="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ru-RU" sz="16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807435" cy="1285993"/>
              </a:xfrm>
              <a:prstGeom prst="rect">
                <a:avLst/>
              </a:prstGeom>
              <a:blipFill>
                <a:blip r:embed="rId9"/>
                <a:stretch>
                  <a:fillRect l="-1684" b="-9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62150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«забывчивую» версию игры 2, в которой претендент не запоминает полученные величины. Заметим, что игры идентичны, если все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различны.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событие того, что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ru-RU" dirty="0"/>
                  <a:t>. Тогда по </a:t>
                </a:r>
                <a:r>
                  <a:rPr lang="ru-RU" b="1" dirty="0"/>
                  <a:t>Теореме</a:t>
                </a:r>
                <a:r>
                  <a:rPr lang="ru-RU" dirty="0"/>
                  <a:t> </a:t>
                </a:r>
                <a:r>
                  <a:rPr lang="ru-RU" b="1" dirty="0"/>
                  <a:t>6.1.1.1</a:t>
                </a:r>
                <a:r>
                  <a:rPr lang="en-US" dirty="0"/>
                  <a:t> </a:t>
                </a:r>
                <a:r>
                  <a:rPr lang="ru-RU" dirty="0"/>
                  <a:t>и рассуждениям, аналогичным </a:t>
                </a:r>
                <a:r>
                  <a:rPr lang="ru-RU" b="1" dirty="0"/>
                  <a:t>Теореме 6.1.1 </a:t>
                </a:r>
                <a:r>
                  <a:rPr lang="ru-RU" dirty="0"/>
                  <a:t>имеем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независимых событий с вероятностью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каждое)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40471" y="4528725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661063" y="4922237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807435" cy="100014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0" i="1" dirty="0"/>
              </a:p>
              <a:p>
                <a:endParaRPr lang="ru-RU" sz="16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807435" cy="10001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74909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8149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Заметим, что в игре 3 используются независимые ключи шифрования, для каждого сообщения. Отсюда имеем шифрование на множестве независимых ключей и по определению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en-US" dirty="0"/>
                  <a:t>=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MS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dirty="0"/>
                  <a:t> противник, делающий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противнику в игре на семантическую стойкость, при использовании множества ключей.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8149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40471" y="4528725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661063" y="4922237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5397626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807435" cy="100014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0" i="1" dirty="0"/>
              </a:p>
              <a:p>
                <a:endParaRPr lang="ru-RU" sz="16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807435" cy="10001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0075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Структра противника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" name="Заголовок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177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структуру противника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dirty="0"/>
                  <a:t>в игре на семантическую стойкость, при использовании множества ключей, имеющим доступ к противнику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CPA</a:t>
                </a:r>
                <a:r>
                  <a:rPr lang="ru-RU" dirty="0"/>
                  <a:t> (игра 3).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1775"/>
                <a:ext cx="10515600" cy="4351338"/>
              </a:xfrm>
              <a:blipFill>
                <a:blip r:embed="rId3"/>
                <a:stretch>
                  <a:fillRect l="-1043" t="-2101" r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6031" y="2593074"/>
            <a:ext cx="6043454" cy="37632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872902"/>
                <a:ext cx="4877297" cy="38485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После получений пары сообщений от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Прозрачно отправляет их своему претенденту. После получения зашифрования одного из них, выбирает случайный элемент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, и отправляет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После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итераций он выдаёт результат</a:t>
                </a:r>
                <a:r>
                  <a:rPr lang="en-US" dirty="0"/>
                  <a:t> </a:t>
                </a:r>
                <a:r>
                  <a:rPr lang="ru-RU" dirty="0"/>
                  <a:t>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72902"/>
                <a:ext cx="4877297" cy="3848573"/>
              </a:xfrm>
              <a:prstGeom prst="rect">
                <a:avLst/>
              </a:prstGeom>
              <a:blipFill>
                <a:blip r:embed="rId5"/>
                <a:stretch>
                  <a:fillRect l="-2250" t="-2373" r="-28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8887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CPA </a:t>
            </a:r>
            <a:r>
              <a:rPr lang="ru-RU" dirty="0"/>
              <a:t>шифров из семантически стойких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По теореме 6.4 </a:t>
                </a:r>
                <a:r>
                  <a:rPr lang="ru-RU" dirty="0"/>
                  <a:t>имеем, что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MS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S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ru-RU" dirty="0"/>
                  <a:t> противник в игре на семантическую стойкость.</a:t>
                </a:r>
              </a:p>
              <a:p>
                <a:pPr marL="0" indent="0">
                  <a:buNone/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Игра 3 является игрой на использование множества ключей в семантическом стойком шифре, и преимущество противника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dirty="0"/>
                  <a:t> в ней отличается от игры на семантическую</a:t>
                </a:r>
                <a:r>
                  <a:rPr lang="en-US" dirty="0"/>
                  <a:t> </a:t>
                </a:r>
                <a:r>
                  <a:rPr lang="ru-RU" dirty="0"/>
                  <a:t>для некого противника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ru-RU" dirty="0"/>
                  <a:t> в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раз </a:t>
                </a:r>
              </a:p>
              <a:p>
                <a:r>
                  <a:rPr lang="ru-RU" dirty="0"/>
                  <a:t>Игра 2 –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отличаются не более чем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</a:t>
                </a:r>
              </a:p>
              <a:p>
                <a:r>
                  <a:rPr lang="ru-RU" dirty="0"/>
                  <a:t>Игра 2 является переопределением игры 1</a:t>
                </a:r>
              </a:p>
              <a:p>
                <a:r>
                  <a:rPr lang="ru-RU" dirty="0"/>
                  <a:t>Игра 1 –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противник </a:t>
                </a:r>
                <a:r>
                  <a:rPr lang="en-US" dirty="0"/>
                  <a:t>B</a:t>
                </a:r>
                <a:r>
                  <a:rPr lang="ru-RU" dirty="0"/>
                  <a:t> в игре на стойкость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𝑃𝑅𝐹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ru-RU" b="0" dirty="0"/>
                  <a:t> </a:t>
                </a:r>
                <a:r>
                  <a:rPr lang="ru-RU" dirty="0"/>
                  <a:t>его </a:t>
                </a:r>
                <a:r>
                  <a:rPr lang="ru-RU" b="0" dirty="0"/>
                  <a:t>преимущество состоит из </a:t>
                </a:r>
                <a:r>
                  <a:rPr lang="ru-RU" b="0" dirty="0">
                    <a:solidFill>
                      <a:srgbClr val="00B050"/>
                    </a:solidFill>
                  </a:rPr>
                  <a:t>разности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b="0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b="0" dirty="0"/>
                  <a:t>. </a:t>
                </a:r>
                <a:endParaRPr lang="en-US" b="0" dirty="0"/>
              </a:p>
              <a:p>
                <a:r>
                  <a:rPr lang="ru-RU" dirty="0"/>
                  <a:t>Игра </a:t>
                </a:r>
                <a:r>
                  <a:rPr lang="ru-RU" dirty="0">
                    <a:solidFill>
                      <a:srgbClr val="00B050"/>
                    </a:solidFill>
                  </a:rPr>
                  <a:t>0</a:t>
                </a:r>
                <a:r>
                  <a:rPr lang="ru-RU" dirty="0"/>
                  <a:t> – игра на стойкость </a:t>
                </a:r>
                <a:r>
                  <a:rPr lang="en-US" dirty="0"/>
                  <a:t>CPA</a:t>
                </a:r>
                <a:r>
                  <a:rPr lang="ru-RU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ru-RU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CP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⊲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28" t="-2363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477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ещё один способ построения – на основе </a:t>
                </a:r>
                <a:r>
                  <a:rPr lang="en-US" dirty="0"/>
                  <a:t>CTR </a:t>
                </a:r>
                <a:r>
                  <a:rPr lang="ru-RU" dirty="0"/>
                  <a:t>режима.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={0,…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следующим образом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29" y="4030189"/>
            <a:ext cx="6571404" cy="232616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8334" y="4176215"/>
            <a:ext cx="5993666" cy="178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06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233" y="1231504"/>
            <a:ext cx="5381767" cy="5307408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5644487" cy="4351338"/>
          </a:xfrm>
        </p:spPr>
        <p:txBody>
          <a:bodyPr/>
          <a:lstStyle/>
          <a:p>
            <a:r>
              <a:rPr lang="ru-RU" dirty="0"/>
              <a:t>Шифр похож на детерминированный </a:t>
            </a:r>
            <a:r>
              <a:rPr lang="en-US" dirty="0"/>
              <a:t>CTR </a:t>
            </a:r>
            <a:r>
              <a:rPr lang="ru-RU" dirty="0"/>
              <a:t>режим, с той лишь разницей, что мы используем не фиксированное начальное значение счётчика, а выбираем его случайно равновероятно, а затем используем шифр аналогично детерминированному алгоритму.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92809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7.2.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- CPA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/>
                  <a:t>CPA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CP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5836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⊳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CP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Перепишем формулу выше через альтернативные определения на угадывание бита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CP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Основная идея доказательства – определим игру 0 между противником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и претендентом в игре против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. Определим игры 1, 2, 3. В каждый из них противник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будет играть против разных претендентов.</a:t>
                </a:r>
                <a:r>
                  <a:rPr lang="en-US" dirty="0"/>
                  <a:t> </a:t>
                </a:r>
                <a:r>
                  <a:rPr lang="ru-RU" dirty="0"/>
                  <a:t>Покажем переходы между этими играми.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как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1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46444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Для игры, введённой ниже, имеем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023815" y="4957919"/>
            <a:ext cx="3398576" cy="401147"/>
            <a:chOff x="1820" y="1982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000" dirty="0"/>
                    <a:t> A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blipFill>
                  <a:blip r:embed="rId6"/>
                  <a:stretch>
                    <a:fillRect t="-7576" r="-3493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966525" cy="1798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endParaRPr lang="ru-RU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966525" cy="1798249"/>
              </a:xfrm>
              <a:prstGeom prst="rect">
                <a:avLst/>
              </a:prstGeom>
              <a:blipFill>
                <a:blip r:embed="rId9"/>
                <a:stretch>
                  <a:fillRect l="-15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00605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</a:t>
            </a:r>
            <a:r>
              <a:rPr lang="en-US" dirty="0"/>
              <a:t>1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Введём игру 1, отличающуюся от игры 0, заменой псевдослучайной функции на случайную.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Построим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против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используя подход, аналогичной использованному в </a:t>
                </a:r>
                <a:r>
                  <a:rPr lang="ru-RU" b="1" dirty="0"/>
                  <a:t>Теореме 7.1</a:t>
                </a:r>
                <a:r>
                  <a:rPr lang="ru-RU" dirty="0"/>
                  <a:t>)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023815" y="4957919"/>
            <a:ext cx="3398576" cy="401147"/>
            <a:chOff x="1820" y="1982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000" dirty="0"/>
                    <a:t> A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blipFill>
                  <a:blip r:embed="rId6"/>
                  <a:stretch>
                    <a:fillRect t="-7576" r="-3493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966525" cy="1798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>
                    <a:solidFill>
                      <a:srgbClr val="FF0000"/>
                    </a:solidFill>
                  </a:rPr>
                  <a:t>f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 sz="16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i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endParaRPr lang="ru-RU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966525" cy="1798249"/>
              </a:xfrm>
              <a:prstGeom prst="rect">
                <a:avLst/>
              </a:prstGeom>
              <a:blipFill>
                <a:blip r:embed="rId9"/>
                <a:stretch>
                  <a:fillRect l="-15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69702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04456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400" dirty="0"/>
                  <a:t>Рассмотрим игру, реализующую случайную функцию. Функция будет генерировать случайные входы на новых значениях, запоминая их. На старых (уже полученных ранее значениях) будет выдаваться результат, полученный ранее.</a:t>
                </a:r>
                <a:r>
                  <a:rPr lang="en-US" sz="2400" dirty="0"/>
                  <a:t> </a:t>
                </a:r>
                <a:r>
                  <a:rPr lang="ru-RU" sz="2400" dirty="0"/>
                  <a:t>Очевидно, что это просто «переопределение» игры</a:t>
                </a:r>
                <a:r>
                  <a:rPr lang="en-US" sz="2400" dirty="0"/>
                  <a:t> 1</a:t>
                </a:r>
                <a:r>
                  <a:rPr lang="ru-RU" sz="24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sz="2400" dirty="0"/>
                  <a:t>. Здесь и далее используем стандартное отношение порядка на парах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тогда и только тогда, когда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или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04456"/>
                <a:ext cx="10515600" cy="4351338"/>
              </a:xfrm>
              <a:blipFill>
                <a:blip r:embed="rId2"/>
                <a:stretch>
                  <a:fillRect l="-928" t="-1961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1" y="3842587"/>
            <a:ext cx="2122741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275544" y="4367023"/>
            <a:ext cx="3206619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r="-8071"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275543" y="4957919"/>
            <a:ext cx="3146847" cy="401147"/>
            <a:chOff x="1820" y="1982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000" dirty="0"/>
                    <a:t> A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blipFill>
                  <a:blip r:embed="rId6"/>
                  <a:stretch>
                    <a:fillRect t="-7576" r="-11321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966525" cy="22815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←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b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endParaRPr lang="ru-RU" sz="1600" b="0" i="1" dirty="0"/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966525" cy="2281522"/>
              </a:xfrm>
              <a:prstGeom prst="rect">
                <a:avLst/>
              </a:prstGeom>
              <a:blipFill rotWithShape="0">
                <a:blip r:embed="rId9"/>
                <a:stretch>
                  <a:fillRect l="-15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082987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400" dirty="0"/>
                  <a:t>Рассмотрим «забывчивую» версию игры 2, в которой претендент не запоминает полученные величины. Заметим, что игры идентичны, если все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 различны. Пусть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sz="2400" dirty="0"/>
                  <a:t> событие того, что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b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ru-RU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)≠(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/>
                  <a:t> Тогда по </a:t>
                </a:r>
                <a:r>
                  <a:rPr lang="ru-RU" sz="2400" b="1" dirty="0"/>
                  <a:t>Теореме</a:t>
                </a:r>
                <a:r>
                  <a:rPr lang="ru-RU" sz="2400" dirty="0"/>
                  <a:t> </a:t>
                </a:r>
                <a:r>
                  <a:rPr lang="ru-RU" sz="2400" b="1" dirty="0"/>
                  <a:t>6.1.1.1</a:t>
                </a:r>
                <a:r>
                  <a:rPr lang="en-US" sz="2400" dirty="0"/>
                  <a:t> </a:t>
                </a:r>
                <a:r>
                  <a:rPr lang="ru-RU" sz="2400" dirty="0"/>
                  <a:t>и рассуждениям, аналогичным </a:t>
                </a:r>
                <a:r>
                  <a:rPr lang="ru-RU" sz="2400" b="1" dirty="0"/>
                  <a:t>Теореме 6.1.1 </a:t>
                </a:r>
                <a:r>
                  <a:rPr lang="ru-RU" sz="2400" dirty="0"/>
                  <a:t>имеем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sz="2400" dirty="0"/>
                  <a:t>. При этом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r>
                  <a:rPr lang="en-US" sz="2400" dirty="0"/>
                  <a:t> (</a:t>
                </a:r>
                <a:r>
                  <a:rPr lang="ru-RU" sz="2400" dirty="0"/>
                  <a:t>игра против одноразового блокнота).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8317"/>
                <a:ext cx="10515600" cy="4351338"/>
              </a:xfrm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2152801" y="3842587"/>
            <a:ext cx="2122741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6"/>
              <p:cNvSpPr txBox="1">
                <a:spLocks noChangeArrowheads="1"/>
              </p:cNvSpPr>
              <p:nvPr/>
            </p:nvSpPr>
            <p:spPr bwMode="auto">
              <a:xfrm>
                <a:off x="1367989" y="3752081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7989" y="3752081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1"/>
          <p:cNvGrpSpPr>
            <a:grpSpLocks/>
          </p:cNvGrpSpPr>
          <p:nvPr/>
        </p:nvGrpSpPr>
        <p:grpSpPr bwMode="auto">
          <a:xfrm>
            <a:off x="4275544" y="4367023"/>
            <a:ext cx="3206619" cy="562944"/>
            <a:chOff x="1774" y="1785"/>
            <a:chExt cx="2402" cy="337"/>
          </a:xfrm>
        </p:grpSpPr>
        <p:sp>
          <p:nvSpPr>
            <p:cNvPr id="2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r="-8071"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0" name="Group 20"/>
          <p:cNvGrpSpPr>
            <a:grpSpLocks/>
          </p:cNvGrpSpPr>
          <p:nvPr/>
        </p:nvGrpSpPr>
        <p:grpSpPr bwMode="auto">
          <a:xfrm>
            <a:off x="4275543" y="4957919"/>
            <a:ext cx="3146847" cy="401147"/>
            <a:chOff x="1820" y="1982"/>
            <a:chExt cx="2352" cy="150"/>
          </a:xfrm>
        </p:grpSpPr>
        <p:sp>
          <p:nvSpPr>
            <p:cNvPr id="31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000" dirty="0"/>
                    <a:t> A</a:t>
                  </a:r>
                </a:p>
              </p:txBody>
            </p:sp>
          </mc:Choice>
          <mc:Fallback xmlns="">
            <p:sp>
              <p:nvSpPr>
                <p:cNvPr id="3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blipFill>
                  <a:blip r:embed="rId6"/>
                  <a:stretch>
                    <a:fillRect t="-7576" r="-11321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748" y="3728894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2152802" y="4218608"/>
                <a:ext cx="1966525" cy="221118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←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endParaRPr lang="ru-RU" sz="1600" b="0" i="1" dirty="0"/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2" y="4218608"/>
                <a:ext cx="1966525" cy="221118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Line 5"/>
          <p:cNvSpPr>
            <a:spLocks noChangeShapeType="1"/>
          </p:cNvSpPr>
          <p:nvPr/>
        </p:nvSpPr>
        <p:spPr bwMode="auto">
          <a:xfrm>
            <a:off x="1737724" y="3981450"/>
            <a:ext cx="412405" cy="14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7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/>
        </p:nvSpPr>
        <p:spPr>
          <a:xfrm>
            <a:off x="5456222" y="5814740"/>
            <a:ext cx="2118190" cy="3350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совпадения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Лемма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 условии игры 3 имеем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ru-RU" sz="2800" dirty="0"/>
              </a:p>
              <a:p>
                <a:pPr marL="0" indent="0">
                  <a:buNone/>
                </a:pPr>
                <a:r>
                  <a:rPr lang="en-US" dirty="0"/>
                  <a:t># </a:t>
                </a:r>
                <a:r>
                  <a:rPr lang="ru-RU" dirty="0"/>
                  <a:t>Без потери общности предположим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(что вообще говоря верно начиная с некоторого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из условий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). Событие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происходит тогда, и только тогда когда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т.е. совпали какие 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)</a:t>
                </a:r>
                <a:r>
                  <a:rPr lang="ru-RU" dirty="0"/>
                  <a:t>. Для произвольного фиксированного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ru-RU" dirty="0"/>
                  <a:t> равномерно распределена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ru-RU" dirty="0"/>
                  <a:t>. Тогда совпадения возможно тогда, и только тогда когда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ru-RU" dirty="0"/>
                  <a:t>, что происходит с вероятностью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−1)/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#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5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 flipV="1">
            <a:off x="1584357" y="6149803"/>
            <a:ext cx="8836182" cy="271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/>
        </p:nvCxnSpPr>
        <p:spPr>
          <a:xfrm>
            <a:off x="2181885" y="6038661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2181885" y="6149803"/>
                <a:ext cx="11925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885" y="6149803"/>
                <a:ext cx="1192506" cy="369332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Прямая соединительная линия 11"/>
          <p:cNvCxnSpPr/>
          <p:nvPr/>
        </p:nvCxnSpPr>
        <p:spPr>
          <a:xfrm>
            <a:off x="8744138" y="5990958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8789694" y="6122009"/>
                <a:ext cx="11925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9694" y="6122009"/>
                <a:ext cx="11925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Прямая соединительная линия 13"/>
          <p:cNvCxnSpPr/>
          <p:nvPr/>
        </p:nvCxnSpPr>
        <p:spPr>
          <a:xfrm>
            <a:off x="3819053" y="6018118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819053" y="6163383"/>
                <a:ext cx="4869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053" y="6163383"/>
                <a:ext cx="48692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5474328" y="5982262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499747" y="6154745"/>
                <a:ext cx="433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747" y="6154745"/>
                <a:ext cx="433388" cy="369332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Прямая соединительная линия 18"/>
          <p:cNvCxnSpPr/>
          <p:nvPr/>
        </p:nvCxnSpPr>
        <p:spPr>
          <a:xfrm>
            <a:off x="7528855" y="6005849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574411" y="6136900"/>
                <a:ext cx="1246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4411" y="6136900"/>
                <a:ext cx="1246046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3228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Игра 3 является игрой против одноразового блокнота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)</a:t>
                </a:r>
                <a:endParaRPr lang="ru-RU" dirty="0"/>
              </a:p>
              <a:p>
                <a:r>
                  <a:rPr lang="ru-RU" dirty="0"/>
                  <a:t>Игра 2 –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отличаются не более чем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4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ru-RU" dirty="0">
                  <a:solidFill>
                    <a:srgbClr val="00B0F0"/>
                  </a:solidFill>
                </a:endParaRPr>
              </a:p>
              <a:p>
                <a:r>
                  <a:rPr lang="ru-RU" dirty="0"/>
                  <a:t>Игра 2 является переопределением игры 1</a:t>
                </a:r>
              </a:p>
              <a:p>
                <a:r>
                  <a:rPr lang="ru-RU" dirty="0"/>
                  <a:t>Игра 1 –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противник </a:t>
                </a:r>
                <a:r>
                  <a:rPr lang="en-US" dirty="0"/>
                  <a:t>B</a:t>
                </a:r>
                <a:r>
                  <a:rPr lang="ru-RU" dirty="0"/>
                  <a:t> в игре на стойкость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𝑃𝑅𝐹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ru-RU" dirty="0"/>
                  <a:t> его преимущество состоит из </a:t>
                </a:r>
                <a:r>
                  <a:rPr lang="ru-RU" dirty="0">
                    <a:solidFill>
                      <a:srgbClr val="00B050"/>
                    </a:solidFill>
                  </a:rPr>
                  <a:t>разности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ru-RU" dirty="0"/>
              </a:p>
              <a:p>
                <a:r>
                  <a:rPr lang="ru-RU" dirty="0"/>
                  <a:t>Игра 0 – игра на стойкость </a:t>
                </a:r>
                <a:r>
                  <a:rPr lang="en-US" dirty="0"/>
                  <a:t>CPA</a:t>
                </a:r>
                <a:r>
                  <a:rPr lang="ru-RU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𝛦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ru-RU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CP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⊲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2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78175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Практическое использование </a:t>
            </a:r>
            <a:r>
              <a:rPr lang="en-US" dirty="0"/>
              <a:t>AES </a:t>
            </a:r>
            <a:r>
              <a:rPr lang="ru-RU" dirty="0"/>
              <a:t>в режиме </a:t>
            </a:r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IPsec, RFC</a:t>
                </a:r>
                <a:r>
                  <a:rPr lang="ru-RU" dirty="0"/>
                  <a:t> </a:t>
                </a:r>
                <a:r>
                  <a:rPr lang="en-US" dirty="0"/>
                  <a:t>3686</a:t>
                </a:r>
                <a:r>
                  <a:rPr lang="ru-RU" dirty="0"/>
                  <a:t>. Выбор начального</a:t>
                </a:r>
                <a:r>
                  <a:rPr lang="en-US" dirty="0"/>
                  <a:t> </a:t>
                </a:r>
                <a:r>
                  <a:rPr lang="ru-RU" dirty="0"/>
                  <a:t>значения счётчика выполняется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32 наиболее значимых бита выбираются </a:t>
                </a:r>
                <a:r>
                  <a:rPr lang="ru-RU" b="1" dirty="0"/>
                  <a:t>случайно</a:t>
                </a:r>
                <a:r>
                  <a:rPr lang="ru-RU" dirty="0"/>
                  <a:t> в момент генерации ключа (</a:t>
                </a:r>
                <a:r>
                  <a:rPr lang="ru-RU" b="1" dirty="0"/>
                  <a:t>и независимо от него</a:t>
                </a:r>
                <a:r>
                  <a:rPr lang="ru-RU" dirty="0"/>
                  <a:t>), и </a:t>
                </a:r>
                <a:r>
                  <a:rPr lang="ru-RU" b="1" dirty="0"/>
                  <a:t>фиксируются</a:t>
                </a:r>
                <a:r>
                  <a:rPr lang="ru-RU" dirty="0"/>
                  <a:t> во время его жизни</a:t>
                </a:r>
                <a:r>
                  <a:rPr lang="en-US" dirty="0"/>
                  <a:t> (nonce)</a:t>
                </a:r>
                <a:r>
                  <a:rPr lang="ru-RU" dirty="0"/>
                  <a:t>.</a:t>
                </a:r>
              </a:p>
              <a:p>
                <a:r>
                  <a:rPr lang="ru-RU" dirty="0"/>
                  <a:t>Следующие 64 бита выбираются случайно из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64</m:t>
                        </m:r>
                      </m:sup>
                    </m:sSup>
                  </m:oMath>
                </a14:m>
                <a:r>
                  <a:rPr lang="ru-RU" dirty="0"/>
                  <a:t> (</a:t>
                </a:r>
                <a:r>
                  <a:rPr lang="en-US" dirty="0"/>
                  <a:t>IV)</a:t>
                </a:r>
                <a:r>
                  <a:rPr lang="ru-RU" dirty="0"/>
                  <a:t>.</a:t>
                </a:r>
              </a:p>
              <a:p>
                <a:r>
                  <a:rPr lang="ru-RU" dirty="0"/>
                  <a:t>Последние 32 бита устанавливаются в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Максимальная длина сообщения для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-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ru-RU" dirty="0"/>
                  <a:t> блоков </a:t>
                </a:r>
                <a:r>
                  <a:rPr lang="en-US" dirty="0"/>
                  <a:t>AES</a:t>
                </a:r>
                <a:r>
                  <a:rPr lang="ru-RU" dirty="0"/>
                  <a:t> или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sup>
                    </m:sSup>
                  </m:oMath>
                </a14:m>
                <a:r>
                  <a:rPr lang="ru-RU" dirty="0"/>
                  <a:t> байт.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464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479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блочный 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\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.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и расшифрование определены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20151"/>
            <a:ext cx="5152155" cy="202797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704" y="3920151"/>
            <a:ext cx="4905792" cy="174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705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86053" cy="4351338"/>
              </a:xfrm>
            </p:spPr>
            <p:txBody>
              <a:bodyPr/>
              <a:lstStyle/>
              <a:p>
                <a:r>
                  <a:rPr lang="ru-RU" dirty="0"/>
                  <a:t>В отличии от режима </a:t>
                </a:r>
                <a:r>
                  <a:rPr lang="en-US" dirty="0"/>
                  <a:t>CTR </a:t>
                </a:r>
                <a:r>
                  <a:rPr lang="ru-RU" dirty="0"/>
                  <a:t>для реализации </a:t>
                </a:r>
                <a:r>
                  <a:rPr lang="en-US" dirty="0"/>
                  <a:t>CBC </a:t>
                </a:r>
                <a:r>
                  <a:rPr lang="ru-RU" dirty="0"/>
                  <a:t>необходима функция </a:t>
                </a:r>
                <a:r>
                  <a:rPr lang="ru-RU" dirty="0" err="1"/>
                  <a:t>расшифрования</a:t>
                </a:r>
                <a:r>
                  <a:rPr lang="ru-RU" dirty="0"/>
                  <a:t> блочного шифра</a:t>
                </a:r>
              </a:p>
              <a:p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ru-RU" dirty="0"/>
                  <a:t> носит название вектора инициализации (</a:t>
                </a:r>
                <a:r>
                  <a:rPr lang="en-US" dirty="0"/>
                  <a:t>IV)</a:t>
                </a:r>
                <a:endParaRPr lang="ru-RU" dirty="0"/>
              </a:p>
              <a:p>
                <a:r>
                  <a:rPr lang="en-US" dirty="0"/>
                  <a:t>IV </a:t>
                </a:r>
                <a:r>
                  <a:rPr lang="ru-RU" dirty="0"/>
                  <a:t>должны быть </a:t>
                </a:r>
                <a:r>
                  <a:rPr lang="ru-RU" b="1" dirty="0"/>
                  <a:t>случайным для каждого передаваемого сообщения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86053" cy="4351338"/>
              </a:xfrm>
              <a:blipFill rotWithShape="0">
                <a:blip r:embed="rId2"/>
                <a:stretch>
                  <a:fillRect l="-1505" t="-2101" r="-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207" y="734148"/>
            <a:ext cx="4195982" cy="562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003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</a:t>
                </a:r>
                <a:r>
                  <a:rPr lang="en-US" dirty="0"/>
                  <a:t> </a:t>
                </a:r>
                <a:r>
                  <a:rPr lang="ru-RU" dirty="0"/>
                  <a:t>стойкий блочный шифр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ограниченная. Тогда введенный ранее </a:t>
                </a:r>
                <a:r>
                  <a:rPr lang="en-US" dirty="0"/>
                  <a:t>CBC</a:t>
                </a:r>
                <a:r>
                  <a:rPr lang="ru-RU" dirty="0"/>
                  <a:t> шифр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является </a:t>
                </a:r>
                <a:r>
                  <a:rPr lang="en-US" dirty="0"/>
                  <a:t>CPA </a:t>
                </a:r>
                <a:r>
                  <a:rPr lang="ru-RU" dirty="0"/>
                  <a:t>стойким, причём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</a:t>
                </a:r>
                <a:r>
                  <a:rPr lang="en-US" dirty="0"/>
                  <a:t>CPA </a:t>
                </a:r>
                <a:r>
                  <a:rPr lang="ru-RU" dirty="0"/>
                  <a:t>стойкость,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оракулу,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блочных шифров, причём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792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CBC </a:t>
            </a:r>
            <a:r>
              <a:rPr lang="ru-RU"/>
              <a:t>режим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⊳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Перепишем формулу выше через альтернативные определения на угадывание бита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Основная идея доказательства – определим игру 0 между противником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и претендентом в игре против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. Определим игры 1, 2, 3. В каждый из них противник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будет играть против разных претендентов.</a:t>
                </a:r>
                <a:r>
                  <a:rPr lang="en-US" dirty="0"/>
                  <a:t> </a:t>
                </a:r>
                <a:r>
                  <a:rPr lang="ru-RU" dirty="0"/>
                  <a:t>Покажем переходы между этими играми.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как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1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8953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Для игры, введённой ниже, имеем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152802" y="3842587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023815" y="4987336"/>
            <a:ext cx="3398576" cy="401147"/>
            <a:chOff x="1820" y="1993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blipFill>
                  <a:blip r:embed="rId6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152803" y="4218608"/>
                <a:ext cx="1739206" cy="1527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[0]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+1]←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3" y="4218608"/>
                <a:ext cx="1739206" cy="1527213"/>
              </a:xfrm>
              <a:prstGeom prst="rect">
                <a:avLst/>
              </a:prstGeom>
              <a:blipFill>
                <a:blip r:embed="rId9"/>
                <a:stretch>
                  <a:fillRect l="-1754" b="-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366510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</a:t>
            </a:r>
            <a:r>
              <a:rPr lang="en-US" dirty="0"/>
              <a:t>1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Введём игру 1, отличающуюся от игры 0, заменой псевдослучайной функции на случайную.</a:t>
                </a:r>
                <a:r>
                  <a:rPr lang="en-US" dirty="0"/>
                  <a:t> </a:t>
                </a:r>
                <a:r>
                  <a:rPr lang="ru-RU" dirty="0"/>
                  <a:t>Имеем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2152802" y="3842587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8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0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4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5" name="Group 20"/>
          <p:cNvGrpSpPr>
            <a:grpSpLocks/>
          </p:cNvGrpSpPr>
          <p:nvPr/>
        </p:nvGrpSpPr>
        <p:grpSpPr bwMode="auto">
          <a:xfrm>
            <a:off x="4023815" y="4987336"/>
            <a:ext cx="3398576" cy="401147"/>
            <a:chOff x="1820" y="1993"/>
            <a:chExt cx="2352" cy="150"/>
          </a:xfrm>
        </p:grpSpPr>
        <p:sp>
          <p:nvSpPr>
            <p:cNvPr id="36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blipFill>
                  <a:blip r:embed="rId6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 Box 13"/>
              <p:cNvSpPr txBox="1">
                <a:spLocks noChangeArrowheads="1"/>
              </p:cNvSpPr>
              <p:nvPr/>
            </p:nvSpPr>
            <p:spPr bwMode="auto">
              <a:xfrm>
                <a:off x="2152803" y="4218608"/>
                <a:ext cx="1739206" cy="12866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>
                    <a:solidFill>
                      <a:srgbClr val="FF0000"/>
                    </a:solidFill>
                  </a:rPr>
                  <a:t>f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 sz="16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i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[0]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+1]←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/>
              </a:p>
            </p:txBody>
          </p:sp>
        </mc:Choice>
        <mc:Fallback xmlns="">
          <p:sp>
            <p:nvSpPr>
              <p:cNvPr id="4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52803" y="4218608"/>
                <a:ext cx="1739206" cy="1286634"/>
              </a:xfrm>
              <a:prstGeom prst="rect">
                <a:avLst/>
              </a:prstGeom>
              <a:blipFill>
                <a:blip r:embed="rId9"/>
                <a:stretch>
                  <a:fillRect l="-1754" b="-9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4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15308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37376" y="1318149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400" dirty="0"/>
                  <a:t>Рассмотрим игру, реализующую случайную функцию. Функция будет генерировать случайные входы на новых значениях, запоминая их. На старых (уже полученных ранее значениях) будет выдаваться результат, полученный ранее.</a:t>
                </a:r>
                <a:r>
                  <a:rPr lang="en-US" sz="2400" dirty="0"/>
                  <a:t> </a:t>
                </a:r>
                <a:r>
                  <a:rPr lang="ru-RU" sz="2400" dirty="0"/>
                  <a:t>Очевидно, что это просто «переопределение» игры</a:t>
                </a:r>
                <a:r>
                  <a:rPr lang="en-US" sz="2400" dirty="0"/>
                  <a:t> 1</a:t>
                </a:r>
                <a:r>
                  <a:rPr lang="ru-RU" sz="24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sz="2400" dirty="0"/>
                  <a:t>. 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7376" y="1318149"/>
                <a:ext cx="10515600" cy="4351338"/>
              </a:xfrm>
              <a:blipFill>
                <a:blip r:embed="rId2"/>
                <a:stretch>
                  <a:fillRect l="-870" t="-1961" r="-1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1607932" y="3842587"/>
            <a:ext cx="232477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3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2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18"/>
          <p:cNvSpPr>
            <a:spLocks noChangeArrowheads="1"/>
          </p:cNvSpPr>
          <p:nvPr/>
        </p:nvSpPr>
        <p:spPr bwMode="auto">
          <a:xfrm>
            <a:off x="1475715" y="3613986"/>
            <a:ext cx="7525781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0" name="Group 20"/>
          <p:cNvGrpSpPr>
            <a:grpSpLocks/>
          </p:cNvGrpSpPr>
          <p:nvPr/>
        </p:nvGrpSpPr>
        <p:grpSpPr bwMode="auto">
          <a:xfrm>
            <a:off x="4023815" y="4987336"/>
            <a:ext cx="3398576" cy="401147"/>
            <a:chOff x="1820" y="1993"/>
            <a:chExt cx="2352" cy="150"/>
          </a:xfrm>
        </p:grpSpPr>
        <p:sp>
          <p:nvSpPr>
            <p:cNvPr id="31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blipFill>
                  <a:blip r:embed="rId6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1671511" y="4218608"/>
                <a:ext cx="2343574" cy="2002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←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1600" i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b="0" i="1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sub>
                      </m:sSub>
                    </m:oMath>
                  </m:oMathPara>
                </a14:m>
                <a:endParaRPr lang="en-US" sz="1600" b="0" i="1" dirty="0"/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b>
                        <m:sSup>
                          <m:sSup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,(</m:t>
                    </m:r>
                    <m:sSup>
                      <m:sSup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)&lt;(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+1]←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+1]</m:t>
                      </m:r>
                    </m:oMath>
                  </m:oMathPara>
                </a14:m>
                <a:endParaRPr lang="en-US" sz="1600" b="0" i="1" dirty="0"/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1511" y="4218608"/>
                <a:ext cx="2343574" cy="2002408"/>
              </a:xfrm>
              <a:prstGeom prst="rect">
                <a:avLst/>
              </a:prstGeom>
              <a:blipFill>
                <a:blip r:embed="rId9"/>
                <a:stretch>
                  <a:fillRect l="-1299" b="-91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46304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</a:t>
            </a:r>
            <a:r>
              <a:rPr lang="en-US" dirty="0"/>
              <a:t>3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7684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400" dirty="0"/>
                  <a:t>Рассмотрим «забывчивую» версию игры 2, в которой претендент не запоминает полученные величины. Заметим, что игры идентичны, если все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 различны. Пусть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sz="2400" dirty="0"/>
                  <a:t> событие того, что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b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ru-RU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)≠(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/>
                  <a:t> Тогда по </a:t>
                </a:r>
                <a:r>
                  <a:rPr lang="ru-RU" sz="2400" b="1" dirty="0"/>
                  <a:t>Теореме</a:t>
                </a:r>
                <a:r>
                  <a:rPr lang="ru-RU" sz="2400" dirty="0"/>
                  <a:t> </a:t>
                </a:r>
                <a:r>
                  <a:rPr lang="ru-RU" sz="2400" b="1" dirty="0"/>
                  <a:t>6.1.1.1</a:t>
                </a:r>
                <a:r>
                  <a:rPr lang="en-US" sz="2400" dirty="0"/>
                  <a:t> </a:t>
                </a:r>
                <a:r>
                  <a:rPr lang="ru-RU" sz="2400" dirty="0"/>
                  <a:t>и рассуждениям, аналогичным </a:t>
                </a:r>
                <a:r>
                  <a:rPr lang="ru-RU" sz="2400" b="1" dirty="0"/>
                  <a:t>Теореме 6.1.1 </a:t>
                </a:r>
                <a:r>
                  <a:rPr lang="ru-RU" sz="2400" dirty="0"/>
                  <a:t>имеем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sz="2400" dirty="0"/>
                  <a:t>. При этом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r>
                  <a:rPr lang="en-US" sz="2400" dirty="0"/>
                  <a:t> (</a:t>
                </a:r>
                <a:r>
                  <a:rPr lang="ru-RU" sz="2400" dirty="0"/>
                  <a:t>игра против одноразового блокнота).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7684"/>
                <a:ext cx="10515600" cy="4351338"/>
              </a:xfrm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1607932" y="3842587"/>
            <a:ext cx="232477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3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1"/>
          <p:cNvGrpSpPr>
            <a:grpSpLocks/>
          </p:cNvGrpSpPr>
          <p:nvPr/>
        </p:nvGrpSpPr>
        <p:grpSpPr bwMode="auto">
          <a:xfrm>
            <a:off x="3960236" y="4367023"/>
            <a:ext cx="3521927" cy="562944"/>
            <a:chOff x="1774" y="1785"/>
            <a:chExt cx="2402" cy="337"/>
          </a:xfrm>
        </p:grpSpPr>
        <p:sp>
          <p:nvSpPr>
            <p:cNvPr id="2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18"/>
          <p:cNvSpPr>
            <a:spLocks noChangeArrowheads="1"/>
          </p:cNvSpPr>
          <p:nvPr/>
        </p:nvSpPr>
        <p:spPr bwMode="auto">
          <a:xfrm>
            <a:off x="1475715" y="3613986"/>
            <a:ext cx="7525781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0" name="Group 20"/>
          <p:cNvGrpSpPr>
            <a:grpSpLocks/>
          </p:cNvGrpSpPr>
          <p:nvPr/>
        </p:nvGrpSpPr>
        <p:grpSpPr bwMode="auto">
          <a:xfrm>
            <a:off x="4023815" y="4987336"/>
            <a:ext cx="3398576" cy="401147"/>
            <a:chOff x="1820" y="1993"/>
            <a:chExt cx="2352" cy="150"/>
          </a:xfrm>
        </p:grpSpPr>
        <p:sp>
          <p:nvSpPr>
            <p:cNvPr id="31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blipFill>
                  <a:blip r:embed="rId6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6" y="3770171"/>
                <a:ext cx="53572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266" y="5211802"/>
                <a:ext cx="53572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1671511" y="4218608"/>
                <a:ext cx="2343574" cy="123020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←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1600" i="1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b>
                      <m:sSubPr>
                        <m:ctrlP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b="0" i="1" dirty="0">
                    <a:solidFill>
                      <a:schemeClr val="tx1"/>
                    </a:solidFill>
                  </a:rPr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sub>
                      </m:sSub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1511" y="4218608"/>
                <a:ext cx="2343574" cy="1230209"/>
              </a:xfrm>
              <a:prstGeom prst="rect">
                <a:avLst/>
              </a:prstGeom>
              <a:blipFill>
                <a:blip r:embed="rId9"/>
                <a:stretch>
                  <a:fillRect b="-9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3900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3486"/>
                <a:ext cx="10515600" cy="495886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Игра 3 является игрой против одноразового блокнота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r>
                  <a:rPr lang="en-US" sz="2800" dirty="0"/>
                  <a:t>) </a:t>
                </a:r>
                <a:endParaRPr lang="en-US" dirty="0"/>
              </a:p>
              <a:p>
                <a:r>
                  <a:rPr lang="ru-RU" dirty="0"/>
                  <a:t>Игра 2 –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отличаются не более чем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sz="24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sz="24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>
                  <a:solidFill>
                    <a:srgbClr val="00B0F0"/>
                  </a:solidFill>
                </a:endParaRPr>
              </a:p>
              <a:p>
                <a:r>
                  <a:rPr lang="ru-RU" dirty="0"/>
                  <a:t>Игра 2 является переопределением игры 1</a:t>
                </a:r>
              </a:p>
              <a:p>
                <a:r>
                  <a:rPr lang="ru-RU" dirty="0"/>
                  <a:t>Игра 1 –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противник </a:t>
                </a:r>
                <a:r>
                  <a:rPr lang="en-US" dirty="0"/>
                  <a:t>B</a:t>
                </a:r>
                <a:r>
                  <a:rPr lang="ru-RU" dirty="0"/>
                  <a:t> в игре на стойкость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𝑃𝑅𝐹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ru-RU" dirty="0"/>
                  <a:t> его преимущество состоит из </a:t>
                </a:r>
                <a:r>
                  <a:rPr lang="ru-RU" dirty="0">
                    <a:solidFill>
                      <a:srgbClr val="00B050"/>
                    </a:solidFill>
                  </a:rPr>
                  <a:t>разности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ru-RU" dirty="0"/>
                  <a:t>Игра 0 – игра на стойкость </a:t>
                </a:r>
                <a:r>
                  <a:rPr lang="en-US" dirty="0"/>
                  <a:t>CPA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CP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i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PRF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ea typeface="Cambria Math" panose="02040503050406030204" pitchFamily="18" charset="0"/>
                  </a:rPr>
                  <a:t>Используя </a:t>
                </a:r>
                <a:r>
                  <a:rPr lang="ru-RU" b="1" dirty="0">
                    <a:ea typeface="Cambria Math" panose="02040503050406030204" pitchFamily="18" charset="0"/>
                  </a:rPr>
                  <a:t>Теорему 6.1 </a:t>
                </a:r>
                <a:r>
                  <a:rPr lang="ru-RU" dirty="0">
                    <a:ea typeface="Cambria Math" panose="02040503050406030204" pitchFamily="18" charset="0"/>
                  </a:rPr>
                  <a:t>(заменяя </a:t>
                </a:r>
                <a:r>
                  <a:rPr lang="en-US" dirty="0">
                    <a:ea typeface="Cambria Math" panose="02040503050406030204" pitchFamily="18" charset="0"/>
                  </a:rPr>
                  <a:t>PRF </a:t>
                </a:r>
                <a:r>
                  <a:rPr lang="ru-RU" dirty="0">
                    <a:ea typeface="Cambria Math" panose="02040503050406030204" pitchFamily="18" charset="0"/>
                  </a:rPr>
                  <a:t>на </a:t>
                </a:r>
                <a:r>
                  <a:rPr lang="en-US" dirty="0">
                    <a:ea typeface="Cambria Math" panose="02040503050406030204" pitchFamily="18" charset="0"/>
                  </a:rPr>
                  <a:t>PRP)</a:t>
                </a:r>
                <a:r>
                  <a:rPr lang="ru-RU" b="1" dirty="0">
                    <a:ea typeface="Cambria Math" panose="02040503050406030204" pitchFamily="18" charset="0"/>
                  </a:rPr>
                  <a:t> </a:t>
                </a:r>
                <a:r>
                  <a:rPr lang="ru-RU" dirty="0">
                    <a:ea typeface="Cambria Math" panose="02040503050406030204" pitchFamily="18" charset="0"/>
                  </a:rPr>
                  <a:t>имеем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𝑃𝑅𝐹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, отсюда</a:t>
                </a:r>
                <a:r>
                  <a:rPr lang="en-US" dirty="0">
                    <a:ea typeface="Cambria Math" panose="02040503050406030204" pitchFamily="18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⊲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3486"/>
                <a:ext cx="10515600" cy="4958860"/>
              </a:xfrm>
              <a:blipFill>
                <a:blip r:embed="rId2"/>
                <a:stretch>
                  <a:fillRect l="-928" t="-28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340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Дополнение блока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 режиме </a:t>
                </a:r>
                <a:r>
                  <a:rPr lang="en-US" dirty="0"/>
                  <a:t>CBC </a:t>
                </a:r>
                <a:r>
                  <a:rPr lang="ru-RU" dirty="0"/>
                  <a:t>сообщения должны быть кратны длине блока блочного шифра.</a:t>
                </a:r>
              </a:p>
              <a:p>
                <a:pPr marL="0" indent="0">
                  <a:buNone/>
                </a:pPr>
                <a:r>
                  <a:rPr lang="ru-RU" dirty="0"/>
                  <a:t>Если сообщения не кратны длине блока – используется дополнение (</a:t>
                </a:r>
                <a:r>
                  <a:rPr lang="en-US" dirty="0"/>
                  <a:t>padding)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Наиболее распространённый способ  </a:t>
                </a:r>
                <a:r>
                  <a:rPr lang="en-US" dirty="0"/>
                  <a:t>TLS (PKCS</a:t>
                </a:r>
                <a:r>
                  <a:rPr lang="ru-RU" dirty="0"/>
                  <a:t>7</a:t>
                </a:r>
                <a:r>
                  <a:rPr lang="en-US" dirty="0"/>
                  <a:t>)</a:t>
                </a:r>
                <a:r>
                  <a:rPr lang="ru-RU" dirty="0"/>
                  <a:t> </a:t>
                </a:r>
                <a:r>
                  <a:rPr lang="en-US" dirty="0"/>
                  <a:t>padding:</a:t>
                </a:r>
              </a:p>
              <a:p>
                <a:r>
                  <a:rPr lang="ru-RU" dirty="0"/>
                  <a:t>Если сообщение имеет длину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 байт, а блок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байт, то дополнение TLS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𝑝𝑎𝑑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0,..,</m:t>
                            </m:r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15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−1,….,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𝑝𝑎𝑑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PKCS)</a:t>
                </a:r>
                <a:endParaRPr lang="en-US" dirty="0"/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ru-RU" dirty="0"/>
                  <a:t>. (15 </a:t>
                </a:r>
                <a:r>
                  <a:rPr lang="en-US" dirty="0" err="1"/>
                  <a:t>для</a:t>
                </a:r>
                <a:r>
                  <a:rPr lang="en-US" dirty="0"/>
                  <a:t> </a:t>
                </a:r>
                <a:r>
                  <a:rPr lang="ru-RU" dirty="0"/>
                  <a:t>PKCS)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928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6168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8"/>
            <a:ext cx="6149454" cy="16530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CBC vs 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CP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𝑐𝑡𝑟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+2∗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𝑐𝑏𝑐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+2∗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CTR </a:t>
                </a:r>
                <a:r>
                  <a:rPr lang="ru-RU" dirty="0"/>
                  <a:t>режим имеет большую стойкость для фиксированных параметров и блочного шифра</a:t>
                </a:r>
              </a:p>
              <a:p>
                <a:r>
                  <a:rPr lang="en-US" dirty="0"/>
                  <a:t>CTR </a:t>
                </a:r>
                <a:r>
                  <a:rPr lang="ru-RU" dirty="0"/>
                  <a:t>может использоваться в параллельном режиме, так как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блоков производит независимо</a:t>
                </a:r>
              </a:p>
              <a:p>
                <a:r>
                  <a:rPr lang="ru-RU" dirty="0"/>
                  <a:t>Для коротких сообщений </a:t>
                </a:r>
                <a:r>
                  <a:rPr lang="en-US" dirty="0"/>
                  <a:t>CTR </a:t>
                </a:r>
                <a:r>
                  <a:rPr lang="ru-RU" dirty="0"/>
                  <a:t>может иметь длины </a:t>
                </a:r>
                <a:r>
                  <a:rPr lang="ru-RU" dirty="0" err="1"/>
                  <a:t>шифртекстов</a:t>
                </a:r>
                <a:r>
                  <a:rPr lang="ru-RU" dirty="0"/>
                  <a:t> значительно короче, чем </a:t>
                </a:r>
                <a:r>
                  <a:rPr lang="en-US" dirty="0"/>
                  <a:t>CBC</a:t>
                </a:r>
                <a:r>
                  <a:rPr lang="ru-RU" dirty="0"/>
                  <a:t>, так как нет необходимости в дополнении до длины блока.</a:t>
                </a:r>
              </a:p>
              <a:p>
                <a:r>
                  <a:rPr lang="en-US" dirty="0"/>
                  <a:t>CTR </a:t>
                </a:r>
                <a:r>
                  <a:rPr lang="ru-RU" dirty="0"/>
                  <a:t>использует только функцию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блочного шифра.</a:t>
                </a:r>
              </a:p>
              <a:p>
                <a:r>
                  <a:rPr lang="en-US" b="1" dirty="0"/>
                  <a:t>IV </a:t>
                </a:r>
                <a:r>
                  <a:rPr lang="ru-RU" b="1" dirty="0"/>
                  <a:t>должны быть случайными!</a:t>
                </a:r>
                <a:endParaRPr lang="en-US" b="1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812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25655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29044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67164" y="1448831"/>
                <a:ext cx="972452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2400" dirty="0"/>
                  <a:t>1 – Различия игр на </a:t>
                </a:r>
                <a:r>
                  <a:rPr lang="ru-RU" sz="2400" b="1" dirty="0"/>
                  <a:t>семантическую стойкость</a:t>
                </a:r>
                <a:r>
                  <a:rPr lang="ru-RU" sz="2400" dirty="0"/>
                  <a:t> и на </a:t>
                </a:r>
                <a:r>
                  <a:rPr lang="en-US" sz="2400" b="1" dirty="0"/>
                  <a:t>CPA </a:t>
                </a:r>
                <a:r>
                  <a:rPr lang="ru-RU" sz="2400" b="1" dirty="0"/>
                  <a:t>стойкость</a:t>
                </a:r>
                <a:endParaRPr lang="ru-RU" sz="2400" dirty="0"/>
              </a:p>
              <a:p>
                <a:r>
                  <a:rPr lang="ru-RU" sz="2400" dirty="0"/>
                  <a:t>2</a:t>
                </a:r>
                <a:r>
                  <a:rPr lang="en-US" sz="2400" dirty="0"/>
                  <a:t> – </a:t>
                </a:r>
                <a:r>
                  <a:rPr lang="ru-RU" sz="2400" dirty="0"/>
                  <a:t>является ли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b="1" dirty="0"/>
                  <a:t>CPA </a:t>
                </a:r>
                <a:r>
                  <a:rPr lang="ru-RU" sz="2400" b="1" dirty="0"/>
                  <a:t>стойкий </a:t>
                </a:r>
                <a:r>
                  <a:rPr lang="ru-RU" sz="2400" dirty="0"/>
                  <a:t>шифр </a:t>
                </a:r>
                <a:r>
                  <a:rPr lang="ru-RU" sz="2400" b="1" dirty="0"/>
                  <a:t>Семантически стойким</a:t>
                </a:r>
                <a:r>
                  <a:rPr lang="ru-RU" sz="2400" dirty="0"/>
                  <a:t>? Если нет – </a:t>
                </a:r>
              </a:p>
              <a:p>
                <a:r>
                  <a:rPr lang="ru-RU" sz="2400" dirty="0"/>
                  <a:t>пример шифра, стойкого в одной модели, и не стойкого в другой.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164" y="1448831"/>
                <a:ext cx="9724522" cy="1200329"/>
              </a:xfrm>
              <a:prstGeom prst="rect">
                <a:avLst/>
              </a:prstGeom>
              <a:blipFill rotWithShape="0">
                <a:blip r:embed="rId2"/>
                <a:stretch>
                  <a:fillRect l="-1003" t="-4061" b="-106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1457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309180" y="2051254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2458801" y="1687070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7720318" y="2090908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20318" y="2090908"/>
                <a:ext cx="1295400" cy="1628071"/>
              </a:xfrm>
              <a:prstGeom prst="rect">
                <a:avLst/>
              </a:prstGeom>
              <a:blipFill rotWithShape="0">
                <a:blip r:embed="rId2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22"/>
          <p:cNvGrpSpPr>
            <a:grpSpLocks/>
          </p:cNvGrpSpPr>
          <p:nvPr/>
        </p:nvGrpSpPr>
        <p:grpSpPr bwMode="auto">
          <a:xfrm>
            <a:off x="8368018" y="3758975"/>
            <a:ext cx="1570040" cy="678656"/>
            <a:chOff x="4560" y="2842"/>
            <a:chExt cx="989" cy="570"/>
          </a:xfrm>
        </p:grpSpPr>
        <p:sp>
          <p:nvSpPr>
            <p:cNvPr id="14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1209441" y="1911609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7" name="Text Box 13"/>
          <p:cNvSpPr txBox="1">
            <a:spLocks noChangeArrowheads="1"/>
          </p:cNvSpPr>
          <p:nvPr/>
        </p:nvSpPr>
        <p:spPr bwMode="auto">
          <a:xfrm>
            <a:off x="1309180" y="2503543"/>
            <a:ext cx="2991440" cy="9335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3200" b="0" dirty="0"/>
              <a:t>1-???</a:t>
            </a:r>
            <a:endParaRPr lang="en-US" sz="3200" dirty="0"/>
          </a:p>
          <a:p>
            <a:endParaRPr lang="en-US" b="1" baseline="-25000" dirty="0">
              <a:cs typeface="Arial" charset="0"/>
              <a:sym typeface="Symbol" pitchFamily="18" charset="2"/>
            </a:endParaRPr>
          </a:p>
          <a:p>
            <a:endParaRPr lang="en-US" sz="1600" b="1" baseline="-25000" dirty="0">
              <a:cs typeface="Arial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6"/>
              <p:cNvSpPr txBox="1">
                <a:spLocks noChangeArrowheads="1"/>
              </p:cNvSpPr>
              <p:nvPr/>
            </p:nvSpPr>
            <p:spPr bwMode="auto">
              <a:xfrm>
                <a:off x="2458801" y="1456238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8801" y="1456238"/>
                <a:ext cx="427040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/>
          <p:cNvSpPr txBox="1"/>
          <p:nvPr/>
        </p:nvSpPr>
        <p:spPr>
          <a:xfrm>
            <a:off x="5656446" y="2550641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2-???</a:t>
            </a:r>
            <a:endParaRPr lang="ru-RU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Прямоугольник 31"/>
              <p:cNvSpPr/>
              <p:nvPr/>
            </p:nvSpPr>
            <p:spPr>
              <a:xfrm>
                <a:off x="1209441" y="4015911"/>
                <a:ext cx="325031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CPA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3−???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32" name="Прямоугольник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441" y="4015911"/>
                <a:ext cx="3250313" cy="461665"/>
              </a:xfrm>
              <a:prstGeom prst="rect">
                <a:avLst/>
              </a:prstGeom>
              <a:blipFill>
                <a:blip r:embed="rId9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209441" y="4643753"/>
                <a:ext cx="82607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4 – </a:t>
                </a:r>
                <a:r>
                  <a:rPr lang="ru-RU" sz="2400" dirty="0"/>
                  <a:t>является ли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b="1" dirty="0"/>
                  <a:t>CPA </a:t>
                </a:r>
                <a:r>
                  <a:rPr lang="ru-RU" sz="2400" b="1" dirty="0"/>
                  <a:t>стойкий </a:t>
                </a:r>
                <a:r>
                  <a:rPr lang="ru-RU" sz="2400" dirty="0"/>
                  <a:t>шифр </a:t>
                </a:r>
                <a:r>
                  <a:rPr lang="ru-RU" sz="2400" b="1" dirty="0"/>
                  <a:t>Семантически стойким</a:t>
                </a:r>
                <a:r>
                  <a:rPr lang="ru-RU" sz="2400" dirty="0"/>
                  <a:t>?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441" y="4643753"/>
                <a:ext cx="8260788" cy="461665"/>
              </a:xfrm>
              <a:prstGeom prst="rect">
                <a:avLst/>
              </a:prstGeom>
              <a:blipFill>
                <a:blip r:embed="rId10"/>
                <a:stretch>
                  <a:fillRect l="-1106" t="-10526" r="-221" b="-289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8634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3855</TotalTime>
  <Words>3816</Words>
  <Application>Microsoft Office PowerPoint</Application>
  <PresentationFormat>Широкоэкранный</PresentationFormat>
  <Paragraphs>411</Paragraphs>
  <Slides>42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Consolas</vt:lpstr>
      <vt:lpstr>Symbol</vt:lpstr>
      <vt:lpstr>Тема Office</vt:lpstr>
      <vt:lpstr>Прикладная Криптография: Симметричные криптосистемы CPA</vt:lpstr>
      <vt:lpstr>Тест.</vt:lpstr>
      <vt:lpstr>Тест.</vt:lpstr>
      <vt:lpstr>TIME </vt:lpstr>
      <vt:lpstr>CPA</vt:lpstr>
      <vt:lpstr>Использование множества ключей</vt:lpstr>
      <vt:lpstr>Построение CPA шифров из семантически стойких шифров</vt:lpstr>
      <vt:lpstr>Построение CPA шифров из семантически стойких шифров</vt:lpstr>
      <vt:lpstr>Построение CPA шифров из семантически стойких шифров</vt:lpstr>
      <vt:lpstr>Игра 0</vt:lpstr>
      <vt:lpstr>Игра 1</vt:lpstr>
      <vt:lpstr>Структура противника B_F</vt:lpstr>
      <vt:lpstr>Игра 2</vt:lpstr>
      <vt:lpstr>Игра 3</vt:lpstr>
      <vt:lpstr>Игра 3</vt:lpstr>
      <vt:lpstr>Структра противника B^∗</vt:lpstr>
      <vt:lpstr>Построение CPA шифров из семантически стойких шифров</vt:lpstr>
      <vt:lpstr>Рандомизированный CTR режим</vt:lpstr>
      <vt:lpstr>Рандомизированный CTR режим</vt:lpstr>
      <vt:lpstr>Рандомизированный CTR режим</vt:lpstr>
      <vt:lpstr>Рандомизированный CTR режим</vt:lpstr>
      <vt:lpstr>Игра 0</vt:lpstr>
      <vt:lpstr>Игра 1</vt:lpstr>
      <vt:lpstr>Игра 2</vt:lpstr>
      <vt:lpstr>Игра 3</vt:lpstr>
      <vt:lpstr>Лемма</vt:lpstr>
      <vt:lpstr>Рандомизированный CTR режим</vt:lpstr>
      <vt:lpstr>Практическое использование AES в режиме CTR</vt:lpstr>
      <vt:lpstr>CBC</vt:lpstr>
      <vt:lpstr>CBC</vt:lpstr>
      <vt:lpstr>CBC</vt:lpstr>
      <vt:lpstr>CBC режим</vt:lpstr>
      <vt:lpstr>Игра 0</vt:lpstr>
      <vt:lpstr>Игра 1</vt:lpstr>
      <vt:lpstr>Игра 2</vt:lpstr>
      <vt:lpstr>Игра 3</vt:lpstr>
      <vt:lpstr>CBC</vt:lpstr>
      <vt:lpstr>Дополнение блока</vt:lpstr>
      <vt:lpstr>CBC vs CTR</vt:lpstr>
      <vt:lpstr>Презентация PowerPoint</vt:lpstr>
      <vt:lpstr>Тест.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1032</cp:revision>
  <dcterms:created xsi:type="dcterms:W3CDTF">2018-08-24T12:25:18Z</dcterms:created>
  <dcterms:modified xsi:type="dcterms:W3CDTF">2026-10-28T06:01:10Z</dcterms:modified>
</cp:coreProperties>
</file>