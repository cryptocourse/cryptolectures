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sldIdLst>
    <p:sldId id="296" r:id="rId2"/>
    <p:sldId id="334" r:id="rId3"/>
    <p:sldId id="335" r:id="rId4"/>
    <p:sldId id="336" r:id="rId5"/>
    <p:sldId id="337" r:id="rId6"/>
    <p:sldId id="338" r:id="rId7"/>
    <p:sldId id="340" r:id="rId8"/>
    <p:sldId id="339" r:id="rId9"/>
    <p:sldId id="341" r:id="rId10"/>
    <p:sldId id="342" r:id="rId11"/>
    <p:sldId id="344" r:id="rId12"/>
    <p:sldId id="345" r:id="rId13"/>
    <p:sldId id="346" r:id="rId14"/>
    <p:sldId id="347" r:id="rId15"/>
    <p:sldId id="348" r:id="rId16"/>
    <p:sldId id="352" r:id="rId17"/>
    <p:sldId id="350" r:id="rId18"/>
    <p:sldId id="354" r:id="rId19"/>
    <p:sldId id="349" r:id="rId20"/>
    <p:sldId id="351" r:id="rId21"/>
    <p:sldId id="353" r:id="rId22"/>
    <p:sldId id="357" r:id="rId23"/>
    <p:sldId id="355" r:id="rId24"/>
    <p:sldId id="359" r:id="rId25"/>
    <p:sldId id="360" r:id="rId26"/>
    <p:sldId id="361" r:id="rId27"/>
    <p:sldId id="362" r:id="rId28"/>
    <p:sldId id="363" r:id="rId29"/>
    <p:sldId id="364" r:id="rId30"/>
    <p:sldId id="365" r:id="rId31"/>
    <p:sldId id="366" r:id="rId32"/>
    <p:sldId id="367" r:id="rId33"/>
    <p:sldId id="368" r:id="rId34"/>
    <p:sldId id="369" r:id="rId35"/>
    <p:sldId id="370" r:id="rId36"/>
    <p:sldId id="371" r:id="rId37"/>
    <p:sldId id="372" r:id="rId38"/>
    <p:sldId id="373" r:id="rId3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9489B66-A166-4A24-B55F-EDCB98E57948}">
          <p14:sldIdLst>
            <p14:sldId id="296"/>
          </p14:sldIdLst>
        </p14:section>
        <p14:section name="Лирическое отступление в блочные шифры" id="{166FB796-C804-494D-81E1-46F5EBC53402}">
          <p14:sldIdLst>
            <p14:sldId id="334"/>
            <p14:sldId id="335"/>
            <p14:sldId id="336"/>
          </p14:sldIdLst>
        </p14:section>
        <p14:section name="PRF switching lemma" id="{8D7119DD-8269-4067-B041-CBC75DC9F3BE}">
          <p14:sldIdLst>
            <p14:sldId id="337"/>
            <p14:sldId id="338"/>
            <p14:sldId id="340"/>
            <p14:sldId id="339"/>
            <p14:sldId id="341"/>
            <p14:sldId id="342"/>
            <p14:sldId id="344"/>
            <p14:sldId id="345"/>
            <p14:sldId id="346"/>
            <p14:sldId id="347"/>
          </p14:sldIdLst>
        </p14:section>
        <p14:section name="Построение PRG из PRF, CTR" id="{2C77A2BA-BD35-45BF-901F-8D54177E878C}">
          <p14:sldIdLst>
            <p14:sldId id="348"/>
            <p14:sldId id="352"/>
            <p14:sldId id="350"/>
            <p14:sldId id="354"/>
            <p14:sldId id="349"/>
            <p14:sldId id="351"/>
            <p14:sldId id="353"/>
          </p14:sldIdLst>
        </p14:section>
        <p14:section name="CPA" id="{C4CD0A65-B822-46E5-B632-31A9388536BE}">
          <p14:sldIdLst>
            <p14:sldId id="357"/>
            <p14:sldId id="355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41" autoAdjust="0"/>
    <p:restoredTop sz="94664" autoAdjust="0"/>
  </p:normalViewPr>
  <p:slideViewPr>
    <p:cSldViewPr snapToGrid="0">
      <p:cViewPr varScale="1">
        <p:scale>
          <a:sx n="108" d="100"/>
          <a:sy n="108" d="100"/>
        </p:scale>
        <p:origin x="888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778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08D16-15DC-4E25-BDC3-F25146157B16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75760-61D2-4B80-8A8D-A874439CE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704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8293-DB51-454A-BE81-EC8FCB31EBA2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89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A50B-C350-45F5-8AAB-ADB9E670AF2E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851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688C9-348F-42F9-B6C0-5990DDE0C5B2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370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AFD8F-6DD9-4AD3-A505-FDC3F5C5F3F6}" type="datetime1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664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51EFE-4D02-45EB-A747-8B6F047B5AA0}" type="datetime1">
              <a:rPr lang="ru-RU" smtClean="0"/>
              <a:t>14.10.2026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89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9F34-E5CD-4B8F-AA9E-889C84372B20}" type="datetime1">
              <a:rPr lang="ru-RU" smtClean="0"/>
              <a:t>14.10.2026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783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24D22-9B29-44A6-8E82-95FC492DEDC1}" type="datetime1">
              <a:rPr lang="ru-RU" smtClean="0"/>
              <a:t>14.10.2026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422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1034F-4441-48A1-BDC0-25EA1022324A}" type="datetime1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52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FDE79-B627-473B-AE17-4C65BD2495F7}" type="datetime1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5337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C87B1-1C35-4DBD-BC18-2BC72E776603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345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4C275-26C0-42CD-9111-9ADE65922AF9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882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A537A-1B8C-47BA-9BA6-7CE3FAFDA8BE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75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47.png"/><Relationship Id="rId12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.png"/><Relationship Id="rId15" Type="http://schemas.openxmlformats.org/officeDocument/2006/relationships/image" Target="../media/image4.png"/><Relationship Id="rId10" Type="http://schemas.openxmlformats.org/officeDocument/2006/relationships/image" Target="../media/image8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47.png"/><Relationship Id="rId12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png"/><Relationship Id="rId18" Type="http://schemas.openxmlformats.org/officeDocument/2006/relationships/image" Target="../media/image160.png"/><Relationship Id="rId12" Type="http://schemas.openxmlformats.org/officeDocument/2006/relationships/image" Target="../media/image24.png"/><Relationship Id="rId17" Type="http://schemas.openxmlformats.org/officeDocument/2006/relationships/image" Target="../media/image27.png"/><Relationship Id="rId2" Type="http://schemas.openxmlformats.org/officeDocument/2006/relationships/image" Target="../media/image411.png"/><Relationship Id="rId16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9.png"/><Relationship Id="rId5" Type="http://schemas.openxmlformats.org/officeDocument/2006/relationships/image" Target="../media/image15.png"/><Relationship Id="rId15" Type="http://schemas.openxmlformats.org/officeDocument/2006/relationships/image" Target="../media/image611.png"/><Relationship Id="rId10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png"/><Relationship Id="rId3" Type="http://schemas.openxmlformats.org/officeDocument/2006/relationships/image" Target="../media/image610.png"/><Relationship Id="rId12" Type="http://schemas.openxmlformats.org/officeDocument/2006/relationships/image" Target="../media/image24.png"/><Relationship Id="rId2" Type="http://schemas.openxmlformats.org/officeDocument/2006/relationships/image" Target="../media/image17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.png"/><Relationship Id="rId5" Type="http://schemas.openxmlformats.org/officeDocument/2006/relationships/image" Target="../media/image15.png"/><Relationship Id="rId15" Type="http://schemas.openxmlformats.org/officeDocument/2006/relationships/image" Target="../media/image27.png"/><Relationship Id="rId10" Type="http://schemas.openxmlformats.org/officeDocument/2006/relationships/image" Target="../media/image8.png"/><Relationship Id="rId4" Type="http://schemas.openxmlformats.org/officeDocument/2006/relationships/image" Target="../media/image130.png"/><Relationship Id="rId1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11.png"/><Relationship Id="rId3" Type="http://schemas.openxmlformats.org/officeDocument/2006/relationships/image" Target="../media/image31.png"/><Relationship Id="rId7" Type="http://schemas.openxmlformats.org/officeDocument/2006/relationships/image" Target="../media/image47.png"/><Relationship Id="rId12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.png"/><Relationship Id="rId10" Type="http://schemas.openxmlformats.org/officeDocument/2006/relationships/image" Target="../media/image8.png"/><Relationship Id="rId9" Type="http://schemas.openxmlformats.org/officeDocument/2006/relationships/image" Target="../media/image33.png"/><Relationship Id="rId1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11.png"/><Relationship Id="rId3" Type="http://schemas.openxmlformats.org/officeDocument/2006/relationships/image" Target="../media/image31.png"/><Relationship Id="rId7" Type="http://schemas.openxmlformats.org/officeDocument/2006/relationships/image" Target="../media/image47.png"/><Relationship Id="rId12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.png"/><Relationship Id="rId15" Type="http://schemas.openxmlformats.org/officeDocument/2006/relationships/image" Target="../media/image23.png"/><Relationship Id="rId10" Type="http://schemas.openxmlformats.org/officeDocument/2006/relationships/image" Target="../media/image8.png"/><Relationship Id="rId1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f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3" Type="http://schemas.openxmlformats.org/officeDocument/2006/relationships/image" Target="../media/image44.png"/><Relationship Id="rId12" Type="http://schemas.openxmlformats.org/officeDocument/2006/relationships/image" Target="../media/image1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9.png"/><Relationship Id="rId5" Type="http://schemas.openxmlformats.org/officeDocument/2006/relationships/image" Target="../media/image46.png"/><Relationship Id="rId10" Type="http://schemas.openxmlformats.org/officeDocument/2006/relationships/image" Target="../media/image8.png"/><Relationship Id="rId4" Type="http://schemas.openxmlformats.org/officeDocument/2006/relationships/image" Target="../media/image45.png"/><Relationship Id="rId1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5.png"/><Relationship Id="rId7" Type="http://schemas.openxmlformats.org/officeDocument/2006/relationships/image" Target="../media/image44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0.png"/><Relationship Id="rId4" Type="http://schemas.openxmlformats.org/officeDocument/2006/relationships/image" Target="../media/image56.png"/><Relationship Id="rId9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59.png"/><Relationship Id="rId7" Type="http://schemas.openxmlformats.org/officeDocument/2006/relationships/image" Target="../media/image71.png"/><Relationship Id="rId12" Type="http://schemas.openxmlformats.org/officeDocument/2006/relationships/image" Target="../media/image68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72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59.png"/><Relationship Id="rId7" Type="http://schemas.openxmlformats.org/officeDocument/2006/relationships/image" Target="../media/image73.png"/><Relationship Id="rId12" Type="http://schemas.openxmlformats.org/officeDocument/2006/relationships/image" Target="../media/image68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74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59.png"/><Relationship Id="rId7" Type="http://schemas.openxmlformats.org/officeDocument/2006/relationships/image" Target="../media/image75.png"/><Relationship Id="rId12" Type="http://schemas.openxmlformats.org/officeDocument/2006/relationships/image" Target="../media/image68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7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59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2.png"/><Relationship Id="rId11" Type="http://schemas.openxmlformats.org/officeDocument/2006/relationships/image" Target="../media/image80.png"/><Relationship Id="rId5" Type="http://schemas.openxmlformats.org/officeDocument/2006/relationships/image" Target="../media/image61.png"/><Relationship Id="rId10" Type="http://schemas.openxmlformats.org/officeDocument/2006/relationships/image" Target="../media/image67.png"/><Relationship Id="rId4" Type="http://schemas.openxmlformats.org/officeDocument/2006/relationships/image" Target="../media/image60.png"/><Relationship Id="rId9" Type="http://schemas.openxmlformats.org/officeDocument/2006/relationships/image" Target="../media/image7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1.png"/><Relationship Id="rId11" Type="http://schemas.openxmlformats.org/officeDocument/2006/relationships/image" Target="../media/image97.png"/><Relationship Id="rId5" Type="http://schemas.openxmlformats.org/officeDocument/2006/relationships/image" Target="../media/image88.pn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41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98.png"/><Relationship Id="rId4" Type="http://schemas.openxmlformats.org/officeDocument/2006/relationships/image" Target="../media/image8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105605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Прикладная Криптография</a:t>
            </a:r>
            <a:r>
              <a:rPr lang="en-US" dirty="0"/>
              <a:t>:</a:t>
            </a:r>
            <a:br>
              <a:rPr lang="en-US" dirty="0"/>
            </a:br>
            <a:r>
              <a:rPr lang="ru-RU" dirty="0"/>
              <a:t>Симметричные криптосистемы</a:t>
            </a:r>
            <a:br>
              <a:rPr lang="en-US" dirty="0"/>
            </a:br>
            <a:r>
              <a:rPr lang="ru-RU" dirty="0"/>
              <a:t>Псевдослучайные функции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5068699"/>
            <a:ext cx="9144000" cy="1655762"/>
          </a:xfrm>
        </p:spPr>
        <p:txBody>
          <a:bodyPr/>
          <a:lstStyle/>
          <a:p>
            <a:r>
              <a:rPr lang="ru-RU" dirty="0"/>
              <a:t>Макаров Артём </a:t>
            </a:r>
          </a:p>
          <a:p>
            <a:r>
              <a:rPr lang="ru-RU" dirty="0"/>
              <a:t>МИФИ </a:t>
            </a:r>
            <a:r>
              <a:rPr lang="en-US" dirty="0"/>
              <a:t>202</a:t>
            </a:r>
            <a:r>
              <a:rPr lang="ru-RU" dirty="0"/>
              <a:t>6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02CCDBF-0C25-4E22-953B-FD7DD7EBC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1206" y="4227516"/>
            <a:ext cx="2033587" cy="204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176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PRP </a:t>
            </a:r>
            <a:r>
              <a:rPr lang="ru-RU" dirty="0"/>
              <a:t>и </a:t>
            </a:r>
            <a:r>
              <a:rPr lang="en-US" dirty="0"/>
              <a:t>PRF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73958"/>
                <a:ext cx="11008056" cy="488239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dirty="0">
                    <a:sym typeface="Symbol" pitchFamily="18" charset="2"/>
                  </a:rPr>
                  <a:t>Пусть функция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𝑌</m:t>
                    </m:r>
                  </m:oMath>
                </a14:m>
                <a:r>
                  <a:rPr lang="en-US" dirty="0">
                    <a:sym typeface="Symbol" pitchFamily="18" charset="2"/>
                  </a:rPr>
                  <a:t> </a:t>
                </a:r>
                <a:r>
                  <a:rPr lang="ru-RU" dirty="0">
                    <a:sym typeface="Symbol" pitchFamily="18" charset="2"/>
                  </a:rPr>
                  <a:t>определена на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)</m:t>
                    </m:r>
                  </m:oMath>
                </a14:m>
                <a:r>
                  <a:rPr lang="ru-RU" dirty="0">
                    <a:sym typeface="Symbol" pitchFamily="18" charset="2"/>
                  </a:rPr>
                  <a:t>.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dirty="0">
                    <a:sym typeface="Symbol" pitchFamily="18" charset="2"/>
                  </a:rPr>
                  <a:t>Тогда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𝐹</m:t>
                    </m:r>
                  </m:oMath>
                </a14:m>
                <a:r>
                  <a:rPr lang="ru-RU" dirty="0">
                    <a:sym typeface="Symbol" pitchFamily="18" charset="2"/>
                  </a:rPr>
                  <a:t> – </a:t>
                </a:r>
                <a:r>
                  <a:rPr lang="ru-RU" b="1" dirty="0">
                    <a:sym typeface="Symbol" pitchFamily="18" charset="2"/>
                  </a:rPr>
                  <a:t>псевдослучайная функция (</a:t>
                </a:r>
                <a:r>
                  <a:rPr lang="en-US" b="1" dirty="0">
                    <a:sym typeface="Symbol" pitchFamily="18" charset="2"/>
                  </a:rPr>
                  <a:t>PRF)</a:t>
                </a:r>
                <a:r>
                  <a:rPr lang="ru-RU" dirty="0">
                    <a:sym typeface="Symbol" pitchFamily="18" charset="2"/>
                  </a:rPr>
                  <a:t>, если существует эффективный алгоритм, вычисляющий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𝑋</m:t>
                    </m:r>
                  </m:oMath>
                </a14:m>
                <a:r>
                  <a:rPr lang="ru-RU" dirty="0">
                    <a:sym typeface="Symbol" pitchFamily="18" charset="2"/>
                  </a:rPr>
                  <a:t>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ru-RU" dirty="0">
                  <a:sym typeface="Symbol" pitchFamily="18" charset="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dirty="0">
                    <a:sym typeface="Symbol" pitchFamily="18" charset="2"/>
                  </a:rPr>
                  <a:t>Пусть функция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𝐸</m:t>
                    </m:r>
                    <m:r>
                      <a:rPr lang="en-US" b="0" i="0" smtClean="0">
                        <a:latin typeface="Cambria Math" panose="02040503050406030204" pitchFamily="18" charset="0"/>
                        <a:sym typeface="Symbol" pitchFamily="18" charset="2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𝑋</m:t>
                    </m:r>
                  </m:oMath>
                </a14:m>
                <a:r>
                  <a:rPr lang="en-US" dirty="0">
                    <a:sym typeface="Symbol" pitchFamily="18" charset="2"/>
                  </a:rPr>
                  <a:t> </a:t>
                </a:r>
                <a:r>
                  <a:rPr lang="ru-RU" dirty="0">
                    <a:sym typeface="Symbol" pitchFamily="18" charset="2"/>
                  </a:rPr>
                  <a:t>определена на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sym typeface="Symbol" pitchFamily="18" charset="2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sym typeface="Symbol" pitchFamily="18" charset="2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  <a:sym typeface="Symbol" pitchFamily="18" charset="2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sym typeface="Symbol" pitchFamily="18" charset="2"/>
                      </a:rPr>
                      <m:t>)</m:t>
                    </m:r>
                  </m:oMath>
                </a14:m>
                <a:r>
                  <a:rPr lang="ru-RU" dirty="0">
                    <a:sym typeface="Symbol" pitchFamily="18" charset="2"/>
                  </a:rPr>
                  <a:t>. </a:t>
                </a:r>
                <a:endParaRPr lang="en-US" dirty="0">
                  <a:sym typeface="Symbol" pitchFamily="18" charset="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dirty="0">
                    <a:sym typeface="Symbol" pitchFamily="18" charset="2"/>
                  </a:rPr>
                  <a:t>Тогда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𝐸</m:t>
                    </m:r>
                  </m:oMath>
                </a14:m>
                <a:r>
                  <a:rPr lang="ru-RU" dirty="0">
                    <a:sym typeface="Symbol" pitchFamily="18" charset="2"/>
                  </a:rPr>
                  <a:t> – </a:t>
                </a:r>
                <a:r>
                  <a:rPr lang="ru-RU" b="1" dirty="0">
                    <a:sym typeface="Symbol" pitchFamily="18" charset="2"/>
                  </a:rPr>
                  <a:t>псевдослучайная подстановка (</a:t>
                </a:r>
                <a:r>
                  <a:rPr lang="en-US" b="1" dirty="0">
                    <a:sym typeface="Symbol" pitchFamily="18" charset="2"/>
                  </a:rPr>
                  <a:t>PRP)</a:t>
                </a:r>
                <a:r>
                  <a:rPr lang="ru-RU" dirty="0">
                    <a:sym typeface="Symbol" pitchFamily="18" charset="2"/>
                  </a:rPr>
                  <a:t>, если</a:t>
                </a:r>
              </a:p>
              <a:p>
                <a:pPr>
                  <a:lnSpc>
                    <a:spcPct val="120000"/>
                  </a:lnSpc>
                </a:pPr>
                <a:r>
                  <a:rPr lang="ru-RU" dirty="0">
                    <a:sym typeface="Symbol" pitchFamily="18" charset="2"/>
                  </a:rPr>
                  <a:t>Существует эффективный алгоритм вычисляющий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𝑋</m:t>
                    </m:r>
                  </m:oMath>
                </a14:m>
                <a:endParaRPr lang="en-US" dirty="0">
                  <a:sym typeface="Symbol" pitchFamily="18" charset="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ru-RU" dirty="0">
                    <a:sym typeface="Symbol" pitchFamily="18" charset="2"/>
                  </a:rPr>
                  <a:t>Функция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,∗)</m:t>
                    </m:r>
                  </m:oMath>
                </a14:m>
                <a:r>
                  <a:rPr lang="ru-RU" dirty="0">
                    <a:sym typeface="Symbol" pitchFamily="18" charset="2"/>
                  </a:rPr>
                  <a:t> – подстановка.</a:t>
                </a:r>
              </a:p>
            </p:txBody>
          </p:sp>
        </mc:Choice>
        <mc:Fallback xmlns="">
          <p:sp>
            <p:nvSpPr>
              <p:cNvPr id="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73958"/>
                <a:ext cx="11008056" cy="4882391"/>
              </a:xfrm>
              <a:blipFill>
                <a:blip r:embed="rId2"/>
                <a:stretch>
                  <a:fillRect l="-9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4090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Стойкая </a:t>
            </a:r>
            <a:r>
              <a:rPr lang="en-US" dirty="0"/>
              <a:t>PRF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117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PRF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ru-RU" dirty="0"/>
                  <a:t>, определённая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называется стойкой </a:t>
                </a:r>
                <a:r>
                  <a:rPr lang="en-US" dirty="0"/>
                  <a:t>PRF</a:t>
                </a:r>
                <a:r>
                  <a:rPr lang="ru-RU" dirty="0"/>
                  <a:t>, если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– эффективный алгоритм в игре на стойкость </a:t>
                </a:r>
                <a:r>
                  <a:rPr lang="en-US" dirty="0"/>
                  <a:t>PRF</a:t>
                </a:r>
                <a:r>
                  <a:rPr lang="ru-RU" dirty="0"/>
                  <a:t> величина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i="1" dirty="0"/>
                  <a:t> </a:t>
                </a:r>
                <a:r>
                  <a:rPr lang="ru-RU" dirty="0"/>
                  <a:t>– пренебрежимо малая величина.</a:t>
                </a:r>
                <a:endParaRPr lang="ru-RU" i="1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117200"/>
              </a:xfrm>
              <a:blipFill>
                <a:blip r:embed="rId2"/>
                <a:stretch>
                  <a:fillRect l="-1043" t="-43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</a:t>
            </a:fld>
            <a:endParaRPr lang="ru-RU"/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1823530" y="4335098"/>
            <a:ext cx="2879002" cy="16963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20" name="Line 5"/>
          <p:cNvSpPr>
            <a:spLocks noChangeShapeType="1"/>
          </p:cNvSpPr>
          <p:nvPr/>
        </p:nvSpPr>
        <p:spPr bwMode="auto">
          <a:xfrm>
            <a:off x="2973151" y="3970914"/>
            <a:ext cx="0" cy="403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7"/>
              <p:cNvSpPr>
                <a:spLocks noChangeArrowheads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blipFill>
                <a:blip r:embed="rId3"/>
                <a:stretch>
                  <a:fillRect t="-185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2"/>
          <p:cNvGrpSpPr>
            <a:grpSpLocks/>
          </p:cNvGrpSpPr>
          <p:nvPr/>
        </p:nvGrpSpPr>
        <p:grpSpPr bwMode="auto">
          <a:xfrm>
            <a:off x="8882368" y="6042819"/>
            <a:ext cx="1570040" cy="678656"/>
            <a:chOff x="4560" y="2842"/>
            <a:chExt cx="989" cy="570"/>
          </a:xfrm>
        </p:grpSpPr>
        <p:sp>
          <p:nvSpPr>
            <p:cNvPr id="26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’∈ {0,1}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3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blipFill>
                  <a:blip r:embed="rId7"/>
                  <a:stretch>
                    <a:fillRect r="-781" b="-1710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Rectangle 18"/>
          <p:cNvSpPr>
            <a:spLocks noChangeArrowheads="1"/>
          </p:cNvSpPr>
          <p:nvPr/>
        </p:nvSpPr>
        <p:spPr bwMode="auto">
          <a:xfrm>
            <a:off x="1723791" y="4195453"/>
            <a:ext cx="7924800" cy="2007395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Box 13"/>
              <p:cNvSpPr txBox="1">
                <a:spLocks noChangeArrowheads="1"/>
              </p:cNvSpPr>
              <p:nvPr/>
            </p:nvSpPr>
            <p:spPr bwMode="auto">
              <a:xfrm>
                <a:off x="1823530" y="4787387"/>
                <a:ext cx="2991440" cy="11854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b="0" dirty="0"/>
                  <a:t>If: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,∗) 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Else: </a:t>
                </a:r>
                <a:r>
                  <a:rPr lang="ru-RU" dirty="0"/>
                  <a:t> </a:t>
                </a:r>
                <a:r>
                  <a:rPr lang="en-US" dirty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Funs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b="1" baseline="-25000" dirty="0">
                  <a:cs typeface="Arial" charset="0"/>
                  <a:sym typeface="Symbol" pitchFamily="18" charset="2"/>
                </a:endParaRPr>
              </a:p>
              <a:p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29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3530" y="4787387"/>
                <a:ext cx="2991440" cy="1185453"/>
              </a:xfrm>
              <a:prstGeom prst="rect">
                <a:avLst/>
              </a:prstGeom>
              <a:blipFill>
                <a:blip r:embed="rId8"/>
                <a:stretch>
                  <a:fillRect l="-162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Box 6"/>
              <p:cNvSpPr txBox="1">
                <a:spLocks noChangeArrowheads="1"/>
              </p:cNvSpPr>
              <p:nvPr/>
            </p:nvSpPr>
            <p:spPr bwMode="auto">
              <a:xfrm>
                <a:off x="2973151" y="3740082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73151" y="3740082"/>
                <a:ext cx="42704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21"/>
          <p:cNvGrpSpPr>
            <a:grpSpLocks/>
          </p:cNvGrpSpPr>
          <p:nvPr/>
        </p:nvGrpSpPr>
        <p:grpSpPr bwMode="auto">
          <a:xfrm>
            <a:off x="4769739" y="4172833"/>
            <a:ext cx="3464929" cy="400050"/>
            <a:chOff x="1776" y="1816"/>
            <a:chExt cx="2400" cy="336"/>
          </a:xfrm>
        </p:grpSpPr>
        <p:sp>
          <p:nvSpPr>
            <p:cNvPr id="32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33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20"/>
          <p:cNvGrpSpPr>
            <a:grpSpLocks/>
          </p:cNvGrpSpPr>
          <p:nvPr/>
        </p:nvGrpSpPr>
        <p:grpSpPr bwMode="auto">
          <a:xfrm>
            <a:off x="4736135" y="4522240"/>
            <a:ext cx="3464929" cy="427436"/>
            <a:chOff x="1776" y="2051"/>
            <a:chExt cx="2352" cy="359"/>
          </a:xfrm>
        </p:grpSpPr>
        <p:sp>
          <p:nvSpPr>
            <p:cNvPr id="35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36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blipFill>
                  <a:blip r:embed="rId11"/>
                  <a:stretch>
                    <a:fillRect t="-9231" r="-3879" b="-2769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21"/>
          <p:cNvGrpSpPr>
            <a:grpSpLocks/>
          </p:cNvGrpSpPr>
          <p:nvPr/>
        </p:nvGrpSpPr>
        <p:grpSpPr bwMode="auto">
          <a:xfrm>
            <a:off x="4769739" y="5209689"/>
            <a:ext cx="3464929" cy="400050"/>
            <a:chOff x="1776" y="1816"/>
            <a:chExt cx="2400" cy="336"/>
          </a:xfrm>
        </p:grpSpPr>
        <p:sp>
          <p:nvSpPr>
            <p:cNvPr id="41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1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42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18" cy="336"/>
                </a:xfrm>
                <a:prstGeom prst="rect">
                  <a:avLst/>
                </a:prstGeom>
                <a:blipFill>
                  <a:blip r:embed="rId12"/>
                  <a:stretch>
                    <a:fillRect b="-15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20"/>
          <p:cNvGrpSpPr>
            <a:grpSpLocks/>
          </p:cNvGrpSpPr>
          <p:nvPr/>
        </p:nvGrpSpPr>
        <p:grpSpPr bwMode="auto">
          <a:xfrm>
            <a:off x="4736135" y="5559096"/>
            <a:ext cx="3464929" cy="427436"/>
            <a:chOff x="1776" y="2051"/>
            <a:chExt cx="2352" cy="359"/>
          </a:xfrm>
        </p:grpSpPr>
        <p:sp>
          <p:nvSpPr>
            <p:cNvPr id="44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6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45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68" cy="336"/>
                </a:xfrm>
                <a:prstGeom prst="rect">
                  <a:avLst/>
                </a:prstGeom>
                <a:blipFill>
                  <a:blip r:embed="rId13"/>
                  <a:stretch>
                    <a:fillRect t="-9091" r="-1282" b="-2575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1723791" y="6299755"/>
                <a:ext cx="475437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=|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⁡[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]|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791" y="6299755"/>
                <a:ext cx="4754378" cy="461665"/>
              </a:xfrm>
              <a:prstGeom prst="rect">
                <a:avLst/>
              </a:prstGeom>
              <a:blipFill>
                <a:blip r:embed="rId1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5744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Стойкая </a:t>
            </a:r>
            <a:r>
              <a:rPr lang="en-US" dirty="0"/>
              <a:t>PRP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117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PRP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dirty="0"/>
                  <a:t>, определённая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называется стойкой </a:t>
                </a:r>
                <a:r>
                  <a:rPr lang="en-US" dirty="0"/>
                  <a:t>PRP</a:t>
                </a:r>
                <a:r>
                  <a:rPr lang="ru-RU" dirty="0"/>
                  <a:t>, если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– эффективный алгоритм в игре на стойкость </a:t>
                </a:r>
                <a:r>
                  <a:rPr lang="en-US" dirty="0"/>
                  <a:t>PRP</a:t>
                </a:r>
                <a:r>
                  <a:rPr lang="ru-RU" dirty="0"/>
                  <a:t> величина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i="1" dirty="0"/>
                  <a:t> </a:t>
                </a:r>
                <a:r>
                  <a:rPr lang="ru-RU" dirty="0"/>
                  <a:t>– пренебрежимо малая величина.</a:t>
                </a:r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117200"/>
              </a:xfrm>
              <a:blipFill>
                <a:blip r:embed="rId2"/>
                <a:stretch>
                  <a:fillRect l="-1043" t="-43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</a:t>
            </a:fld>
            <a:endParaRPr lang="ru-RU"/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1823530" y="4335098"/>
            <a:ext cx="2879002" cy="16963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20" name="Line 5"/>
          <p:cNvSpPr>
            <a:spLocks noChangeShapeType="1"/>
          </p:cNvSpPr>
          <p:nvPr/>
        </p:nvSpPr>
        <p:spPr bwMode="auto">
          <a:xfrm>
            <a:off x="2973151" y="3970914"/>
            <a:ext cx="0" cy="403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7"/>
              <p:cNvSpPr>
                <a:spLocks noChangeArrowheads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blipFill>
                <a:blip r:embed="rId3"/>
                <a:stretch>
                  <a:fillRect t="-185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2"/>
          <p:cNvGrpSpPr>
            <a:grpSpLocks/>
          </p:cNvGrpSpPr>
          <p:nvPr/>
        </p:nvGrpSpPr>
        <p:grpSpPr bwMode="auto">
          <a:xfrm>
            <a:off x="8882368" y="6042819"/>
            <a:ext cx="1570040" cy="678656"/>
            <a:chOff x="4560" y="2842"/>
            <a:chExt cx="989" cy="570"/>
          </a:xfrm>
        </p:grpSpPr>
        <p:sp>
          <p:nvSpPr>
            <p:cNvPr id="26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’∈ {0,1}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3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blipFill>
                  <a:blip r:embed="rId7"/>
                  <a:stretch>
                    <a:fillRect r="-781" b="-1710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Rectangle 18"/>
          <p:cNvSpPr>
            <a:spLocks noChangeArrowheads="1"/>
          </p:cNvSpPr>
          <p:nvPr/>
        </p:nvSpPr>
        <p:spPr bwMode="auto">
          <a:xfrm>
            <a:off x="1723791" y="4195453"/>
            <a:ext cx="7924800" cy="2007395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Box 13"/>
              <p:cNvSpPr txBox="1">
                <a:spLocks noChangeArrowheads="1"/>
              </p:cNvSpPr>
              <p:nvPr/>
            </p:nvSpPr>
            <p:spPr bwMode="auto">
              <a:xfrm>
                <a:off x="1823530" y="4787387"/>
                <a:ext cx="2991440" cy="11854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b="0" dirty="0"/>
                  <a:t>If: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,∗) 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Else: </a:t>
                </a:r>
                <a:r>
                  <a:rPr lang="ru-RU" dirty="0"/>
                  <a:t> </a:t>
                </a:r>
                <a:r>
                  <a:rPr lang="en-US" dirty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b="1" baseline="-25000" dirty="0">
                  <a:cs typeface="Arial" charset="0"/>
                  <a:sym typeface="Symbol" pitchFamily="18" charset="2"/>
                </a:endParaRPr>
              </a:p>
              <a:p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29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3530" y="4787387"/>
                <a:ext cx="2991440" cy="1185453"/>
              </a:xfrm>
              <a:prstGeom prst="rect">
                <a:avLst/>
              </a:prstGeom>
              <a:blipFill>
                <a:blip r:embed="rId8"/>
                <a:stretch>
                  <a:fillRect l="-162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Box 6"/>
              <p:cNvSpPr txBox="1">
                <a:spLocks noChangeArrowheads="1"/>
              </p:cNvSpPr>
              <p:nvPr/>
            </p:nvSpPr>
            <p:spPr bwMode="auto">
              <a:xfrm>
                <a:off x="2973151" y="3740082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73151" y="3740082"/>
                <a:ext cx="42704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21"/>
          <p:cNvGrpSpPr>
            <a:grpSpLocks/>
          </p:cNvGrpSpPr>
          <p:nvPr/>
        </p:nvGrpSpPr>
        <p:grpSpPr bwMode="auto">
          <a:xfrm>
            <a:off x="4769739" y="4172833"/>
            <a:ext cx="3464929" cy="400050"/>
            <a:chOff x="1776" y="1816"/>
            <a:chExt cx="2400" cy="336"/>
          </a:xfrm>
        </p:grpSpPr>
        <p:sp>
          <p:nvSpPr>
            <p:cNvPr id="32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33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20"/>
          <p:cNvGrpSpPr>
            <a:grpSpLocks/>
          </p:cNvGrpSpPr>
          <p:nvPr/>
        </p:nvGrpSpPr>
        <p:grpSpPr bwMode="auto">
          <a:xfrm>
            <a:off x="4736135" y="4522240"/>
            <a:ext cx="3464929" cy="427436"/>
            <a:chOff x="1776" y="2051"/>
            <a:chExt cx="2352" cy="359"/>
          </a:xfrm>
        </p:grpSpPr>
        <p:sp>
          <p:nvSpPr>
            <p:cNvPr id="35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36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blipFill>
                  <a:blip r:embed="rId11"/>
                  <a:stretch>
                    <a:fillRect t="-9231" r="-3879" b="-2769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21"/>
          <p:cNvGrpSpPr>
            <a:grpSpLocks/>
          </p:cNvGrpSpPr>
          <p:nvPr/>
        </p:nvGrpSpPr>
        <p:grpSpPr bwMode="auto">
          <a:xfrm>
            <a:off x="4769739" y="5209689"/>
            <a:ext cx="3464929" cy="400050"/>
            <a:chOff x="1776" y="1816"/>
            <a:chExt cx="2400" cy="336"/>
          </a:xfrm>
        </p:grpSpPr>
        <p:sp>
          <p:nvSpPr>
            <p:cNvPr id="41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1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42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18" cy="336"/>
                </a:xfrm>
                <a:prstGeom prst="rect">
                  <a:avLst/>
                </a:prstGeom>
                <a:blipFill>
                  <a:blip r:embed="rId12"/>
                  <a:stretch>
                    <a:fillRect b="-15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20"/>
          <p:cNvGrpSpPr>
            <a:grpSpLocks/>
          </p:cNvGrpSpPr>
          <p:nvPr/>
        </p:nvGrpSpPr>
        <p:grpSpPr bwMode="auto">
          <a:xfrm>
            <a:off x="4736135" y="5559096"/>
            <a:ext cx="3464929" cy="427436"/>
            <a:chOff x="1776" y="2051"/>
            <a:chExt cx="2352" cy="359"/>
          </a:xfrm>
        </p:grpSpPr>
        <p:sp>
          <p:nvSpPr>
            <p:cNvPr id="44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41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45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41" cy="336"/>
                </a:xfrm>
                <a:prstGeom prst="rect">
                  <a:avLst/>
                </a:prstGeom>
                <a:blipFill>
                  <a:blip r:embed="rId13"/>
                  <a:stretch>
                    <a:fillRect t="-9091" r="-3947" b="-2575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1723791" y="6299755"/>
                <a:ext cx="475437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=|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⁡[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]|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791" y="6299755"/>
                <a:ext cx="4754378" cy="461665"/>
              </a:xfrm>
              <a:prstGeom prst="rect">
                <a:avLst/>
              </a:prstGeom>
              <a:blipFill>
                <a:blip r:embed="rId1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8318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Является ли </a:t>
            </a:r>
            <a:r>
              <a:rPr lang="en-US" dirty="0"/>
              <a:t>PRP PRF?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Является ли любая </a:t>
                </a:r>
                <a:r>
                  <a:rPr lang="en-US" dirty="0"/>
                  <a:t>PRP </a:t>
                </a:r>
                <a:r>
                  <a:rPr lang="ru-RU" dirty="0"/>
                  <a:t>также </a:t>
                </a:r>
                <a:r>
                  <a:rPr lang="en-US" dirty="0"/>
                  <a:t>PRF?</a:t>
                </a:r>
              </a:p>
              <a:p>
                <a:pPr lvl="1"/>
                <a:r>
                  <a:rPr lang="ru-RU" dirty="0"/>
                  <a:t>Да, любая эффективная подстановка является эффективной функцией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Является ли любая стойкая </a:t>
                </a:r>
                <a:r>
                  <a:rPr lang="en-US" dirty="0"/>
                  <a:t>PRP </a:t>
                </a:r>
                <a:r>
                  <a:rPr lang="ru-RU" dirty="0"/>
                  <a:t>стойкой </a:t>
                </a:r>
                <a:r>
                  <a:rPr lang="en-US" dirty="0"/>
                  <a:t>PRF?</a:t>
                </a:r>
                <a:endParaRPr lang="ru-RU" dirty="0"/>
              </a:p>
              <a:p>
                <a:pPr lvl="1"/>
                <a:r>
                  <a:rPr lang="ru-RU" dirty="0"/>
                  <a:t>Нет!</a:t>
                </a:r>
              </a:p>
              <a:p>
                <a:pPr marL="0" lvl="1" indent="0">
                  <a:buNone/>
                </a:pPr>
                <a:endParaRPr lang="ru-RU" dirty="0"/>
              </a:p>
              <a:p>
                <a:pPr marL="0" lvl="1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 – стойкая </a:t>
                </a:r>
                <a:r>
                  <a:rPr lang="en-US" dirty="0"/>
                  <a:t>PRP</a:t>
                </a:r>
                <a:r>
                  <a:rPr lang="ru-RU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. Очевидно, что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dirty="0"/>
                  <a:t> – </a:t>
                </a:r>
                <a:r>
                  <a:rPr lang="en-US" dirty="0"/>
                  <a:t>PRF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pPr marL="0" lvl="1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7292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Скругленный прямоугольник 31"/>
          <p:cNvSpPr/>
          <p:nvPr/>
        </p:nvSpPr>
        <p:spPr>
          <a:xfrm>
            <a:off x="7248372" y="6282043"/>
            <a:ext cx="1035820" cy="41213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Является ли </a:t>
            </a:r>
            <a:r>
              <a:rPr lang="en-US" dirty="0"/>
              <a:t>PRP PRF?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1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 – стойкая </a:t>
                </a:r>
                <a:r>
                  <a:rPr lang="en-US" dirty="0"/>
                  <a:t>PRP</a:t>
                </a:r>
                <a:r>
                  <a:rPr lang="ru-RU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. Очевидно, что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dirty="0"/>
                  <a:t> – </a:t>
                </a:r>
                <a:r>
                  <a:rPr lang="en-US" dirty="0"/>
                  <a:t>PRF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pPr marL="0" lvl="1" indent="0">
                  <a:buNone/>
                </a:pPr>
                <a:endParaRPr lang="en-US" dirty="0"/>
              </a:p>
              <a:p>
                <a:pPr marL="0" lvl="1" indent="0">
                  <a:buNone/>
                </a:pPr>
                <a:r>
                  <a:rPr lang="ru-RU" dirty="0"/>
                  <a:t>Рассмотрим игру на </a:t>
                </a:r>
                <a:r>
                  <a:rPr lang="en-US" dirty="0"/>
                  <a:t>PRF. </a:t>
                </a:r>
                <a:r>
                  <a:rPr lang="ru-RU" dirty="0"/>
                  <a:t>Пусть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 – малая величина, такая что противник может эффективно получить полный образ произвольной функции, с областью определения в </a:t>
                </a:r>
                <a:r>
                  <a:rPr lang="en-US" i="1" dirty="0"/>
                  <a:t>X</a:t>
                </a:r>
                <a:r>
                  <a:rPr lang="ru-RU" dirty="0"/>
                  <a:t> (т.е. получить множество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ru-RU" dirty="0"/>
                  <a:t> для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lvl="1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1961" r="-12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872433" y="6329055"/>
            <a:ext cx="2743200" cy="365125"/>
          </a:xfrm>
        </p:spPr>
        <p:txBody>
          <a:bodyPr/>
          <a:lstStyle/>
          <a:p>
            <a:fld id="{8253DDDB-F8F7-4D64-A7FD-3F3D61C1949F}" type="slidenum">
              <a:rPr lang="ru-RU" smtClean="0"/>
              <a:t>6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6"/>
              <p:cNvSpPr txBox="1">
                <a:spLocks noChangeArrowheads="1"/>
              </p:cNvSpPr>
              <p:nvPr/>
            </p:nvSpPr>
            <p:spPr bwMode="auto">
              <a:xfrm>
                <a:off x="2234984" y="3712787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34984" y="3712787"/>
                <a:ext cx="42704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Прямоугольник 26"/>
              <p:cNvSpPr/>
              <p:nvPr/>
            </p:nvSpPr>
            <p:spPr>
              <a:xfrm>
                <a:off x="985624" y="6272460"/>
                <a:ext cx="833651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PRF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i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=|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]|</m:t>
                    </m:r>
                  </m:oMath>
                </a14:m>
                <a:r>
                  <a:rPr lang="en-US" sz="2400" dirty="0"/>
                  <a:t> = |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0 −(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!/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sz="2400" dirty="0"/>
                  <a:t>)| &gt; 1/2</a:t>
                </a:r>
                <a:endParaRPr lang="ru-RU" sz="2400" dirty="0"/>
              </a:p>
            </p:txBody>
          </p:sp>
        </mc:Choice>
        <mc:Fallback>
          <p:sp>
            <p:nvSpPr>
              <p:cNvPr id="27" name="Прямоугольник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624" y="6272460"/>
                <a:ext cx="8336513" cy="461665"/>
              </a:xfrm>
              <a:prstGeom prst="rect">
                <a:avLst/>
              </a:prstGeom>
              <a:blipFill>
                <a:blip r:embed="rId6"/>
                <a:stretch>
                  <a:fillRect l="-219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Скругленный прямоугольник 32"/>
          <p:cNvSpPr/>
          <p:nvPr/>
        </p:nvSpPr>
        <p:spPr>
          <a:xfrm>
            <a:off x="7872433" y="328186"/>
            <a:ext cx="4136892" cy="126975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Вероятность случайной функции </a:t>
            </a:r>
            <a:r>
              <a:rPr lang="ru-RU"/>
              <a:t>быть подстановкой</a:t>
            </a:r>
            <a:endParaRPr lang="ru-RU" dirty="0"/>
          </a:p>
        </p:txBody>
      </p: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1085363" y="4307803"/>
            <a:ext cx="2879002" cy="16963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34" name="Line 5"/>
          <p:cNvSpPr>
            <a:spLocks noChangeShapeType="1"/>
          </p:cNvSpPr>
          <p:nvPr/>
        </p:nvSpPr>
        <p:spPr bwMode="auto">
          <a:xfrm>
            <a:off x="2234984" y="3943619"/>
            <a:ext cx="0" cy="403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7"/>
              <p:cNvSpPr>
                <a:spLocks noChangeArrowheads="1"/>
              </p:cNvSpPr>
              <p:nvPr/>
            </p:nvSpPr>
            <p:spPr bwMode="auto">
              <a:xfrm>
                <a:off x="7496501" y="4347457"/>
                <a:ext cx="1295400" cy="162807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5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6501" y="4347457"/>
                <a:ext cx="1295400" cy="1628071"/>
              </a:xfrm>
              <a:prstGeom prst="rect">
                <a:avLst/>
              </a:prstGeom>
              <a:blipFill>
                <a:blip r:embed="rId15"/>
                <a:stretch>
                  <a:fillRect t="-1487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18"/>
          <p:cNvSpPr>
            <a:spLocks noChangeArrowheads="1"/>
          </p:cNvSpPr>
          <p:nvPr/>
        </p:nvSpPr>
        <p:spPr bwMode="auto">
          <a:xfrm>
            <a:off x="985624" y="4168158"/>
            <a:ext cx="7924800" cy="2007395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Box 13"/>
              <p:cNvSpPr txBox="1">
                <a:spLocks noChangeArrowheads="1"/>
              </p:cNvSpPr>
              <p:nvPr/>
            </p:nvSpPr>
            <p:spPr bwMode="auto">
              <a:xfrm>
                <a:off x="1085363" y="4760092"/>
                <a:ext cx="2991440" cy="11854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b="0" dirty="0"/>
                  <a:t>If: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,∗) 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Else: </a:t>
                </a:r>
                <a:r>
                  <a:rPr lang="ru-RU" dirty="0"/>
                  <a:t> </a:t>
                </a:r>
                <a:r>
                  <a:rPr lang="en-US" dirty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Funs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b="1" baseline="-25000" dirty="0">
                  <a:cs typeface="Arial" charset="0"/>
                  <a:sym typeface="Symbol" pitchFamily="18" charset="2"/>
                </a:endParaRPr>
              </a:p>
              <a:p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37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85363" y="4760092"/>
                <a:ext cx="2991440" cy="1185453"/>
              </a:xfrm>
              <a:prstGeom prst="rect">
                <a:avLst/>
              </a:prstGeom>
              <a:blipFill rotWithShape="0">
                <a:blip r:embed="rId16"/>
                <a:stretch>
                  <a:fillRect l="-162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21"/>
          <p:cNvGrpSpPr>
            <a:grpSpLocks/>
          </p:cNvGrpSpPr>
          <p:nvPr/>
        </p:nvGrpSpPr>
        <p:grpSpPr bwMode="auto">
          <a:xfrm>
            <a:off x="4031572" y="4145538"/>
            <a:ext cx="3464929" cy="400050"/>
            <a:chOff x="1776" y="1816"/>
            <a:chExt cx="2400" cy="336"/>
          </a:xfrm>
        </p:grpSpPr>
        <p:sp>
          <p:nvSpPr>
            <p:cNvPr id="39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33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20"/>
          <p:cNvGrpSpPr>
            <a:grpSpLocks/>
          </p:cNvGrpSpPr>
          <p:nvPr/>
        </p:nvGrpSpPr>
        <p:grpSpPr bwMode="auto">
          <a:xfrm>
            <a:off x="3997968" y="4494945"/>
            <a:ext cx="3464929" cy="427436"/>
            <a:chOff x="1776" y="2051"/>
            <a:chExt cx="2352" cy="359"/>
          </a:xfrm>
        </p:grpSpPr>
        <p:sp>
          <p:nvSpPr>
            <p:cNvPr id="42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36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blipFill>
                  <a:blip r:embed="rId11"/>
                  <a:stretch>
                    <a:fillRect t="-9231" r="-3879" b="-2769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Group 21"/>
          <p:cNvGrpSpPr>
            <a:grpSpLocks/>
          </p:cNvGrpSpPr>
          <p:nvPr/>
        </p:nvGrpSpPr>
        <p:grpSpPr bwMode="auto">
          <a:xfrm>
            <a:off x="4031572" y="5095478"/>
            <a:ext cx="3464929" cy="451247"/>
            <a:chOff x="1776" y="1743"/>
            <a:chExt cx="2400" cy="379"/>
          </a:xfrm>
        </p:grpSpPr>
        <p:sp>
          <p:nvSpPr>
            <p:cNvPr id="45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230" y="1743"/>
                  <a:ext cx="1685" cy="3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∉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,..,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22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30" y="1743"/>
                  <a:ext cx="1685" cy="354"/>
                </a:xfrm>
                <a:prstGeom prst="rect">
                  <a:avLst/>
                </a:prstGeom>
                <a:blipFill>
                  <a:blip r:embed="rId12"/>
                  <a:stretch>
                    <a:fillRect b="-1014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20"/>
          <p:cNvGrpSpPr>
            <a:grpSpLocks/>
          </p:cNvGrpSpPr>
          <p:nvPr/>
        </p:nvGrpSpPr>
        <p:grpSpPr bwMode="auto">
          <a:xfrm>
            <a:off x="3997968" y="5528230"/>
            <a:ext cx="3464929" cy="431008"/>
            <a:chOff x="1776" y="2048"/>
            <a:chExt cx="2352" cy="362"/>
          </a:xfrm>
        </p:grpSpPr>
        <p:sp>
          <p:nvSpPr>
            <p:cNvPr id="48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357" y="2048"/>
                  <a:ext cx="1402" cy="3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5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57" y="2048"/>
                  <a:ext cx="1402" cy="360"/>
                </a:xfrm>
                <a:prstGeom prst="rect">
                  <a:avLst/>
                </a:prstGeom>
                <a:blipFill>
                  <a:blip r:embed="rId13"/>
                  <a:stretch>
                    <a:fillRect t="-7143" r="-2360" b="-20000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20"/>
          <p:cNvGrpSpPr>
            <a:grpSpLocks/>
          </p:cNvGrpSpPr>
          <p:nvPr/>
        </p:nvGrpSpPr>
        <p:grpSpPr bwMode="auto">
          <a:xfrm>
            <a:off x="8767328" y="4367387"/>
            <a:ext cx="3241986" cy="1323744"/>
            <a:chOff x="1776" y="1827"/>
            <a:chExt cx="2432" cy="597"/>
          </a:xfrm>
        </p:grpSpPr>
        <p:sp>
          <p:nvSpPr>
            <p:cNvPr id="51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1896" y="1827"/>
                  <a:ext cx="2312" cy="59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sz="2000" b="0" i="0" dirty="0">
                      <a:latin typeface="+mj-lt"/>
                    </a:rPr>
                    <a:t>If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} </m:t>
                          </m:r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имеет коллизии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endParaRPr lang="ru-RU" sz="20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=1,</m:t>
                        </m:r>
                      </m:oMath>
                    </m:oMathPara>
                  </a14:m>
                  <a:endParaRPr lang="en-US" sz="2000" b="0" dirty="0"/>
                </a:p>
                <a:p>
                  <a:r>
                    <a:rPr lang="en-US" sz="2000" dirty="0"/>
                    <a:t>else: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0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96" y="1827"/>
                  <a:ext cx="2312" cy="597"/>
                </a:xfrm>
                <a:prstGeom prst="rect">
                  <a:avLst/>
                </a:prstGeom>
                <a:blipFill>
                  <a:blip r:embed="rId17"/>
                  <a:stretch>
                    <a:fillRect l="-1976" t="-2294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5433107" y="4766687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107" y="4766687"/>
                <a:ext cx="535724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88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Скругленный прямоугольник 34"/>
          <p:cNvSpPr/>
          <p:nvPr/>
        </p:nvSpPr>
        <p:spPr>
          <a:xfrm>
            <a:off x="9698874" y="2929812"/>
            <a:ext cx="1083662" cy="3201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Скругленный прямоугольник 33"/>
          <p:cNvSpPr/>
          <p:nvPr/>
        </p:nvSpPr>
        <p:spPr>
          <a:xfrm>
            <a:off x="10196015" y="2578655"/>
            <a:ext cx="1157784" cy="3201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Скругленный прямоугольник 32"/>
          <p:cNvSpPr/>
          <p:nvPr/>
        </p:nvSpPr>
        <p:spPr>
          <a:xfrm>
            <a:off x="967432" y="6316463"/>
            <a:ext cx="5307472" cy="41213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Является ли </a:t>
            </a:r>
            <a:r>
              <a:rPr lang="en-US" dirty="0"/>
              <a:t>PRP PRF?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171113" cy="4351338"/>
              </a:xfrm>
            </p:spPr>
            <p:txBody>
              <a:bodyPr/>
              <a:lstStyle/>
              <a:p>
                <a:pPr marL="0" lvl="1" indent="0">
                  <a:buNone/>
                </a:pPr>
                <a:r>
                  <a:rPr lang="ru-RU" dirty="0"/>
                  <a:t>Какова «малость»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 для осуществления атаки?</a:t>
                </a:r>
              </a:p>
              <a:p>
                <a:pPr marL="0" lvl="1" indent="0">
                  <a:buNone/>
                </a:pPr>
                <a:r>
                  <a:rPr lang="ru-RU" dirty="0"/>
                  <a:t>Пусть противник делает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dirty="0"/>
                  <a:t> запросов к претенденту (оракулу), прежде чем выдать результат. Тогда для нахождения коллизии ему необходимо запросить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</m:oMath>
                </a14:m>
                <a:r>
                  <a:rPr lang="en-US" dirty="0"/>
                  <a:t>) </a:t>
                </a:r>
                <a:r>
                  <a:rPr lang="ru-RU" dirty="0"/>
                  <a:t>различных сообщений, для осуществления атаки с преимуществом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. Следовательно для стойкости </a:t>
                </a:r>
                <a:r>
                  <a:rPr lang="en-US" dirty="0"/>
                  <a:t>PRP </a:t>
                </a:r>
                <a:r>
                  <a:rPr lang="ru-RU" dirty="0"/>
                  <a:t>как </a:t>
                </a:r>
                <a:r>
                  <a:rPr lang="en-US" dirty="0"/>
                  <a:t>PRF </a:t>
                </a:r>
                <a:r>
                  <a:rPr lang="ru-RU" dirty="0"/>
                  <a:t>необходимо, чтобы величина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 была </a:t>
                </a:r>
                <a:r>
                  <a:rPr lang="ru-RU" dirty="0" err="1"/>
                  <a:t>сверх-полиномиальной</a:t>
                </a:r>
                <a:r>
                  <a:rPr lang="ru-RU" dirty="0"/>
                  <a:t>.</a:t>
                </a:r>
                <a:endParaRPr lang="en-US" dirty="0"/>
              </a:p>
              <a:p>
                <a:pPr marL="0" lvl="1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171113" cy="4351338"/>
              </a:xfrm>
              <a:blipFill>
                <a:blip r:embed="rId2"/>
                <a:stretch>
                  <a:fillRect l="-873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872433" y="6329055"/>
            <a:ext cx="2743200" cy="365125"/>
          </a:xfrm>
        </p:spPr>
        <p:txBody>
          <a:bodyPr/>
          <a:lstStyle/>
          <a:p>
            <a:fld id="{8253DDDB-F8F7-4D64-A7FD-3F3D61C1949F}" type="slidenum">
              <a:rPr lang="ru-RU" smtClean="0"/>
              <a:t>7</a:t>
            </a:fld>
            <a:endParaRPr lang="ru-RU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85363" y="4307803"/>
            <a:ext cx="2879002" cy="16963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234984" y="3943619"/>
            <a:ext cx="0" cy="403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7"/>
              <p:cNvSpPr>
                <a:spLocks noChangeArrowheads="1"/>
              </p:cNvSpPr>
              <p:nvPr/>
            </p:nvSpPr>
            <p:spPr bwMode="auto">
              <a:xfrm>
                <a:off x="7496501" y="4347457"/>
                <a:ext cx="1295400" cy="162807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6501" y="4347457"/>
                <a:ext cx="1295400" cy="1628071"/>
              </a:xfrm>
              <a:prstGeom prst="rect">
                <a:avLst/>
              </a:prstGeom>
              <a:blipFill>
                <a:blip r:embed="rId3"/>
                <a:stretch>
                  <a:fillRect t="-1487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8"/>
          <p:cNvSpPr>
            <a:spLocks noChangeArrowheads="1"/>
          </p:cNvSpPr>
          <p:nvPr/>
        </p:nvSpPr>
        <p:spPr bwMode="auto">
          <a:xfrm>
            <a:off x="985624" y="4168158"/>
            <a:ext cx="7924800" cy="2007395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3"/>
              <p:cNvSpPr txBox="1">
                <a:spLocks noChangeArrowheads="1"/>
              </p:cNvSpPr>
              <p:nvPr/>
            </p:nvSpPr>
            <p:spPr bwMode="auto">
              <a:xfrm>
                <a:off x="1085363" y="4760092"/>
                <a:ext cx="2991440" cy="11854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b="0" dirty="0"/>
                  <a:t>If: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,∗) 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Else: </a:t>
                </a:r>
                <a:r>
                  <a:rPr lang="ru-RU" dirty="0"/>
                  <a:t> </a:t>
                </a:r>
                <a:r>
                  <a:rPr lang="en-US" dirty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Funs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b="1" baseline="-25000" dirty="0">
                  <a:cs typeface="Arial" charset="0"/>
                  <a:sym typeface="Symbol" pitchFamily="18" charset="2"/>
                </a:endParaRPr>
              </a:p>
              <a:p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2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85363" y="4760092"/>
                <a:ext cx="2991440" cy="1185453"/>
              </a:xfrm>
              <a:prstGeom prst="rect">
                <a:avLst/>
              </a:prstGeom>
              <a:blipFill rotWithShape="0">
                <a:blip r:embed="rId4"/>
                <a:stretch>
                  <a:fillRect l="-162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6"/>
              <p:cNvSpPr txBox="1">
                <a:spLocks noChangeArrowheads="1"/>
              </p:cNvSpPr>
              <p:nvPr/>
            </p:nvSpPr>
            <p:spPr bwMode="auto">
              <a:xfrm>
                <a:off x="2234984" y="3712787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34984" y="3712787"/>
                <a:ext cx="42704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21"/>
          <p:cNvGrpSpPr>
            <a:grpSpLocks/>
          </p:cNvGrpSpPr>
          <p:nvPr/>
        </p:nvGrpSpPr>
        <p:grpSpPr bwMode="auto">
          <a:xfrm>
            <a:off x="4031572" y="4145538"/>
            <a:ext cx="3464929" cy="400050"/>
            <a:chOff x="1776" y="1816"/>
            <a:chExt cx="2400" cy="336"/>
          </a:xfrm>
        </p:grpSpPr>
        <p:sp>
          <p:nvSpPr>
            <p:cNvPr id="15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33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20"/>
          <p:cNvGrpSpPr>
            <a:grpSpLocks/>
          </p:cNvGrpSpPr>
          <p:nvPr/>
        </p:nvGrpSpPr>
        <p:grpSpPr bwMode="auto">
          <a:xfrm>
            <a:off x="3997968" y="4494945"/>
            <a:ext cx="3464929" cy="427436"/>
            <a:chOff x="1776" y="2051"/>
            <a:chExt cx="2352" cy="359"/>
          </a:xfrm>
        </p:grpSpPr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36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blipFill>
                  <a:blip r:embed="rId11"/>
                  <a:stretch>
                    <a:fillRect t="-9231" r="-3879" b="-2769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21"/>
          <p:cNvGrpSpPr>
            <a:grpSpLocks/>
          </p:cNvGrpSpPr>
          <p:nvPr/>
        </p:nvGrpSpPr>
        <p:grpSpPr bwMode="auto">
          <a:xfrm>
            <a:off x="4031572" y="5095478"/>
            <a:ext cx="3464929" cy="451247"/>
            <a:chOff x="1776" y="1743"/>
            <a:chExt cx="2400" cy="379"/>
          </a:xfrm>
        </p:grpSpPr>
        <p:sp>
          <p:nvSpPr>
            <p:cNvPr id="21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230" y="1743"/>
                  <a:ext cx="1685" cy="3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∉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,..,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22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30" y="1743"/>
                  <a:ext cx="1685" cy="354"/>
                </a:xfrm>
                <a:prstGeom prst="rect">
                  <a:avLst/>
                </a:prstGeom>
                <a:blipFill>
                  <a:blip r:embed="rId12"/>
                  <a:stretch>
                    <a:fillRect b="-1014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0"/>
          <p:cNvGrpSpPr>
            <a:grpSpLocks/>
          </p:cNvGrpSpPr>
          <p:nvPr/>
        </p:nvGrpSpPr>
        <p:grpSpPr bwMode="auto">
          <a:xfrm>
            <a:off x="3997968" y="5528230"/>
            <a:ext cx="3464929" cy="431008"/>
            <a:chOff x="1776" y="2048"/>
            <a:chExt cx="2352" cy="362"/>
          </a:xfrm>
        </p:grpSpPr>
        <p:sp>
          <p:nvSpPr>
            <p:cNvPr id="24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357" y="2048"/>
                  <a:ext cx="1402" cy="3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5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57" y="2048"/>
                  <a:ext cx="1402" cy="360"/>
                </a:xfrm>
                <a:prstGeom prst="rect">
                  <a:avLst/>
                </a:prstGeom>
                <a:blipFill>
                  <a:blip r:embed="rId13"/>
                  <a:stretch>
                    <a:fillRect t="-7143" r="-2360" b="-20000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Прямоугольник 26"/>
              <p:cNvSpPr/>
              <p:nvPr/>
            </p:nvSpPr>
            <p:spPr>
              <a:xfrm>
                <a:off x="985624" y="6272460"/>
                <a:ext cx="477765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=|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⁡[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]|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27" name="Прямоугольник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624" y="6272460"/>
                <a:ext cx="4777655" cy="461665"/>
              </a:xfrm>
              <a:prstGeom prst="rect">
                <a:avLst/>
              </a:prstGeom>
              <a:blipFill>
                <a:blip r:embed="rId1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0"/>
          <p:cNvGrpSpPr>
            <a:grpSpLocks/>
          </p:cNvGrpSpPr>
          <p:nvPr/>
        </p:nvGrpSpPr>
        <p:grpSpPr bwMode="auto">
          <a:xfrm>
            <a:off x="8767328" y="4367387"/>
            <a:ext cx="3241986" cy="1323744"/>
            <a:chOff x="1776" y="1827"/>
            <a:chExt cx="2432" cy="597"/>
          </a:xfrm>
        </p:grpSpPr>
        <p:sp>
          <p:nvSpPr>
            <p:cNvPr id="29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1896" y="1827"/>
                  <a:ext cx="2312" cy="59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sz="2000" b="0" i="0" dirty="0">
                      <a:latin typeface="+mj-lt"/>
                    </a:rPr>
                    <a:t>If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} </m:t>
                          </m:r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имеет коллизии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endParaRPr lang="ru-RU" sz="20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=1,</m:t>
                        </m:r>
                      </m:oMath>
                    </m:oMathPara>
                  </a14:m>
                  <a:endParaRPr lang="en-US" sz="2000" b="0" dirty="0"/>
                </a:p>
                <a:p>
                  <a:r>
                    <a:rPr lang="en-US" sz="2000" dirty="0"/>
                    <a:t>else: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0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96" y="1827"/>
                  <a:ext cx="2312" cy="597"/>
                </a:xfrm>
                <a:prstGeom prst="rect">
                  <a:avLst/>
                </a:prstGeom>
                <a:blipFill>
                  <a:blip r:embed="rId15"/>
                  <a:stretch>
                    <a:fillRect l="-1976" t="-2294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433107" y="4766687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107" y="4766687"/>
                <a:ext cx="535724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Скругленный прямоугольник 31"/>
          <p:cNvSpPr/>
          <p:nvPr/>
        </p:nvSpPr>
        <p:spPr>
          <a:xfrm>
            <a:off x="7872433" y="328186"/>
            <a:ext cx="4136892" cy="126975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См. парадокс дней рождений</a:t>
            </a:r>
          </a:p>
        </p:txBody>
      </p:sp>
    </p:spTree>
    <p:extLst>
      <p:ext uri="{BB962C8B-B14F-4D97-AF65-F5344CB8AC3E}">
        <p14:creationId xmlns:p14="http://schemas.microsoft.com/office/powerpoint/2010/main" val="770980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838200" y="1690687"/>
            <a:ext cx="10339316" cy="192596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PRF switching Lemma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Теорема 6.1.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b="0" dirty="0"/>
                  <a:t> – стойкая </a:t>
                </a:r>
                <a:r>
                  <a:rPr lang="en-US" b="0" dirty="0"/>
                  <a:t>PRP</a:t>
                </a:r>
                <a:r>
                  <a:rPr lang="ru-RU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b="0" dirty="0"/>
                  <a:t>. Пусть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b="0" dirty="0"/>
                  <a:t> – </a:t>
                </a:r>
                <a:r>
                  <a:rPr lang="ru-RU" dirty="0"/>
                  <a:t>противник в игре на стойкость </a:t>
                </a:r>
                <a:r>
                  <a:rPr lang="en-US" dirty="0"/>
                  <a:t>PRF</a:t>
                </a:r>
                <a:r>
                  <a:rPr lang="ru-RU" dirty="0"/>
                  <a:t>, делающих не более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b="0" dirty="0"/>
                  <a:t> запросов к претенденту. Тогда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  <m:sSub>
                            <m:sSubPr>
                              <m:ctrlPr>
                                <a:rPr lang="en-US" b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adv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  <m:sSub>
                            <m:sSubPr>
                              <m:ctrlPr>
                                <a:rPr lang="en-US" b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adv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ru-RU" b="0" dirty="0"/>
                  <a:t> Необходима вспомогательная теорема. Сформулируем игру для неё.</a:t>
                </a:r>
                <a:endParaRPr lang="en-US" b="0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8264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 Подстановки против Функций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Определим игру на различимость случайной подстановки от случайной функции.</a:t>
                </a:r>
              </a:p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ru-RU" dirty="0"/>
                  <a:t> вероятность того что в эксперименте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Определим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sSub>
                      <m:sSubPr>
                        <m:ctrlPr>
                          <a:rPr lang="en-US" b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=|</m:t>
                    </m:r>
                    <m:func>
                      <m:func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]|</m:t>
                    </m:r>
                  </m:oMath>
                </a14:m>
                <a:endParaRPr lang="ru-RU" sz="2800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9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823530" y="4335098"/>
            <a:ext cx="2879002" cy="16963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973151" y="3970914"/>
            <a:ext cx="0" cy="403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7"/>
              <p:cNvSpPr>
                <a:spLocks noChangeArrowheads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blipFill>
                <a:blip r:embed="rId3"/>
                <a:stretch>
                  <a:fillRect t="-185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8882368" y="6042819"/>
            <a:ext cx="1570040" cy="678656"/>
            <a:chOff x="4560" y="2842"/>
            <a:chExt cx="989" cy="570"/>
          </a:xfrm>
        </p:grpSpPr>
        <p:sp>
          <p:nvSpPr>
            <p:cNvPr id="9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’∈ {0,1}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3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blipFill>
                  <a:blip r:embed="rId7"/>
                  <a:stretch>
                    <a:fillRect r="-781" b="-1710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Rectangle 18"/>
          <p:cNvSpPr>
            <a:spLocks noChangeArrowheads="1"/>
          </p:cNvSpPr>
          <p:nvPr/>
        </p:nvSpPr>
        <p:spPr bwMode="auto">
          <a:xfrm>
            <a:off x="1723791" y="4195453"/>
            <a:ext cx="7924800" cy="2007395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3"/>
              <p:cNvSpPr txBox="1">
                <a:spLocks noChangeArrowheads="1"/>
              </p:cNvSpPr>
              <p:nvPr/>
            </p:nvSpPr>
            <p:spPr bwMode="auto">
              <a:xfrm>
                <a:off x="1823530" y="4787387"/>
                <a:ext cx="2991440" cy="11857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b="0" dirty="0"/>
                  <a:t>If: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Else: </a:t>
                </a:r>
                <a:r>
                  <a:rPr lang="ru-RU" dirty="0"/>
                  <a:t> </a:t>
                </a:r>
                <a:r>
                  <a:rPr lang="en-US" dirty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Funs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b="1" baseline="-25000" dirty="0">
                  <a:cs typeface="Arial" charset="0"/>
                  <a:sym typeface="Symbol" pitchFamily="18" charset="2"/>
                </a:endParaRPr>
              </a:p>
              <a:p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2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3530" y="4787387"/>
                <a:ext cx="2991440" cy="1185774"/>
              </a:xfrm>
              <a:prstGeom prst="rect">
                <a:avLst/>
              </a:prstGeom>
              <a:blipFill rotWithShape="0">
                <a:blip r:embed="rId8"/>
                <a:stretch>
                  <a:fillRect l="-162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6"/>
              <p:cNvSpPr txBox="1">
                <a:spLocks noChangeArrowheads="1"/>
              </p:cNvSpPr>
              <p:nvPr/>
            </p:nvSpPr>
            <p:spPr bwMode="auto">
              <a:xfrm>
                <a:off x="2973151" y="3740082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73151" y="3740082"/>
                <a:ext cx="42704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21"/>
          <p:cNvGrpSpPr>
            <a:grpSpLocks/>
          </p:cNvGrpSpPr>
          <p:nvPr/>
        </p:nvGrpSpPr>
        <p:grpSpPr bwMode="auto">
          <a:xfrm>
            <a:off x="4769739" y="4172833"/>
            <a:ext cx="3464929" cy="400050"/>
            <a:chOff x="1776" y="1816"/>
            <a:chExt cx="2400" cy="336"/>
          </a:xfrm>
        </p:grpSpPr>
        <p:sp>
          <p:nvSpPr>
            <p:cNvPr id="15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33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20"/>
          <p:cNvGrpSpPr>
            <a:grpSpLocks/>
          </p:cNvGrpSpPr>
          <p:nvPr/>
        </p:nvGrpSpPr>
        <p:grpSpPr bwMode="auto">
          <a:xfrm>
            <a:off x="4736135" y="4522240"/>
            <a:ext cx="3464929" cy="427436"/>
            <a:chOff x="1776" y="2051"/>
            <a:chExt cx="2352" cy="359"/>
          </a:xfrm>
        </p:grpSpPr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36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blipFill>
                  <a:blip r:embed="rId11"/>
                  <a:stretch>
                    <a:fillRect t="-9231" r="-3879" b="-2769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21"/>
          <p:cNvGrpSpPr>
            <a:grpSpLocks/>
          </p:cNvGrpSpPr>
          <p:nvPr/>
        </p:nvGrpSpPr>
        <p:grpSpPr bwMode="auto">
          <a:xfrm>
            <a:off x="4769739" y="5209689"/>
            <a:ext cx="3464929" cy="400050"/>
            <a:chOff x="1776" y="1816"/>
            <a:chExt cx="2400" cy="336"/>
          </a:xfrm>
        </p:grpSpPr>
        <p:sp>
          <p:nvSpPr>
            <p:cNvPr id="21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1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42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18" cy="336"/>
                </a:xfrm>
                <a:prstGeom prst="rect">
                  <a:avLst/>
                </a:prstGeom>
                <a:blipFill>
                  <a:blip r:embed="rId12"/>
                  <a:stretch>
                    <a:fillRect b="-15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0"/>
          <p:cNvGrpSpPr>
            <a:grpSpLocks/>
          </p:cNvGrpSpPr>
          <p:nvPr/>
        </p:nvGrpSpPr>
        <p:grpSpPr bwMode="auto">
          <a:xfrm>
            <a:off x="4736135" y="5559096"/>
            <a:ext cx="3464929" cy="427436"/>
            <a:chOff x="1776" y="2051"/>
            <a:chExt cx="2352" cy="359"/>
          </a:xfrm>
        </p:grpSpPr>
        <p:sp>
          <p:nvSpPr>
            <p:cNvPr id="24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6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45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68" cy="336"/>
                </a:xfrm>
                <a:prstGeom prst="rect">
                  <a:avLst/>
                </a:prstGeom>
                <a:blipFill>
                  <a:blip r:embed="rId13"/>
                  <a:stretch>
                    <a:fillRect t="-9091" r="-1282" b="-2575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2262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Скругленный прямоугольник 26"/>
          <p:cNvSpPr/>
          <p:nvPr/>
        </p:nvSpPr>
        <p:spPr>
          <a:xfrm>
            <a:off x="838200" y="1690687"/>
            <a:ext cx="10515600" cy="167728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PRF switching Lemma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Теорема 6.1.1</a:t>
                </a:r>
                <a:r>
                  <a:rPr lang="en-US" b="1" dirty="0"/>
                  <a:t>.</a:t>
                </a:r>
                <a:r>
                  <a:rPr lang="ru-RU" b="1" dirty="0"/>
                  <a:t>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 конечное множество,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. 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противник в игре на различимость случайных функций и случайных подстановок. Тогда 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sSub>
                        <m:sSubPr>
                          <m:ctrlPr>
                            <a:rPr lang="en-US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 r="-13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10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823530" y="4335098"/>
            <a:ext cx="2879002" cy="16963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973151" y="3970914"/>
            <a:ext cx="0" cy="403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7"/>
              <p:cNvSpPr>
                <a:spLocks noChangeArrowheads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blipFill>
                <a:blip r:embed="rId3"/>
                <a:stretch>
                  <a:fillRect t="-185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8882368" y="6042819"/>
            <a:ext cx="1570040" cy="678656"/>
            <a:chOff x="4560" y="2842"/>
            <a:chExt cx="989" cy="570"/>
          </a:xfrm>
        </p:grpSpPr>
        <p:sp>
          <p:nvSpPr>
            <p:cNvPr id="9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’∈ {0,1}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3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blipFill>
                  <a:blip r:embed="rId7"/>
                  <a:stretch>
                    <a:fillRect r="-781" b="-1710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Rectangle 18"/>
          <p:cNvSpPr>
            <a:spLocks noChangeArrowheads="1"/>
          </p:cNvSpPr>
          <p:nvPr/>
        </p:nvSpPr>
        <p:spPr bwMode="auto">
          <a:xfrm>
            <a:off x="1723791" y="4195453"/>
            <a:ext cx="7924800" cy="2007395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3"/>
              <p:cNvSpPr txBox="1">
                <a:spLocks noChangeArrowheads="1"/>
              </p:cNvSpPr>
              <p:nvPr/>
            </p:nvSpPr>
            <p:spPr bwMode="auto">
              <a:xfrm>
                <a:off x="1823530" y="4787387"/>
                <a:ext cx="2991440" cy="11857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b="0" dirty="0"/>
                  <a:t>If: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Else: </a:t>
                </a:r>
                <a:r>
                  <a:rPr lang="ru-RU" dirty="0"/>
                  <a:t> </a:t>
                </a:r>
                <a:r>
                  <a:rPr lang="en-US" dirty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Funs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b="1" baseline="-25000" dirty="0">
                  <a:cs typeface="Arial" charset="0"/>
                  <a:sym typeface="Symbol" pitchFamily="18" charset="2"/>
                </a:endParaRPr>
              </a:p>
              <a:p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2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3530" y="4787387"/>
                <a:ext cx="2991440" cy="1185774"/>
              </a:xfrm>
              <a:prstGeom prst="rect">
                <a:avLst/>
              </a:prstGeom>
              <a:blipFill rotWithShape="0">
                <a:blip r:embed="rId8"/>
                <a:stretch>
                  <a:fillRect l="-162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21"/>
          <p:cNvGrpSpPr>
            <a:grpSpLocks/>
          </p:cNvGrpSpPr>
          <p:nvPr/>
        </p:nvGrpSpPr>
        <p:grpSpPr bwMode="auto">
          <a:xfrm>
            <a:off x="4769739" y="4172833"/>
            <a:ext cx="3464929" cy="400050"/>
            <a:chOff x="1776" y="1816"/>
            <a:chExt cx="2400" cy="336"/>
          </a:xfrm>
        </p:grpSpPr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33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20"/>
          <p:cNvGrpSpPr>
            <a:grpSpLocks/>
          </p:cNvGrpSpPr>
          <p:nvPr/>
        </p:nvGrpSpPr>
        <p:grpSpPr bwMode="auto">
          <a:xfrm>
            <a:off x="4736135" y="4522240"/>
            <a:ext cx="3464929" cy="427436"/>
            <a:chOff x="1776" y="2051"/>
            <a:chExt cx="2352" cy="359"/>
          </a:xfrm>
        </p:grpSpPr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36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blipFill>
                  <a:blip r:embed="rId11"/>
                  <a:stretch>
                    <a:fillRect t="-9231" r="-3879" b="-2769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21"/>
          <p:cNvGrpSpPr>
            <a:grpSpLocks/>
          </p:cNvGrpSpPr>
          <p:nvPr/>
        </p:nvGrpSpPr>
        <p:grpSpPr bwMode="auto">
          <a:xfrm>
            <a:off x="4769739" y="5209689"/>
            <a:ext cx="3464929" cy="400050"/>
            <a:chOff x="1776" y="1816"/>
            <a:chExt cx="2400" cy="336"/>
          </a:xfrm>
        </p:grpSpPr>
        <p:sp>
          <p:nvSpPr>
            <p:cNvPr id="20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1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42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18" cy="336"/>
                </a:xfrm>
                <a:prstGeom prst="rect">
                  <a:avLst/>
                </a:prstGeom>
                <a:blipFill>
                  <a:blip r:embed="rId12"/>
                  <a:stretch>
                    <a:fillRect b="-15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0"/>
          <p:cNvGrpSpPr>
            <a:grpSpLocks/>
          </p:cNvGrpSpPr>
          <p:nvPr/>
        </p:nvGrpSpPr>
        <p:grpSpPr bwMode="auto">
          <a:xfrm>
            <a:off x="4736135" y="5559096"/>
            <a:ext cx="3464929" cy="427436"/>
            <a:chOff x="1776" y="2051"/>
            <a:chExt cx="2352" cy="359"/>
          </a:xfrm>
        </p:grpSpPr>
        <p:sp>
          <p:nvSpPr>
            <p:cNvPr id="23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6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45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68" cy="336"/>
                </a:xfrm>
                <a:prstGeom prst="rect">
                  <a:avLst/>
                </a:prstGeom>
                <a:blipFill>
                  <a:blip r:embed="rId13"/>
                  <a:stretch>
                    <a:fillRect t="-9091" r="-1282" b="-2575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Прямоугольник 25"/>
              <p:cNvSpPr/>
              <p:nvPr/>
            </p:nvSpPr>
            <p:spPr>
              <a:xfrm>
                <a:off x="1823530" y="6285805"/>
                <a:ext cx="45962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P</m:t>
                      </m:r>
                      <m:sSub>
                        <m:sSubPr>
                          <m:ctrlPr>
                            <a:rPr lang="en-US" sz="24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=|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⁡[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]|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26" name="Прямоугольник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3530" y="6285805"/>
                <a:ext cx="4596258" cy="461665"/>
              </a:xfrm>
              <a:prstGeom prst="rect">
                <a:avLst/>
              </a:prstGeom>
              <a:blipFill>
                <a:blip r:embed="rId1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9513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Скругленный прямоугольник 27"/>
          <p:cNvSpPr/>
          <p:nvPr/>
        </p:nvSpPr>
        <p:spPr>
          <a:xfrm>
            <a:off x="838199" y="3821374"/>
            <a:ext cx="10515599" cy="117370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Скругленный прямоугольник 26"/>
          <p:cNvSpPr/>
          <p:nvPr/>
        </p:nvSpPr>
        <p:spPr>
          <a:xfrm>
            <a:off x="838200" y="1690687"/>
            <a:ext cx="10515600" cy="165301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PRF switching Lemma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5259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Теорема 6.1.1.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 конечное множество,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. 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противник в игре на различимость случайных функций и случайных подстановок. Тогда 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sSub>
                        <m:sSubPr>
                          <m:ctrlPr>
                            <a:rPr lang="en-US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en-US" dirty="0"/>
                  <a:t># </a:t>
                </a:r>
                <a:r>
                  <a:rPr lang="ru-RU" dirty="0"/>
                  <a:t>необходима ещё одна вспомогательная теорема.</a:t>
                </a:r>
              </a:p>
              <a:p>
                <a:pPr marL="0" indent="0">
                  <a:buNone/>
                </a:pPr>
                <a:r>
                  <a:rPr lang="ru-RU" b="1" dirty="0"/>
                  <a:t>Теорема 6.1.1.1.</a:t>
                </a:r>
                <a:r>
                  <a:rPr lang="ru-RU" dirty="0"/>
                  <a:t> 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 события над некоторым вероятностным пространством. Пусть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ru-RU" dirty="0">
                    <a:solidFill>
                      <a:srgbClr val="00B050"/>
                    </a:solidFill>
                  </a:rPr>
                  <a:t> </a:t>
                </a:r>
                <a:r>
                  <a:rPr lang="ru-RU" dirty="0"/>
                  <a:t>происходит тогда и только тогда когда происходит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∧!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ru-RU" dirty="0"/>
                  <a:t>. Тогда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]|≤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%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∈[0,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Pr</m:t>
                                </m:r>
                              </m:fName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Pr</m:t>
                                </m:r>
                              </m:fName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∧!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Pr</m:t>
                                </m:r>
                              </m:fName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Pr</m:t>
                                </m:r>
                              </m:fName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∧!</m:t>
                                    </m:r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d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%</a:t>
                </a: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52596"/>
              </a:xfrm>
              <a:blipFill>
                <a:blip r:embed="rId2"/>
                <a:stretch>
                  <a:fillRect l="-4870" t="-1923" r="-1391" b="-82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11</a:t>
            </a:fld>
            <a:endParaRPr lang="ru-RU"/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304" y="95154"/>
            <a:ext cx="2823950" cy="159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98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Скругленный прямоугольник 26"/>
          <p:cNvSpPr/>
          <p:nvPr/>
        </p:nvSpPr>
        <p:spPr>
          <a:xfrm>
            <a:off x="838200" y="1690687"/>
            <a:ext cx="10515600" cy="156350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PRF switching Lemma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5259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b="1" dirty="0"/>
                  <a:t>Теорема 6.1.1.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 конечное множество,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. 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противник в игре на различимость случайных функций и случайных подстановок. Тогда 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sSub>
                        <m:sSubPr>
                          <m:ctrlPr>
                            <a:rPr lang="en-US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Рассмотрим противника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в игре на различимость </a:t>
                </a:r>
                <a:r>
                  <a:rPr lang="en-US" dirty="0"/>
                  <a:t>RP </a:t>
                </a:r>
                <a:r>
                  <a:rPr lang="ru-RU" dirty="0"/>
                  <a:t>и </a:t>
                </a:r>
                <a:r>
                  <a:rPr lang="en-US" dirty="0"/>
                  <a:t>RF</a:t>
                </a:r>
                <a:r>
                  <a:rPr lang="ru-RU" dirty="0"/>
                  <a:t>. Пусть он отправляет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dirty="0"/>
                  <a:t> различных запросов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ru-RU" dirty="0"/>
                  <a:t> событие того, что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(</a:t>
                </a:r>
                <a:r>
                  <a:rPr lang="ru-RU" dirty="0"/>
                  <a:t>пара ответов оракула совпала).</a:t>
                </a:r>
                <a:r>
                  <a:rPr lang="en-US" dirty="0"/>
                  <a:t> </a:t>
                </a:r>
                <a:r>
                  <a:rPr lang="ru-RU" dirty="0"/>
                  <a:t>Если событие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ru-RU" dirty="0"/>
                  <a:t> не произошло, то все величины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различны, и игры 0 и 1 идентичны. Следовательно, противник будет иметь идентичный результат в обоих играх. Следовательно можем применить Теорему 6.1.1.1.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]|≤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=1/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, число таких пар</a:t>
                </a:r>
                <a:r>
                  <a:rPr lang="en-US" dirty="0"/>
                  <a:t> </a:t>
                </a:r>
                <a:r>
                  <a:rPr lang="ru-RU" dirty="0"/>
                  <a:t>в игре не больше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dirty="0"/>
                  <a:t>. #</a:t>
                </a: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52596"/>
              </a:xfrm>
              <a:blipFill>
                <a:blip r:embed="rId2"/>
                <a:stretch>
                  <a:fillRect l="-1043" t="-2564" r="-13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12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2391" y="53742"/>
            <a:ext cx="2727704" cy="162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715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/>
          <p:cNvSpPr/>
          <p:nvPr/>
        </p:nvSpPr>
        <p:spPr>
          <a:xfrm>
            <a:off x="838200" y="3875964"/>
            <a:ext cx="3392606" cy="42308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838200" y="1690687"/>
            <a:ext cx="10339316" cy="192596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PRF switching Lemma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599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Теорема 6.1.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b="0" dirty="0"/>
                  <a:t> – стойкая </a:t>
                </a:r>
                <a:r>
                  <a:rPr lang="en-US" b="0" dirty="0"/>
                  <a:t>PRP</a:t>
                </a:r>
                <a:r>
                  <a:rPr lang="ru-RU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b="0" dirty="0"/>
                  <a:t>. Пусть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b="0" dirty="0"/>
                  <a:t> – </a:t>
                </a:r>
                <a:r>
                  <a:rPr lang="ru-RU" dirty="0"/>
                  <a:t>противник в игре на стойкость </a:t>
                </a:r>
                <a:r>
                  <a:rPr lang="en-US" dirty="0"/>
                  <a:t>PRF</a:t>
                </a:r>
                <a:r>
                  <a:rPr lang="ru-RU" dirty="0"/>
                  <a:t>, делающих не более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b="0" dirty="0"/>
                  <a:t> запросов к претенденту. Тогда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  <m:sSub>
                            <m:sSubPr>
                              <m:ctrlPr>
                                <a:rPr lang="en-US" b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adv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  <m:sSub>
                            <m:sSubPr>
                              <m:ctrlPr>
                                <a:rPr lang="en-US" b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adv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/2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.   </a:t>
                </a:r>
              </a:p>
              <a:p>
                <a:pPr marL="0" indent="0">
                  <a:buNone/>
                </a:pPr>
                <a:r>
                  <a:rPr lang="ru-RU" dirty="0"/>
                  <a:t>Рассмотрим игру с тремя экспериментами</a:t>
                </a:r>
                <a:r>
                  <a:rPr lang="en-US" dirty="0"/>
                  <a:t>.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      </a:t>
                </a: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599" cy="4351338"/>
              </a:xfrm>
              <a:blipFill>
                <a:blip r:embed="rId2"/>
                <a:stretch>
                  <a:fillRect l="-1044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13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2103" y="4001294"/>
            <a:ext cx="3481696" cy="19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898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 на различимость </a:t>
            </a:r>
            <a:r>
              <a:rPr lang="en-US" dirty="0"/>
              <a:t>RF, RP </a:t>
            </a:r>
            <a:r>
              <a:rPr lang="ru-RU" dirty="0"/>
              <a:t>и </a:t>
            </a:r>
            <a:r>
              <a:rPr lang="en-US" dirty="0"/>
              <a:t>PRP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939818" cy="246889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ru-RU" dirty="0"/>
                  <a:t> вероятность того что в эксперименте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Обозначим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ru-RU" sz="2800" dirty="0"/>
                  <a:t> вероятность того, что в эксперименте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∈{0,1,2}</m:t>
                    </m:r>
                  </m:oMath>
                </a14:m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ru-RU" sz="2800" dirty="0"/>
                  <a:t>.</a:t>
                </a:r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PR</m:t>
                      </m:r>
                      <m:sSub>
                        <m:sSubPr>
                          <m:ctrlPr>
                            <a:rPr lang="en-US" sz="2800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en-US" sz="28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PR</m:t>
                      </m:r>
                      <m:sSub>
                        <m:sSubPr>
                          <m:ctrlPr>
                            <a:rPr lang="en-US" sz="2800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P</m:t>
                      </m:r>
                      <m:sSub>
                        <m:sSubPr>
                          <m:ctrlPr>
                            <a:rPr lang="en-US" sz="2800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/2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PR</m:t>
                        </m:r>
                        <m:sSub>
                          <m:sSub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adv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PR</m:t>
                        </m:r>
                        <m:sSub>
                          <m:sSub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adv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/2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939818" cy="2468895"/>
              </a:xfrm>
              <a:blipFill>
                <a:blip r:embed="rId2"/>
                <a:stretch>
                  <a:fillRect l="-892" t="-46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588768"/>
            <a:ext cx="2743200" cy="365125"/>
          </a:xfrm>
        </p:spPr>
        <p:txBody>
          <a:bodyPr/>
          <a:lstStyle/>
          <a:p>
            <a:fld id="{8253DDDB-F8F7-4D64-A7FD-3F3D61C1949F}" type="slidenum">
              <a:rPr lang="ru-RU" smtClean="0"/>
              <a:t>14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823530" y="4567516"/>
            <a:ext cx="2879002" cy="16963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 flipV="1">
            <a:off x="1460403" y="5182094"/>
            <a:ext cx="36312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7"/>
              <p:cNvSpPr>
                <a:spLocks noChangeArrowheads="1"/>
              </p:cNvSpPr>
              <p:nvPr/>
            </p:nvSpPr>
            <p:spPr bwMode="auto">
              <a:xfrm>
                <a:off x="8234668" y="4607170"/>
                <a:ext cx="1295400" cy="162807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34668" y="4607170"/>
                <a:ext cx="1295400" cy="1628071"/>
              </a:xfrm>
              <a:prstGeom prst="rect">
                <a:avLst/>
              </a:prstGeom>
              <a:blipFill>
                <a:blip r:embed="rId3"/>
                <a:stretch>
                  <a:fillRect t="-185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8882368" y="6275237"/>
            <a:ext cx="1803403" cy="678656"/>
            <a:chOff x="4560" y="2842"/>
            <a:chExt cx="1136" cy="570"/>
          </a:xfrm>
        </p:grpSpPr>
        <p:sp>
          <p:nvSpPr>
            <p:cNvPr id="9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1128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’∈ {0,1,2}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1128" cy="388"/>
                </a:xfrm>
                <a:prstGeom prst="rect">
                  <a:avLst/>
                </a:prstGeom>
                <a:blipFill>
                  <a:blip r:embed="rId4"/>
                  <a:stretch>
                    <a:fillRect r="-680" b="-1710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Rectangle 18"/>
          <p:cNvSpPr>
            <a:spLocks noChangeArrowheads="1"/>
          </p:cNvSpPr>
          <p:nvPr/>
        </p:nvSpPr>
        <p:spPr bwMode="auto">
          <a:xfrm>
            <a:off x="1723791" y="4427871"/>
            <a:ext cx="7924800" cy="2007395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3"/>
              <p:cNvSpPr txBox="1">
                <a:spLocks noChangeArrowheads="1"/>
              </p:cNvSpPr>
              <p:nvPr/>
            </p:nvSpPr>
            <p:spPr bwMode="auto">
              <a:xfrm>
                <a:off x="1823530" y="5019805"/>
                <a:ext cx="2991440" cy="14624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b="0" dirty="0"/>
                  <a:t>If: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If: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Funs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If: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,∗)</m:t>
                    </m:r>
                  </m:oMath>
                </a14:m>
                <a:endParaRPr lang="en-US" dirty="0"/>
              </a:p>
              <a:p>
                <a:endParaRPr lang="en-US" b="1" baseline="-25000" dirty="0">
                  <a:cs typeface="Arial" charset="0"/>
                  <a:sym typeface="Symbol" pitchFamily="18" charset="2"/>
                </a:endParaRPr>
              </a:p>
              <a:p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2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3530" y="5019805"/>
                <a:ext cx="2991440" cy="1462452"/>
              </a:xfrm>
              <a:prstGeom prst="rect">
                <a:avLst/>
              </a:prstGeom>
              <a:blipFill>
                <a:blip r:embed="rId5"/>
                <a:stretch>
                  <a:fillRect l="-1629" t="-208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6"/>
              <p:cNvSpPr txBox="1">
                <a:spLocks noChangeArrowheads="1"/>
              </p:cNvSpPr>
              <p:nvPr/>
            </p:nvSpPr>
            <p:spPr bwMode="auto">
              <a:xfrm>
                <a:off x="1033362" y="4980442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33362" y="4980442"/>
                <a:ext cx="42704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21"/>
          <p:cNvGrpSpPr>
            <a:grpSpLocks/>
          </p:cNvGrpSpPr>
          <p:nvPr/>
        </p:nvGrpSpPr>
        <p:grpSpPr bwMode="auto">
          <a:xfrm>
            <a:off x="4769739" y="4405251"/>
            <a:ext cx="3464929" cy="400050"/>
            <a:chOff x="1776" y="1816"/>
            <a:chExt cx="2400" cy="336"/>
          </a:xfrm>
        </p:grpSpPr>
        <p:sp>
          <p:nvSpPr>
            <p:cNvPr id="15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33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20"/>
          <p:cNvGrpSpPr>
            <a:grpSpLocks/>
          </p:cNvGrpSpPr>
          <p:nvPr/>
        </p:nvGrpSpPr>
        <p:grpSpPr bwMode="auto">
          <a:xfrm>
            <a:off x="4736135" y="4754658"/>
            <a:ext cx="3464929" cy="427436"/>
            <a:chOff x="1776" y="2051"/>
            <a:chExt cx="2352" cy="359"/>
          </a:xfrm>
        </p:grpSpPr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36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blipFill>
                  <a:blip r:embed="rId11"/>
                  <a:stretch>
                    <a:fillRect t="-9231" r="-3879" b="-2769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21"/>
          <p:cNvGrpSpPr>
            <a:grpSpLocks/>
          </p:cNvGrpSpPr>
          <p:nvPr/>
        </p:nvGrpSpPr>
        <p:grpSpPr bwMode="auto">
          <a:xfrm>
            <a:off x="4769739" y="5442107"/>
            <a:ext cx="3464929" cy="400050"/>
            <a:chOff x="1776" y="1816"/>
            <a:chExt cx="2400" cy="336"/>
          </a:xfrm>
        </p:grpSpPr>
        <p:sp>
          <p:nvSpPr>
            <p:cNvPr id="21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1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42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18" cy="336"/>
                </a:xfrm>
                <a:prstGeom prst="rect">
                  <a:avLst/>
                </a:prstGeom>
                <a:blipFill>
                  <a:blip r:embed="rId12"/>
                  <a:stretch>
                    <a:fillRect b="-15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0"/>
          <p:cNvGrpSpPr>
            <a:grpSpLocks/>
          </p:cNvGrpSpPr>
          <p:nvPr/>
        </p:nvGrpSpPr>
        <p:grpSpPr bwMode="auto">
          <a:xfrm>
            <a:off x="4736135" y="5791514"/>
            <a:ext cx="3464929" cy="427436"/>
            <a:chOff x="1776" y="2051"/>
            <a:chExt cx="2352" cy="359"/>
          </a:xfrm>
        </p:grpSpPr>
        <p:sp>
          <p:nvSpPr>
            <p:cNvPr id="24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6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45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68" cy="336"/>
                </a:xfrm>
                <a:prstGeom prst="rect">
                  <a:avLst/>
                </a:prstGeom>
                <a:blipFill>
                  <a:blip r:embed="rId13"/>
                  <a:stretch>
                    <a:fillRect t="-9091" r="-1282" b="-2575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170796" y="5066903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796" y="5066903"/>
                <a:ext cx="53572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1354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838200" y="3377703"/>
            <a:ext cx="10339316" cy="122992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</a:t>
            </a:r>
            <a:r>
              <a:rPr lang="en-US" dirty="0"/>
              <a:t>PRG </a:t>
            </a:r>
            <a:r>
              <a:rPr lang="ru-RU" dirty="0"/>
              <a:t>из </a:t>
            </a:r>
            <a:r>
              <a:rPr lang="en-US" dirty="0"/>
              <a:t>PRF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ru-RU" dirty="0"/>
                  <a:t> </a:t>
                </a:r>
                <a:r>
                  <a:rPr lang="en-US" dirty="0"/>
                  <a:t>PRF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ru-RU" dirty="0"/>
                  <a:t> </a:t>
                </a:r>
                <a:r>
                  <a:rPr lang="ru-RU" dirty="0" err="1"/>
                  <a:t>полиномиально</a:t>
                </a:r>
                <a:r>
                  <a:rPr lang="ru-RU" dirty="0"/>
                  <a:t> ограничена,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b="1" dirty="0"/>
                  <a:t>различные</a:t>
                </a:r>
                <a:r>
                  <a:rPr lang="ru-RU" dirty="0"/>
                  <a:t> элементы из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ru-RU" dirty="0"/>
                  <a:t>.</a:t>
                </a:r>
                <a:r>
                  <a:rPr lang="en-US" dirty="0"/>
                  <a:t> </a:t>
                </a:r>
                <a:r>
                  <a:rPr lang="ru-RU" dirty="0"/>
                  <a:t>Определим </a:t>
                </a:r>
                <a:r>
                  <a:rPr lang="en-US" dirty="0"/>
                  <a:t>PRG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с пространством ключей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dirty="0"/>
                  <a:t>, пространством выходов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для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dirty="0"/>
                  <a:t> следующим образом</a:t>
                </a:r>
                <a:r>
                  <a:rPr lang="en-US" dirty="0"/>
                  <a:t>: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ru-RU" b="1" dirty="0"/>
                  <a:t>Теорема 6.</a:t>
                </a:r>
                <a:r>
                  <a:rPr lang="en-US" b="1" dirty="0"/>
                  <a:t>2.</a:t>
                </a:r>
                <a:r>
                  <a:rPr lang="ru-RU" dirty="0"/>
                  <a:t> 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ru-RU" dirty="0"/>
                  <a:t> стойкая </a:t>
                </a:r>
                <a:r>
                  <a:rPr lang="en-US" dirty="0"/>
                  <a:t>PRF</a:t>
                </a:r>
                <a:r>
                  <a:rPr lang="ru-RU" dirty="0"/>
                  <a:t>, то </a:t>
                </a:r>
                <a:r>
                  <a:rPr lang="en-US" i="1" dirty="0"/>
                  <a:t>G</a:t>
                </a:r>
                <a:r>
                  <a:rPr lang="en-US" dirty="0"/>
                  <a:t> </a:t>
                </a:r>
                <a:r>
                  <a:rPr lang="ru-RU" dirty="0"/>
                  <a:t>стойкая </a:t>
                </a:r>
                <a:r>
                  <a:rPr lang="en-US" dirty="0"/>
                  <a:t>PRG</a:t>
                </a:r>
                <a:r>
                  <a:rPr lang="ru-RU" dirty="0"/>
                  <a:t>, причём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 игре на стойкость </a:t>
                </a:r>
                <a:r>
                  <a:rPr lang="en-US" dirty="0"/>
                  <a:t>PRG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в игре на стойкость </a:t>
                </a:r>
                <a:r>
                  <a:rPr lang="en-US" dirty="0"/>
                  <a:t>PRF</a:t>
                </a:r>
                <a:r>
                  <a:rPr lang="ru-RU" dirty="0"/>
                  <a:t>, такой что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PR</m:t>
                      </m:r>
                      <m:sSub>
                        <m:sSubPr>
                          <m:ctrlPr>
                            <a:rPr lang="en-US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PR</m:t>
                      </m:r>
                      <m:sSub>
                        <m:sSubPr>
                          <m:ctrlPr>
                            <a:rPr lang="en-US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Идея</a:t>
                </a:r>
                <a:r>
                  <a:rPr lang="en-US" dirty="0"/>
                  <a:t>: </a:t>
                </a:r>
                <a:r>
                  <a:rPr lang="ru-RU" dirty="0"/>
                  <a:t>построим противника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получает от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запросы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ru-RU" dirty="0"/>
                  <a:t>, отправляет претенденту, получая ответы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ru-RU" dirty="0"/>
                  <a:t>, которые прозрачно пересылает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. Выход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ru-RU" dirty="0"/>
                  <a:t> соответствует выходу алгоритма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.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8405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/>
          <p:cNvSpPr/>
          <p:nvPr/>
        </p:nvSpPr>
        <p:spPr>
          <a:xfrm>
            <a:off x="821850" y="4263242"/>
            <a:ext cx="10440661" cy="172087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CTR</a:t>
            </a:r>
            <a:r>
              <a:rPr lang="ru-RU" dirty="0"/>
              <a:t>, вспомним 2 теоремы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312730" cy="43513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16</a:t>
            </a:fld>
            <a:endParaRPr lang="ru-RU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230189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Объект 2"/>
              <p:cNvSpPr txBox="1">
                <a:spLocks/>
              </p:cNvSpPr>
              <p:nvPr/>
            </p:nvSpPr>
            <p:spPr>
              <a:xfrm>
                <a:off x="838200" y="1825624"/>
                <a:ext cx="10515600" cy="45307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b="1" dirty="0"/>
                  <a:t>Теорема 2.4.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dirty="0"/>
                  <a:t> стойкий генератор (</a:t>
                </a:r>
                <a:r>
                  <a:rPr lang="en-US" dirty="0"/>
                  <a:t>PRG)</a:t>
                </a:r>
                <a:r>
                  <a:rPr lang="ru-RU" dirty="0"/>
                  <a:t>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dirty="0"/>
                  <a:t>Тогда поточный шифр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определённый с использованием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семантически стойкий, т.е.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противник в игре на семантическую стойкость,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противник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в игре на стойкость </a:t>
                </a:r>
                <a:r>
                  <a:rPr lang="en-US" dirty="0"/>
                  <a:t>PRG (</a:t>
                </a:r>
                <a:r>
                  <a:rPr lang="ru-RU" dirty="0"/>
                  <a:t>различимость)</a:t>
                </a:r>
                <a:r>
                  <a:rPr lang="en-US" dirty="0"/>
                  <a:t>:</a:t>
                </a:r>
              </a:p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sSub>
                      <m:sSubPr>
                        <m:ctrlPr>
                          <a:rPr lang="en-US" b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≤2∗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sSub>
                      <m:sSubPr>
                        <m:ctrlPr>
                          <a:rPr lang="en-US" b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b="1" dirty="0"/>
                  <a:t>Теорема 6.1.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 – стойкая </a:t>
                </a:r>
                <a:r>
                  <a:rPr lang="en-US" dirty="0"/>
                  <a:t>PRP</a:t>
                </a:r>
                <a:r>
                  <a:rPr lang="ru-RU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. Пусть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противник в игре на стойкость </a:t>
                </a:r>
                <a:r>
                  <a:rPr lang="en-US" dirty="0"/>
                  <a:t>PRF</a:t>
                </a:r>
                <a:r>
                  <a:rPr lang="ru-RU" dirty="0"/>
                  <a:t>, делающих не более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dirty="0"/>
                  <a:t> запросов к претенденту. Тогда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PR</m:t>
                          </m:r>
                          <m:sSub>
                            <m:sSub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adv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PR</m:t>
                          </m:r>
                          <m:sSub>
                            <m:sSub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adv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/2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6" name="Объект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4"/>
                <a:ext cx="10515600" cy="4530725"/>
              </a:xfrm>
              <a:prstGeom prst="rect">
                <a:avLst/>
              </a:prstGeom>
              <a:blipFill>
                <a:blip r:embed="rId2"/>
                <a:stretch>
                  <a:fillRect l="-1043" t="-20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3470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CTR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Формально опишем полученный шифр.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b="0" i="0" smtClean="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определён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dirty="0"/>
                  <a:t> – </a:t>
                </a:r>
                <a:r>
                  <a:rPr lang="ru-RU" dirty="0" err="1"/>
                  <a:t>полиномиально</a:t>
                </a:r>
                <a:r>
                  <a:rPr lang="ru-RU" dirty="0"/>
                  <a:t> ограниченная,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.</a:t>
                </a:r>
                <a:r>
                  <a:rPr lang="ru-RU" dirty="0"/>
                  <a:t> 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ru-RU" dirty="0"/>
                  <a:t> элементы из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. Обозначим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двоичное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битное представление числа 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Для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en-US" dirty="0"/>
                  <a:t>,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)⊕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Для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Полученный шифр называется </a:t>
                </a:r>
                <a:r>
                  <a:rPr lang="ru-RU" b="1" dirty="0"/>
                  <a:t>детерминированным </a:t>
                </a:r>
                <a:r>
                  <a:rPr lang="en-US" b="1" dirty="0"/>
                  <a:t>CTR </a:t>
                </a:r>
                <a:r>
                  <a:rPr lang="ru-RU" b="1" dirty="0"/>
                  <a:t>режимом </a:t>
                </a:r>
                <a:r>
                  <a:rPr lang="ru-RU" dirty="0"/>
                  <a:t>для блочного шифра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 r="-5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9845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18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300" y="261937"/>
            <a:ext cx="5715000" cy="627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525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CTR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Теорема 6.2 </a:t>
                </a:r>
                <a:r>
                  <a:rPr lang="ru-RU" dirty="0"/>
                  <a:t>позволяет построить семантически стойкий шифр с помощью стойкого блочного шифра. 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стойкий</a:t>
                </a:r>
                <a:r>
                  <a:rPr lang="en-US" dirty="0"/>
                  <a:t> </a:t>
                </a:r>
                <a:r>
                  <a:rPr lang="ru-RU" dirty="0"/>
                  <a:t>блочный шифр 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ru-RU" b="0" i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dirty="0"/>
                  <a:t> - </a:t>
                </a:r>
                <a:r>
                  <a:rPr lang="ru-RU" dirty="0" err="1"/>
                  <a:t>сверх-полиномиальная</a:t>
                </a:r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По </a:t>
                </a:r>
                <a:r>
                  <a:rPr lang="ru-RU" b="1" dirty="0"/>
                  <a:t>Теореме 6.1 </a:t>
                </a:r>
                <a:r>
                  <a:rPr lang="ru-RU" dirty="0"/>
                  <a:t>функция </a:t>
                </a:r>
                <a:r>
                  <a:rPr lang="ru-RU" dirty="0" err="1"/>
                  <a:t>зашифрования</a:t>
                </a:r>
                <a:r>
                  <a:rPr lang="ru-RU" dirty="0"/>
                  <a:t> блочного шифра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dirty="0"/>
                  <a:t> является стойкой </a:t>
                </a:r>
                <a:r>
                  <a:rPr lang="en-US" dirty="0"/>
                  <a:t>PRF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Используя </a:t>
                </a:r>
                <a:r>
                  <a:rPr lang="ru-RU" b="1" dirty="0"/>
                  <a:t>Теорему 6.2 </a:t>
                </a:r>
                <a:r>
                  <a:rPr lang="ru-RU" dirty="0"/>
                  <a:t>получаем стойкий </a:t>
                </a:r>
                <a:r>
                  <a:rPr lang="en-US" dirty="0"/>
                  <a:t>PRG</a:t>
                </a:r>
                <a:r>
                  <a:rPr lang="ru-RU" dirty="0"/>
                  <a:t>, и используя </a:t>
                </a:r>
                <a:r>
                  <a:rPr lang="ru-RU" b="1" dirty="0"/>
                  <a:t>Теорему 2.4 </a:t>
                </a:r>
                <a:r>
                  <a:rPr lang="ru-RU" dirty="0"/>
                  <a:t>(стойкий генератор даёт семантически стойкий поточный шифр) получаем семантически стойкий шифр.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 r="-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4487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/>
          <p:cNvSpPr/>
          <p:nvPr/>
        </p:nvSpPr>
        <p:spPr>
          <a:xfrm>
            <a:off x="720505" y="1690688"/>
            <a:ext cx="10542006" cy="200253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CTR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Теорема 6.3. </a:t>
                </a: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стойкий блочный шифр, то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ru-RU" dirty="0"/>
                  <a:t> 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  <a:r>
                  <a:rPr lang="ru-RU" dirty="0"/>
                  <a:t> введённый ранее – семантически стойкий шифр, причём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– противников в игре на стойкость блочного шифра (стойкость </a:t>
                </a:r>
                <a:r>
                  <a:rPr lang="en-US" dirty="0"/>
                  <a:t>PRP</a:t>
                </a:r>
                <a:r>
                  <a:rPr lang="ru-RU" dirty="0"/>
                  <a:t>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в игре на семантическую стойкость, причём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</m:t>
                      </m:r>
                      <m:sSub>
                        <m:sSubPr>
                          <m:ctrlPr>
                            <a:rPr lang="en-US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PR</m:t>
                      </m:r>
                      <m:sSub>
                        <m:sSubPr>
                          <m:ctrlPr>
                            <a:rPr lang="en-US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ru-RU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Используя </a:t>
                </a:r>
                <a:r>
                  <a:rPr lang="ru-RU" b="1" dirty="0"/>
                  <a:t>Теорему 6.1 </a:t>
                </a:r>
                <a:r>
                  <a:rPr lang="ru-RU" dirty="0"/>
                  <a:t>получаем </a:t>
                </a:r>
                <a:r>
                  <a:rPr lang="en-US" dirty="0"/>
                  <a:t>PRF</a:t>
                </a:r>
                <a:r>
                  <a:rPr lang="ru-RU" dirty="0"/>
                  <a:t> из </a:t>
                </a:r>
                <a:r>
                  <a:rPr lang="en-US" dirty="0"/>
                  <a:t>PRP</a:t>
                </a:r>
                <a:r>
                  <a:rPr lang="ru-RU" dirty="0"/>
                  <a:t> (добавляется слагаемое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, используя </a:t>
                </a:r>
                <a:r>
                  <a:rPr lang="ru-RU" b="1" dirty="0"/>
                  <a:t>Теорему 6.3 </a:t>
                </a:r>
                <a:r>
                  <a:rPr lang="ru-RU" dirty="0"/>
                  <a:t>получаем </a:t>
                </a:r>
                <a:r>
                  <a:rPr lang="en-US" dirty="0"/>
                  <a:t>PRG </a:t>
                </a:r>
                <a:r>
                  <a:rPr lang="ru-RU" dirty="0"/>
                  <a:t>из </a:t>
                </a:r>
                <a:r>
                  <a:rPr lang="en-US" dirty="0"/>
                  <a:t>PRF</a:t>
                </a:r>
                <a:r>
                  <a:rPr lang="ru-RU" dirty="0"/>
                  <a:t>, используя </a:t>
                </a:r>
                <a:r>
                  <a:rPr lang="ru-RU" b="1" dirty="0"/>
                  <a:t>Теорему 2.4</a:t>
                </a:r>
                <a:r>
                  <a:rPr lang="ru-RU" dirty="0"/>
                  <a:t> получаем семантически стойкий шифр из </a:t>
                </a:r>
                <a:r>
                  <a:rPr lang="en-US" dirty="0"/>
                  <a:t>PRG (</a:t>
                </a:r>
                <a:r>
                  <a:rPr lang="ru-RU" dirty="0"/>
                  <a:t>множитель </a:t>
                </a:r>
                <a:r>
                  <a:rPr lang="ru-RU" dirty="0">
                    <a:solidFill>
                      <a:srgbClr val="FF0000"/>
                    </a:solidFill>
                  </a:rPr>
                  <a:t>2</a:t>
                </a:r>
                <a:r>
                  <a:rPr lang="ru-RU" dirty="0"/>
                  <a:t>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 r="-5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579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CTR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smtClean="0">
                        <a:latin typeface="Cambria Math" panose="02040503050406030204" pitchFamily="18" charset="0"/>
                      </a:rPr>
                      <m:t>S</m:t>
                    </m:r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Ε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≤2∗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PR</m:t>
                    </m:r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ru-RU" dirty="0">
                  <a:solidFill>
                    <a:srgbClr val="00B050"/>
                  </a:solidFill>
                </a:endParaRPr>
              </a:p>
              <a:p>
                <a:r>
                  <a:rPr lang="ru-RU" dirty="0"/>
                  <a:t>Стойкий для сообщений произвольной длины</a:t>
                </a:r>
              </a:p>
              <a:p>
                <a:r>
                  <a:rPr lang="ru-RU" dirty="0"/>
                  <a:t>Стойкость на больших сообщениях убывает квадратично быстро (из за слагаемого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, стойкость зависит от размера блока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).</a:t>
                </a:r>
              </a:p>
              <a:p>
                <a:pPr marL="0" indent="0">
                  <a:buNone/>
                </a:pPr>
                <a:r>
                  <a:rPr lang="ru-RU" dirty="0"/>
                  <a:t>Рассмотрим атаку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 - сообщение из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dirty="0"/>
                  <a:t> нулевых блоков,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 - сообщение из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dirty="0"/>
                  <a:t> случайных блоков. При шифровании сообщения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 </a:t>
                </a:r>
                <a:r>
                  <a:rPr lang="ru-RU" dirty="0" err="1"/>
                  <a:t>шифртекст</a:t>
                </a:r>
                <a:r>
                  <a:rPr lang="ru-RU" dirty="0"/>
                  <a:t> не будет содержать повторяющихся блоков. При шифровании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 вероятность получить повторяющиеся блоки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. Т.е. можно построить алгоритм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в игре на семантическую стойкость для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  <m:r>
                      <a:rPr lang="ru-RU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16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36219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Многоразовое использование ключей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Семантическая стойкость – ослабленная версия абсолютной стойкости, позволяющая описывать стойкость шифров, для которых энтропия ключа меньше энтропии множества открытых текстов.</a:t>
            </a:r>
          </a:p>
          <a:p>
            <a:r>
              <a:rPr lang="ru-RU" dirty="0"/>
              <a:t>Семантически стойкие шифры позволяют использовать короткие ключи.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91323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Многоразовое использование ключей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893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До этого момента мы рассматривали ситуации, когда ключ использовался претендентом только один раз. Т.е. мы моделировали одноразовое использование ключа.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Но мы хотели бы иметь возможность использовать ключи для шифрования множества сообщений.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23</a:t>
            </a:fld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1945457" y="5080992"/>
                <a:ext cx="4902881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600" i="0" dirty="0" smtClean="0">
                          <a:latin typeface="Cambria Math" panose="02040503050406030204" pitchFamily="18" charset="0"/>
                        </a:rPr>
                        <m:t>S</m:t>
                      </m:r>
                      <m:sSub>
                        <m:sSubPr>
                          <m:ctrlPr>
                            <a:rPr lang="en-US" sz="2600" b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600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600" i="0" dirty="0" smtClean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60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sz="2600" i="1">
                          <a:latin typeface="Cambria Math" panose="02040503050406030204" pitchFamily="18" charset="0"/>
                        </a:rPr>
                        <m:t>=|</m:t>
                      </m:r>
                      <m:func>
                        <m:func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60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60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⁡[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600" i="1">
                          <a:latin typeface="Cambria Math" panose="02040503050406030204" pitchFamily="18" charset="0"/>
                        </a:rPr>
                        <m:t>]|</m:t>
                      </m:r>
                    </m:oMath>
                  </m:oMathPara>
                </a14:m>
                <a:endParaRPr lang="ru-RU" sz="2600" dirty="0"/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457" y="5080992"/>
                <a:ext cx="490288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727432" y="3557899"/>
            <a:ext cx="1295400" cy="118824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3337032" y="3043548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6"/>
              <p:cNvSpPr txBox="1">
                <a:spLocks noChangeArrowheads="1"/>
              </p:cNvSpPr>
              <p:nvPr/>
            </p:nvSpPr>
            <p:spPr bwMode="auto">
              <a:xfrm>
                <a:off x="3308458" y="2910197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08458" y="2910197"/>
                <a:ext cx="427040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7"/>
              <p:cNvSpPr>
                <a:spLocks noChangeArrowheads="1"/>
              </p:cNvSpPr>
              <p:nvPr/>
            </p:nvSpPr>
            <p:spPr bwMode="auto">
              <a:xfrm>
                <a:off x="7909032" y="3557899"/>
                <a:ext cx="1295400" cy="11882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09032" y="3557899"/>
                <a:ext cx="1295400" cy="1188244"/>
              </a:xfrm>
              <a:prstGeom prst="rect">
                <a:avLst/>
              </a:prstGeom>
              <a:blipFill rotWithShape="0">
                <a:blip r:embed="rId4"/>
                <a:stretch>
                  <a:fillRect t="-253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21"/>
          <p:cNvGrpSpPr>
            <a:grpSpLocks/>
          </p:cNvGrpSpPr>
          <p:nvPr/>
        </p:nvGrpSpPr>
        <p:grpSpPr bwMode="auto">
          <a:xfrm>
            <a:off x="4099032" y="3641242"/>
            <a:ext cx="3810000" cy="403622"/>
            <a:chOff x="1776" y="1783"/>
            <a:chExt cx="2400" cy="339"/>
          </a:xfrm>
        </p:grpSpPr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968" y="1783"/>
                  <a:ext cx="213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4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68" y="1783"/>
                  <a:ext cx="2134" cy="336"/>
                </a:xfrm>
                <a:prstGeom prst="rect">
                  <a:avLst/>
                </a:prstGeom>
                <a:blipFill>
                  <a:blip r:embed="rId6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22"/>
          <p:cNvGrpSpPr>
            <a:grpSpLocks/>
          </p:cNvGrpSpPr>
          <p:nvPr/>
        </p:nvGrpSpPr>
        <p:grpSpPr bwMode="auto">
          <a:xfrm>
            <a:off x="8518634" y="4746141"/>
            <a:ext cx="1570038" cy="678656"/>
            <a:chOff x="4560" y="2842"/>
            <a:chExt cx="989" cy="570"/>
          </a:xfrm>
        </p:grpSpPr>
        <p:sp>
          <p:nvSpPr>
            <p:cNvPr id="14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’∈ {0,1}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0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blipFill>
                  <a:blip r:embed="rId7"/>
                  <a:stretch>
                    <a:fillRect r="-781" b="-1710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2087672" y="3329298"/>
            <a:ext cx="7924800" cy="158829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13"/>
              <p:cNvSpPr txBox="1">
                <a:spLocks noChangeArrowheads="1"/>
              </p:cNvSpPr>
              <p:nvPr/>
            </p:nvSpPr>
            <p:spPr bwMode="auto">
              <a:xfrm>
                <a:off x="3058827" y="3911881"/>
                <a:ext cx="632609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 dirty="0"/>
                  <a:t>k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7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58827" y="3911881"/>
                <a:ext cx="632609" cy="423129"/>
              </a:xfrm>
              <a:prstGeom prst="rect">
                <a:avLst/>
              </a:prstGeom>
              <a:blipFill rotWithShape="0">
                <a:blip r:embed="rId8"/>
                <a:stretch>
                  <a:fillRect l="-5769" r="-26923" b="-4492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20"/>
          <p:cNvGrpSpPr>
            <a:grpSpLocks/>
          </p:cNvGrpSpPr>
          <p:nvPr/>
        </p:nvGrpSpPr>
        <p:grpSpPr bwMode="auto">
          <a:xfrm>
            <a:off x="4099032" y="4040108"/>
            <a:ext cx="3733800" cy="506017"/>
            <a:chOff x="1776" y="2002"/>
            <a:chExt cx="2352" cy="425"/>
          </a:xfrm>
        </p:grpSpPr>
        <p:sp>
          <p:nvSpPr>
            <p:cNvPr id="19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61" y="2002"/>
                  <a:ext cx="981" cy="4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i="1" dirty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dirty="0" err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0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61" y="2002"/>
                  <a:ext cx="981" cy="425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r="-3922" b="-2048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432438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множества ключей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sz="2400" dirty="0"/>
                  <a:t>Будет ли семантически стойким шифр, если для шифрования множества сообщений будут использоваться различные случайные независимые ключи?</a:t>
                </a:r>
              </a:p>
              <a:p>
                <a:pPr marL="0" indent="0">
                  <a:buNone/>
                </a:pPr>
                <a:r>
                  <a:rPr lang="ru-RU" sz="2400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на </a:t>
                </a:r>
                <a14:m>
                  <m:oMath xmlns:m="http://schemas.openxmlformats.org/officeDocument/2006/math"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dirty="0"/>
                  <a:t> шифр. Определим игру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24</a:t>
            </a:fld>
            <a:endParaRPr lang="ru-RU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309019" y="3842587"/>
            <a:ext cx="1295400" cy="2620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2918619" y="3328237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6"/>
              <p:cNvSpPr txBox="1">
                <a:spLocks noChangeArrowheads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7"/>
              <p:cNvSpPr>
                <a:spLocks noChangeArrowheads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blipFill rotWithShape="0">
                <a:blip r:embed="rId4"/>
                <a:stretch>
                  <a:fillRect t="-926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21"/>
          <p:cNvGrpSpPr>
            <a:grpSpLocks/>
          </p:cNvGrpSpPr>
          <p:nvPr/>
        </p:nvGrpSpPr>
        <p:grpSpPr bwMode="auto">
          <a:xfrm>
            <a:off x="3677444" y="3928314"/>
            <a:ext cx="3970338" cy="401241"/>
            <a:chOff x="1774" y="1785"/>
            <a:chExt cx="2501" cy="337"/>
          </a:xfrm>
        </p:grpSpPr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74" y="1785"/>
                  <a:ext cx="2501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2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74" y="1785"/>
                  <a:ext cx="2501" cy="336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2054431" y="3613986"/>
            <a:ext cx="6947065" cy="296494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13"/>
              <p:cNvSpPr txBox="1">
                <a:spLocks noChangeArrowheads="1"/>
              </p:cNvSpPr>
              <p:nvPr/>
            </p:nvSpPr>
            <p:spPr bwMode="auto">
              <a:xfrm>
                <a:off x="2564400" y="5521710"/>
                <a:ext cx="784637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groupChr>
                        <m:groupChrPr>
                          <m:chr m:val="←"/>
                          <m:vertJc m:val="bot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7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4400" y="5521710"/>
                <a:ext cx="784637" cy="423129"/>
              </a:xfrm>
              <a:prstGeom prst="rect">
                <a:avLst/>
              </a:prstGeom>
              <a:blipFill rotWithShape="0">
                <a:blip r:embed="rId6"/>
                <a:stretch>
                  <a:fillRect r="-40625" b="-4637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20"/>
          <p:cNvGrpSpPr>
            <a:grpSpLocks/>
          </p:cNvGrpSpPr>
          <p:nvPr/>
        </p:nvGrpSpPr>
        <p:grpSpPr bwMode="auto">
          <a:xfrm>
            <a:off x="3680619" y="4306940"/>
            <a:ext cx="3733800" cy="510780"/>
            <a:chOff x="1776" y="1987"/>
            <a:chExt cx="2352" cy="429"/>
          </a:xfrm>
        </p:grpSpPr>
        <p:sp>
          <p:nvSpPr>
            <p:cNvPr id="19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18" y="1987"/>
                  <a:ext cx="1114" cy="4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i="1" dirty="0" smtClean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0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18" y="1987"/>
                  <a:ext cx="1114" cy="429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r="-2414" b="-21687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143436" y="4629331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436" y="4629331"/>
                <a:ext cx="535724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1"/>
          <p:cNvGrpSpPr>
            <a:grpSpLocks/>
          </p:cNvGrpSpPr>
          <p:nvPr/>
        </p:nvGrpSpPr>
        <p:grpSpPr bwMode="auto">
          <a:xfrm>
            <a:off x="3697802" y="5132040"/>
            <a:ext cx="3822700" cy="400050"/>
            <a:chOff x="1776" y="1793"/>
            <a:chExt cx="2408" cy="336"/>
          </a:xfrm>
        </p:grpSpPr>
        <p:sp>
          <p:nvSpPr>
            <p:cNvPr id="29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80" y="1793"/>
                  <a:ext cx="240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30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80" y="1793"/>
                  <a:ext cx="2404" cy="336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b="-1538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20"/>
          <p:cNvGrpSpPr>
            <a:grpSpLocks/>
          </p:cNvGrpSpPr>
          <p:nvPr/>
        </p:nvGrpSpPr>
        <p:grpSpPr bwMode="auto">
          <a:xfrm>
            <a:off x="3697802" y="5509477"/>
            <a:ext cx="3733800" cy="510780"/>
            <a:chOff x="1776" y="1994"/>
            <a:chExt cx="2352" cy="429"/>
          </a:xfrm>
        </p:grpSpPr>
        <p:sp>
          <p:nvSpPr>
            <p:cNvPr id="32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25" y="1994"/>
                  <a:ext cx="1095" cy="4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i="1" dirty="0" smtClean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33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25" y="1994"/>
                  <a:ext cx="1095" cy="429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r="-2456" b="-202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5143436" y="5850652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436" y="5850652"/>
                <a:ext cx="535724" cy="52322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Box 13"/>
              <p:cNvSpPr txBox="1">
                <a:spLocks noChangeArrowheads="1"/>
              </p:cNvSpPr>
              <p:nvPr/>
            </p:nvSpPr>
            <p:spPr bwMode="auto">
              <a:xfrm>
                <a:off x="2539207" y="4218608"/>
                <a:ext cx="808426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groupChr>
                        <m:groupChrPr>
                          <m:chr m:val="←"/>
                          <m:vertJc m:val="bot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35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9207" y="4218608"/>
                <a:ext cx="808426" cy="423129"/>
              </a:xfrm>
              <a:prstGeom prst="rect">
                <a:avLst/>
              </a:prstGeom>
              <a:blipFill rotWithShape="0">
                <a:blip r:embed="rId12"/>
                <a:stretch>
                  <a:fillRect r="-40152" b="-4637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20"/>
          <p:cNvGrpSpPr>
            <a:grpSpLocks/>
          </p:cNvGrpSpPr>
          <p:nvPr/>
        </p:nvGrpSpPr>
        <p:grpSpPr bwMode="auto">
          <a:xfrm>
            <a:off x="8763000" y="4555186"/>
            <a:ext cx="1701026" cy="427436"/>
            <a:chOff x="1776" y="2051"/>
            <a:chExt cx="2896" cy="359"/>
          </a:xfrm>
        </p:grpSpPr>
        <p:sp>
          <p:nvSpPr>
            <p:cNvPr id="37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503816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множества ключей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400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событие того что в игре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pPr marL="0" indent="0">
                  <a:buNone/>
                </a:pPr>
                <a:r>
                  <a:rPr lang="ru-RU" sz="2400" dirty="0"/>
                  <a:t>Введём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MS</m:t>
                    </m:r>
                    <m:sSub>
                      <m:sSubPr>
                        <m:ctrlPr>
                          <a:rPr lang="en-US" sz="2400" b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=|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]|</m:t>
                    </m:r>
                  </m:oMath>
                </a14:m>
                <a:r>
                  <a:rPr lang="en-US" sz="2400" dirty="0"/>
                  <a:t>.</a:t>
                </a:r>
                <a:endParaRPr lang="ru-RU" sz="2400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25</a:t>
            </a:fld>
            <a:endParaRPr lang="ru-RU"/>
          </a:p>
        </p:txBody>
      </p:sp>
      <p:sp>
        <p:nvSpPr>
          <p:cNvPr id="39" name="Rectangle 4"/>
          <p:cNvSpPr>
            <a:spLocks noChangeArrowheads="1"/>
          </p:cNvSpPr>
          <p:nvPr/>
        </p:nvSpPr>
        <p:spPr bwMode="auto">
          <a:xfrm>
            <a:off x="2309019" y="3842587"/>
            <a:ext cx="1295400" cy="2620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40" name="Line 5"/>
          <p:cNvSpPr>
            <a:spLocks noChangeShapeType="1"/>
          </p:cNvSpPr>
          <p:nvPr/>
        </p:nvSpPr>
        <p:spPr bwMode="auto">
          <a:xfrm>
            <a:off x="2918619" y="3328237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6"/>
              <p:cNvSpPr txBox="1">
                <a:spLocks noChangeArrowheads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1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7"/>
              <p:cNvSpPr>
                <a:spLocks noChangeArrowheads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2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blipFill rotWithShape="0">
                <a:blip r:embed="rId4"/>
                <a:stretch>
                  <a:fillRect t="-926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21"/>
          <p:cNvGrpSpPr>
            <a:grpSpLocks/>
          </p:cNvGrpSpPr>
          <p:nvPr/>
        </p:nvGrpSpPr>
        <p:grpSpPr bwMode="auto">
          <a:xfrm>
            <a:off x="3677444" y="3928314"/>
            <a:ext cx="3970338" cy="401241"/>
            <a:chOff x="1774" y="1785"/>
            <a:chExt cx="2501" cy="337"/>
          </a:xfrm>
        </p:grpSpPr>
        <p:sp>
          <p:nvSpPr>
            <p:cNvPr id="44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74" y="1785"/>
                  <a:ext cx="2501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45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74" y="1785"/>
                  <a:ext cx="2501" cy="336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6" name="Rectangle 18"/>
          <p:cNvSpPr>
            <a:spLocks noChangeArrowheads="1"/>
          </p:cNvSpPr>
          <p:nvPr/>
        </p:nvSpPr>
        <p:spPr bwMode="auto">
          <a:xfrm>
            <a:off x="2054431" y="3613986"/>
            <a:ext cx="6947065" cy="296494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13"/>
              <p:cNvSpPr txBox="1">
                <a:spLocks noChangeArrowheads="1"/>
              </p:cNvSpPr>
              <p:nvPr/>
            </p:nvSpPr>
            <p:spPr bwMode="auto">
              <a:xfrm>
                <a:off x="2564400" y="5521710"/>
                <a:ext cx="784637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groupChr>
                        <m:groupChrPr>
                          <m:chr m:val="←"/>
                          <m:vertJc m:val="bot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47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4400" y="5521710"/>
                <a:ext cx="784637" cy="423129"/>
              </a:xfrm>
              <a:prstGeom prst="rect">
                <a:avLst/>
              </a:prstGeom>
              <a:blipFill rotWithShape="0">
                <a:blip r:embed="rId6"/>
                <a:stretch>
                  <a:fillRect r="-40625" b="-4637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20"/>
          <p:cNvGrpSpPr>
            <a:grpSpLocks/>
          </p:cNvGrpSpPr>
          <p:nvPr/>
        </p:nvGrpSpPr>
        <p:grpSpPr bwMode="auto">
          <a:xfrm>
            <a:off x="3680619" y="4300987"/>
            <a:ext cx="3733800" cy="510780"/>
            <a:chOff x="1776" y="1982"/>
            <a:chExt cx="2352" cy="429"/>
          </a:xfrm>
        </p:grpSpPr>
        <p:sp>
          <p:nvSpPr>
            <p:cNvPr id="49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56" y="1982"/>
                  <a:ext cx="1114" cy="4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i="1" dirty="0" smtClean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50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56" y="1982"/>
                  <a:ext cx="1114" cy="429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r="-2414" b="-21687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5143436" y="4629331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436" y="4629331"/>
                <a:ext cx="535724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Group 21"/>
          <p:cNvGrpSpPr>
            <a:grpSpLocks/>
          </p:cNvGrpSpPr>
          <p:nvPr/>
        </p:nvGrpSpPr>
        <p:grpSpPr bwMode="auto">
          <a:xfrm>
            <a:off x="3697802" y="5132040"/>
            <a:ext cx="3822700" cy="400050"/>
            <a:chOff x="1776" y="1793"/>
            <a:chExt cx="2408" cy="336"/>
          </a:xfrm>
        </p:grpSpPr>
        <p:sp>
          <p:nvSpPr>
            <p:cNvPr id="53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80" y="1793"/>
                  <a:ext cx="240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54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80" y="1793"/>
                  <a:ext cx="2404" cy="336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b="-1538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Group 20"/>
          <p:cNvGrpSpPr>
            <a:grpSpLocks/>
          </p:cNvGrpSpPr>
          <p:nvPr/>
        </p:nvGrpSpPr>
        <p:grpSpPr bwMode="auto">
          <a:xfrm>
            <a:off x="3697802" y="5523765"/>
            <a:ext cx="3733800" cy="510780"/>
            <a:chOff x="1776" y="2006"/>
            <a:chExt cx="2352" cy="429"/>
          </a:xfrm>
        </p:grpSpPr>
        <p:sp>
          <p:nvSpPr>
            <p:cNvPr id="56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64" y="2006"/>
                  <a:ext cx="1095" cy="4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i="1" dirty="0" smtClean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57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64" y="2006"/>
                  <a:ext cx="1095" cy="429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r="-2456" b="-202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5143436" y="5850652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436" y="5850652"/>
                <a:ext cx="535724" cy="52322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Box 13"/>
              <p:cNvSpPr txBox="1">
                <a:spLocks noChangeArrowheads="1"/>
              </p:cNvSpPr>
              <p:nvPr/>
            </p:nvSpPr>
            <p:spPr bwMode="auto">
              <a:xfrm>
                <a:off x="2539207" y="4218608"/>
                <a:ext cx="808426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groupChr>
                        <m:groupChrPr>
                          <m:chr m:val="←"/>
                          <m:vertJc m:val="bot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59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9207" y="4218608"/>
                <a:ext cx="808426" cy="423129"/>
              </a:xfrm>
              <a:prstGeom prst="rect">
                <a:avLst/>
              </a:prstGeom>
              <a:blipFill rotWithShape="0">
                <a:blip r:embed="rId12"/>
                <a:stretch>
                  <a:fillRect r="-40152" b="-4637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Group 20"/>
          <p:cNvGrpSpPr>
            <a:grpSpLocks/>
          </p:cNvGrpSpPr>
          <p:nvPr/>
        </p:nvGrpSpPr>
        <p:grpSpPr bwMode="auto">
          <a:xfrm>
            <a:off x="8763000" y="4555186"/>
            <a:ext cx="1701026" cy="427436"/>
            <a:chOff x="1776" y="2051"/>
            <a:chExt cx="2896" cy="359"/>
          </a:xfrm>
        </p:grpSpPr>
        <p:sp>
          <p:nvSpPr>
            <p:cNvPr id="61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2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072467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множества ключей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 называется семантически стойким при использовании множества ключей, если  величина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𝑎𝑑𝑣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 – пренебрежимо малая.</a:t>
                </a: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26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309019" y="3842587"/>
            <a:ext cx="1295400" cy="2620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918619" y="3328237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>
                <a:spLocks noChangeArrowheads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blipFill rotWithShape="0">
                <a:blip r:embed="rId4"/>
                <a:stretch>
                  <a:fillRect t="-926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3677444" y="3928314"/>
            <a:ext cx="3970338" cy="401241"/>
            <a:chOff x="1774" y="1785"/>
            <a:chExt cx="2501" cy="337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74" y="1785"/>
                  <a:ext cx="2501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1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74" y="1785"/>
                  <a:ext cx="2501" cy="336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2054431" y="3613986"/>
            <a:ext cx="6947065" cy="296494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3"/>
              <p:cNvSpPr txBox="1">
                <a:spLocks noChangeArrowheads="1"/>
              </p:cNvSpPr>
              <p:nvPr/>
            </p:nvSpPr>
            <p:spPr bwMode="auto">
              <a:xfrm>
                <a:off x="2564400" y="5521710"/>
                <a:ext cx="784637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groupChr>
                        <m:groupChrPr>
                          <m:chr m:val="←"/>
                          <m:vertJc m:val="bot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3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4400" y="5521710"/>
                <a:ext cx="784637" cy="423129"/>
              </a:xfrm>
              <a:prstGeom prst="rect">
                <a:avLst/>
              </a:prstGeom>
              <a:blipFill rotWithShape="0">
                <a:blip r:embed="rId6"/>
                <a:stretch>
                  <a:fillRect r="-40625" b="-4637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20"/>
          <p:cNvGrpSpPr>
            <a:grpSpLocks/>
          </p:cNvGrpSpPr>
          <p:nvPr/>
        </p:nvGrpSpPr>
        <p:grpSpPr bwMode="auto">
          <a:xfrm>
            <a:off x="3680619" y="4302177"/>
            <a:ext cx="3733800" cy="510780"/>
            <a:chOff x="1776" y="1983"/>
            <a:chExt cx="2352" cy="429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9" y="1983"/>
                  <a:ext cx="1114" cy="4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i="1" dirty="0" smtClean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16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9" y="1983"/>
                  <a:ext cx="1114" cy="429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r="-2759" b="-202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143436" y="4629331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436" y="4629331"/>
                <a:ext cx="535724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21"/>
          <p:cNvGrpSpPr>
            <a:grpSpLocks/>
          </p:cNvGrpSpPr>
          <p:nvPr/>
        </p:nvGrpSpPr>
        <p:grpSpPr bwMode="auto">
          <a:xfrm>
            <a:off x="3697802" y="5132040"/>
            <a:ext cx="3822700" cy="400050"/>
            <a:chOff x="1776" y="1793"/>
            <a:chExt cx="2408" cy="336"/>
          </a:xfrm>
        </p:grpSpPr>
        <p:sp>
          <p:nvSpPr>
            <p:cNvPr id="19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80" y="1793"/>
                  <a:ext cx="240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20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80" y="1793"/>
                  <a:ext cx="2404" cy="336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b="-1538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/>
          <p:cNvGrpSpPr>
            <a:grpSpLocks/>
          </p:cNvGrpSpPr>
          <p:nvPr/>
        </p:nvGrpSpPr>
        <p:grpSpPr bwMode="auto">
          <a:xfrm>
            <a:off x="3697802" y="5521383"/>
            <a:ext cx="3733800" cy="510780"/>
            <a:chOff x="1776" y="2004"/>
            <a:chExt cx="2352" cy="429"/>
          </a:xfrm>
        </p:grpSpPr>
        <p:sp>
          <p:nvSpPr>
            <p:cNvPr id="22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04"/>
                  <a:ext cx="1095" cy="4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i="1" dirty="0" smtClean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3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04"/>
                  <a:ext cx="1095" cy="429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r="-2456" b="-202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143436" y="5850652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436" y="5850652"/>
                <a:ext cx="535724" cy="52322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13"/>
              <p:cNvSpPr txBox="1">
                <a:spLocks noChangeArrowheads="1"/>
              </p:cNvSpPr>
              <p:nvPr/>
            </p:nvSpPr>
            <p:spPr bwMode="auto">
              <a:xfrm>
                <a:off x="2539207" y="4218608"/>
                <a:ext cx="808426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groupChr>
                        <m:groupChrPr>
                          <m:chr m:val="←"/>
                          <m:vertJc m:val="bot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25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9207" y="4218608"/>
                <a:ext cx="808426" cy="423129"/>
              </a:xfrm>
              <a:prstGeom prst="rect">
                <a:avLst/>
              </a:prstGeom>
              <a:blipFill rotWithShape="0">
                <a:blip r:embed="rId12"/>
                <a:stretch>
                  <a:fillRect r="-40152" b="-4637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0"/>
          <p:cNvGrpSpPr>
            <a:grpSpLocks/>
          </p:cNvGrpSpPr>
          <p:nvPr/>
        </p:nvGrpSpPr>
        <p:grpSpPr bwMode="auto">
          <a:xfrm>
            <a:off x="8763000" y="4555186"/>
            <a:ext cx="1701026" cy="427436"/>
            <a:chOff x="1776" y="2051"/>
            <a:chExt cx="2896" cy="359"/>
          </a:xfrm>
        </p:grpSpPr>
        <p:sp>
          <p:nvSpPr>
            <p:cNvPr id="27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Прямоугольник 28"/>
              <p:cNvSpPr/>
              <p:nvPr/>
            </p:nvSpPr>
            <p:spPr>
              <a:xfrm>
                <a:off x="4132089" y="3160598"/>
                <a:ext cx="365593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MS</m:t>
                    </m:r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=|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]|</m:t>
                    </m:r>
                  </m:oMath>
                </a14:m>
                <a:r>
                  <a:rPr lang="en-US" dirty="0"/>
                  <a:t>.</a:t>
                </a:r>
                <a:endParaRPr lang="ru-RU" dirty="0"/>
              </a:p>
            </p:txBody>
          </p:sp>
        </mc:Choice>
        <mc:Fallback>
          <p:sp>
            <p:nvSpPr>
              <p:cNvPr id="29" name="Прямоугольник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089" y="3160598"/>
                <a:ext cx="3655937" cy="369332"/>
              </a:xfrm>
              <a:prstGeom prst="rect">
                <a:avLst/>
              </a:prstGeom>
              <a:blipFill>
                <a:blip r:embed="rId1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71952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множества ключей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Альтернативное определение преимущества – вероятность угадывания эксперимента противником.</a:t>
                </a:r>
                <a:r>
                  <a:rPr lang="en-US" dirty="0"/>
                  <a:t> </a:t>
                </a:r>
                <a:r>
                  <a:rPr lang="ru-RU" dirty="0"/>
                  <a:t>Обозначим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MS</m:t>
                    </m:r>
                    <m:sSubSup>
                      <m:sSubSup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  <m:sup>
                        <m:r>
                          <a:rPr lang="en-US" i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MS</m:t>
                      </m:r>
                      <m:sSub>
                        <m:sSub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=2∗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MS</m:t>
                      </m:r>
                      <m:sSubSup>
                        <m:sSubSupPr>
                          <m:ctrlPr>
                            <a:rPr lang="en-US" b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  <m:sup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27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309019" y="3842587"/>
            <a:ext cx="1295400" cy="2620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918619" y="3328237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>
                <a:spLocks noChangeArrowheads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blipFill rotWithShape="0">
                <a:blip r:embed="rId4"/>
                <a:stretch>
                  <a:fillRect t="-926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3677444" y="3928314"/>
            <a:ext cx="3970338" cy="401241"/>
            <a:chOff x="1774" y="1785"/>
            <a:chExt cx="2501" cy="337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74" y="1785"/>
                  <a:ext cx="2501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1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74" y="1785"/>
                  <a:ext cx="2501" cy="336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2054431" y="3613986"/>
            <a:ext cx="6947065" cy="296494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3"/>
              <p:cNvSpPr txBox="1">
                <a:spLocks noChangeArrowheads="1"/>
              </p:cNvSpPr>
              <p:nvPr/>
            </p:nvSpPr>
            <p:spPr bwMode="auto">
              <a:xfrm>
                <a:off x="2564400" y="5521710"/>
                <a:ext cx="784637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groupChr>
                        <m:groupChrPr>
                          <m:chr m:val="←"/>
                          <m:vertJc m:val="bot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3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4400" y="5521710"/>
                <a:ext cx="784637" cy="423129"/>
              </a:xfrm>
              <a:prstGeom prst="rect">
                <a:avLst/>
              </a:prstGeom>
              <a:blipFill rotWithShape="0">
                <a:blip r:embed="rId6"/>
                <a:stretch>
                  <a:fillRect r="-40625" b="-4637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20"/>
          <p:cNvGrpSpPr>
            <a:grpSpLocks/>
          </p:cNvGrpSpPr>
          <p:nvPr/>
        </p:nvGrpSpPr>
        <p:grpSpPr bwMode="auto">
          <a:xfrm>
            <a:off x="3680619" y="4312893"/>
            <a:ext cx="3733800" cy="510780"/>
            <a:chOff x="1776" y="1992"/>
            <a:chExt cx="2352" cy="429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9" y="1992"/>
                  <a:ext cx="1114" cy="4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i="1" dirty="0" smtClean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16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9" y="1992"/>
                  <a:ext cx="1114" cy="429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r="-2759" b="-202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143436" y="4629331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436" y="4629331"/>
                <a:ext cx="535724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21"/>
          <p:cNvGrpSpPr>
            <a:grpSpLocks/>
          </p:cNvGrpSpPr>
          <p:nvPr/>
        </p:nvGrpSpPr>
        <p:grpSpPr bwMode="auto">
          <a:xfrm>
            <a:off x="3697802" y="5132040"/>
            <a:ext cx="3822700" cy="400050"/>
            <a:chOff x="1776" y="1793"/>
            <a:chExt cx="2408" cy="336"/>
          </a:xfrm>
        </p:grpSpPr>
        <p:sp>
          <p:nvSpPr>
            <p:cNvPr id="19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80" y="1793"/>
                  <a:ext cx="240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20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80" y="1793"/>
                  <a:ext cx="2404" cy="336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b="-1538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/>
          <p:cNvGrpSpPr>
            <a:grpSpLocks/>
          </p:cNvGrpSpPr>
          <p:nvPr/>
        </p:nvGrpSpPr>
        <p:grpSpPr bwMode="auto">
          <a:xfrm>
            <a:off x="3697802" y="5493999"/>
            <a:ext cx="3733800" cy="510780"/>
            <a:chOff x="1776" y="1981"/>
            <a:chExt cx="2352" cy="429"/>
          </a:xfrm>
        </p:grpSpPr>
        <p:sp>
          <p:nvSpPr>
            <p:cNvPr id="22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1981"/>
                  <a:ext cx="1095" cy="4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i="1" dirty="0" smtClean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3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1981"/>
                  <a:ext cx="1095" cy="429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r="-2456" b="-202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143436" y="5850652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436" y="5850652"/>
                <a:ext cx="535724" cy="52322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13"/>
              <p:cNvSpPr txBox="1">
                <a:spLocks noChangeArrowheads="1"/>
              </p:cNvSpPr>
              <p:nvPr/>
            </p:nvSpPr>
            <p:spPr bwMode="auto">
              <a:xfrm>
                <a:off x="2539207" y="4218608"/>
                <a:ext cx="808426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groupChr>
                        <m:groupChrPr>
                          <m:chr m:val="←"/>
                          <m:vertJc m:val="bot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25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9207" y="4218608"/>
                <a:ext cx="808426" cy="423129"/>
              </a:xfrm>
              <a:prstGeom prst="rect">
                <a:avLst/>
              </a:prstGeom>
              <a:blipFill rotWithShape="0">
                <a:blip r:embed="rId12"/>
                <a:stretch>
                  <a:fillRect r="-40152" b="-4637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0"/>
          <p:cNvGrpSpPr>
            <a:grpSpLocks/>
          </p:cNvGrpSpPr>
          <p:nvPr/>
        </p:nvGrpSpPr>
        <p:grpSpPr bwMode="auto">
          <a:xfrm>
            <a:off x="8763000" y="4555186"/>
            <a:ext cx="1701026" cy="427436"/>
            <a:chOff x="1776" y="2051"/>
            <a:chExt cx="2896" cy="359"/>
          </a:xfrm>
        </p:grpSpPr>
        <p:sp>
          <p:nvSpPr>
            <p:cNvPr id="27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Прямоугольник 28"/>
              <p:cNvSpPr/>
              <p:nvPr/>
            </p:nvSpPr>
            <p:spPr>
              <a:xfrm>
                <a:off x="4132089" y="3160598"/>
                <a:ext cx="365593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MS</m:t>
                    </m:r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=|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]|</m:t>
                    </m:r>
                  </m:oMath>
                </a14:m>
                <a:r>
                  <a:rPr lang="en-US" dirty="0"/>
                  <a:t>.</a:t>
                </a:r>
                <a:endParaRPr lang="ru-RU" dirty="0"/>
              </a:p>
            </p:txBody>
          </p:sp>
        </mc:Choice>
        <mc:Fallback>
          <p:sp>
            <p:nvSpPr>
              <p:cNvPr id="29" name="Прямоугольник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089" y="3160598"/>
                <a:ext cx="3655937" cy="369332"/>
              </a:xfrm>
              <a:prstGeom prst="rect">
                <a:avLst/>
              </a:prstGeom>
              <a:blipFill>
                <a:blip r:embed="rId1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61895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238254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множества ключей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ru-RU" b="1" dirty="0"/>
                  <a:t>Теорема 6.4.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 семантически стойкий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ru-RU" dirty="0"/>
                  <a:t>). Тогда он семантически стойкий при использовании множества ключей, причём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 игре на семантическую стойкость при использовании множества ключей, использующий не более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dirty="0"/>
                  <a:t> запросов к претенденту,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в игре на семантическую стойкость такой что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MS</m:t>
                    </m:r>
                    <m:sSub>
                      <m:sSubPr>
                        <m:ctrlPr>
                          <a:rPr lang="en-US" b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sSub>
                      <m:sSubPr>
                        <m:ctrlPr>
                          <a:rPr lang="en-US" b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ru-RU" dirty="0"/>
                  <a:t>  </a:t>
                </a: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ru-RU" dirty="0"/>
                  <a:t>идея доказательства</a:t>
                </a:r>
                <a:r>
                  <a:rPr lang="en-US" dirty="0"/>
                  <a:t> </a:t>
                </a:r>
                <a:r>
                  <a:rPr lang="ru-RU" dirty="0"/>
                  <a:t>основана на использовании гибридных игр, аналогично </a:t>
                </a:r>
                <a:r>
                  <a:rPr lang="ru-RU" b="1" dirty="0"/>
                  <a:t>Теореме 3.1. </a:t>
                </a:r>
                <a:r>
                  <a:rPr lang="ru-RU" dirty="0"/>
                  <a:t>В эксперименте 0 игры </a:t>
                </a:r>
                <a:r>
                  <a:rPr lang="en-US" dirty="0"/>
                  <a:t>MSS</a:t>
                </a:r>
                <a:r>
                  <a:rPr lang="ru-RU" dirty="0"/>
                  <a:t> претендент шифрует сообщения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>
                    <a:ea typeface="Cambria Math" panose="02040503050406030204" pitchFamily="18" charset="0"/>
                  </a:rPr>
                  <a:t>. Для шифрования сообщения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ru-RU" dirty="0">
                    <a:ea typeface="Cambria Math" panose="02040503050406030204" pitchFamily="18" charset="0"/>
                  </a:rPr>
                  <a:t> используется ключ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>
                    <a:ea typeface="Cambria Math" panose="02040503050406030204" pitchFamily="18" charset="0"/>
                  </a:rPr>
                  <a:t> Так как шифр семантически стойкий можем заменить шифрование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ru-RU" dirty="0">
                    <a:ea typeface="Cambria Math" panose="02040503050406030204" pitchFamily="18" charset="0"/>
                  </a:rPr>
                  <a:t> на шифрование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>
                    <a:ea typeface="Cambria Math" panose="02040503050406030204" pitchFamily="18" charset="0"/>
                  </a:rPr>
                  <a:t> и противник не заметит разницы. В итоге производя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dirty="0">
                    <a:ea typeface="Cambria Math" panose="02040503050406030204" pitchFamily="18" charset="0"/>
                  </a:rPr>
                  <a:t> таких модификаций мы получим эксперимент 1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:r>
                  <a:rPr lang="ru-RU" dirty="0">
                    <a:ea typeface="Cambria Math" panose="02040503050406030204" pitchFamily="18" charset="0"/>
                  </a:rPr>
                  <a:t>игры </a:t>
                </a:r>
                <a:r>
                  <a:rPr lang="en-US" dirty="0">
                    <a:ea typeface="Cambria Math" panose="02040503050406030204" pitchFamily="18" charset="0"/>
                  </a:rPr>
                  <a:t>MSS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 r="-754" b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57161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Многоразовое использование ключей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Описанная ранее семантическая стойкость с использованием множества ключей требует уникального случайного ключа для каждого нового зашифровываемого сообщения.</a:t>
            </a:r>
          </a:p>
          <a:p>
            <a:r>
              <a:rPr lang="ru-RU" dirty="0"/>
              <a:t>Можно ли построить шифр так, чтобы на одном фиксированном ключе можно было зашифровать множество сообщений?</a:t>
            </a:r>
          </a:p>
          <a:p>
            <a:r>
              <a:rPr lang="ru-RU" dirty="0"/>
              <a:t>Вводится понятие многоразовой семантической стойкости, т.е. семантической стойкости, при которой ключ используется более одного раза.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63273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Многоразовое использование ключей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Является ли одноразово семантически стойкий шифр </a:t>
                </a:r>
                <a:r>
                  <a:rPr lang="ru-RU" dirty="0" err="1"/>
                  <a:t>многоразово</a:t>
                </a:r>
                <a:r>
                  <a:rPr lang="ru-RU" dirty="0"/>
                  <a:t> семантически стойким?</a:t>
                </a:r>
              </a:p>
              <a:p>
                <a:pPr lvl="1"/>
                <a:r>
                  <a:rPr lang="ru-RU" dirty="0"/>
                  <a:t>Нет. Пример. При использовании поточного шифра необходима уникальность ключа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ru-RU" dirty="0"/>
                  <a:t>. При повторении ключа получаем двухразовый блокнот, который не является семантически стойким, так как позволяет восстановить исходные сообщения.</a:t>
                </a:r>
              </a:p>
              <a:p>
                <a:r>
                  <a:rPr lang="ru-RU" dirty="0"/>
                  <a:t>Нужно новое определение - необходим аналог семантической стойкости, но при многократном использовании ключа.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r="-1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1581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Многоразовое использование ключей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Попробуем выдвинуть необходимые требования к шифру, семантически стойкому при многократном использовании ключей.</a:t>
                </a:r>
              </a:p>
              <a:p>
                <a:r>
                  <a:rPr lang="ru-RU" dirty="0"/>
                  <a:t>Поточный поточные шифры не подходят, как видели ранее. Не подойдут и любые </a:t>
                </a:r>
                <a:r>
                  <a:rPr lang="ru-RU" b="1" dirty="0"/>
                  <a:t>детерминированные </a:t>
                </a:r>
                <a:r>
                  <a:rPr lang="ru-RU" dirty="0"/>
                  <a:t>шифры, т.е. такие, которые при  фиксированном ключе на одинаковом открытом тексте дают одинаковый выход.</a:t>
                </a:r>
              </a:p>
              <a:p>
                <a:pPr lvl="1"/>
                <a:r>
                  <a:rPr lang="ru-RU" dirty="0"/>
                  <a:t>Если противник знает, что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ru-RU" dirty="0"/>
                  <a:t> и шифр детерминированный, то он может отличить сообщения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dirty="0"/>
                  <a:t> по их </a:t>
                </a:r>
                <a:r>
                  <a:rPr lang="ru-RU" dirty="0" err="1"/>
                  <a:t>шифртекстам</a:t>
                </a:r>
                <a:r>
                  <a:rPr lang="ru-RU" dirty="0"/>
                  <a:t>.</a:t>
                </a:r>
              </a:p>
              <a:p>
                <a:pPr marL="177800" lvl="1" indent="-177800"/>
                <a:r>
                  <a:rPr lang="ru-RU" dirty="0"/>
                  <a:t>Следовательно, шифр должен быть </a:t>
                </a:r>
                <a:r>
                  <a:rPr lang="ru-RU" b="1" dirty="0"/>
                  <a:t>вероятностным</a:t>
                </a:r>
                <a:r>
                  <a:rPr lang="ru-RU" dirty="0"/>
                  <a:t>, т.е. дающим разные </a:t>
                </a:r>
                <a:r>
                  <a:rPr lang="ru-RU" dirty="0" err="1"/>
                  <a:t>шифртексты</a:t>
                </a:r>
                <a:r>
                  <a:rPr lang="ru-RU" dirty="0"/>
                  <a:t> на фиксированном ключе для указанного сообщения. Это </a:t>
                </a:r>
                <a:r>
                  <a:rPr lang="ru-RU" b="1" dirty="0"/>
                  <a:t>необходимое</a:t>
                </a:r>
                <a:r>
                  <a:rPr lang="ru-RU" dirty="0"/>
                  <a:t> условие.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2101" r="-7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9991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CPA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CPA</a:t>
            </a:r>
            <a:r>
              <a:rPr lang="ru-RU" dirty="0"/>
              <a:t> (атака по выбранному открытому тексту, атака по парам открытый текст – </a:t>
            </a:r>
            <a:r>
              <a:rPr lang="ru-RU" dirty="0" err="1"/>
              <a:t>шифртекст</a:t>
            </a:r>
            <a:r>
              <a:rPr lang="ru-RU" dirty="0"/>
              <a:t>).</a:t>
            </a:r>
          </a:p>
          <a:p>
            <a:r>
              <a:rPr lang="ru-RU" dirty="0"/>
              <a:t>Возможности противника – получить </a:t>
            </a:r>
            <a:r>
              <a:rPr lang="ru-RU" dirty="0" err="1"/>
              <a:t>шифртексты</a:t>
            </a:r>
            <a:r>
              <a:rPr lang="ru-RU" dirty="0"/>
              <a:t> для произвольных открытых текстов при фиксированном ключе.</a:t>
            </a:r>
          </a:p>
          <a:p>
            <a:r>
              <a:rPr lang="ru-RU" dirty="0"/>
              <a:t>Цель противника – атака на семантическую стойкость.</a:t>
            </a:r>
          </a:p>
          <a:p>
            <a:r>
              <a:rPr lang="ru-RU" dirty="0"/>
              <a:t>Рассмотрим игру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19700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CPA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Введём игру аналогично игре при использовании множества ключей семантически стойким шифром, но фиксируя ключ. Определим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CPA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=|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]|</m:t>
                    </m:r>
                  </m:oMath>
                </a14:m>
                <a:r>
                  <a:rPr lang="en-US" dirty="0"/>
                  <a:t>.</a:t>
                </a: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33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309019" y="3842587"/>
            <a:ext cx="1295400" cy="2620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918619" y="3328237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>
                <a:spLocks noChangeArrowheads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0045" y="3194886"/>
                <a:ext cx="427040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0619" y="3842587"/>
                <a:ext cx="1295400" cy="2620125"/>
              </a:xfrm>
              <a:prstGeom prst="rect">
                <a:avLst/>
              </a:prstGeom>
              <a:blipFill rotWithShape="0">
                <a:blip r:embed="rId4"/>
                <a:stretch>
                  <a:fillRect t="-926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3677444" y="3928314"/>
            <a:ext cx="3970338" cy="401241"/>
            <a:chOff x="1774" y="1785"/>
            <a:chExt cx="2501" cy="337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74" y="1785"/>
                  <a:ext cx="2501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1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74" y="1785"/>
                  <a:ext cx="2501" cy="336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2054431" y="3613986"/>
            <a:ext cx="6947065" cy="296494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4" name="Group 20"/>
          <p:cNvGrpSpPr>
            <a:grpSpLocks/>
          </p:cNvGrpSpPr>
          <p:nvPr/>
        </p:nvGrpSpPr>
        <p:grpSpPr bwMode="auto">
          <a:xfrm>
            <a:off x="3680619" y="4299796"/>
            <a:ext cx="3733800" cy="510780"/>
            <a:chOff x="1776" y="1981"/>
            <a:chExt cx="2352" cy="429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51" y="1981"/>
                  <a:ext cx="1072" cy="4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 smtClean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ru-RU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16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51" y="1981"/>
                  <a:ext cx="1072" cy="425"/>
                </a:xfrm>
                <a:prstGeom prst="rect">
                  <a:avLst/>
                </a:prstGeom>
                <a:blipFill>
                  <a:blip r:embed="rId6"/>
                  <a:stretch>
                    <a:fillRect r="-2867" b="-2048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143436" y="4629331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436" y="4629331"/>
                <a:ext cx="535724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21"/>
          <p:cNvGrpSpPr>
            <a:grpSpLocks/>
          </p:cNvGrpSpPr>
          <p:nvPr/>
        </p:nvGrpSpPr>
        <p:grpSpPr bwMode="auto">
          <a:xfrm>
            <a:off x="3697802" y="5132040"/>
            <a:ext cx="3822700" cy="400050"/>
            <a:chOff x="1776" y="1793"/>
            <a:chExt cx="2408" cy="336"/>
          </a:xfrm>
        </p:grpSpPr>
        <p:sp>
          <p:nvSpPr>
            <p:cNvPr id="19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80" y="1793"/>
                  <a:ext cx="240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20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80" y="1793"/>
                  <a:ext cx="2404" cy="336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1538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/>
          <p:cNvGrpSpPr>
            <a:grpSpLocks/>
          </p:cNvGrpSpPr>
          <p:nvPr/>
        </p:nvGrpSpPr>
        <p:grpSpPr bwMode="auto">
          <a:xfrm>
            <a:off x="3697802" y="5509477"/>
            <a:ext cx="3733800" cy="510780"/>
            <a:chOff x="1776" y="1994"/>
            <a:chExt cx="2352" cy="429"/>
          </a:xfrm>
        </p:grpSpPr>
        <p:sp>
          <p:nvSpPr>
            <p:cNvPr id="22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05" y="1994"/>
                  <a:ext cx="1048" cy="4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 smtClean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3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05" y="1994"/>
                  <a:ext cx="1048" cy="429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r="-2930" b="-202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143436" y="5850652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436" y="5850652"/>
                <a:ext cx="535724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13"/>
              <p:cNvSpPr txBox="1">
                <a:spLocks noChangeArrowheads="1"/>
              </p:cNvSpPr>
              <p:nvPr/>
            </p:nvSpPr>
            <p:spPr bwMode="auto">
              <a:xfrm>
                <a:off x="2539207" y="4218608"/>
                <a:ext cx="632609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 i="1" dirty="0"/>
                  <a:t>k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25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9207" y="4218608"/>
                <a:ext cx="632609" cy="423129"/>
              </a:xfrm>
              <a:prstGeom prst="rect">
                <a:avLst/>
              </a:prstGeom>
              <a:blipFill rotWithShape="0">
                <a:blip r:embed="rId11"/>
                <a:stretch>
                  <a:fillRect l="-5825" r="-28155" b="-4492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0"/>
          <p:cNvGrpSpPr>
            <a:grpSpLocks/>
          </p:cNvGrpSpPr>
          <p:nvPr/>
        </p:nvGrpSpPr>
        <p:grpSpPr bwMode="auto">
          <a:xfrm>
            <a:off x="8763000" y="4555186"/>
            <a:ext cx="1701026" cy="427436"/>
            <a:chOff x="1776" y="2051"/>
            <a:chExt cx="2896" cy="359"/>
          </a:xfrm>
        </p:grpSpPr>
        <p:sp>
          <p:nvSpPr>
            <p:cNvPr id="27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318878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CPA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 называется стойким к атаке по выбранным открытым текстам (</a:t>
                </a:r>
                <a:r>
                  <a:rPr lang="en-US" dirty="0"/>
                  <a:t>CPA </a:t>
                </a:r>
                <a:r>
                  <a:rPr lang="ru-RU" dirty="0"/>
                  <a:t>стойким), если величина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CPA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 – пренебрежимо малая.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параметр, определяющий максимальное количество сообщений противника.</a:t>
                </a: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Заметим, что противник может получить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отправив претенденту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34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380271" y="4780739"/>
            <a:ext cx="1295400" cy="16819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989871" y="4266388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7"/>
              <p:cNvSpPr>
                <a:spLocks noChangeArrowheads="1"/>
              </p:cNvSpPr>
              <p:nvPr/>
            </p:nvSpPr>
            <p:spPr bwMode="auto">
              <a:xfrm>
                <a:off x="7561871" y="4780739"/>
                <a:ext cx="1295400" cy="168197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61871" y="4780739"/>
                <a:ext cx="1295400" cy="1681974"/>
              </a:xfrm>
              <a:prstGeom prst="rect">
                <a:avLst/>
              </a:prstGeom>
              <a:blipFill rotWithShape="0">
                <a:blip r:embed="rId3"/>
                <a:stretch>
                  <a:fillRect t="-143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8"/>
          <p:cNvSpPr>
            <a:spLocks noChangeArrowheads="1"/>
          </p:cNvSpPr>
          <p:nvPr/>
        </p:nvSpPr>
        <p:spPr bwMode="auto">
          <a:xfrm>
            <a:off x="2125683" y="4552137"/>
            <a:ext cx="6947065" cy="2031755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6" name="Group 21"/>
          <p:cNvGrpSpPr>
            <a:grpSpLocks/>
          </p:cNvGrpSpPr>
          <p:nvPr/>
        </p:nvGrpSpPr>
        <p:grpSpPr bwMode="auto">
          <a:xfrm>
            <a:off x="3739171" y="5342060"/>
            <a:ext cx="3822700" cy="400050"/>
            <a:chOff x="1776" y="1793"/>
            <a:chExt cx="2408" cy="336"/>
          </a:xfrm>
        </p:grpSpPr>
        <p:sp>
          <p:nvSpPr>
            <p:cNvPr id="17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80" y="1793"/>
                  <a:ext cx="240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8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80" y="1793"/>
                  <a:ext cx="2404" cy="336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20"/>
          <p:cNvGrpSpPr>
            <a:grpSpLocks/>
          </p:cNvGrpSpPr>
          <p:nvPr/>
        </p:nvGrpSpPr>
        <p:grpSpPr bwMode="auto">
          <a:xfrm>
            <a:off x="3739171" y="5704019"/>
            <a:ext cx="3733800" cy="510780"/>
            <a:chOff x="1776" y="1981"/>
            <a:chExt cx="2352" cy="429"/>
          </a:xfrm>
        </p:grpSpPr>
        <p:sp>
          <p:nvSpPr>
            <p:cNvPr id="20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58" y="1981"/>
                  <a:ext cx="1048" cy="4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 smtClean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1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58" y="1981"/>
                  <a:ext cx="1048" cy="429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r="-2564" b="-21687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13"/>
              <p:cNvSpPr txBox="1">
                <a:spLocks noChangeArrowheads="1"/>
              </p:cNvSpPr>
              <p:nvPr/>
            </p:nvSpPr>
            <p:spPr bwMode="auto">
              <a:xfrm>
                <a:off x="2610459" y="5156759"/>
                <a:ext cx="632609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 i="1" dirty="0"/>
                  <a:t>k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23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10459" y="5156759"/>
                <a:ext cx="632609" cy="423129"/>
              </a:xfrm>
              <a:prstGeom prst="rect">
                <a:avLst/>
              </a:prstGeom>
              <a:blipFill rotWithShape="0">
                <a:blip r:embed="rId6"/>
                <a:stretch>
                  <a:fillRect l="-4808" r="-27885" b="-4492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0"/>
          <p:cNvGrpSpPr>
            <a:grpSpLocks/>
          </p:cNvGrpSpPr>
          <p:nvPr/>
        </p:nvGrpSpPr>
        <p:grpSpPr bwMode="auto">
          <a:xfrm>
            <a:off x="8834252" y="5493337"/>
            <a:ext cx="1701026" cy="427436"/>
            <a:chOff x="1776" y="2051"/>
            <a:chExt cx="2896" cy="359"/>
          </a:xfrm>
        </p:grpSpPr>
        <p:sp>
          <p:nvSpPr>
            <p:cNvPr id="25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6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TextBox 27"/>
          <p:cNvSpPr txBox="1"/>
          <p:nvPr/>
        </p:nvSpPr>
        <p:spPr>
          <a:xfrm>
            <a:off x="3741192" y="4940643"/>
            <a:ext cx="1064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=1..</a:t>
            </a:r>
            <a:r>
              <a:rPr lang="en-US" i="1" dirty="0"/>
              <a:t>q</a:t>
            </a:r>
            <a:endParaRPr lang="ru-RU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Box 6"/>
              <p:cNvSpPr txBox="1">
                <a:spLocks noChangeArrowheads="1"/>
              </p:cNvSpPr>
              <p:nvPr/>
            </p:nvSpPr>
            <p:spPr bwMode="auto">
              <a:xfrm>
                <a:off x="2961297" y="4133037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61297" y="4133037"/>
                <a:ext cx="42704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44036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CPA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34552"/>
          </a:xfrm>
        </p:spPr>
        <p:txBody>
          <a:bodyPr/>
          <a:lstStyle/>
          <a:p>
            <a:r>
              <a:rPr lang="ru-RU" dirty="0"/>
              <a:t>Детерминированные шифры не </a:t>
            </a:r>
            <a:r>
              <a:rPr lang="en-US" dirty="0"/>
              <a:t>CPA </a:t>
            </a:r>
            <a:r>
              <a:rPr lang="ru-RU" dirty="0"/>
              <a:t>стойкие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ru-RU" dirty="0"/>
              <a:t>Следовательно необходимо использовать вероятностные алгоритмы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35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729839" y="2747423"/>
            <a:ext cx="1295400" cy="2620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339439" y="2233073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>
                <a:spLocks noChangeArrowheads="1"/>
              </p:cNvSpPr>
              <p:nvPr/>
            </p:nvSpPr>
            <p:spPr bwMode="auto">
              <a:xfrm>
                <a:off x="2310865" y="2099722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10865" y="2099722"/>
                <a:ext cx="427040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6911439" y="2747423"/>
                <a:ext cx="1295400" cy="26201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11439" y="2747423"/>
                <a:ext cx="1295400" cy="2620125"/>
              </a:xfrm>
              <a:prstGeom prst="rect">
                <a:avLst/>
              </a:prstGeom>
              <a:blipFill rotWithShape="0">
                <a:blip r:embed="rId4"/>
                <a:stretch>
                  <a:fillRect t="-1157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3101439" y="2809340"/>
            <a:ext cx="3810000" cy="425054"/>
            <a:chOff x="1776" y="1765"/>
            <a:chExt cx="2400" cy="357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365" y="1765"/>
                  <a:ext cx="1002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∈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1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65" y="1765"/>
                  <a:ext cx="1002" cy="336"/>
                </a:xfrm>
                <a:prstGeom prst="rect">
                  <a:avLst/>
                </a:prstGeom>
                <a:blipFill>
                  <a:blip r:embed="rId5"/>
                  <a:stretch>
                    <a:fillRect b="-15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1475251" y="2518822"/>
            <a:ext cx="6947065" cy="296494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" name="Group 20"/>
          <p:cNvGrpSpPr>
            <a:grpSpLocks/>
          </p:cNvGrpSpPr>
          <p:nvPr/>
        </p:nvGrpSpPr>
        <p:grpSpPr bwMode="auto">
          <a:xfrm>
            <a:off x="3101439" y="3215347"/>
            <a:ext cx="3733800" cy="500064"/>
            <a:chOff x="1776" y="1990"/>
            <a:chExt cx="2352" cy="420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1990"/>
                  <a:ext cx="99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 smtClean="0"/>
                        <m:t>c</m:t>
                      </m:r>
                      <m:r>
                        <a:rPr lang="ru-RU" sz="2000" b="0" i="1" dirty="0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15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1990"/>
                  <a:ext cx="998" cy="336"/>
                </a:xfrm>
                <a:prstGeom prst="rect">
                  <a:avLst/>
                </a:prstGeom>
                <a:blipFill>
                  <a:blip r:embed="rId6"/>
                  <a:stretch>
                    <a:fillRect t="-7576" r="-3077" b="-2575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21"/>
          <p:cNvGrpSpPr>
            <a:grpSpLocks/>
          </p:cNvGrpSpPr>
          <p:nvPr/>
        </p:nvGrpSpPr>
        <p:grpSpPr bwMode="auto">
          <a:xfrm>
            <a:off x="3118622" y="4036876"/>
            <a:ext cx="3810000" cy="400050"/>
            <a:chOff x="1776" y="1793"/>
            <a:chExt cx="2400" cy="336"/>
          </a:xfrm>
        </p:grpSpPr>
        <p:sp>
          <p:nvSpPr>
            <p:cNvPr id="18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80" y="1793"/>
                  <a:ext cx="2227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9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80" y="1793"/>
                  <a:ext cx="2227" cy="336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20"/>
          <p:cNvGrpSpPr>
            <a:grpSpLocks/>
          </p:cNvGrpSpPr>
          <p:nvPr/>
        </p:nvGrpSpPr>
        <p:grpSpPr bwMode="auto">
          <a:xfrm>
            <a:off x="3118622" y="4434554"/>
            <a:ext cx="3733800" cy="475061"/>
            <a:chOff x="1776" y="2011"/>
            <a:chExt cx="2352" cy="399"/>
          </a:xfrm>
        </p:grpSpPr>
        <p:sp>
          <p:nvSpPr>
            <p:cNvPr id="21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354" y="2011"/>
                  <a:ext cx="996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 smtClean="0"/>
                        <m:t>c</m:t>
                      </m:r>
                      <m:r>
                        <a:rPr lang="ru-RU" sz="2000" i="1" dirty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2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54" y="2011"/>
                  <a:ext cx="996" cy="336"/>
                </a:xfrm>
                <a:prstGeom prst="rect">
                  <a:avLst/>
                </a:prstGeom>
                <a:blipFill>
                  <a:blip r:embed="rId9"/>
                  <a:stretch>
                    <a:fillRect t="-7576" r="-3475" b="-2575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13"/>
              <p:cNvSpPr txBox="1">
                <a:spLocks noChangeArrowheads="1"/>
              </p:cNvSpPr>
              <p:nvPr/>
            </p:nvSpPr>
            <p:spPr bwMode="auto">
              <a:xfrm>
                <a:off x="1960027" y="3123444"/>
                <a:ext cx="632609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 i="1" dirty="0"/>
                  <a:t>k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24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60027" y="3123444"/>
                <a:ext cx="632609" cy="423129"/>
              </a:xfrm>
              <a:prstGeom prst="rect">
                <a:avLst/>
              </a:prstGeom>
              <a:blipFill rotWithShape="0">
                <a:blip r:embed="rId10"/>
                <a:stretch>
                  <a:fillRect l="-5825" r="-28155" b="-4285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0"/>
          <p:cNvGrpSpPr>
            <a:grpSpLocks/>
          </p:cNvGrpSpPr>
          <p:nvPr/>
        </p:nvGrpSpPr>
        <p:grpSpPr bwMode="auto">
          <a:xfrm>
            <a:off x="8204562" y="3441092"/>
            <a:ext cx="2267253" cy="708425"/>
            <a:chOff x="1776" y="1852"/>
            <a:chExt cx="3860" cy="595"/>
          </a:xfrm>
        </p:grpSpPr>
        <p:sp>
          <p:nvSpPr>
            <p:cNvPr id="26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223" y="1852"/>
                  <a:ext cx="3413" cy="59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if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=0, </m:t>
                        </m:r>
                      </m:oMath>
                    </m:oMathPara>
                  </a14:m>
                  <a:endParaRPr lang="en-US" sz="20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else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7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23" y="1852"/>
                  <a:ext cx="3413" cy="595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368070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CPA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Альтернативное определение преимущества – вероятность угадывания эксперимента противником.</a:t>
                </a:r>
                <a:r>
                  <a:rPr lang="en-US" dirty="0"/>
                  <a:t> </a:t>
                </a:r>
                <a:r>
                  <a:rPr lang="ru-RU" dirty="0"/>
                  <a:t>Обозначим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𝐶𝑃𝐴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𝑎𝑑𝑣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CPA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=2∗</m:t>
                      </m:r>
                      <m:sSubSup>
                        <m:sSubSup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CPA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36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380271" y="4780739"/>
            <a:ext cx="1295400" cy="16819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989871" y="4266388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7"/>
              <p:cNvSpPr>
                <a:spLocks noChangeArrowheads="1"/>
              </p:cNvSpPr>
              <p:nvPr/>
            </p:nvSpPr>
            <p:spPr bwMode="auto">
              <a:xfrm>
                <a:off x="7561871" y="4780739"/>
                <a:ext cx="1295400" cy="168197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61871" y="4780739"/>
                <a:ext cx="1295400" cy="1681974"/>
              </a:xfrm>
              <a:prstGeom prst="rect">
                <a:avLst/>
              </a:prstGeom>
              <a:blipFill rotWithShape="0">
                <a:blip r:embed="rId3"/>
                <a:stretch>
                  <a:fillRect t="-143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18"/>
          <p:cNvSpPr>
            <a:spLocks noChangeArrowheads="1"/>
          </p:cNvSpPr>
          <p:nvPr/>
        </p:nvSpPr>
        <p:spPr bwMode="auto">
          <a:xfrm>
            <a:off x="2125683" y="4552137"/>
            <a:ext cx="6947065" cy="2031755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3739171" y="5342060"/>
            <a:ext cx="3822700" cy="400050"/>
            <a:chOff x="1776" y="1793"/>
            <a:chExt cx="2408" cy="336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780" y="1793"/>
                  <a:ext cx="240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1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80" y="1793"/>
                  <a:ext cx="2404" cy="336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20"/>
          <p:cNvGrpSpPr>
            <a:grpSpLocks/>
          </p:cNvGrpSpPr>
          <p:nvPr/>
        </p:nvGrpSpPr>
        <p:grpSpPr bwMode="auto">
          <a:xfrm>
            <a:off x="3739171" y="5693305"/>
            <a:ext cx="3733800" cy="521496"/>
            <a:chOff x="1776" y="1972"/>
            <a:chExt cx="2352" cy="438"/>
          </a:xfrm>
        </p:grpSpPr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1972"/>
                  <a:ext cx="1048" cy="4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 smtClean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14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1972"/>
                  <a:ext cx="1048" cy="429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r="-2930" b="-202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3"/>
              <p:cNvSpPr txBox="1">
                <a:spLocks noChangeArrowheads="1"/>
              </p:cNvSpPr>
              <p:nvPr/>
            </p:nvSpPr>
            <p:spPr bwMode="auto">
              <a:xfrm>
                <a:off x="2610459" y="5156759"/>
                <a:ext cx="632609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 i="1" dirty="0"/>
                  <a:t>k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5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10459" y="5156759"/>
                <a:ext cx="632609" cy="423129"/>
              </a:xfrm>
              <a:prstGeom prst="rect">
                <a:avLst/>
              </a:prstGeom>
              <a:blipFill rotWithShape="0">
                <a:blip r:embed="rId6"/>
                <a:stretch>
                  <a:fillRect l="-4808" r="-27885" b="-4492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20"/>
          <p:cNvGrpSpPr>
            <a:grpSpLocks/>
          </p:cNvGrpSpPr>
          <p:nvPr/>
        </p:nvGrpSpPr>
        <p:grpSpPr bwMode="auto">
          <a:xfrm>
            <a:off x="8834252" y="5493337"/>
            <a:ext cx="1701026" cy="427436"/>
            <a:chOff x="1776" y="2051"/>
            <a:chExt cx="2896" cy="359"/>
          </a:xfrm>
        </p:grpSpPr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2224" cy="336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TextBox 18"/>
          <p:cNvSpPr txBox="1"/>
          <p:nvPr/>
        </p:nvSpPr>
        <p:spPr>
          <a:xfrm>
            <a:off x="3741192" y="4940643"/>
            <a:ext cx="1064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=1..</a:t>
            </a:r>
            <a:r>
              <a:rPr lang="en-US" i="1" dirty="0"/>
              <a:t>q</a:t>
            </a:r>
            <a:endParaRPr lang="ru-RU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6"/>
              <p:cNvSpPr txBox="1">
                <a:spLocks noChangeArrowheads="1"/>
              </p:cNvSpPr>
              <p:nvPr/>
            </p:nvSpPr>
            <p:spPr bwMode="auto">
              <a:xfrm>
                <a:off x="2961297" y="4133037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61297" y="4133037"/>
                <a:ext cx="42704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15839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Вероятностное шифрование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 показано ранее, для </a:t>
            </a:r>
            <a:r>
              <a:rPr lang="en-US" dirty="0"/>
              <a:t>CPA </a:t>
            </a:r>
            <a:r>
              <a:rPr lang="ru-RU" dirty="0"/>
              <a:t>стойкости необходима «рандомизация» </a:t>
            </a:r>
            <a:r>
              <a:rPr lang="ru-RU" dirty="0" err="1"/>
              <a:t>шифртекстов</a:t>
            </a:r>
            <a:endParaRPr lang="ru-RU" dirty="0"/>
          </a:p>
          <a:p>
            <a:r>
              <a:rPr lang="ru-RU" dirty="0"/>
              <a:t>Подход 1 – рандомизация функции </a:t>
            </a:r>
            <a:r>
              <a:rPr lang="ru-RU" dirty="0" err="1"/>
              <a:t>зашифрования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lvl="1"/>
            <a:r>
              <a:rPr lang="ru-RU" dirty="0" err="1"/>
              <a:t>Зашифрование</a:t>
            </a:r>
            <a:r>
              <a:rPr lang="ru-RU" dirty="0"/>
              <a:t> одного и того же сообщения даст разные </a:t>
            </a:r>
            <a:r>
              <a:rPr lang="ru-RU" dirty="0" err="1"/>
              <a:t>шифртексты</a:t>
            </a:r>
            <a:endParaRPr lang="ru-RU" dirty="0"/>
          </a:p>
          <a:p>
            <a:pPr lvl="1"/>
            <a:r>
              <a:rPr lang="ru-RU" dirty="0"/>
              <a:t>Необходим внешний источник энтропии</a:t>
            </a:r>
          </a:p>
          <a:p>
            <a:pPr lvl="1"/>
            <a:r>
              <a:rPr lang="ru-RU" dirty="0" err="1"/>
              <a:t>Шифртексты</a:t>
            </a:r>
            <a:r>
              <a:rPr lang="ru-RU" dirty="0"/>
              <a:t> всегда длиннее открытых текстов, так как необходимо также передать энтропию, необходимую для восстановления открытого текста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37</a:t>
            </a:fld>
            <a:endParaRPr lang="ru-RU"/>
          </a:p>
        </p:txBody>
      </p:sp>
      <p:sp>
        <p:nvSpPr>
          <p:cNvPr id="5" name="Rounded Rectangle 3"/>
          <p:cNvSpPr/>
          <p:nvPr/>
        </p:nvSpPr>
        <p:spPr>
          <a:xfrm>
            <a:off x="4980326" y="3334987"/>
            <a:ext cx="1524000" cy="12192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6" name="Oval 4"/>
          <p:cNvSpPr/>
          <p:nvPr/>
        </p:nvSpPr>
        <p:spPr>
          <a:xfrm>
            <a:off x="5437526" y="3411187"/>
            <a:ext cx="457200" cy="4572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Oval 5"/>
          <p:cNvSpPr/>
          <p:nvPr/>
        </p:nvSpPr>
        <p:spPr>
          <a:xfrm>
            <a:off x="5437526" y="4020787"/>
            <a:ext cx="457200" cy="457200"/>
          </a:xfrm>
          <a:prstGeom prst="ellipse">
            <a:avLst/>
          </a:prstGeom>
          <a:solidFill>
            <a:srgbClr val="A6A6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922926" y="3940122"/>
            <a:ext cx="534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m</a:t>
            </a:r>
            <a:r>
              <a:rPr lang="en-US" sz="2400" baseline="-25000" dirty="0"/>
              <a:t>1</a:t>
            </a:r>
          </a:p>
        </p:txBody>
      </p:sp>
      <p:cxnSp>
        <p:nvCxnSpPr>
          <p:cNvPr id="9" name="Straight Arrow Connector 28"/>
          <p:cNvCxnSpPr/>
          <p:nvPr/>
        </p:nvCxnSpPr>
        <p:spPr>
          <a:xfrm flipV="1">
            <a:off x="3471327" y="4146797"/>
            <a:ext cx="2249201" cy="39477"/>
          </a:xfrm>
          <a:prstGeom prst="straightConnector1">
            <a:avLst/>
          </a:prstGeom>
          <a:ln>
            <a:solidFill>
              <a:srgbClr val="008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29"/>
          <p:cNvCxnSpPr/>
          <p:nvPr/>
        </p:nvCxnSpPr>
        <p:spPr>
          <a:xfrm>
            <a:off x="3456326" y="4181274"/>
            <a:ext cx="2244201" cy="185513"/>
          </a:xfrm>
          <a:prstGeom prst="straightConnector1">
            <a:avLst/>
          </a:prstGeom>
          <a:ln>
            <a:solidFill>
              <a:srgbClr val="008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30"/>
          <p:cNvCxnSpPr/>
          <p:nvPr/>
        </p:nvCxnSpPr>
        <p:spPr>
          <a:xfrm>
            <a:off x="3471327" y="4186274"/>
            <a:ext cx="2304202" cy="65605"/>
          </a:xfrm>
          <a:prstGeom prst="straightConnector1">
            <a:avLst/>
          </a:prstGeom>
          <a:ln>
            <a:solidFill>
              <a:srgbClr val="008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32"/>
          <p:cNvGrpSpPr/>
          <p:nvPr/>
        </p:nvGrpSpPr>
        <p:grpSpPr>
          <a:xfrm>
            <a:off x="2922926" y="3207987"/>
            <a:ext cx="2853724" cy="588665"/>
            <a:chOff x="1676400" y="1606550"/>
            <a:chExt cx="2853724" cy="588665"/>
          </a:xfrm>
        </p:grpSpPr>
        <p:sp>
          <p:nvSpPr>
            <p:cNvPr id="24" name="TextBox 6"/>
            <p:cNvSpPr txBox="1"/>
            <p:nvPr/>
          </p:nvSpPr>
          <p:spPr>
            <a:xfrm>
              <a:off x="1676400" y="1733550"/>
              <a:ext cx="5345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m</a:t>
              </a:r>
              <a:r>
                <a:rPr lang="en-US" sz="2400" baseline="-25000" dirty="0"/>
                <a:t>0</a:t>
              </a:r>
            </a:p>
          </p:txBody>
        </p:sp>
        <p:cxnSp>
          <p:nvCxnSpPr>
            <p:cNvPr id="25" name="Straight Arrow Connector 11"/>
            <p:cNvCxnSpPr/>
            <p:nvPr/>
          </p:nvCxnSpPr>
          <p:spPr>
            <a:xfrm flipV="1">
              <a:off x="2225922" y="1929906"/>
              <a:ext cx="2249201" cy="39477"/>
            </a:xfrm>
            <a:prstGeom prst="straightConnector1">
              <a:avLst/>
            </a:prstGeom>
            <a:ln>
              <a:solidFill>
                <a:srgbClr val="008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13"/>
            <p:cNvCxnSpPr>
              <a:stCxn id="24" idx="3"/>
            </p:cNvCxnSpPr>
            <p:nvPr/>
          </p:nvCxnSpPr>
          <p:spPr>
            <a:xfrm>
              <a:off x="2210921" y="1964383"/>
              <a:ext cx="2244201" cy="185513"/>
            </a:xfrm>
            <a:prstGeom prst="straightConnector1">
              <a:avLst/>
            </a:prstGeom>
            <a:ln>
              <a:solidFill>
                <a:srgbClr val="008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15"/>
            <p:cNvCxnSpPr/>
            <p:nvPr/>
          </p:nvCxnSpPr>
          <p:spPr>
            <a:xfrm>
              <a:off x="2225922" y="1969383"/>
              <a:ext cx="2304202" cy="65605"/>
            </a:xfrm>
            <a:prstGeom prst="straightConnector1">
              <a:avLst/>
            </a:prstGeom>
            <a:ln>
              <a:solidFill>
                <a:srgbClr val="008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31"/>
            <p:cNvSpPr txBox="1"/>
            <p:nvPr/>
          </p:nvSpPr>
          <p:spPr>
            <a:xfrm>
              <a:off x="2758196" y="1606550"/>
              <a:ext cx="518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/>
                <a:t>enc</a:t>
              </a:r>
              <a:endParaRPr lang="en-US" dirty="0"/>
            </a:p>
          </p:txBody>
        </p:sp>
      </p:grpSp>
      <p:grpSp>
        <p:nvGrpSpPr>
          <p:cNvPr id="13" name="Group 33"/>
          <p:cNvGrpSpPr/>
          <p:nvPr/>
        </p:nvGrpSpPr>
        <p:grpSpPr>
          <a:xfrm flipH="1">
            <a:off x="5756876" y="3182587"/>
            <a:ext cx="2853724" cy="588665"/>
            <a:chOff x="1676400" y="1606550"/>
            <a:chExt cx="2853724" cy="588665"/>
          </a:xfrm>
        </p:grpSpPr>
        <p:sp>
          <p:nvSpPr>
            <p:cNvPr id="19" name="TextBox 34"/>
            <p:cNvSpPr txBox="1"/>
            <p:nvPr/>
          </p:nvSpPr>
          <p:spPr>
            <a:xfrm>
              <a:off x="1676400" y="1733550"/>
              <a:ext cx="5345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m</a:t>
              </a:r>
              <a:r>
                <a:rPr lang="en-US" sz="2400" baseline="-25000" dirty="0"/>
                <a:t>0</a:t>
              </a:r>
            </a:p>
          </p:txBody>
        </p:sp>
        <p:cxnSp>
          <p:nvCxnSpPr>
            <p:cNvPr id="20" name="Straight Arrow Connector 35"/>
            <p:cNvCxnSpPr/>
            <p:nvPr/>
          </p:nvCxnSpPr>
          <p:spPr>
            <a:xfrm flipV="1">
              <a:off x="2225922" y="1929906"/>
              <a:ext cx="2249201" cy="39477"/>
            </a:xfrm>
            <a:prstGeom prst="straightConnector1">
              <a:avLst/>
            </a:prstGeom>
            <a:ln>
              <a:solidFill>
                <a:srgbClr val="000090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36"/>
            <p:cNvCxnSpPr>
              <a:stCxn id="19" idx="3"/>
            </p:cNvCxnSpPr>
            <p:nvPr/>
          </p:nvCxnSpPr>
          <p:spPr>
            <a:xfrm>
              <a:off x="2210921" y="1964383"/>
              <a:ext cx="2244201" cy="185513"/>
            </a:xfrm>
            <a:prstGeom prst="straightConnector1">
              <a:avLst/>
            </a:prstGeom>
            <a:ln>
              <a:solidFill>
                <a:srgbClr val="000090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37"/>
            <p:cNvCxnSpPr/>
            <p:nvPr/>
          </p:nvCxnSpPr>
          <p:spPr>
            <a:xfrm>
              <a:off x="2225922" y="1969383"/>
              <a:ext cx="2304202" cy="65605"/>
            </a:xfrm>
            <a:prstGeom prst="straightConnector1">
              <a:avLst/>
            </a:prstGeom>
            <a:ln>
              <a:solidFill>
                <a:srgbClr val="000090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38"/>
            <p:cNvSpPr txBox="1"/>
            <p:nvPr/>
          </p:nvSpPr>
          <p:spPr>
            <a:xfrm>
              <a:off x="2758196" y="1606550"/>
              <a:ext cx="518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/>
                <a:t>dec</a:t>
              </a:r>
              <a:endParaRPr lang="en-US" dirty="0"/>
            </a:p>
          </p:txBody>
        </p:sp>
      </p:grpSp>
      <p:grpSp>
        <p:nvGrpSpPr>
          <p:cNvPr id="14" name="Group 39"/>
          <p:cNvGrpSpPr/>
          <p:nvPr/>
        </p:nvGrpSpPr>
        <p:grpSpPr>
          <a:xfrm flipH="1">
            <a:off x="5742326" y="3919187"/>
            <a:ext cx="2853724" cy="461665"/>
            <a:chOff x="1676400" y="1733550"/>
            <a:chExt cx="2853724" cy="461665"/>
          </a:xfrm>
        </p:grpSpPr>
        <p:sp>
          <p:nvSpPr>
            <p:cNvPr id="15" name="TextBox 40"/>
            <p:cNvSpPr txBox="1"/>
            <p:nvPr/>
          </p:nvSpPr>
          <p:spPr>
            <a:xfrm>
              <a:off x="1676400" y="1733550"/>
              <a:ext cx="5345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m</a:t>
              </a:r>
              <a:r>
                <a:rPr lang="en-US" sz="2400" baseline="-25000" dirty="0"/>
                <a:t>1</a:t>
              </a:r>
            </a:p>
          </p:txBody>
        </p:sp>
        <p:cxnSp>
          <p:nvCxnSpPr>
            <p:cNvPr id="16" name="Straight Arrow Connector 41"/>
            <p:cNvCxnSpPr/>
            <p:nvPr/>
          </p:nvCxnSpPr>
          <p:spPr>
            <a:xfrm flipV="1">
              <a:off x="2225922" y="1929906"/>
              <a:ext cx="2249201" cy="39477"/>
            </a:xfrm>
            <a:prstGeom prst="straightConnector1">
              <a:avLst/>
            </a:prstGeom>
            <a:ln>
              <a:solidFill>
                <a:srgbClr val="000090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42"/>
            <p:cNvCxnSpPr>
              <a:stCxn id="15" idx="3"/>
            </p:cNvCxnSpPr>
            <p:nvPr/>
          </p:nvCxnSpPr>
          <p:spPr>
            <a:xfrm>
              <a:off x="2210921" y="1964383"/>
              <a:ext cx="2244200" cy="185513"/>
            </a:xfrm>
            <a:prstGeom prst="straightConnector1">
              <a:avLst/>
            </a:prstGeom>
            <a:ln>
              <a:solidFill>
                <a:srgbClr val="000090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43"/>
            <p:cNvCxnSpPr/>
            <p:nvPr/>
          </p:nvCxnSpPr>
          <p:spPr>
            <a:xfrm>
              <a:off x="2225922" y="1969383"/>
              <a:ext cx="2304202" cy="65605"/>
            </a:xfrm>
            <a:prstGeom prst="straightConnector1">
              <a:avLst/>
            </a:prstGeom>
            <a:ln>
              <a:solidFill>
                <a:srgbClr val="000090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017746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Вероятностное шифрование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Подход 2 – использование уникальных, неповторяющихся величин (</a:t>
                </a:r>
                <a:r>
                  <a:rPr lang="en-US" dirty="0"/>
                  <a:t>nonce)</a:t>
                </a:r>
                <a:endParaRPr lang="ru-RU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,∗,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∗,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ru-RU" dirty="0"/>
              </a:p>
              <a:p>
                <a:r>
                  <a:rPr lang="en-US" dirty="0"/>
                  <a:t>Nonce </a:t>
                </a:r>
                <a:r>
                  <a:rPr lang="ru-RU" dirty="0"/>
                  <a:t>должна быть уникально для каждого сообщения, пара </a:t>
                </a:r>
                <a:r>
                  <a:rPr lang="en-US" dirty="0"/>
                  <a:t>(nonce, key)</a:t>
                </a:r>
                <a:r>
                  <a:rPr lang="ru-RU" dirty="0"/>
                  <a:t> не должна повторяться при жизни ключа.</a:t>
                </a:r>
              </a:p>
              <a:p>
                <a:r>
                  <a:rPr lang="ru-RU" dirty="0"/>
                  <a:t>В качестве </a:t>
                </a:r>
                <a:r>
                  <a:rPr lang="en-US" dirty="0"/>
                  <a:t>nonce </a:t>
                </a:r>
                <a:r>
                  <a:rPr lang="ru-RU" dirty="0"/>
                  <a:t>можно использовать счётчик или случайные величины</a:t>
                </a:r>
              </a:p>
              <a:p>
                <a:r>
                  <a:rPr lang="en-US" dirty="0"/>
                  <a:t>Nonce </a:t>
                </a:r>
                <a:r>
                  <a:rPr lang="ru-RU" dirty="0"/>
                  <a:t>может не пересылаться в явном виде, обе стороны могут синхронно обновлять её независимо.</a:t>
                </a:r>
                <a:endParaRPr lang="en-US" dirty="0"/>
              </a:p>
              <a:p>
                <a:r>
                  <a:rPr lang="ru-RU" dirty="0"/>
                  <a:t>Не любое использование </a:t>
                </a:r>
                <a:r>
                  <a:rPr lang="en-US" dirty="0"/>
                  <a:t>nonce </a:t>
                </a:r>
                <a:r>
                  <a:rPr lang="ru-RU" dirty="0"/>
                  <a:t>даёт стойкие схемы!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2101" b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51638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3151</TotalTime>
  <Words>3583</Words>
  <Application>Microsoft Office PowerPoint</Application>
  <PresentationFormat>Широкоэкранный</PresentationFormat>
  <Paragraphs>412</Paragraphs>
  <Slides>38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Symbol</vt:lpstr>
      <vt:lpstr>Тема Office</vt:lpstr>
      <vt:lpstr>Прикладная Криптография: Симметричные криптосистемы Псевдослучайные функции</vt:lpstr>
      <vt:lpstr>PRP и PRF</vt:lpstr>
      <vt:lpstr>Стойкая PRF</vt:lpstr>
      <vt:lpstr>Стойкая PRP</vt:lpstr>
      <vt:lpstr>Является ли PRP PRF?</vt:lpstr>
      <vt:lpstr>Является ли PRP PRF?</vt:lpstr>
      <vt:lpstr>Является ли PRP PRF?</vt:lpstr>
      <vt:lpstr>PRF switching Lemma</vt:lpstr>
      <vt:lpstr>Игра Подстановки против Функций</vt:lpstr>
      <vt:lpstr>PRF switching Lemma</vt:lpstr>
      <vt:lpstr>PRF switching Lemma</vt:lpstr>
      <vt:lpstr>PRF switching Lemma</vt:lpstr>
      <vt:lpstr>PRF switching Lemma</vt:lpstr>
      <vt:lpstr>Игра на различимость RF, RP и PRP</vt:lpstr>
      <vt:lpstr>Построение PRG из PRF</vt:lpstr>
      <vt:lpstr>CTR, вспомним 2 теоремы</vt:lpstr>
      <vt:lpstr>CTR</vt:lpstr>
      <vt:lpstr>CTR</vt:lpstr>
      <vt:lpstr>CTR</vt:lpstr>
      <vt:lpstr>CTR</vt:lpstr>
      <vt:lpstr>CTR</vt:lpstr>
      <vt:lpstr>Многоразовое использование ключей</vt:lpstr>
      <vt:lpstr>Многоразовое использование ключей</vt:lpstr>
      <vt:lpstr>Использование множества ключей</vt:lpstr>
      <vt:lpstr>Использование множества ключей</vt:lpstr>
      <vt:lpstr>Использование множества ключей</vt:lpstr>
      <vt:lpstr>Использование множества ключей</vt:lpstr>
      <vt:lpstr>Использование множества ключей</vt:lpstr>
      <vt:lpstr>Многоразовое использование ключей</vt:lpstr>
      <vt:lpstr>Многоразовое использование ключей</vt:lpstr>
      <vt:lpstr>Многоразовое использование ключей</vt:lpstr>
      <vt:lpstr>CPA</vt:lpstr>
      <vt:lpstr>CPA</vt:lpstr>
      <vt:lpstr>CPA</vt:lpstr>
      <vt:lpstr>CPA</vt:lpstr>
      <vt:lpstr>CPA</vt:lpstr>
      <vt:lpstr>Вероятностное шифрование</vt:lpstr>
      <vt:lpstr>Вероятностное шифрование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Fasjeit</dc:creator>
  <cp:lastModifiedBy>Fasjeit</cp:lastModifiedBy>
  <cp:revision>869</cp:revision>
  <dcterms:created xsi:type="dcterms:W3CDTF">2018-08-24T12:25:18Z</dcterms:created>
  <dcterms:modified xsi:type="dcterms:W3CDTF">2026-10-14T11:40:47Z</dcterms:modified>
</cp:coreProperties>
</file>