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335" r:id="rId4"/>
    <p:sldId id="336" r:id="rId5"/>
    <p:sldId id="334" r:id="rId6"/>
    <p:sldId id="331" r:id="rId7"/>
    <p:sldId id="258" r:id="rId8"/>
    <p:sldId id="259" r:id="rId9"/>
    <p:sldId id="324" r:id="rId10"/>
    <p:sldId id="325" r:id="rId11"/>
    <p:sldId id="350" r:id="rId12"/>
    <p:sldId id="261" r:id="rId13"/>
    <p:sldId id="260" r:id="rId14"/>
    <p:sldId id="266" r:id="rId15"/>
    <p:sldId id="274" r:id="rId16"/>
    <p:sldId id="339" r:id="rId17"/>
    <p:sldId id="340" r:id="rId18"/>
    <p:sldId id="269" r:id="rId19"/>
    <p:sldId id="337" r:id="rId20"/>
    <p:sldId id="270" r:id="rId21"/>
    <p:sldId id="341" r:id="rId22"/>
    <p:sldId id="342" r:id="rId23"/>
    <p:sldId id="343" r:id="rId24"/>
    <p:sldId id="344" r:id="rId25"/>
    <p:sldId id="345" r:id="rId26"/>
    <p:sldId id="346" r:id="rId27"/>
    <p:sldId id="347" r:id="rId28"/>
    <p:sldId id="348" r:id="rId29"/>
    <p:sldId id="271" r:id="rId30"/>
    <p:sldId id="323" r:id="rId31"/>
    <p:sldId id="326" r:id="rId32"/>
    <p:sldId id="322" r:id="rId33"/>
    <p:sldId id="273" r:id="rId34"/>
    <p:sldId id="349" r:id="rId35"/>
    <p:sldId id="267" r:id="rId36"/>
    <p:sldId id="275" r:id="rId37"/>
    <p:sldId id="278" r:id="rId38"/>
    <p:sldId id="279" r:id="rId39"/>
    <p:sldId id="328" r:id="rId40"/>
    <p:sldId id="276" r:id="rId41"/>
    <p:sldId id="277" r:id="rId42"/>
    <p:sldId id="280" r:id="rId43"/>
    <p:sldId id="281" r:id="rId44"/>
    <p:sldId id="268" r:id="rId45"/>
    <p:sldId id="282" r:id="rId46"/>
    <p:sldId id="283" r:id="rId47"/>
    <p:sldId id="284" r:id="rId48"/>
    <p:sldId id="285" r:id="rId49"/>
    <p:sldId id="286" r:id="rId50"/>
    <p:sldId id="287" r:id="rId51"/>
    <p:sldId id="288" r:id="rId52"/>
    <p:sldId id="289" r:id="rId53"/>
    <p:sldId id="290" r:id="rId54"/>
    <p:sldId id="327" r:id="rId55"/>
    <p:sldId id="291" r:id="rId56"/>
    <p:sldId id="292" r:id="rId57"/>
    <p:sldId id="293" r:id="rId58"/>
    <p:sldId id="294" r:id="rId59"/>
    <p:sldId id="296" r:id="rId60"/>
    <p:sldId id="329" r:id="rId61"/>
    <p:sldId id="338" r:id="rId62"/>
    <p:sldId id="295" r:id="rId63"/>
    <p:sldId id="297" r:id="rId64"/>
    <p:sldId id="330" r:id="rId65"/>
    <p:sldId id="333" r:id="rId6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F0A6B2F-72A2-4B80-9CCA-8781ED2C4189}">
          <p14:sldIdLst>
            <p14:sldId id="256"/>
          </p14:sldIdLst>
        </p14:section>
        <p14:section name="Организационные моменты" id="{BFEFF392-E437-4593-B654-0F5465DCD357}">
          <p14:sldIdLst>
            <p14:sldId id="257"/>
            <p14:sldId id="335"/>
            <p14:sldId id="336"/>
            <p14:sldId id="334"/>
            <p14:sldId id="331"/>
            <p14:sldId id="258"/>
            <p14:sldId id="259"/>
            <p14:sldId id="324"/>
            <p14:sldId id="325"/>
            <p14:sldId id="350"/>
            <p14:sldId id="261"/>
          </p14:sldIdLst>
        </p14:section>
        <p14:section name="Введение" id="{1192B5C9-FAF4-4ACC-875D-8D3B21472120}">
          <p14:sldIdLst>
            <p14:sldId id="260"/>
            <p14:sldId id="266"/>
            <p14:sldId id="274"/>
            <p14:sldId id="339"/>
            <p14:sldId id="340"/>
            <p14:sldId id="269"/>
            <p14:sldId id="337"/>
            <p14:sldId id="270"/>
            <p14:sldId id="341"/>
          </p14:sldIdLst>
        </p14:section>
        <p14:section name="Мосты" id="{77920C65-2F37-40BD-884F-8BD5E7725DF8}">
          <p14:sldIdLst>
            <p14:sldId id="342"/>
            <p14:sldId id="343"/>
            <p14:sldId id="344"/>
            <p14:sldId id="345"/>
            <p14:sldId id="346"/>
            <p14:sldId id="347"/>
            <p14:sldId id="348"/>
          </p14:sldIdLst>
        </p14:section>
        <p14:section name="Продолжаем" id="{50F6ED5D-49F7-4324-99DA-5FAA1645CDA4}">
          <p14:sldIdLst>
            <p14:sldId id="271"/>
            <p14:sldId id="323"/>
            <p14:sldId id="326"/>
            <p14:sldId id="322"/>
            <p14:sldId id="273"/>
            <p14:sldId id="349"/>
          </p14:sldIdLst>
        </p14:section>
        <p14:section name="Шифр Шеннона" id="{44E0ABCF-00BA-42F7-95F9-0820AD447BF9}">
          <p14:sldIdLst>
            <p14:sldId id="267"/>
            <p14:sldId id="275"/>
            <p14:sldId id="278"/>
            <p14:sldId id="279"/>
            <p14:sldId id="328"/>
            <p14:sldId id="276"/>
            <p14:sldId id="277"/>
            <p14:sldId id="280"/>
            <p14:sldId id="281"/>
          </p14:sldIdLst>
        </p14:section>
        <p14:section name="Абсолютная стойкость" id="{5AEABAF8-5B61-404B-A7B4-672C40557545}">
          <p14:sldIdLst>
            <p14:sldId id="268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327"/>
            <p14:sldId id="291"/>
            <p14:sldId id="292"/>
            <p14:sldId id="293"/>
            <p14:sldId id="294"/>
            <p14:sldId id="296"/>
            <p14:sldId id="329"/>
            <p14:sldId id="338"/>
            <p14:sldId id="295"/>
            <p14:sldId id="297"/>
          </p14:sldIdLst>
        </p14:section>
        <p14:section name="Выводы" id="{DBB8A91A-3157-4835-9428-3543E107E76C}">
          <p14:sldIdLst>
            <p14:sldId id="330"/>
            <p14:sldId id="3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55" autoAdjust="0"/>
    <p:restoredTop sz="94664" autoAdjust="0"/>
  </p:normalViewPr>
  <p:slideViewPr>
    <p:cSldViewPr snapToGrid="0">
      <p:cViewPr varScale="1">
        <p:scale>
          <a:sx n="120" d="100"/>
          <a:sy n="120" d="100"/>
        </p:scale>
        <p:origin x="42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22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03.09.2026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75760-61D2-4B80-8A8D-A874439CE6F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267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Картинка</a:t>
            </a:r>
            <a:r>
              <a:rPr lang="ru-RU" baseline="0" dirty="0"/>
              <a:t> про энтропию ключа и энтропию </a:t>
            </a:r>
            <a:r>
              <a:rPr lang="ru-RU" baseline="0" dirty="0" err="1"/>
              <a:t>шт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D75760-61D2-4B80-8A8D-A874439CE6F8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2900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03.09.2026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03.09.2026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03.09.2026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03.09.2026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03.09.2026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ryptoCourse/CryptoLabs/wiki/&#1089;&#1087;&#1080;&#1089;&#1086;&#1082;-&#1083;&#1072;&#1073;&#1086;&#1088;&#1072;&#1090;&#1086;&#1088;&#1085;&#1099;&#1093;-&#1088;&#1072;&#1073;&#1086;&#1090;" TargetMode="External"/><Relationship Id="rId2" Type="http://schemas.openxmlformats.org/officeDocument/2006/relationships/hyperlink" Target="https://github.com/CryptoCourse/CryptoLectures/wiki/&#1057;&#1087;&#1080;&#1089;&#1086;&#1082;-&#1076;&#1086;&#1084;&#1072;&#1096;&#1085;&#1080;&#1093;-&#1088;&#1072;&#1073;&#1086;&#1090;-&#1080;-&#1083;&#1077;&#1082;&#1094;&#1080;&#1081;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f1589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1.png"/><Relationship Id="rId4" Type="http://schemas.openxmlformats.org/officeDocument/2006/relationships/image" Target="../media/image8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0.png"/><Relationship Id="rId4" Type="http://schemas.openxmlformats.org/officeDocument/2006/relationships/image" Target="../media/image8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8.gif"/><Relationship Id="rId4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0.png"/><Relationship Id="rId4" Type="http://schemas.openxmlformats.org/officeDocument/2006/relationships/image" Target="../media/image3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0.png"/><Relationship Id="rId9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638785"/>
            <a:ext cx="9144000" cy="394633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Прикладная Криптография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Симметричные криптосистемы</a:t>
            </a:r>
            <a:br>
              <a:rPr lang="en-US" dirty="0"/>
            </a:br>
            <a:r>
              <a:rPr lang="ru-RU" dirty="0"/>
              <a:t>Абсолютная и </a:t>
            </a:r>
            <a:r>
              <a:rPr lang="en-US" dirty="0"/>
              <a:t>C</a:t>
            </a:r>
            <a:r>
              <a:rPr lang="ru-RU" dirty="0" err="1"/>
              <a:t>емантическая</a:t>
            </a:r>
            <a:r>
              <a:rPr lang="ru-RU" dirty="0"/>
              <a:t> стойкость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2026</a:t>
            </a:r>
          </a:p>
        </p:txBody>
      </p:sp>
    </p:spTree>
    <p:extLst>
      <p:ext uri="{BB962C8B-B14F-4D97-AF65-F5344CB8AC3E}">
        <p14:creationId xmlns:p14="http://schemas.microsoft.com/office/powerpoint/2010/main" val="414183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курса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0812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Лекции</a:t>
            </a:r>
            <a:r>
              <a:rPr lang="en-US" dirty="0"/>
              <a:t>:</a:t>
            </a:r>
            <a:r>
              <a:rPr lang="ru-RU" dirty="0"/>
              <a:t> 16 недель</a:t>
            </a:r>
          </a:p>
          <a:p>
            <a:endParaRPr lang="ru-RU" dirty="0"/>
          </a:p>
          <a:p>
            <a:r>
              <a:rPr lang="ru-RU" dirty="0"/>
              <a:t>Сдача разделов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3</a:t>
            </a:r>
            <a:r>
              <a:rPr lang="ru-RU" dirty="0"/>
              <a:t> блока</a:t>
            </a:r>
          </a:p>
          <a:p>
            <a:pPr lvl="1"/>
            <a:r>
              <a:rPr lang="ru-RU" dirty="0"/>
              <a:t>Для каждого блока жёсткий </a:t>
            </a:r>
            <a:r>
              <a:rPr lang="ru-RU" dirty="0" err="1"/>
              <a:t>дедлайн</a:t>
            </a:r>
            <a:r>
              <a:rPr lang="ru-RU" dirty="0"/>
              <a:t> (без переносов)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https://github.com/CryptoCourse/CryptoLectures/wiki/</a:t>
            </a:r>
            <a:r>
              <a:rPr lang="ru-RU" dirty="0">
                <a:hlinkClick r:id="rId2"/>
              </a:rPr>
              <a:t>Список-домашних-работ-и-лекций</a:t>
            </a:r>
            <a:endParaRPr lang="ru-RU" dirty="0"/>
          </a:p>
          <a:p>
            <a:pPr lvl="1"/>
            <a:r>
              <a:rPr lang="en-US" dirty="0">
                <a:hlinkClick r:id="rId3"/>
              </a:rPr>
              <a:t>https://github.com/CryptoCourse/CryptoLabs/wiki/</a:t>
            </a:r>
            <a:r>
              <a:rPr lang="ru-RU" dirty="0">
                <a:hlinkClick r:id="rId3"/>
              </a:rPr>
              <a:t>список-лабораторных-работ</a:t>
            </a:r>
            <a:endParaRPr lang="ru-RU" dirty="0"/>
          </a:p>
          <a:p>
            <a:pPr lvl="1"/>
            <a:r>
              <a:rPr lang="ru-RU" b="1" dirty="0"/>
              <a:t>Штраф за пропуск </a:t>
            </a:r>
            <a:r>
              <a:rPr lang="ru-RU" b="1" dirty="0" err="1"/>
              <a:t>дедлайна</a:t>
            </a:r>
            <a:r>
              <a:rPr lang="en-US" b="1" dirty="0"/>
              <a:t>: </a:t>
            </a:r>
            <a:r>
              <a:rPr lang="ru-RU" b="1" dirty="0"/>
              <a:t>для </a:t>
            </a:r>
            <a:r>
              <a:rPr lang="ru-RU" b="1" dirty="0" err="1"/>
              <a:t>дз</a:t>
            </a:r>
            <a:r>
              <a:rPr lang="en-US" b="1" dirty="0"/>
              <a:t> </a:t>
            </a:r>
            <a:r>
              <a:rPr lang="ru-RU" b="1" dirty="0"/>
              <a:t>-5</a:t>
            </a:r>
            <a:r>
              <a:rPr lang="en-US" b="1" dirty="0"/>
              <a:t>/100 </a:t>
            </a:r>
            <a:r>
              <a:rPr lang="ru-RU" b="1" dirty="0"/>
              <a:t>к итоговой оценке за семестр за каждый </a:t>
            </a:r>
            <a:r>
              <a:rPr lang="ru-RU" b="1" dirty="0" err="1"/>
              <a:t>дедлайн</a:t>
            </a:r>
            <a:r>
              <a:rPr lang="ru-RU" b="1" dirty="0"/>
              <a:t> в неделю</a:t>
            </a:r>
            <a:r>
              <a:rPr lang="en-US" b="1" dirty="0"/>
              <a:t>;</a:t>
            </a:r>
            <a:r>
              <a:rPr lang="ru-RU" b="1" dirty="0"/>
              <a:t> </a:t>
            </a:r>
            <a:r>
              <a:rPr lang="ru-RU" b="1" dirty="0" err="1"/>
              <a:t>лабы</a:t>
            </a:r>
            <a:r>
              <a:rPr lang="ru-RU" b="1" dirty="0"/>
              <a:t> после </a:t>
            </a:r>
            <a:r>
              <a:rPr lang="ru-RU" b="1" dirty="0" err="1"/>
              <a:t>дедлайна</a:t>
            </a:r>
            <a:r>
              <a:rPr lang="ru-RU" b="1" dirty="0"/>
              <a:t> не сдаются (и -</a:t>
            </a:r>
            <a:r>
              <a:rPr lang="en-US" b="1" dirty="0"/>
              <a:t>5</a:t>
            </a:r>
            <a:r>
              <a:rPr lang="ru-RU" b="1" dirty="0"/>
              <a:t> к итоговой оценке за каждую пропущенную </a:t>
            </a:r>
            <a:r>
              <a:rPr lang="ru-RU" b="1" dirty="0" err="1"/>
              <a:t>лабу</a:t>
            </a:r>
            <a:r>
              <a:rPr lang="ru-RU" b="1" dirty="0"/>
              <a:t>)</a:t>
            </a:r>
          </a:p>
          <a:p>
            <a:r>
              <a:rPr lang="ru-RU" dirty="0"/>
              <a:t>Для сдачи каждого блока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Сдача лабораторных работ для данного блока</a:t>
            </a:r>
          </a:p>
          <a:p>
            <a:pPr lvl="1"/>
            <a:r>
              <a:rPr lang="ru-RU" dirty="0"/>
              <a:t>Сдача домашних работ</a:t>
            </a:r>
          </a:p>
          <a:p>
            <a:pPr lvl="1"/>
            <a:r>
              <a:rPr lang="ru-RU" dirty="0"/>
              <a:t>Сдача теории по лабораторным и домашним</a:t>
            </a:r>
          </a:p>
          <a:p>
            <a:pPr lvl="1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0675" y="365125"/>
            <a:ext cx="214312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93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курса</a:t>
            </a:r>
            <a:r>
              <a:rPr lang="en-US" dirty="0"/>
              <a:t> (2)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081846" cy="440812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Тест в начале каждой пары</a:t>
            </a:r>
          </a:p>
          <a:p>
            <a:pPr lvl="1"/>
            <a:r>
              <a:rPr lang="ru-RU" dirty="0"/>
              <a:t>3-5 минут</a:t>
            </a:r>
          </a:p>
          <a:p>
            <a:pPr lvl="1"/>
            <a:r>
              <a:rPr lang="ru-RU" dirty="0"/>
              <a:t>1 вопрос</a:t>
            </a:r>
          </a:p>
          <a:p>
            <a:pPr lvl="1"/>
            <a:r>
              <a:rPr lang="ru-RU" dirty="0"/>
              <a:t>Ответ на листке не больше половины </a:t>
            </a:r>
            <a:r>
              <a:rPr lang="en-US" dirty="0"/>
              <a:t>a4</a:t>
            </a:r>
            <a:r>
              <a:rPr lang="ru-RU" dirty="0"/>
              <a:t> и не меньше четверти а4</a:t>
            </a:r>
          </a:p>
          <a:p>
            <a:pPr lvl="1"/>
            <a:r>
              <a:rPr lang="ru-RU" dirty="0"/>
              <a:t>Нельзя пользоваться телефонами и конспектами, а также соседями</a:t>
            </a:r>
          </a:p>
          <a:p>
            <a:pPr lvl="1"/>
            <a:r>
              <a:rPr lang="ru-RU" dirty="0"/>
              <a:t>При опоздании ждём в коридоре</a:t>
            </a:r>
          </a:p>
          <a:p>
            <a:r>
              <a:rPr lang="ru-RU" dirty="0"/>
              <a:t>Лекция</a:t>
            </a:r>
          </a:p>
          <a:p>
            <a:r>
              <a:rPr lang="ru-RU" dirty="0"/>
              <a:t>Лабораторная</a:t>
            </a:r>
            <a:r>
              <a:rPr lang="en-US" dirty="0"/>
              <a:t>/</a:t>
            </a:r>
            <a:r>
              <a:rPr lang="ru-RU" dirty="0"/>
              <a:t>семинар</a:t>
            </a:r>
          </a:p>
          <a:p>
            <a:pPr lvl="1"/>
            <a:r>
              <a:rPr lang="ru-RU" dirty="0"/>
              <a:t>Сдача и защита </a:t>
            </a:r>
            <a:r>
              <a:rPr lang="ru-RU" dirty="0" err="1"/>
              <a:t>дз</a:t>
            </a:r>
            <a:endParaRPr lang="ru-RU" dirty="0"/>
          </a:p>
          <a:p>
            <a:pPr lvl="1"/>
            <a:r>
              <a:rPr lang="ru-RU" dirty="0"/>
              <a:t>Разбор заданий</a:t>
            </a:r>
          </a:p>
          <a:p>
            <a:pPr lvl="1"/>
            <a:r>
              <a:rPr lang="ru-RU" dirty="0"/>
              <a:t>Сдача лабораторных работ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675" y="365125"/>
            <a:ext cx="214312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65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курса</a:t>
            </a:r>
            <a:r>
              <a:rPr lang="en-US" dirty="0"/>
              <a:t> (</a:t>
            </a:r>
            <a:r>
              <a:rPr lang="ru-RU" dirty="0"/>
              <a:t>3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8103577" cy="4408121"/>
          </a:xfrm>
        </p:spPr>
        <p:txBody>
          <a:bodyPr>
            <a:normAutofit/>
          </a:bodyPr>
          <a:lstStyle/>
          <a:p>
            <a:r>
              <a:rPr lang="ru-RU" dirty="0"/>
              <a:t>Сдача лабораторных работ</a:t>
            </a:r>
          </a:p>
          <a:p>
            <a:pPr lvl="1"/>
            <a:r>
              <a:rPr lang="ru-RU" dirty="0"/>
              <a:t>ДО начала пары необходимо загрузить их на </a:t>
            </a:r>
            <a:r>
              <a:rPr lang="en-US" dirty="0" err="1"/>
              <a:t>Github</a:t>
            </a:r>
            <a:r>
              <a:rPr lang="ru-RU" dirty="0"/>
              <a:t> по ссылке</a:t>
            </a:r>
          </a:p>
          <a:p>
            <a:pPr lvl="1"/>
            <a:r>
              <a:rPr lang="ru-RU" dirty="0"/>
              <a:t>Написать в </a:t>
            </a:r>
            <a:r>
              <a:rPr lang="en-US" dirty="0" err="1"/>
              <a:t>tg</a:t>
            </a:r>
            <a:r>
              <a:rPr lang="en-US" dirty="0"/>
              <a:t> </a:t>
            </a:r>
            <a:r>
              <a:rPr lang="ru-RU" dirty="0"/>
              <a:t>о загруженной работе, включить в текст сообщения фамилию</a:t>
            </a:r>
          </a:p>
          <a:p>
            <a:pPr lvl="1"/>
            <a:r>
              <a:rPr lang="ru-RU" dirty="0"/>
              <a:t>На паре во время сдачи лабораторных работ заявить о желании сдать лабораторную работу</a:t>
            </a:r>
          </a:p>
          <a:p>
            <a:pPr lvl="1"/>
            <a:r>
              <a:rPr lang="ru-RU" dirty="0"/>
              <a:t>При сдаче лабораторной работы необходимо продемонстрировать работу программы и ответить на теоретические вопросы, если иное не было указано в личных сообщениях после отправки работы.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675" y="365125"/>
            <a:ext cx="214312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14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курса</a:t>
            </a:r>
            <a:r>
              <a:rPr lang="en-US" dirty="0"/>
              <a:t> (</a:t>
            </a:r>
            <a:r>
              <a:rPr lang="ru-RU" dirty="0"/>
              <a:t>4</a:t>
            </a:r>
            <a:r>
              <a:rPr lang="en-US" dirty="0"/>
              <a:t>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081846" cy="4408121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Формирование оценки</a:t>
                </a:r>
                <a:r>
                  <a:rPr lang="en-US" dirty="0"/>
                  <a:t>:</a:t>
                </a:r>
              </a:p>
              <a:p>
                <a:endParaRPr lang="ru-RU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∗0.9+</m:t>
                      </m:r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∗0.1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=1,2,3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нормированная на 1 сумма оценок по </a:t>
                </a:r>
                <a:r>
                  <a:rPr lang="ru-RU" dirty="0" err="1">
                    <a:solidFill>
                      <a:srgbClr val="00B050"/>
                    </a:solidFill>
                  </a:rPr>
                  <a:t>дз</a:t>
                </a:r>
                <a:r>
                  <a:rPr lang="ru-RU" dirty="0"/>
                  <a:t> за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ru-RU" dirty="0"/>
                  <a:t>-й блок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нормированная на 1 сумма оценок по </a:t>
                </a:r>
                <a:r>
                  <a:rPr lang="ru-RU" dirty="0">
                    <a:solidFill>
                      <a:srgbClr val="00B0F0"/>
                    </a:solidFill>
                  </a:rPr>
                  <a:t>тестам</a:t>
                </a:r>
                <a:r>
                  <a:rPr lang="ru-RU" dirty="0"/>
                  <a:t> в начале пары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dirty="0"/>
                  <a:t> – дополнительные «плюшки»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dirty="0"/>
                  <a:t> – штрафы за </a:t>
                </a:r>
                <a:r>
                  <a:rPr lang="ru-RU" dirty="0" err="1"/>
                  <a:t>дедлайны</a:t>
                </a:r>
                <a:endParaRPr lang="ru-RU" dirty="0"/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081846" cy="4408121"/>
              </a:xfrm>
              <a:blipFill>
                <a:blip r:embed="rId2"/>
                <a:stretch>
                  <a:fillRect l="-968" t="-207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0675" y="365125"/>
            <a:ext cx="214312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03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Связь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240" y="1935677"/>
            <a:ext cx="2085975" cy="2047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045085" y="4256288"/>
                <a:ext cx="197028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hlinkClick r:id="rId3"/>
                  </a:rPr>
                  <a:t>https://t.me/f1589</a:t>
                </a:r>
                <a:endParaRPr lang="ru-RU" dirty="0"/>
              </a:p>
              <a:p>
                <a:pPr algn="ctr"/>
                <a:r>
                  <a:rPr lang="en-US" dirty="0"/>
                  <a:t>t.me</a:t>
                </a:r>
              </a:p>
              <a:p>
                <a:pPr algn="ctr"/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ru-RU" dirty="0"/>
                  <a:t>вопросы)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085" y="4256288"/>
                <a:ext cx="1970283" cy="923330"/>
              </a:xfrm>
              <a:prstGeom prst="rect">
                <a:avLst/>
              </a:prstGeom>
              <a:blipFill>
                <a:blip r:embed="rId4"/>
                <a:stretch>
                  <a:fillRect l="-2786" t="-3289" r="-2477"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5473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Лабораторные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REST API </a:t>
            </a:r>
            <a:r>
              <a:rPr lang="ru-RU" sz="2600" dirty="0"/>
              <a:t>служба (</a:t>
            </a:r>
            <a:r>
              <a:rPr lang="en-US" sz="2600" dirty="0" err="1"/>
              <a:t>dotnet</a:t>
            </a:r>
            <a:r>
              <a:rPr lang="en-US" dirty="0"/>
              <a:t>, self-hosted)</a:t>
            </a:r>
            <a:r>
              <a:rPr lang="ru-RU" sz="2600" dirty="0"/>
              <a:t>.</a:t>
            </a:r>
          </a:p>
          <a:p>
            <a:endParaRPr lang="ru-RU" sz="2600" dirty="0"/>
          </a:p>
          <a:p>
            <a:r>
              <a:rPr lang="ru-RU" sz="2600" dirty="0"/>
              <a:t>Задача – продемонстрировать атаку на криптосистему систему с уязвимостью.</a:t>
            </a:r>
          </a:p>
          <a:p>
            <a:endParaRPr lang="ru-RU" sz="2600" dirty="0"/>
          </a:p>
          <a:p>
            <a:r>
              <a:rPr lang="ru-RU" sz="2600" dirty="0"/>
              <a:t>Допустимые языки программирования</a:t>
            </a:r>
            <a:r>
              <a:rPr lang="en-US" sz="2600" dirty="0"/>
              <a:t>: C++, C#, Python, Java, </a:t>
            </a:r>
            <a:r>
              <a:rPr lang="ru-RU" sz="2600" dirty="0"/>
              <a:t>другие?</a:t>
            </a:r>
          </a:p>
          <a:p>
            <a:endParaRPr lang="ru-RU" sz="2600" dirty="0"/>
          </a:p>
          <a:p>
            <a:r>
              <a:rPr lang="ru-RU" sz="2600" dirty="0"/>
              <a:t>Подробнее</a:t>
            </a:r>
            <a:r>
              <a:rPr lang="en-US" sz="2600" dirty="0"/>
              <a:t> </a:t>
            </a:r>
            <a:r>
              <a:rPr lang="ru-RU" sz="2600" dirty="0"/>
              <a:t>на лабораторной работе.</a:t>
            </a:r>
            <a:endParaRPr lang="en-US" sz="2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061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Сдача теории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Сдаётся в формате вопрос – ответ</a:t>
            </a:r>
          </a:p>
          <a:p>
            <a:pPr lvl="1"/>
            <a:r>
              <a:rPr lang="ru-RU" dirty="0"/>
              <a:t>Задаётся набор различных вопросов по пройденному материалу</a:t>
            </a:r>
          </a:p>
          <a:p>
            <a:pPr lvl="1"/>
            <a:r>
              <a:rPr lang="ru-RU" dirty="0"/>
              <a:t>Если на какой то вопрос ответ не получен, или получен не верный ответ – даётся время подумать или поискать ответ</a:t>
            </a:r>
          </a:p>
          <a:p>
            <a:pPr lvl="1"/>
            <a:r>
              <a:rPr lang="ru-RU" dirty="0"/>
              <a:t>Количество попыток – не ограничено внутри блока</a:t>
            </a:r>
          </a:p>
          <a:p>
            <a:pPr lvl="1"/>
            <a:endParaRPr lang="ru-RU" dirty="0"/>
          </a:p>
          <a:p>
            <a:pPr marL="271463" marR="0" lvl="1" indent="-2714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Несправедливости</a:t>
            </a:r>
            <a:r>
              <a:rPr lang="en-US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728663" lvl="2" indent="-271463"/>
            <a:r>
              <a:rPr lang="ru-RU" sz="2400" dirty="0"/>
              <a:t>Разное количество вопросов разным людям</a:t>
            </a:r>
          </a:p>
          <a:p>
            <a:pPr marL="728663" lvl="2" indent="-271463"/>
            <a:r>
              <a:rPr lang="ru-RU" sz="2400" dirty="0"/>
              <a:t>Максимальное количество вопросов – не ограничено</a:t>
            </a:r>
          </a:p>
          <a:p>
            <a:pPr marL="728663" lvl="2" indent="-271463"/>
            <a:r>
              <a:rPr lang="ru-RU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Возможность не сдать теорию, даже если в </a:t>
            </a:r>
            <a:r>
              <a:rPr lang="ru-RU" sz="24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гугле</a:t>
            </a:r>
            <a:r>
              <a:rPr lang="ru-RU" sz="2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были найдены все ответы</a:t>
            </a:r>
          </a:p>
          <a:p>
            <a:pPr marL="271463" marR="0" lvl="1" indent="-2714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sz="2400" dirty="0">
              <a:effectLst/>
            </a:endParaRPr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535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Материалы прошлого года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Курс обновляется в момент чтения. Материалы прошлого года доступны, но еженедельно обновляются.</a:t>
            </a:r>
          </a:p>
          <a:p>
            <a:r>
              <a:rPr lang="ru-RU" dirty="0"/>
              <a:t>Доверять и использовать нужно только текущие материалы, т.е. материалы всех прошедших в семестре лекций и лабораторных заданий текущего блока.</a:t>
            </a:r>
          </a:p>
          <a:p>
            <a:r>
              <a:rPr lang="ru-RU" dirty="0"/>
              <a:t>Не рекомендуется выполнять задания «наперёд», так как материал может измениться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1432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Материалы прошлого года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3816"/>
            <a:ext cx="6743700" cy="21526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712" y="4093978"/>
            <a:ext cx="68103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979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A30DC-6378-4E66-ADCA-33358194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ru-RU" dirty="0" err="1"/>
              <a:t>нейронок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6B2EB9-6C06-4959-ABE9-0321FF648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Нельзя</a:t>
            </a:r>
            <a:r>
              <a:rPr lang="ru-RU" dirty="0"/>
              <a:t> использовать выход </a:t>
            </a:r>
            <a:r>
              <a:rPr lang="ru-RU" dirty="0" err="1"/>
              <a:t>нейронок</a:t>
            </a:r>
            <a:r>
              <a:rPr lang="ru-RU" dirty="0"/>
              <a:t> для выполнения ДЗ и лабораторных работ, даже для написания README.</a:t>
            </a:r>
          </a:p>
          <a:p>
            <a:pPr lvl="1"/>
            <a:r>
              <a:rPr lang="ru-RU" dirty="0"/>
              <a:t>Если вы всё же использовали </a:t>
            </a:r>
            <a:r>
              <a:rPr lang="ru-RU" dirty="0" err="1"/>
              <a:t>нейронку</a:t>
            </a:r>
            <a:r>
              <a:rPr lang="ru-RU" dirty="0"/>
              <a:t>, и по какой то причине</a:t>
            </a:r>
            <a:r>
              <a:rPr lang="ru-RU"/>
              <a:t>, считаете</a:t>
            </a:r>
            <a:r>
              <a:rPr lang="ru-RU" dirty="0"/>
              <a:t>, что это допустимое использование – необходимо явно в материале, где вы её использовали указать это в начале данного материала.</a:t>
            </a:r>
          </a:p>
          <a:p>
            <a:endParaRPr lang="ru-RU" dirty="0"/>
          </a:p>
          <a:p>
            <a:r>
              <a:rPr lang="ru-RU" b="1" dirty="0"/>
              <a:t>Можно</a:t>
            </a:r>
            <a:r>
              <a:rPr lang="ru-RU" dirty="0"/>
              <a:t> использовать </a:t>
            </a:r>
            <a:r>
              <a:rPr lang="ru-RU" dirty="0" err="1"/>
              <a:t>нейронки</a:t>
            </a:r>
            <a:r>
              <a:rPr lang="ru-RU" dirty="0"/>
              <a:t> для генерации смешных картинок с котиками в тематике курса.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3CB3D5-4FCA-45F5-A504-60DE52A26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578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Обратная связь и пожелания по курсу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692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Историческая задача криптографической защите информации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  <p:grpSp>
        <p:nvGrpSpPr>
          <p:cNvPr id="5" name="Group 17"/>
          <p:cNvGrpSpPr/>
          <p:nvPr/>
        </p:nvGrpSpPr>
        <p:grpSpPr>
          <a:xfrm>
            <a:off x="1397251" y="3482943"/>
            <a:ext cx="1635660" cy="1523622"/>
            <a:chOff x="4038600" y="1123950"/>
            <a:chExt cx="1076739" cy="990600"/>
          </a:xfrm>
        </p:grpSpPr>
        <p:pic>
          <p:nvPicPr>
            <p:cNvPr id="6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038600" y="1123950"/>
              <a:ext cx="1076739" cy="9906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343400" y="1200150"/>
              <a:ext cx="771939" cy="38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Alice</a:t>
              </a:r>
            </a:p>
          </p:txBody>
        </p:sp>
      </p:grpSp>
      <p:grpSp>
        <p:nvGrpSpPr>
          <p:cNvPr id="8" name="Group 17"/>
          <p:cNvGrpSpPr/>
          <p:nvPr/>
        </p:nvGrpSpPr>
        <p:grpSpPr>
          <a:xfrm>
            <a:off x="8918418" y="3482943"/>
            <a:ext cx="1635660" cy="1523622"/>
            <a:chOff x="4038600" y="1123950"/>
            <a:chExt cx="1076739" cy="990600"/>
          </a:xfrm>
        </p:grpSpPr>
        <p:pic>
          <p:nvPicPr>
            <p:cNvPr id="9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038600" y="1123950"/>
              <a:ext cx="1076739" cy="9906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4343400" y="1200150"/>
              <a:ext cx="771939" cy="38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Bob</a:t>
              </a:r>
            </a:p>
          </p:txBody>
        </p:sp>
      </p:grpSp>
      <p:cxnSp>
        <p:nvCxnSpPr>
          <p:cNvPr id="11" name="Прямая со стрелкой 10"/>
          <p:cNvCxnSpPr/>
          <p:nvPr/>
        </p:nvCxnSpPr>
        <p:spPr>
          <a:xfrm>
            <a:off x="3277848" y="4184920"/>
            <a:ext cx="556814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89528" y="3600145"/>
                <a:ext cx="11179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528" y="3600145"/>
                <a:ext cx="111799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Объект 2"/>
          <p:cNvSpPr>
            <a:spLocks noGrp="1"/>
          </p:cNvSpPr>
          <p:nvPr>
            <p:ph idx="1"/>
          </p:nvPr>
        </p:nvSpPr>
        <p:spPr>
          <a:xfrm>
            <a:off x="828705" y="1815451"/>
            <a:ext cx="10741182" cy="2166953"/>
          </a:xfrm>
        </p:spPr>
        <p:txBody>
          <a:bodyPr>
            <a:normAutofit/>
          </a:bodyPr>
          <a:lstStyle/>
          <a:p>
            <a:r>
              <a:rPr lang="ru-RU" sz="2600" dirty="0"/>
              <a:t>Передача зашифрованного сообщения по открытому каналу</a:t>
            </a:r>
          </a:p>
          <a:p>
            <a:r>
              <a:rPr lang="ru-RU" sz="2600" dirty="0"/>
              <a:t>При перехвате зашифрованного сообщения открытый текст должен остаться неизвестным для злоумышленника </a:t>
            </a:r>
            <a:endParaRPr lang="en-US" sz="2600" dirty="0"/>
          </a:p>
        </p:txBody>
      </p:sp>
      <p:cxnSp>
        <p:nvCxnSpPr>
          <p:cNvPr id="17" name="Прямая со стрелкой 16"/>
          <p:cNvCxnSpPr/>
          <p:nvPr/>
        </p:nvCxnSpPr>
        <p:spPr>
          <a:xfrm>
            <a:off x="5866646" y="4300396"/>
            <a:ext cx="0" cy="12222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Рисунок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534" y="5638089"/>
            <a:ext cx="1003992" cy="9877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Выноска-облако 19"/>
              <p:cNvSpPr/>
              <p:nvPr/>
            </p:nvSpPr>
            <p:spPr>
              <a:xfrm>
                <a:off x="6704714" y="4566761"/>
                <a:ext cx="1548143" cy="1002715"/>
              </a:xfrm>
              <a:prstGeom prst="cloudCallout">
                <a:avLst>
                  <a:gd name="adj1" fmla="val -68201"/>
                  <a:gd name="adj2" fmla="val 72432"/>
                </a:avLst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0" name="Выноска-облако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4714" y="4566761"/>
                <a:ext cx="1548143" cy="1002715"/>
              </a:xfrm>
              <a:prstGeom prst="cloudCallout">
                <a:avLst>
                  <a:gd name="adj1" fmla="val -68201"/>
                  <a:gd name="adj2" fmla="val 72432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348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построения и анализа криптосистем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241771" cy="4351338"/>
          </a:xfrm>
        </p:spPr>
        <p:txBody>
          <a:bodyPr/>
          <a:lstStyle/>
          <a:p>
            <a:r>
              <a:rPr lang="ru-RU" b="1" dirty="0" err="1"/>
              <a:t>Досистемный</a:t>
            </a:r>
            <a:r>
              <a:rPr lang="ru-RU" b="1" dirty="0"/>
              <a:t> </a:t>
            </a:r>
            <a:r>
              <a:rPr lang="en-US" b="1" dirty="0"/>
              <a:t> </a:t>
            </a:r>
            <a:r>
              <a:rPr lang="ru-RU" b="1" dirty="0"/>
              <a:t>подход</a:t>
            </a:r>
            <a:r>
              <a:rPr lang="ru-RU" dirty="0"/>
              <a:t>– построение и анализ криптосистем, которые выглядят «сложными» для создателя</a:t>
            </a:r>
            <a:r>
              <a:rPr lang="en-US" dirty="0"/>
              <a:t>;</a:t>
            </a:r>
            <a:endParaRPr lang="ru-RU" dirty="0"/>
          </a:p>
          <a:p>
            <a:r>
              <a:rPr lang="ru-RU" dirty="0"/>
              <a:t>Предположении о стойкости исходит «из очевидной сложности взлома» для создателя схемы</a:t>
            </a:r>
          </a:p>
          <a:p>
            <a:r>
              <a:rPr lang="ru-RU" dirty="0"/>
              <a:t>Примеры – шифр Цезаря, шифр простой замены, шифр </a:t>
            </a:r>
            <a:r>
              <a:rPr lang="ru-RU" dirty="0" err="1"/>
              <a:t>Вижинера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14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8187343" y="1482458"/>
            <a:ext cx="3589713" cy="41448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2600" dirty="0"/>
              <a:t>Криптосистема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25481" y="24353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402781" y="2783943"/>
            <a:ext cx="3158836" cy="19335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600" dirty="0"/>
              <a:t>Шифр</a:t>
            </a:r>
          </a:p>
        </p:txBody>
      </p:sp>
    </p:spTree>
    <p:extLst>
      <p:ext uri="{BB962C8B-B14F-4D97-AF65-F5344CB8AC3E}">
        <p14:creationId xmlns:p14="http://schemas.microsoft.com/office/powerpoint/2010/main" val="3111251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Современная задача криптографической защиты информации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 dirty="0"/>
          </a:p>
        </p:txBody>
      </p:sp>
      <p:grpSp>
        <p:nvGrpSpPr>
          <p:cNvPr id="5" name="Group 17"/>
          <p:cNvGrpSpPr/>
          <p:nvPr/>
        </p:nvGrpSpPr>
        <p:grpSpPr>
          <a:xfrm>
            <a:off x="1234289" y="5125244"/>
            <a:ext cx="1635660" cy="1523622"/>
            <a:chOff x="4038600" y="1123950"/>
            <a:chExt cx="1076739" cy="990600"/>
          </a:xfrm>
        </p:grpSpPr>
        <p:pic>
          <p:nvPicPr>
            <p:cNvPr id="6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038600" y="1123950"/>
              <a:ext cx="1076739" cy="9906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343400" y="1200150"/>
              <a:ext cx="771939" cy="38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Alice</a:t>
              </a:r>
            </a:p>
          </p:txBody>
        </p:sp>
      </p:grpSp>
      <p:grpSp>
        <p:nvGrpSpPr>
          <p:cNvPr id="8" name="Group 17"/>
          <p:cNvGrpSpPr/>
          <p:nvPr/>
        </p:nvGrpSpPr>
        <p:grpSpPr>
          <a:xfrm>
            <a:off x="8755456" y="5125244"/>
            <a:ext cx="1635660" cy="1523622"/>
            <a:chOff x="4038600" y="1123950"/>
            <a:chExt cx="1076739" cy="990600"/>
          </a:xfrm>
        </p:grpSpPr>
        <p:pic>
          <p:nvPicPr>
            <p:cNvPr id="9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038600" y="1123950"/>
              <a:ext cx="1076739" cy="9906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4343400" y="1200150"/>
              <a:ext cx="771939" cy="38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Bob</a:t>
              </a:r>
            </a:p>
          </p:txBody>
        </p:sp>
      </p:grpSp>
      <p:cxnSp>
        <p:nvCxnSpPr>
          <p:cNvPr id="11" name="Прямая со стрелкой 10"/>
          <p:cNvCxnSpPr/>
          <p:nvPr/>
        </p:nvCxnSpPr>
        <p:spPr>
          <a:xfrm>
            <a:off x="3114886" y="5827221"/>
            <a:ext cx="212568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588453" y="5231849"/>
                <a:ext cx="111799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453" y="5231849"/>
                <a:ext cx="111799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Объект 2"/>
          <p:cNvSpPr>
            <a:spLocks noGrp="1"/>
          </p:cNvSpPr>
          <p:nvPr>
            <p:ph idx="1"/>
          </p:nvPr>
        </p:nvSpPr>
        <p:spPr>
          <a:xfrm>
            <a:off x="828705" y="1815451"/>
            <a:ext cx="10741182" cy="2166953"/>
          </a:xfrm>
        </p:spPr>
        <p:txBody>
          <a:bodyPr>
            <a:normAutofit/>
          </a:bodyPr>
          <a:lstStyle/>
          <a:p>
            <a:r>
              <a:rPr lang="ru-RU" sz="2600" dirty="0"/>
              <a:t>Передача сообщения по открытому каналу</a:t>
            </a:r>
          </a:p>
          <a:p>
            <a:r>
              <a:rPr lang="ru-RU" sz="2600" dirty="0"/>
              <a:t>Возможен активный злоумышленник</a:t>
            </a:r>
          </a:p>
          <a:p>
            <a:r>
              <a:rPr lang="ru-RU" sz="2600" dirty="0"/>
              <a:t>Обеспечение конфиденциальности, аутентичности, целостности, </a:t>
            </a:r>
            <a:r>
              <a:rPr lang="ru-RU" sz="2600" dirty="0" err="1"/>
              <a:t>неотказуемости</a:t>
            </a:r>
            <a:r>
              <a:rPr lang="ru-RU" sz="2600" dirty="0"/>
              <a:t> и др.</a:t>
            </a:r>
            <a:endParaRPr lang="en-US" sz="2600" dirty="0"/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0017" y="5302543"/>
            <a:ext cx="1003992" cy="9877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Выноска-облако 19"/>
              <p:cNvSpPr/>
              <p:nvPr/>
            </p:nvSpPr>
            <p:spPr>
              <a:xfrm>
                <a:off x="5682013" y="3535505"/>
                <a:ext cx="1548143" cy="1002715"/>
              </a:xfrm>
              <a:prstGeom prst="cloudCallout">
                <a:avLst>
                  <a:gd name="adj1" fmla="val -43639"/>
                  <a:gd name="adj2" fmla="val 104034"/>
                </a:avLst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0" name="Выноска-облако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013" y="3535505"/>
                <a:ext cx="1548143" cy="1002715"/>
              </a:xfrm>
              <a:prstGeom prst="cloudCallout">
                <a:avLst>
                  <a:gd name="adj1" fmla="val -43639"/>
                  <a:gd name="adj2" fmla="val 104034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Прямая со стрелкой 15"/>
          <p:cNvCxnSpPr/>
          <p:nvPr/>
        </p:nvCxnSpPr>
        <p:spPr>
          <a:xfrm flipV="1">
            <a:off x="6274806" y="5827221"/>
            <a:ext cx="2254313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Выноска-облако 22"/>
              <p:cNvSpPr/>
              <p:nvPr/>
            </p:nvSpPr>
            <p:spPr>
              <a:xfrm>
                <a:off x="9424658" y="3181462"/>
                <a:ext cx="2523024" cy="1461011"/>
              </a:xfrm>
              <a:prstGeom prst="cloudCallout">
                <a:avLst>
                  <a:gd name="adj1" fmla="val -37445"/>
                  <a:gd name="adj2" fmla="val 78804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′?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:r>
                  <a:rPr lang="en-US" sz="2400" dirty="0"/>
                  <a:t>Alice?</a:t>
                </a:r>
                <a:endParaRPr lang="ru-RU" sz="2400" dirty="0"/>
              </a:p>
            </p:txBody>
          </p:sp>
        </mc:Choice>
        <mc:Fallback xmlns="">
          <p:sp>
            <p:nvSpPr>
              <p:cNvPr id="23" name="Выноска-облако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4658" y="3181462"/>
                <a:ext cx="2523024" cy="1461011"/>
              </a:xfrm>
              <a:prstGeom prst="cloudCallout">
                <a:avLst>
                  <a:gd name="adj1" fmla="val -37445"/>
                  <a:gd name="adj2" fmla="val 78804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771582" y="5231849"/>
                <a:ext cx="120218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′)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582" y="5231849"/>
                <a:ext cx="120218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8847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26C5E-8854-4F6C-BF2F-F94A7215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стойкости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53E11-D0D0-4BA7-A8FC-AD3B3F6DE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Нужно как то оценивать </a:t>
            </a:r>
            <a:r>
              <a:rPr lang="ru-RU" b="1" dirty="0"/>
              <a:t>стойкость</a:t>
            </a:r>
            <a:r>
              <a:rPr lang="ru-RU" dirty="0"/>
              <a:t> шифров, желательно в виде некоторой величины. Численное значение оценки стойкости называется </a:t>
            </a:r>
            <a:r>
              <a:rPr lang="ru-RU" b="1" dirty="0"/>
              <a:t>параметром стойкости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 оценке стойкости криптографического примитива он рассматривается в некоторой </a:t>
            </a:r>
            <a:r>
              <a:rPr lang="ru-RU" b="1" dirty="0"/>
              <a:t>модели</a:t>
            </a:r>
            <a:r>
              <a:rPr lang="ru-RU" dirty="0"/>
              <a:t>. Каждая такая модель должна давать возможность оценивать стойкость примитивов в ней.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Все примитивы, имеющие стойкость ниже пороговой будем считать </a:t>
            </a:r>
            <a:r>
              <a:rPr lang="ru-RU" b="1" dirty="0"/>
              <a:t>нестойкими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B38D73-BE13-43C9-96E6-75686194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643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AE248-EB2B-4755-9CE0-D7DE0696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стойкости криптографического примитива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9A34F6-4F1D-4746-98FC-B8A48B85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5C6D00E-0C13-41E4-B7F4-D5B9E8B96A75}"/>
              </a:ext>
            </a:extLst>
          </p:cNvPr>
          <p:cNvSpPr/>
          <p:nvPr/>
        </p:nvSpPr>
        <p:spPr>
          <a:xfrm>
            <a:off x="9476233" y="2231672"/>
            <a:ext cx="2161032" cy="101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Определение модели примитива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BA0C71-95BC-4792-AF69-282F4C3AE222}"/>
              </a:ext>
            </a:extLst>
          </p:cNvPr>
          <p:cNvSpPr/>
          <p:nvPr/>
        </p:nvSpPr>
        <p:spPr>
          <a:xfrm>
            <a:off x="9910573" y="1369014"/>
            <a:ext cx="1292352" cy="6797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Примитив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A664895-8511-475A-997E-2D74F7B497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671" y="3577597"/>
            <a:ext cx="2010156" cy="1638999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82B7E91-B4E0-4A47-9EDC-A8C5C2D35E90}"/>
              </a:ext>
            </a:extLst>
          </p:cNvPr>
          <p:cNvSpPr/>
          <p:nvPr/>
        </p:nvSpPr>
        <p:spPr>
          <a:xfrm>
            <a:off x="9476233" y="5479063"/>
            <a:ext cx="2161032" cy="519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 стойкости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94AE664-36D8-43A5-A2F3-EE57FD834D74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10556749" y="2048718"/>
            <a:ext cx="0" cy="1829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40528B61-805F-44BD-87D2-473C9288BE3A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10556749" y="3246779"/>
            <a:ext cx="0" cy="330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FCE5B01E-851E-42F5-8287-5ADFB387035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0556749" y="5216596"/>
            <a:ext cx="0" cy="2624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бъект 2">
            <a:extLst>
              <a:ext uri="{FF2B5EF4-FFF2-40B4-BE49-F238E27FC236}">
                <a16:creationId xmlns:a16="http://schemas.microsoft.com/office/drawing/2014/main" id="{B32C4AF2-B1AA-48F2-9D3D-601215699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48600" cy="4351338"/>
          </a:xfrm>
        </p:spPr>
        <p:txBody>
          <a:bodyPr>
            <a:normAutofit/>
          </a:bodyPr>
          <a:lstStyle/>
          <a:p>
            <a:r>
              <a:rPr lang="ru-RU" dirty="0"/>
              <a:t>Определение примитива</a:t>
            </a:r>
          </a:p>
          <a:p>
            <a:pPr lvl="1"/>
            <a:r>
              <a:rPr lang="ru-RU" dirty="0"/>
              <a:t>Что делает алгоритм примитива, чем он является?</a:t>
            </a:r>
            <a:endParaRPr lang="en-US" dirty="0"/>
          </a:p>
          <a:p>
            <a:pPr lvl="1"/>
            <a:r>
              <a:rPr lang="ru-RU" dirty="0"/>
              <a:t>Какие параметры примитива?</a:t>
            </a:r>
          </a:p>
          <a:p>
            <a:r>
              <a:rPr lang="ru-RU" dirty="0"/>
              <a:t>Определение модели</a:t>
            </a:r>
          </a:p>
          <a:p>
            <a:pPr lvl="1"/>
            <a:r>
              <a:rPr lang="ru-RU" dirty="0"/>
              <a:t>Каковы возможности противника?</a:t>
            </a:r>
          </a:p>
          <a:p>
            <a:pPr lvl="1"/>
            <a:r>
              <a:rPr lang="ru-RU" dirty="0"/>
              <a:t>Какой целевой параметр стойкости?</a:t>
            </a:r>
          </a:p>
          <a:p>
            <a:pPr lvl="1"/>
            <a:r>
              <a:rPr lang="ru-RU" dirty="0"/>
              <a:t>Как определена стойкость? Как она зависит от параметров?</a:t>
            </a:r>
          </a:p>
          <a:p>
            <a:r>
              <a:rPr lang="ru-RU" dirty="0"/>
              <a:t>???</a:t>
            </a:r>
          </a:p>
          <a:p>
            <a:r>
              <a:rPr lang="ru-RU" dirty="0"/>
              <a:t>Сравнение стойкости с целевым параметром</a:t>
            </a:r>
          </a:p>
        </p:txBody>
      </p:sp>
    </p:spTree>
    <p:extLst>
      <p:ext uri="{BB962C8B-B14F-4D97-AF65-F5344CB8AC3E}">
        <p14:creationId xmlns:p14="http://schemas.microsoft.com/office/powerpoint/2010/main" val="3652205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построения и анализа криптосистем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241771" cy="4351338"/>
          </a:xfrm>
        </p:spPr>
        <p:txBody>
          <a:bodyPr>
            <a:noAutofit/>
          </a:bodyPr>
          <a:lstStyle/>
          <a:p>
            <a:r>
              <a:rPr lang="ru-RU" sz="2600" b="1" dirty="0"/>
              <a:t>Системный </a:t>
            </a:r>
            <a:r>
              <a:rPr lang="en-US" sz="2600" b="1" dirty="0"/>
              <a:t> </a:t>
            </a:r>
            <a:r>
              <a:rPr lang="ru-RU" sz="2600" b="1" dirty="0"/>
              <a:t>подход</a:t>
            </a:r>
            <a:r>
              <a:rPr lang="en-US" sz="2600" b="1" dirty="0"/>
              <a:t> </a:t>
            </a:r>
            <a:r>
              <a:rPr lang="ru-RU" sz="2600" dirty="0"/>
              <a:t>– построение и анализ криптосистем на основе</a:t>
            </a:r>
            <a:r>
              <a:rPr lang="en-US" sz="2600" dirty="0"/>
              <a:t> </a:t>
            </a:r>
            <a:r>
              <a:rPr lang="ru-RU" sz="2600" b="1" dirty="0"/>
              <a:t>конкретных</a:t>
            </a:r>
            <a:r>
              <a:rPr lang="ru-RU" sz="2600" dirty="0"/>
              <a:t> криптографических примитивов</a:t>
            </a:r>
          </a:p>
          <a:p>
            <a:r>
              <a:rPr lang="ru-RU" sz="2600" dirty="0"/>
              <a:t>Возможно наличие не только средств обеспечения секретности, но и аутентичности, целостности и других</a:t>
            </a:r>
          </a:p>
          <a:p>
            <a:r>
              <a:rPr lang="ru-RU" sz="2600" dirty="0"/>
              <a:t>Предположении о стойкости исходит из анализа системы в целом, через сведение стойкости к сложности вычислительно сложной задачи</a:t>
            </a:r>
          </a:p>
          <a:p>
            <a:r>
              <a:rPr lang="ru-RU" sz="2600" dirty="0"/>
              <a:t>При замене части системы или примитива необходимо произвести анализ заново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9225481" y="24353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8187343" y="1482458"/>
            <a:ext cx="3589713" cy="41448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2600" dirty="0"/>
              <a:t>Криптосистема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402781" y="2237315"/>
            <a:ext cx="3158836" cy="7654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600" dirty="0"/>
              <a:t>Шифр*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8402781" y="3166845"/>
            <a:ext cx="3158836" cy="7654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600" dirty="0"/>
              <a:t>Хэш-функция*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8402781" y="4120113"/>
            <a:ext cx="3158836" cy="7654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600" dirty="0"/>
              <a:t>Код аутентичности*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527A0B-BF8D-439D-9CC4-0C5E6B14DACD}"/>
              </a:ext>
            </a:extLst>
          </p:cNvPr>
          <p:cNvSpPr txBox="1"/>
          <p:nvPr/>
        </p:nvSpPr>
        <p:spPr>
          <a:xfrm>
            <a:off x="0" y="6536809"/>
            <a:ext cx="6276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</a:t>
            </a:r>
            <a:r>
              <a:rPr lang="ru-RU" dirty="0"/>
              <a:t>– названия примитивов, будут рассмотрены в данном курсе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9460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</a:t>
            </a:r>
            <a:r>
              <a:rPr lang="ru-RU" dirty="0" err="1"/>
              <a:t>Керкгоффса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 построении и анализе криптосистем предполагаем, что противник знает ВСЁ, кроме секретных ключей.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Предполагается, что противник знает</a:t>
            </a:r>
          </a:p>
          <a:p>
            <a:r>
              <a:rPr lang="ru-RU" dirty="0"/>
              <a:t>Функции зашифрования</a:t>
            </a:r>
            <a:r>
              <a:rPr lang="en-US" dirty="0"/>
              <a:t>/</a:t>
            </a:r>
            <a:r>
              <a:rPr lang="ru-RU" dirty="0"/>
              <a:t>расшифрования (подписи</a:t>
            </a:r>
            <a:r>
              <a:rPr lang="en-US" dirty="0"/>
              <a:t>/</a:t>
            </a:r>
            <a:r>
              <a:rPr lang="ru-RU" dirty="0"/>
              <a:t>проверки</a:t>
            </a:r>
            <a:r>
              <a:rPr lang="en-US" dirty="0"/>
              <a:t>/…)</a:t>
            </a:r>
            <a:endParaRPr lang="ru-RU" dirty="0"/>
          </a:p>
          <a:p>
            <a:r>
              <a:rPr lang="ru-RU" dirty="0"/>
              <a:t>Слабые ключи (при наличии)</a:t>
            </a:r>
          </a:p>
          <a:p>
            <a:r>
              <a:rPr lang="ru-RU" dirty="0"/>
              <a:t>«Плохие» значения шифртекстов</a:t>
            </a:r>
            <a:r>
              <a:rPr lang="en-US" dirty="0"/>
              <a:t>/</a:t>
            </a:r>
            <a:r>
              <a:rPr lang="ru-RU" dirty="0"/>
              <a:t>открытых текстов</a:t>
            </a:r>
          </a:p>
          <a:p>
            <a:r>
              <a:rPr lang="ru-RU" dirty="0"/>
              <a:t>Любые особенности примитивов</a:t>
            </a:r>
          </a:p>
          <a:p>
            <a:r>
              <a:rPr lang="ru-RU" dirty="0"/>
              <a:t>Любые существующие атаки на примитивы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3203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построения и анализа криптосистем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241771" cy="4351338"/>
          </a:xfrm>
        </p:spPr>
        <p:txBody>
          <a:bodyPr>
            <a:noAutofit/>
          </a:bodyPr>
          <a:lstStyle/>
          <a:p>
            <a:r>
              <a:rPr lang="ru-RU" b="1" dirty="0"/>
              <a:t>Современный</a:t>
            </a:r>
            <a:r>
              <a:rPr lang="ru-RU" sz="2600" b="1" dirty="0"/>
              <a:t> </a:t>
            </a:r>
            <a:r>
              <a:rPr lang="en-US" sz="2600" b="1" dirty="0"/>
              <a:t> </a:t>
            </a:r>
            <a:r>
              <a:rPr lang="ru-RU" sz="2600" b="1" dirty="0"/>
              <a:t>подход</a:t>
            </a:r>
            <a:r>
              <a:rPr lang="en-US" sz="2600" b="1"/>
              <a:t> </a:t>
            </a:r>
            <a:r>
              <a:rPr lang="ru-RU" sz="2600"/>
              <a:t>– </a:t>
            </a:r>
            <a:r>
              <a:rPr lang="ru-RU" sz="2600" dirty="0"/>
              <a:t>построение и анализ криптосистем на основе абстрактных моделей криптографических примитивов </a:t>
            </a:r>
          </a:p>
          <a:p>
            <a:r>
              <a:rPr lang="ru-RU" sz="2600" dirty="0"/>
              <a:t>Вместо анализа частных свойств примитивов и их взаимодействия производится анализ самой конструкции, вне зависимости от используемых примитивов и их </a:t>
            </a:r>
            <a:r>
              <a:rPr lang="ru-RU" dirty="0"/>
              <a:t>стойкости</a:t>
            </a:r>
            <a:endParaRPr lang="ru-RU" sz="2600" dirty="0"/>
          </a:p>
          <a:p>
            <a:r>
              <a:rPr lang="ru-RU" sz="2600" dirty="0"/>
              <a:t>Предположении о стойкости исходит из анализа системы в предположении об априорной стойкости примитивов</a:t>
            </a:r>
          </a:p>
          <a:p>
            <a:r>
              <a:rPr lang="ru-RU" sz="2600" dirty="0"/>
              <a:t>При замене части системы нет необходимости проводить повторных анализ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9225481" y="24353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187343" y="1482458"/>
            <a:ext cx="3589713" cy="41448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2600" dirty="0"/>
              <a:t>Криптосистема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8402781" y="2237315"/>
            <a:ext cx="3158836" cy="7654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/>
              <a:t>PRP</a:t>
            </a:r>
            <a:r>
              <a:rPr lang="ru-RU" sz="2600" dirty="0"/>
              <a:t>*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402781" y="3166845"/>
            <a:ext cx="3158836" cy="7654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/>
              <a:t>One way Hash</a:t>
            </a:r>
            <a:r>
              <a:rPr lang="ru-RU" sz="2600" dirty="0"/>
              <a:t>*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8402781" y="4120113"/>
            <a:ext cx="3158836" cy="7654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/>
              <a:t>PRF</a:t>
            </a:r>
            <a:r>
              <a:rPr lang="ru-RU" sz="2600" dirty="0"/>
              <a:t>*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C5AE28-BED6-421B-AB92-65525C582053}"/>
              </a:ext>
            </a:extLst>
          </p:cNvPr>
          <p:cNvSpPr txBox="1"/>
          <p:nvPr/>
        </p:nvSpPr>
        <p:spPr>
          <a:xfrm>
            <a:off x="0" y="6536809"/>
            <a:ext cx="7195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</a:t>
            </a:r>
            <a:r>
              <a:rPr lang="ru-RU" dirty="0"/>
              <a:t>– названия моделей примитивов, будут рассмотрены в данном курсе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556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6DA7CB-5539-4DF0-ADC9-C00030B4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Слишком сложно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B20509-77E2-414F-B499-E06CB10CC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37AD5B-6C3D-4DF0-AFB2-955C5523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2768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638785"/>
            <a:ext cx="9144000" cy="3946337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Прикладное мостостроение</a:t>
            </a:r>
            <a:br>
              <a:rPr lang="en-US" dirty="0"/>
            </a:br>
            <a:br>
              <a:rPr lang="en-US" dirty="0"/>
            </a:br>
            <a:r>
              <a:rPr lang="ru-RU" dirty="0"/>
              <a:t>Стойкость мостов через сведение к стойкости составных элементов*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/>
              <a:t>МИФИ 2026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12DB4-1AF2-4CBF-8D01-53B47F83B95E}"/>
              </a:ext>
            </a:extLst>
          </p:cNvPr>
          <p:cNvSpPr txBox="1"/>
          <p:nvPr/>
        </p:nvSpPr>
        <p:spPr>
          <a:xfrm>
            <a:off x="0" y="6219215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</a:t>
            </a:r>
            <a:r>
              <a:rPr lang="ru-RU" dirty="0"/>
              <a:t>– исключительно с целью демонстрации на пальцах, автор не имеет понятия, как на самом деле оценивается прочность мостов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443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B83884-D444-4583-BE06-D94A5979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Историческая задача построения мостов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469E88-CC16-4425-B7E6-E339F726C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Отправка товаров на другой берег, используя некоторый транспорт</a:t>
            </a:r>
          </a:p>
          <a:p>
            <a:r>
              <a:rPr lang="ru-RU" dirty="0"/>
              <a:t>Обеспечение целостности грузов, используемого транспорта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95AF13-AF29-4C9B-9759-5DCF3FDF6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384A785-C173-4A26-9EDD-7C04071AF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4010172"/>
            <a:ext cx="5218176" cy="284782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D7C776D-CE5A-477B-921B-AA499829E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160" y="2735093"/>
            <a:ext cx="2183130" cy="218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51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3.7037E-7 L 0.28425 -3.7037E-7 C 0.41159 -3.7037E-7 0.56862 0.14537 0.56862 0.26412 L 0.56862 0.52824 " pathEditMode="relative" rAng="0" ptsTypes="AAAA">
                                      <p:cBhvr>
                                        <p:cTn id="6" dur="2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424" y="2641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AE248-EB2B-4755-9CE0-D7DE0696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Оценка стойкости моста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9A34F6-4F1D-4746-98FC-B8A48B858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24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5C6D00E-0C13-41E4-B7F4-D5B9E8B96A75}"/>
              </a:ext>
            </a:extLst>
          </p:cNvPr>
          <p:cNvSpPr/>
          <p:nvPr/>
        </p:nvSpPr>
        <p:spPr>
          <a:xfrm>
            <a:off x="9476233" y="2231672"/>
            <a:ext cx="2161032" cy="101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Определение модели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BA0C71-95BC-4792-AF69-282F4C3AE222}"/>
              </a:ext>
            </a:extLst>
          </p:cNvPr>
          <p:cNvSpPr/>
          <p:nvPr/>
        </p:nvSpPr>
        <p:spPr>
          <a:xfrm>
            <a:off x="9910573" y="1369014"/>
            <a:ext cx="1292352" cy="6797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Тип моста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A664895-8511-475A-997E-2D74F7B497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671" y="3577597"/>
            <a:ext cx="2010156" cy="1638999"/>
          </a:xfrm>
          <a:prstGeom prst="rect">
            <a:avLst/>
          </a:prstGeom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82B7E91-B4E0-4A47-9EDC-A8C5C2D35E90}"/>
              </a:ext>
            </a:extLst>
          </p:cNvPr>
          <p:cNvSpPr/>
          <p:nvPr/>
        </p:nvSpPr>
        <p:spPr>
          <a:xfrm>
            <a:off x="9476233" y="5479063"/>
            <a:ext cx="2161032" cy="519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 стойкости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494AE664-36D8-43A5-A2F3-EE57FD834D74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10556749" y="2048718"/>
            <a:ext cx="0" cy="1829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40528B61-805F-44BD-87D2-473C9288BE3A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>
            <a:off x="10556749" y="3246779"/>
            <a:ext cx="0" cy="330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FCE5B01E-851E-42F5-8287-5ADFB387035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10556749" y="5216596"/>
            <a:ext cx="0" cy="2624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бъект 2">
            <a:extLst>
              <a:ext uri="{FF2B5EF4-FFF2-40B4-BE49-F238E27FC236}">
                <a16:creationId xmlns:a16="http://schemas.microsoft.com/office/drawing/2014/main" id="{B32C4AF2-B1AA-48F2-9D3D-601215699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48600" cy="4351338"/>
          </a:xfrm>
        </p:spPr>
        <p:txBody>
          <a:bodyPr>
            <a:normAutofit/>
          </a:bodyPr>
          <a:lstStyle/>
          <a:p>
            <a:r>
              <a:rPr lang="ru-RU" dirty="0"/>
              <a:t>Определение типа моста</a:t>
            </a:r>
          </a:p>
          <a:p>
            <a:pPr lvl="1"/>
            <a:r>
              <a:rPr lang="ru-RU" dirty="0"/>
              <a:t>Арочный? Подвесной?</a:t>
            </a:r>
          </a:p>
          <a:p>
            <a:r>
              <a:rPr lang="ru-RU" dirty="0"/>
              <a:t>Определение модели</a:t>
            </a:r>
          </a:p>
          <a:p>
            <a:pPr lvl="1"/>
            <a:r>
              <a:rPr lang="ru-RU" dirty="0"/>
              <a:t>Какова предполагаемая нагрузка на мост? Какого она типа?</a:t>
            </a:r>
          </a:p>
          <a:p>
            <a:pPr lvl="2"/>
            <a:r>
              <a:rPr lang="ru-RU" dirty="0"/>
              <a:t>Какое количество транспорта, какая нагрузка, если ли «пики» нагрузки…</a:t>
            </a:r>
          </a:p>
          <a:p>
            <a:pPr lvl="1"/>
            <a:r>
              <a:rPr lang="ru-RU" dirty="0"/>
              <a:t>Какая целевая «стойкость» моста? Как она зависит от параметров</a:t>
            </a:r>
          </a:p>
          <a:p>
            <a:r>
              <a:rPr lang="ru-RU" dirty="0"/>
              <a:t>???</a:t>
            </a:r>
          </a:p>
          <a:p>
            <a:r>
              <a:rPr lang="ru-RU" dirty="0"/>
              <a:t>Сравнение стойкости с целевым параметром</a:t>
            </a:r>
          </a:p>
        </p:txBody>
      </p:sp>
    </p:spTree>
    <p:extLst>
      <p:ext uri="{BB962C8B-B14F-4D97-AF65-F5344CB8AC3E}">
        <p14:creationId xmlns:p14="http://schemas.microsoft.com/office/powerpoint/2010/main" val="21689260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C3AF5-395C-444A-A396-FF7CD386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Сведение стойкости моста к стойкости составных элементов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B43A81-AEC9-467F-917D-830B0AC985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727192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Хотим показать, что мост является стойким от некоторых параметров, если стойкими являются её составные части.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моста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опоры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пролёта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арки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простоты рассмотрим только сведение до стойкости опоры, т.е. предположим, что пролёт и арка «безусловно стойкие».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моста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опоры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B43A81-AEC9-467F-917D-830B0AC98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727192" cy="4351338"/>
              </a:xfrm>
              <a:blipFill>
                <a:blip r:embed="rId2"/>
                <a:stretch>
                  <a:fillRect l="-1917" t="-2101" r="-319" b="-12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CCF934F-93F1-407B-B004-90AE340E9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25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1202E5-14F9-44D3-AC34-E82FF7847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335" y="2595944"/>
            <a:ext cx="4437889" cy="24219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0A8033-ED4B-4890-8DDE-4AA6E4AD5A6E}"/>
              </a:ext>
            </a:extLst>
          </p:cNvPr>
          <p:cNvSpPr txBox="1"/>
          <p:nvPr/>
        </p:nvSpPr>
        <p:spPr>
          <a:xfrm>
            <a:off x="8348472" y="1938528"/>
            <a:ext cx="865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пролёт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E5A94-F772-4779-AC2F-EF7D252A5EA7}"/>
              </a:ext>
            </a:extLst>
          </p:cNvPr>
          <p:cNvSpPr txBox="1"/>
          <p:nvPr/>
        </p:nvSpPr>
        <p:spPr>
          <a:xfrm>
            <a:off x="7567489" y="4648597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опора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CA2F0D-EFF3-47BD-AE5A-364DD9D0F9EC}"/>
              </a:ext>
            </a:extLst>
          </p:cNvPr>
          <p:cNvSpPr txBox="1"/>
          <p:nvPr/>
        </p:nvSpPr>
        <p:spPr>
          <a:xfrm>
            <a:off x="8990905" y="4267205"/>
            <a:ext cx="631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арка</a:t>
            </a:r>
          </a:p>
        </p:txBody>
      </p:sp>
      <p:cxnSp>
        <p:nvCxnSpPr>
          <p:cNvPr id="10" name="Соединитель: изогнутый 9">
            <a:extLst>
              <a:ext uri="{FF2B5EF4-FFF2-40B4-BE49-F238E27FC236}">
                <a16:creationId xmlns:a16="http://schemas.microsoft.com/office/drawing/2014/main" id="{8363652A-1D79-4460-87BB-236C6B7AFD80}"/>
              </a:ext>
            </a:extLst>
          </p:cNvPr>
          <p:cNvCxnSpPr>
            <a:cxnSpLocks/>
            <a:stCxn id="7" idx="2"/>
          </p:cNvCxnSpPr>
          <p:nvPr/>
        </p:nvCxnSpPr>
        <p:spPr>
          <a:xfrm rot="5400000" flipH="1">
            <a:off x="7514210" y="4574159"/>
            <a:ext cx="272193" cy="615349"/>
          </a:xfrm>
          <a:prstGeom prst="curvedConnector4">
            <a:avLst>
              <a:gd name="adj1" fmla="val -83985"/>
              <a:gd name="adj2" fmla="val 8172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id="{3F19AAD0-7AFD-45A3-8073-705FA33DF691}"/>
              </a:ext>
            </a:extLst>
          </p:cNvPr>
          <p:cNvCxnSpPr>
            <a:cxnSpLocks/>
            <a:stCxn id="8" idx="0"/>
          </p:cNvCxnSpPr>
          <p:nvPr/>
        </p:nvCxnSpPr>
        <p:spPr>
          <a:xfrm rot="16200000" flipV="1">
            <a:off x="8854133" y="3814576"/>
            <a:ext cx="905256" cy="1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изогнутый 19">
            <a:extLst>
              <a:ext uri="{FF2B5EF4-FFF2-40B4-BE49-F238E27FC236}">
                <a16:creationId xmlns:a16="http://schemas.microsoft.com/office/drawing/2014/main" id="{0A0DA59B-B728-4D08-8514-7CED0FD98783}"/>
              </a:ext>
            </a:extLst>
          </p:cNvPr>
          <p:cNvCxnSpPr>
            <a:cxnSpLocks/>
            <a:stCxn id="6" idx="2"/>
          </p:cNvCxnSpPr>
          <p:nvPr/>
        </p:nvCxnSpPr>
        <p:spPr>
          <a:xfrm rot="16200000" flipH="1">
            <a:off x="8780483" y="2308627"/>
            <a:ext cx="527046" cy="525511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442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Сведение стойкости (</a:t>
            </a:r>
            <a:r>
              <a:rPr lang="en-US" dirty="0"/>
              <a:t>Security Reduction)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Доказательство стойкости</a:t>
            </a:r>
            <a:r>
              <a:rPr lang="en-US" sz="2600" dirty="0"/>
              <a:t> </a:t>
            </a:r>
            <a:r>
              <a:rPr lang="ru-RU" dirty="0"/>
              <a:t>мостов</a:t>
            </a:r>
            <a:r>
              <a:rPr lang="ru-RU" sz="2600" dirty="0"/>
              <a:t> показывается сведением её к стойкости составных элементов.</a:t>
            </a:r>
          </a:p>
          <a:p>
            <a:pPr marL="0" indent="0">
              <a:buNone/>
            </a:pPr>
            <a:r>
              <a:rPr lang="ru-RU" dirty="0"/>
              <a:t>(если) Составные элементы стойкие =</a:t>
            </a:r>
            <a:r>
              <a:rPr lang="en-US" dirty="0"/>
              <a:t>&gt;</a:t>
            </a:r>
            <a:r>
              <a:rPr lang="ru-RU" dirty="0"/>
              <a:t> (то) Мост стойкий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&lt;=&gt;</a:t>
            </a:r>
            <a:r>
              <a:rPr lang="ru-RU" dirty="0"/>
              <a:t> (отрицание обоих частей)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(если) Мост нестойкий</a:t>
            </a:r>
            <a:r>
              <a:rPr lang="ru-RU" sz="2600" dirty="0"/>
              <a:t> =</a:t>
            </a:r>
            <a:r>
              <a:rPr lang="en-US" dirty="0"/>
              <a:t>&gt;</a:t>
            </a:r>
            <a:r>
              <a:rPr lang="ru-RU" dirty="0"/>
              <a:t> (то) нестойкие какие то его элементы</a:t>
            </a:r>
            <a:endParaRPr lang="en-US" sz="2600" dirty="0"/>
          </a:p>
          <a:p>
            <a:endParaRPr lang="ru-RU" sz="2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26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230283" y="4372495"/>
            <a:ext cx="3424843" cy="180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600" dirty="0"/>
              <a:t>Мост сломался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467599" y="4372495"/>
            <a:ext cx="3424843" cy="180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600" dirty="0"/>
              <a:t>Сломалась опора</a:t>
            </a:r>
          </a:p>
        </p:txBody>
      </p:sp>
      <p:cxnSp>
        <p:nvCxnSpPr>
          <p:cNvPr id="8" name="Прямая со стрелкой 7"/>
          <p:cNvCxnSpPr>
            <a:stCxn id="5" idx="3"/>
          </p:cNvCxnSpPr>
          <p:nvPr/>
        </p:nvCxnSpPr>
        <p:spPr>
          <a:xfrm>
            <a:off x="4655126" y="5274729"/>
            <a:ext cx="2793078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5701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Сведение стойкости (</a:t>
            </a:r>
            <a:r>
              <a:rPr lang="en-US" dirty="0"/>
              <a:t>Security Reduction)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Составные элементы не стойкие =</a:t>
            </a:r>
            <a:r>
              <a:rPr lang="en-US" dirty="0"/>
              <a:t>&gt; </a:t>
            </a:r>
            <a:r>
              <a:rPr lang="ru-RU" dirty="0"/>
              <a:t>Мост нестойкий</a:t>
            </a:r>
            <a:endParaRPr lang="en-US" sz="2600" dirty="0"/>
          </a:p>
          <a:p>
            <a:r>
              <a:rPr lang="ru-RU" sz="2600" dirty="0"/>
              <a:t>Если можем показать, что в предположении «Мост сломался» у нас всегда ломается опора, значит мост всегда будет стойким, если будет стойкой опора.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27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091135" y="3559955"/>
            <a:ext cx="3424843" cy="1230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600" dirty="0"/>
              <a:t>Мост сломался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328451" y="3559955"/>
            <a:ext cx="3424843" cy="1230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600" dirty="0"/>
              <a:t>Сломалась опора</a:t>
            </a:r>
          </a:p>
        </p:txBody>
      </p:sp>
      <p:cxnSp>
        <p:nvCxnSpPr>
          <p:cNvPr id="8" name="Прямая со стрелкой 7"/>
          <p:cNvCxnSpPr>
            <a:cxnSpLocks/>
            <a:stCxn id="5" idx="3"/>
          </p:cNvCxnSpPr>
          <p:nvPr/>
        </p:nvCxnSpPr>
        <p:spPr>
          <a:xfrm>
            <a:off x="4515978" y="4175308"/>
            <a:ext cx="2779344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1B2B077-533D-4081-8EB7-95F769E65E96}"/>
              </a:ext>
            </a:extLst>
          </p:cNvPr>
          <p:cNvSpPr/>
          <p:nvPr/>
        </p:nvSpPr>
        <p:spPr>
          <a:xfrm>
            <a:off x="1091135" y="5125644"/>
            <a:ext cx="3424843" cy="1230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600" dirty="0"/>
              <a:t>Стойкая опора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64CA5FB-2463-4F64-B138-B1272180C4AF}"/>
              </a:ext>
            </a:extLst>
          </p:cNvPr>
          <p:cNvSpPr/>
          <p:nvPr/>
        </p:nvSpPr>
        <p:spPr>
          <a:xfrm>
            <a:off x="7328451" y="5125644"/>
            <a:ext cx="3424843" cy="1230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600" dirty="0"/>
              <a:t>Стойкий мост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819A8699-F4F6-452A-B1FD-6E2A303B5BA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515978" y="5740997"/>
            <a:ext cx="2779344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5B7CBCB1-F574-4A66-9ECB-9931638EF107}"/>
              </a:ext>
            </a:extLst>
          </p:cNvPr>
          <p:cNvCxnSpPr/>
          <p:nvPr/>
        </p:nvCxnSpPr>
        <p:spPr>
          <a:xfrm>
            <a:off x="5771322" y="4499113"/>
            <a:ext cx="0" cy="93427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893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7E4F17-C449-4ECB-8040-39580584E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Ах да, криптография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A8D77E-0C48-4EFA-AD22-A21035814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B9085A-D1CC-475E-BD9B-F373EF5DF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634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Сведение стойкости (</a:t>
            </a:r>
            <a:r>
              <a:rPr lang="en-US" dirty="0"/>
              <a:t>Security Reduction)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Наиболее распространённый способ доказательства практической стойкости криптографического примитива является сведение атаки на него к вычислительно сложной задаче. Иными словами показывается, что произвести атаку на примитив так же сложно как решить вычислительно сложную задачу.</a:t>
            </a:r>
            <a:r>
              <a:rPr lang="en-US" sz="2600" dirty="0"/>
              <a:t> </a:t>
            </a:r>
            <a:endParaRPr lang="ru-RU" sz="2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29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230283" y="4372495"/>
            <a:ext cx="3424843" cy="180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600" dirty="0"/>
              <a:t>Атака на криптографический примитив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7467599" y="4372495"/>
            <a:ext cx="3424843" cy="180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600" dirty="0"/>
              <a:t>Возможность решения вычислительно сложной задачи</a:t>
            </a:r>
          </a:p>
        </p:txBody>
      </p:sp>
      <p:cxnSp>
        <p:nvCxnSpPr>
          <p:cNvPr id="8" name="Прямая со стрелкой 7"/>
          <p:cNvCxnSpPr>
            <a:stCxn id="5" idx="3"/>
          </p:cNvCxnSpPr>
          <p:nvPr/>
        </p:nvCxnSpPr>
        <p:spPr>
          <a:xfrm>
            <a:off x="4655126" y="5274729"/>
            <a:ext cx="2793078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645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Сведение стойкости (</a:t>
            </a:r>
            <a:r>
              <a:rPr lang="en-US" dirty="0"/>
              <a:t>Security Reduction)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600" dirty="0"/>
              <a:t>Доказательство стойкости</a:t>
            </a:r>
            <a:r>
              <a:rPr lang="en-US" sz="2600" dirty="0"/>
              <a:t> </a:t>
            </a:r>
            <a:r>
              <a:rPr lang="ru-RU" sz="2600" dirty="0"/>
              <a:t>криптосистемы показывается сведением её к стойкости криптографических примитив. При современном подходе описание системы использует только абстрактные модели примитивов (</a:t>
            </a:r>
            <a:r>
              <a:rPr lang="en-US" sz="2600" dirty="0"/>
              <a:t>PRF, PRP, </a:t>
            </a:r>
            <a:r>
              <a:rPr lang="ru-RU" sz="2600" dirty="0"/>
              <a:t>и другие).</a:t>
            </a:r>
            <a:r>
              <a:rPr lang="en-US" sz="2600" dirty="0"/>
              <a:t> </a:t>
            </a:r>
          </a:p>
          <a:p>
            <a:endParaRPr lang="ru-RU" sz="2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30</a:t>
            </a:fld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1230283" y="4372495"/>
            <a:ext cx="3424843" cy="180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err="1"/>
              <a:t>Атака</a:t>
            </a:r>
            <a:r>
              <a:rPr lang="en-US" sz="2600" dirty="0"/>
              <a:t> </a:t>
            </a:r>
            <a:r>
              <a:rPr lang="en-US" sz="2600" dirty="0" err="1"/>
              <a:t>на</a:t>
            </a:r>
            <a:r>
              <a:rPr lang="en-US" sz="2600" dirty="0"/>
              <a:t> </a:t>
            </a:r>
            <a:r>
              <a:rPr lang="en-US" sz="2600" dirty="0" err="1"/>
              <a:t>криптосистему</a:t>
            </a:r>
            <a:endParaRPr lang="ru-RU" sz="26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467599" y="4372495"/>
            <a:ext cx="3424843" cy="18044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err="1"/>
              <a:t>Атака</a:t>
            </a:r>
            <a:r>
              <a:rPr lang="en-US" sz="2600" dirty="0"/>
              <a:t> </a:t>
            </a:r>
            <a:r>
              <a:rPr lang="en-US" sz="2600" dirty="0" err="1"/>
              <a:t>на</a:t>
            </a:r>
            <a:r>
              <a:rPr lang="en-US" sz="2600" dirty="0"/>
              <a:t> </a:t>
            </a:r>
            <a:r>
              <a:rPr lang="en-US" sz="2600" dirty="0" err="1"/>
              <a:t>примитив</a:t>
            </a:r>
            <a:endParaRPr lang="ru-RU" sz="2600" dirty="0"/>
          </a:p>
        </p:txBody>
      </p:sp>
      <p:cxnSp>
        <p:nvCxnSpPr>
          <p:cNvPr id="8" name="Прямая со стрелкой 7"/>
          <p:cNvCxnSpPr>
            <a:stCxn id="5" idx="3"/>
          </p:cNvCxnSpPr>
          <p:nvPr/>
        </p:nvCxnSpPr>
        <p:spPr>
          <a:xfrm>
            <a:off x="4655126" y="5274729"/>
            <a:ext cx="2793078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3133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Сведение стойкости (</a:t>
            </a:r>
            <a:r>
              <a:rPr lang="en-US" dirty="0"/>
              <a:t>Security Reduction)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стойкая система</a:t>
                </a:r>
                <a:r>
                  <a:rPr lang="ru-RU" dirty="0"/>
                  <a:t>. Показать что система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 стойкая.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(Показать сведение стойкости системы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к стойкости системы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От противного. Пусть существует атака на систему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dirty="0"/>
                  <a:t>. Попробуем использовать эту атаку для построения атаки на систему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i="0" dirty="0">
                    <a:latin typeface="+mj-lt"/>
                    <a:ea typeface="Cambria Math" panose="02040503050406030204" pitchFamily="18" charset="0"/>
                  </a:rPr>
                  <a:t>. </a:t>
                </a:r>
                <a:endParaRPr lang="ru-RU" b="0" i="0" dirty="0">
                  <a:latin typeface="+mj-lt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i="1" dirty="0">
                    <a:ea typeface="Cambria Math" panose="02040503050406030204" pitchFamily="18" charset="0"/>
                  </a:rPr>
                  <a:t>(Строим атаку на систему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b="0" i="1" dirty="0">
                    <a:ea typeface="Cambria Math" panose="02040503050406030204" pitchFamily="18" charset="0"/>
                  </a:rPr>
                  <a:t>).</a:t>
                </a:r>
              </a:p>
              <a:p>
                <a:pPr marL="0" indent="0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Следовательно, из предположения нестойкости системы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b="0" i="0" dirty="0">
                    <a:ea typeface="Cambria Math" panose="02040503050406030204" pitchFamily="18" charset="0"/>
                  </a:rPr>
                  <a:t> (</a:t>
                </a:r>
                <a:r>
                  <a:rPr lang="ru-RU" b="0" i="0" dirty="0">
                    <a:ea typeface="Cambria Math" panose="02040503050406030204" pitchFamily="18" charset="0"/>
                  </a:rPr>
                  <a:t>предположения о наличии атаки) мы построили атаку на систему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b="0" i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ru-RU" b="0" i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ea typeface="Cambria Math" panose="02040503050406030204" pitchFamily="18" charset="0"/>
                  </a:rPr>
                  <a:t>Но система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ru-RU" b="0" i="0" dirty="0">
                    <a:ea typeface="Cambria Math" panose="02040503050406030204" pitchFamily="18" charset="0"/>
                  </a:rPr>
                  <a:t> – </a:t>
                </a:r>
                <a:r>
                  <a:rPr lang="ru-RU" b="1" i="0" dirty="0">
                    <a:ea typeface="Cambria Math" panose="02040503050406030204" pitchFamily="18" charset="0"/>
                  </a:rPr>
                  <a:t>стойкая</a:t>
                </a:r>
                <a:r>
                  <a:rPr lang="ru-RU" b="0" i="0" dirty="0">
                    <a:ea typeface="Cambria Math" panose="02040503050406030204" pitchFamily="18" charset="0"/>
                  </a:rPr>
                  <a:t>, следовательно предположение не верно и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ru-RU" b="0" i="0" dirty="0">
                    <a:ea typeface="Cambria Math" panose="02040503050406030204" pitchFamily="18" charset="0"/>
                  </a:rPr>
                  <a:t> – стойкая.</a:t>
                </a:r>
                <a14:m>
                  <m:oMath xmlns:m="http://schemas.openxmlformats.org/officeDocument/2006/math">
                    <m:r>
                      <a:rPr lang="ru-RU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969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Скругленный прямоугольник 46"/>
          <p:cNvSpPr/>
          <p:nvPr/>
        </p:nvSpPr>
        <p:spPr>
          <a:xfrm>
            <a:off x="480291" y="1473068"/>
            <a:ext cx="7921696" cy="450286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Сведение стойкости (</a:t>
            </a:r>
            <a:r>
              <a:rPr lang="en-US" dirty="0"/>
              <a:t>Security Reduction)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32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1846343" y="3146982"/>
            <a:ext cx="182642" cy="326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846716" y="2194058"/>
            <a:ext cx="3549113" cy="36588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ru-RU" sz="2600" dirty="0"/>
              <a:t>Криптосистема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1057280" y="2948916"/>
            <a:ext cx="3123109" cy="6757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/>
              <a:t>PRP</a:t>
            </a:r>
            <a:endParaRPr lang="ru-RU" sz="2600" dirty="0"/>
          </a:p>
        </p:txBody>
      </p:sp>
      <p:sp>
        <p:nvSpPr>
          <p:cNvPr id="23" name="Прямоугольник 22"/>
          <p:cNvSpPr/>
          <p:nvPr/>
        </p:nvSpPr>
        <p:spPr>
          <a:xfrm>
            <a:off x="1057280" y="3878446"/>
            <a:ext cx="3123109" cy="6757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/>
              <a:t>One </a:t>
            </a:r>
            <a:r>
              <a:rPr lang="en-US" sz="2600"/>
              <a:t>way Hash</a:t>
            </a:r>
            <a:endParaRPr lang="ru-RU" sz="260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1057280" y="4831714"/>
            <a:ext cx="3123109" cy="6757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600" dirty="0"/>
              <a:t>PRF</a:t>
            </a:r>
            <a:endParaRPr lang="ru-RU" sz="2600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8709311" y="2948916"/>
            <a:ext cx="3123109" cy="6757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600" dirty="0"/>
              <a:t>AES</a:t>
            </a:r>
          </a:p>
        </p:txBody>
      </p:sp>
      <p:sp>
        <p:nvSpPr>
          <p:cNvPr id="27" name="Прямоугольник 26"/>
          <p:cNvSpPr/>
          <p:nvPr/>
        </p:nvSpPr>
        <p:spPr>
          <a:xfrm>
            <a:off x="8709311" y="3839574"/>
            <a:ext cx="3123109" cy="6757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600" dirty="0"/>
              <a:t>SHA-256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4646993" y="4831714"/>
            <a:ext cx="3123109" cy="6757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600" dirty="0"/>
              <a:t>HMAC</a:t>
            </a:r>
          </a:p>
        </p:txBody>
      </p:sp>
      <p:cxnSp>
        <p:nvCxnSpPr>
          <p:cNvPr id="30" name="Прямая со стрелкой 29"/>
          <p:cNvCxnSpPr>
            <a:stCxn id="22" idx="3"/>
            <a:endCxn id="26" idx="1"/>
          </p:cNvCxnSpPr>
          <p:nvPr/>
        </p:nvCxnSpPr>
        <p:spPr>
          <a:xfrm>
            <a:off x="4180389" y="3286776"/>
            <a:ext cx="452892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23" idx="3"/>
            <a:endCxn id="27" idx="1"/>
          </p:cNvCxnSpPr>
          <p:nvPr/>
        </p:nvCxnSpPr>
        <p:spPr>
          <a:xfrm flipV="1">
            <a:off x="4180389" y="4177434"/>
            <a:ext cx="4528922" cy="38872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" name="Прямая со стрелкой 31"/>
          <p:cNvCxnSpPr/>
          <p:nvPr/>
        </p:nvCxnSpPr>
        <p:spPr>
          <a:xfrm>
            <a:off x="4236572" y="5222313"/>
            <a:ext cx="426004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28" idx="3"/>
            <a:endCxn id="27" idx="2"/>
          </p:cNvCxnSpPr>
          <p:nvPr/>
        </p:nvCxnSpPr>
        <p:spPr>
          <a:xfrm flipV="1">
            <a:off x="7770102" y="4515294"/>
            <a:ext cx="2500764" cy="6542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/>
          <p:cNvSpPr/>
          <p:nvPr/>
        </p:nvSpPr>
        <p:spPr>
          <a:xfrm>
            <a:off x="1471568" y="1549103"/>
            <a:ext cx="641628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dirty="0" err="1"/>
              <a:t>Абстрактное</a:t>
            </a:r>
            <a:r>
              <a:rPr lang="en-US" sz="2600" dirty="0"/>
              <a:t> </a:t>
            </a:r>
            <a:r>
              <a:rPr lang="en-US" sz="2600" dirty="0" err="1"/>
              <a:t>описание</a:t>
            </a:r>
            <a:r>
              <a:rPr lang="en-US" sz="2600" dirty="0"/>
              <a:t> </a:t>
            </a:r>
            <a:r>
              <a:rPr lang="en-US" sz="2600" dirty="0" err="1"/>
              <a:t>криптосистемы</a:t>
            </a:r>
            <a:endParaRPr lang="ru-RU" sz="2600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480291" y="6076872"/>
            <a:ext cx="79216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Показывается теоретическая стойкость, при предположении о стойкости абстрактных примитивов. </a:t>
            </a:r>
          </a:p>
        </p:txBody>
      </p:sp>
      <p:sp>
        <p:nvSpPr>
          <p:cNvPr id="51" name="Прямоугольник 50"/>
          <p:cNvSpPr/>
          <p:nvPr/>
        </p:nvSpPr>
        <p:spPr>
          <a:xfrm>
            <a:off x="8507009" y="4922710"/>
            <a:ext cx="368499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Показывается стойкость против известных атак, предполагается теоретическая стойкость.</a:t>
            </a:r>
          </a:p>
        </p:txBody>
      </p:sp>
    </p:spTree>
    <p:extLst>
      <p:ext uri="{BB962C8B-B14F-4D97-AF65-F5344CB8AC3E}">
        <p14:creationId xmlns:p14="http://schemas.microsoft.com/office/powerpoint/2010/main" val="1454316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Сведение стойкости криптографический примитивов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95851"/>
          </a:xfrm>
        </p:spPr>
        <p:txBody>
          <a:bodyPr>
            <a:normAutofit/>
          </a:bodyPr>
          <a:lstStyle/>
          <a:p>
            <a:r>
              <a:rPr lang="ru-RU" sz="2600" dirty="0"/>
              <a:t>Для симметричных криптосистем стойкость сводится к задаче </a:t>
            </a:r>
            <a:r>
              <a:rPr lang="en-US" sz="2600" dirty="0"/>
              <a:t>3SAT:</a:t>
            </a:r>
            <a:endParaRPr lang="ru-RU" sz="2200" dirty="0"/>
          </a:p>
          <a:p>
            <a:pPr lvl="1"/>
            <a:r>
              <a:rPr lang="ru-RU" sz="2200" dirty="0"/>
              <a:t>Пусть дана </a:t>
            </a:r>
            <a:r>
              <a:rPr lang="ru-RU" sz="2200" dirty="0" err="1"/>
              <a:t>булевая</a:t>
            </a:r>
            <a:r>
              <a:rPr lang="ru-RU" sz="2200" dirty="0"/>
              <a:t> функция от </a:t>
            </a:r>
            <a:r>
              <a:rPr lang="en-US" sz="2200" dirty="0"/>
              <a:t>N </a:t>
            </a:r>
            <a:r>
              <a:rPr lang="ru-RU" sz="2200" dirty="0"/>
              <a:t>переменных. Найти вектор решений, при котором значение булевой функции равно 1.</a:t>
            </a:r>
          </a:p>
          <a:p>
            <a:pPr lvl="2"/>
            <a:r>
              <a:rPr lang="en-US" sz="1800" dirty="0"/>
              <a:t>NP </a:t>
            </a:r>
            <a:r>
              <a:rPr lang="ru-RU" sz="1800" dirty="0"/>
              <a:t>полная задача</a:t>
            </a:r>
          </a:p>
          <a:p>
            <a:pPr lvl="1"/>
            <a:r>
              <a:rPr lang="ru-RU" sz="2200" dirty="0"/>
              <a:t>Как правило не показывается явное сведение, а доказывается стойкость к существующим атакам</a:t>
            </a:r>
          </a:p>
          <a:p>
            <a:r>
              <a:rPr lang="ru-RU" sz="2600" dirty="0"/>
              <a:t>Для асимметричных криптосистем стойкость может сводится</a:t>
            </a:r>
            <a:r>
              <a:rPr lang="en-US" sz="2600" dirty="0"/>
              <a:t>:</a:t>
            </a:r>
            <a:endParaRPr lang="ru-RU" sz="2200" dirty="0"/>
          </a:p>
          <a:p>
            <a:pPr lvl="1"/>
            <a:r>
              <a:rPr lang="ru-RU" sz="2200" dirty="0"/>
              <a:t>Задача дискретного логарифмирования в конечных группах</a:t>
            </a:r>
          </a:p>
          <a:p>
            <a:pPr lvl="1"/>
            <a:r>
              <a:rPr lang="ru-RU" sz="2200" dirty="0"/>
              <a:t>Задача факторизации больших целых чисел</a:t>
            </a:r>
          </a:p>
          <a:p>
            <a:pPr lvl="1"/>
            <a:r>
              <a:rPr lang="ru-RU" sz="2200" dirty="0"/>
              <a:t>Задача нахождения кратчайшего вектора решётки</a:t>
            </a:r>
          </a:p>
          <a:p>
            <a:pPr lvl="1"/>
            <a:r>
              <a:rPr lang="ru-RU" sz="2200" dirty="0"/>
              <a:t>Задача декодирования линейных кодов</a:t>
            </a:r>
          </a:p>
          <a:p>
            <a:pPr lvl="1"/>
            <a:r>
              <a:rPr lang="ru-RU" sz="2200" dirty="0"/>
              <a:t>Задача решения многомерных квадратичных многочленов</a:t>
            </a:r>
          </a:p>
          <a:p>
            <a:pPr lvl="1"/>
            <a:r>
              <a:rPr lang="ru-RU" sz="2200" dirty="0"/>
              <a:t>….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324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75200-5298-4AA3-86A8-2AA97163C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Вопросов больше, чем ответов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9B1912-DC92-43CF-A2A7-29076716E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25054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Рассмотрим Шифр.</a:t>
            </a:r>
          </a:p>
          <a:p>
            <a:r>
              <a:rPr lang="ru-RU" dirty="0"/>
              <a:t>Как определить модель Шифра?</a:t>
            </a:r>
          </a:p>
          <a:p>
            <a:r>
              <a:rPr lang="ru-RU" dirty="0"/>
              <a:t>Как в рамках модели определить стойкость?</a:t>
            </a:r>
          </a:p>
          <a:p>
            <a:pPr lvl="1"/>
            <a:r>
              <a:rPr lang="ru-RU" dirty="0"/>
              <a:t>Каков смысл числового значения стойкости?</a:t>
            </a:r>
          </a:p>
          <a:p>
            <a:r>
              <a:rPr lang="ru-RU" dirty="0"/>
              <a:t>Как связана стойкость и практические атаки?</a:t>
            </a:r>
          </a:p>
          <a:p>
            <a:r>
              <a:rPr lang="ru-RU" dirty="0"/>
              <a:t>Какой параметр стойкости считать допустимым?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499FFA-524C-41B4-B7F2-80725B64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34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0A9815A-24D0-42BF-A29E-3B100F16CF7C}"/>
              </a:ext>
            </a:extLst>
          </p:cNvPr>
          <p:cNvSpPr/>
          <p:nvPr/>
        </p:nvSpPr>
        <p:spPr>
          <a:xfrm>
            <a:off x="9476233" y="2231672"/>
            <a:ext cx="2161032" cy="1015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Определение модели примитива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7E0D0CA-71D8-43B5-BDF8-4F0F91CC42C2}"/>
              </a:ext>
            </a:extLst>
          </p:cNvPr>
          <p:cNvSpPr/>
          <p:nvPr/>
        </p:nvSpPr>
        <p:spPr>
          <a:xfrm>
            <a:off x="9910573" y="1369014"/>
            <a:ext cx="1292352" cy="6797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Примитив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43011A-949A-4C3E-ABBB-76ADBF1505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671" y="3577597"/>
            <a:ext cx="2010156" cy="1638999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B72BCA3-51A6-466F-BC42-F40A5164E112}"/>
              </a:ext>
            </a:extLst>
          </p:cNvPr>
          <p:cNvSpPr/>
          <p:nvPr/>
        </p:nvSpPr>
        <p:spPr>
          <a:xfrm>
            <a:off x="9476233" y="5479063"/>
            <a:ext cx="2161032" cy="519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Параметр стойкости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F97DF5F6-F95C-4918-BC54-14EA7443B624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10556749" y="2048718"/>
            <a:ext cx="0" cy="1829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CD1CD34-1EB7-4201-A5BC-5DC847B5F488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0556749" y="3246779"/>
            <a:ext cx="0" cy="3308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2D94838-8D1E-4A10-BD49-2C5AED70A9C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0556749" y="5216596"/>
            <a:ext cx="0" cy="2624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57274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 Шеннона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Шифр Шеннона  - пара функций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, таких что</m:t>
                    </m:r>
                  </m:oMath>
                </a14:m>
                <a:r>
                  <a:rPr lang="en-US" b="0" dirty="0"/>
                  <a:t>:</a:t>
                </a:r>
              </a:p>
              <a:p>
                <a:r>
                  <a:rPr lang="ru-RU" dirty="0"/>
                  <a:t>(1)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ru-RU" b="0" dirty="0"/>
                  <a:t> (</a:t>
                </a:r>
                <a:r>
                  <a:rPr lang="ru-RU" b="1" dirty="0"/>
                  <a:t>функция </a:t>
                </a:r>
                <a:r>
                  <a:rPr lang="ru-RU" b="1" dirty="0" err="1"/>
                  <a:t>зашифрования</a:t>
                </a:r>
                <a:r>
                  <a:rPr lang="ru-RU" b="0" dirty="0"/>
                  <a:t>) принимает на вход ключ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сообщение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(</a:t>
                </a:r>
                <a:r>
                  <a:rPr lang="ru-RU" b="0" dirty="0"/>
                  <a:t>называемой открытым текстом, </a:t>
                </a:r>
                <a:r>
                  <a:rPr lang="en-US" b="0" dirty="0"/>
                  <a:t>PT) </a:t>
                </a:r>
                <a:r>
                  <a:rPr lang="ru-RU" b="0" dirty="0"/>
                  <a:t>и даёт на выходе </a:t>
                </a:r>
                <a:r>
                  <a:rPr lang="ru-RU" b="0" dirty="0" err="1"/>
                  <a:t>шифртекст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b="0" dirty="0"/>
                  <a:t> (</a:t>
                </a:r>
                <a:r>
                  <a:rPr lang="en-US" b="0" dirty="0"/>
                  <a:t>CT)</a:t>
                </a:r>
                <a:r>
                  <a:rPr lang="ru-RU" dirty="0"/>
                  <a:t>, такой что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0" dirty="0"/>
                  <a:t> </a:t>
                </a:r>
                <a:endParaRPr lang="ru-RU" b="0" dirty="0"/>
              </a:p>
              <a:p>
                <a:pPr marL="0" indent="0">
                  <a:buNone/>
                </a:pPr>
                <a:r>
                  <a:rPr lang="ru-RU" b="0" dirty="0"/>
                  <a:t>Говорят,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есть </a:t>
                </a:r>
                <a:r>
                  <a:rPr lang="ru-RU" b="1" dirty="0" err="1"/>
                  <a:t>зашифрование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на ключе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b="0" dirty="0"/>
                  <a:t>.</a:t>
                </a:r>
              </a:p>
              <a:p>
                <a:r>
                  <a:rPr lang="ru-RU" dirty="0"/>
                  <a:t> (2)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b="0" dirty="0"/>
                  <a:t> (</a:t>
                </a:r>
                <a:r>
                  <a:rPr lang="ru-RU" b="1" dirty="0"/>
                  <a:t>функция </a:t>
                </a:r>
                <a:r>
                  <a:rPr lang="ru-RU" b="1" dirty="0" err="1"/>
                  <a:t>расшифрования</a:t>
                </a:r>
                <a:r>
                  <a:rPr lang="ru-RU" b="0" dirty="0"/>
                  <a:t>) принимает на вход ключ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</a:t>
                </a:r>
                <a:r>
                  <a:rPr lang="ru-RU" b="0" dirty="0" err="1"/>
                  <a:t>шифртекст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даёт на выходе сообщение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b="0" dirty="0"/>
                  <a:t>, такое что</a:t>
                </a:r>
              </a:p>
              <a:p>
                <a:pPr marL="0" indent="0" algn="ctr">
                  <a:buNone/>
                </a:pP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ru-RU" b="0" dirty="0"/>
              </a:p>
              <a:p>
                <a:pPr marL="0" indent="0">
                  <a:buNone/>
                </a:pPr>
                <a:r>
                  <a:rPr lang="ru-RU" dirty="0"/>
                  <a:t>Говорят,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b="0" dirty="0"/>
                  <a:t> это </a:t>
                </a:r>
                <a:r>
                  <a:rPr lang="ru-RU" b="1" dirty="0" err="1"/>
                  <a:t>расшифрование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ru-RU" b="0" dirty="0"/>
                  <a:t> на ключе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b="0" dirty="0"/>
                  <a:t>.</a:t>
                </a:r>
                <a:endParaRPr lang="en-US" b="0" dirty="0"/>
              </a:p>
              <a:p>
                <a:endParaRPr lang="en-US" b="0" dirty="0"/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13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942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Шифр Шеннона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dirty="0"/>
                  <a:t>(3)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ru-RU" b="0" dirty="0"/>
                  <a:t> обращает функци</a:t>
                </a:r>
                <a:r>
                  <a:rPr lang="ru-RU" dirty="0"/>
                  <a:t>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b="0" dirty="0"/>
                  <a:t> (</a:t>
                </a:r>
                <a:r>
                  <a:rPr lang="ru-RU" b="1" dirty="0"/>
                  <a:t>свойство корректности</a:t>
                </a:r>
                <a:r>
                  <a:rPr lang="ru-RU" b="0" dirty="0"/>
                  <a:t>)</a:t>
                </a:r>
                <a:r>
                  <a:rPr lang="en-US" b="0" dirty="0"/>
                  <a:t>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множество ключей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b="1" dirty="0"/>
                  <a:t> – </a:t>
                </a:r>
                <a:r>
                  <a:rPr lang="ru-RU" b="1" dirty="0"/>
                  <a:t>множество сообщений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b="1" dirty="0"/>
                  <a:t>– множество </a:t>
                </a:r>
                <a:r>
                  <a:rPr lang="ru-RU" b="1" dirty="0" err="1"/>
                  <a:t>шифртекстов</a:t>
                </a:r>
                <a:r>
                  <a:rPr lang="ru-RU" dirty="0"/>
                  <a:t>. </a:t>
                </a:r>
              </a:p>
              <a:p>
                <a:pPr marL="0" indent="0">
                  <a:buNone/>
                </a:pPr>
                <a:r>
                  <a:rPr lang="ru-RU" dirty="0"/>
                  <a:t>Тогда шифром  Шеннона, определённым над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ru-RU" b="1" dirty="0"/>
                  <a:t> </a:t>
                </a:r>
                <a:r>
                  <a:rPr lang="ru-RU" dirty="0"/>
                  <a:t>называют пару функций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которых выполняются свойства (1) – (3).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b="-5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83192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Нотация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двоичный вектор длины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b="0" dirty="0"/>
                  <a:t>)</a:t>
                </a: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- </a:t>
                </a:r>
                <a:r>
                  <a:rPr lang="ru-RU" dirty="0"/>
                  <a:t>двоичный вектор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000…00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двоичный вектор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111…11</m:t>
                        </m:r>
                      </m:e>
                    </m:d>
                    <m:r>
                      <a:rPr lang="ru-RU" b="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lang="en-US" dirty="0"/>
                  <a:t>- </a:t>
                </a:r>
                <a:r>
                  <a:rPr lang="ru-RU" dirty="0"/>
                  <a:t>двоичный вектор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000…00</m:t>
                            </m:r>
                          </m:e>
                        </m:groupCh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lim>
                    </m:limLow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111…11</m:t>
                            </m:r>
                            <m:r>
                              <a:rPr lang="ru-RU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groupChr>
                      </m:e>
                      <m:lim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двоичный вектор произвольной длины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0,1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двоичный вектор, длины не больше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486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Нотация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двоичный вектор длины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b="0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ru-RU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)</a:t>
                </a:r>
                <a:endParaRPr lang="en-US" b="0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) – </a:t>
                </a:r>
                <a:r>
                  <a:rPr lang="ru-RU" dirty="0"/>
                  <a:t>конкатенация векторов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-</a:t>
                </a:r>
                <a:r>
                  <a:rPr lang="ru-RU" dirty="0"/>
                  <a:t>я координата вектора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+1,…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b="0" dirty="0"/>
                  <a:t>- </a:t>
                </a:r>
                <a:r>
                  <a:rPr lang="ru-RU" b="0" dirty="0" err="1"/>
                  <a:t>подвектор</a:t>
                </a:r>
                <a:r>
                  <a:rPr lang="ru-RU" b="0" dirty="0"/>
                  <a:t>, полученный из координат вектора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 r="-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9418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Нотация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92406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b="0" dirty="0"/>
                  <a:t> -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b="0" dirty="0"/>
                  <a:t>, </a:t>
                </a:r>
                <a:r>
                  <a:rPr lang="ru-RU" dirty="0"/>
                  <a:t>выбранный случайно равновероятно</a:t>
                </a:r>
                <a:r>
                  <a:rPr lang="en-US" dirty="0"/>
                  <a:t> (</a:t>
                </a:r>
                <a:r>
                  <a:rPr lang="ru-RU" dirty="0"/>
                  <a:t>если не указано явно иное распределение)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b="0" dirty="0"/>
                  <a:t> – выбор случайного равновероятного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b="0" dirty="0"/>
                  <a:t> </a:t>
                </a:r>
                <a:r>
                  <a:rPr lang="en-US" dirty="0"/>
                  <a:t>(</a:t>
                </a:r>
                <a:r>
                  <a:rPr lang="ru-RU" dirty="0"/>
                  <a:t>если не указано явно иное распределение)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ru-RU" dirty="0"/>
                  <a:t> – вычисление </a:t>
                </a:r>
                <a:r>
                  <a:rPr lang="ru-RU" dirty="0" err="1"/>
                  <a:t>рандомизированной</a:t>
                </a:r>
                <a:r>
                  <a:rPr lang="ru-RU" dirty="0"/>
                  <a:t> 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b="0" dirty="0"/>
                  <a:t>” </a:t>
                </a:r>
                <a:r>
                  <a:rPr lang="ru-RU" b="0" dirty="0"/>
                  <a:t>и </a:t>
                </a:r>
                <a:r>
                  <a:rPr lang="en-US" b="0" dirty="0"/>
                  <a:t>“</a:t>
                </a:r>
                <a14:m>
                  <m:oMath xmlns:m="http://schemas.openxmlformats.org/officeDocument/2006/math">
                    <m:groupChr>
                      <m:groupChrPr>
                        <m:chr m:val="←"/>
                        <m:vertJc m:val="bot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b="0" dirty="0"/>
                  <a:t>” </a:t>
                </a:r>
                <a:r>
                  <a:rPr lang="ru-RU" dirty="0"/>
                  <a:t>–</a:t>
                </a:r>
                <a:r>
                  <a:rPr lang="en-US" dirty="0"/>
                  <a:t> </a:t>
                </a:r>
                <a:r>
                  <a:rPr lang="ru-RU"/>
                  <a:t>эквивалентные обозначения.</a:t>
                </a: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b="0" dirty="0"/>
                  <a:t> – вероятность события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О.Т. (</a:t>
                </a:r>
                <a:r>
                  <a:rPr lang="en-US" dirty="0"/>
                  <a:t>P.T.</a:t>
                </a:r>
                <a:r>
                  <a:rPr lang="ru-RU" dirty="0"/>
                  <a:t>)</a:t>
                </a:r>
                <a:r>
                  <a:rPr lang="en-US" dirty="0"/>
                  <a:t> – </a:t>
                </a:r>
                <a:r>
                  <a:rPr lang="ru-RU" dirty="0"/>
                  <a:t>Открытый текст (</a:t>
                </a:r>
                <a:r>
                  <a:rPr lang="en-US" dirty="0"/>
                  <a:t>Plain Text)</a:t>
                </a:r>
              </a:p>
              <a:p>
                <a:pPr marL="0" indent="0">
                  <a:buNone/>
                </a:pPr>
                <a:r>
                  <a:rPr lang="ru-RU" dirty="0"/>
                  <a:t>Ш.Т (</a:t>
                </a:r>
                <a:r>
                  <a:rPr lang="en-US" dirty="0"/>
                  <a:t>C.T.) </a:t>
                </a:r>
                <a:r>
                  <a:rPr lang="ru-RU" dirty="0"/>
                  <a:t>– </a:t>
                </a:r>
                <a:r>
                  <a:rPr lang="ru-RU" dirty="0" err="1"/>
                  <a:t>Шифртекст</a:t>
                </a:r>
                <a:r>
                  <a:rPr lang="ru-RU" dirty="0"/>
                  <a:t> (</a:t>
                </a:r>
                <a:r>
                  <a:rPr lang="en-US" dirty="0"/>
                  <a:t>Cipher Text)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92406"/>
              </a:xfrm>
              <a:blipFill rotWithShape="0">
                <a:blip r:embed="rId2"/>
                <a:stretch>
                  <a:fillRect l="-928" t="-24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6353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ru-RU" dirty="0"/>
              <a:t>Одноразовый блокнот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шифр Шеннона</a:t>
                </a:r>
                <a:r>
                  <a:rPr lang="ru-RU" dirty="0"/>
                  <a:t>, для которого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b="0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b="0" dirty="0"/>
                  <a:t> – </a:t>
                </a:r>
                <a:r>
                  <a:rPr lang="ru-RU" b="0" dirty="0"/>
                  <a:t>фиксированный параметр.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b="0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dirty="0"/>
                  <a:t>функция</a:t>
                </a:r>
                <a:r>
                  <a:rPr lang="ru-RU" b="0" dirty="0"/>
                  <a:t> </a:t>
                </a:r>
                <a:r>
                  <a:rPr lang="ru-RU" b="1" dirty="0" err="1"/>
                  <a:t>зашифрования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b="0" dirty="0"/>
                  <a:t> и </a:t>
                </a:r>
                <a:r>
                  <a:rPr lang="ru-RU" b="0" dirty="0" err="1"/>
                  <a:t>шифртекста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функция </a:t>
                </a:r>
                <a:r>
                  <a:rPr lang="ru-RU" b="1" dirty="0" err="1"/>
                  <a:t>расшифрования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b="0" dirty="0"/>
                  <a:t> - </a:t>
                </a:r>
                <a:r>
                  <a:rPr lang="ru-RU" b="0" dirty="0"/>
                  <a:t>побитное сложение по модулю 2 (</a:t>
                </a:r>
                <a:r>
                  <a:rPr lang="en-US" b="0" dirty="0"/>
                  <a:t>XOR)</a:t>
                </a:r>
                <a:r>
                  <a:rPr lang="ru-RU" b="0" dirty="0"/>
                  <a:t>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b="1" dirty="0"/>
                  <a:t>Корректность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  <a:blipFill>
                <a:blip r:embed="rId2"/>
                <a:stretch>
                  <a:fillRect l="-1043" t="-18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50467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ru-RU" dirty="0"/>
              <a:t>Одноразовый блокнот</a:t>
            </a:r>
            <a:r>
              <a:rPr lang="en-US" dirty="0"/>
              <a:t> </a:t>
            </a:r>
            <a:r>
              <a:rPr lang="ru-RU" dirty="0">
                <a:solidFill>
                  <a:srgbClr val="00B050"/>
                </a:solidFill>
              </a:rPr>
              <a:t>переменной длины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шифр Шеннона</a:t>
                </a:r>
                <a:r>
                  <a:rPr lang="ru-RU" dirty="0"/>
                  <a:t>, для которого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b="0" dirty="0"/>
                  <a:t>,</a:t>
                </a:r>
                <a:r>
                  <a:rPr lang="en-US" b="0" dirty="0"/>
                  <a:t> </a:t>
                </a:r>
                <a:r>
                  <a:rPr lang="ru-RU" b="0" dirty="0"/>
                  <a:t>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b="0" dirty="0"/>
                  <a:t> – </a:t>
                </a:r>
                <a:r>
                  <a:rPr lang="ru-RU" b="0" dirty="0"/>
                  <a:t>фиксированный параметр.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b="0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dirty="0"/>
                  <a:t>функция</a:t>
                </a:r>
                <a:r>
                  <a:rPr lang="ru-RU" b="0" dirty="0"/>
                  <a:t> </a:t>
                </a:r>
                <a:r>
                  <a:rPr lang="ru-RU" b="1" dirty="0" err="1"/>
                  <a:t>зашифрования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[0..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−1]⊕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b="0" dirty="0"/>
                  <a:t> и </a:t>
                </a:r>
                <a:r>
                  <a:rPr lang="ru-RU" b="0" dirty="0" err="1"/>
                  <a:t>шифртекста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функция </a:t>
                </a:r>
                <a:r>
                  <a:rPr lang="ru-RU" b="1" dirty="0" err="1"/>
                  <a:t>расшифрования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[0..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−1]⊕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en-US" b="0" dirty="0"/>
                  <a:t> - </a:t>
                </a:r>
                <a:r>
                  <a:rPr lang="ru-RU" b="0" dirty="0"/>
                  <a:t>побитное сложение по модулю 2 (</a:t>
                </a:r>
                <a:r>
                  <a:rPr lang="en-US" b="0" dirty="0"/>
                  <a:t>XOR)</a:t>
                </a:r>
                <a:r>
                  <a:rPr lang="ru-RU" b="0" dirty="0"/>
                  <a:t>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b="1" dirty="0"/>
                  <a:t>Корректность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  <a:blipFill>
                <a:blip r:embed="rId2"/>
                <a:stretch>
                  <a:fillRect l="-1043" t="-183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275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ru-RU" dirty="0"/>
              <a:t>Шифр подстановки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конечный алфавит.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шифр Шеннона</a:t>
                </a:r>
                <a:r>
                  <a:rPr lang="ru-RU" dirty="0"/>
                  <a:t>. для которого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ru-RU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b="0" dirty="0"/>
                  <a:t>,</a:t>
                </a:r>
                <a:r>
                  <a:rPr lang="en-US" b="0" dirty="0"/>
                  <a:t> </a:t>
                </a:r>
                <a:r>
                  <a:rPr lang="ru-RU" b="0" dirty="0"/>
                  <a:t>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b="0" dirty="0"/>
                  <a:t> – </a:t>
                </a:r>
                <a:r>
                  <a:rPr lang="ru-RU" b="0" dirty="0"/>
                  <a:t>фиксированный параметр.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</a:t>
                </a:r>
                <a:r>
                  <a:rPr lang="en-US" dirty="0"/>
                  <a:t>– </a:t>
                </a:r>
                <a:r>
                  <a:rPr lang="ru-RU" dirty="0"/>
                  <a:t>множество всех подстановок над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b="0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ф</a:t>
                </a:r>
                <a:r>
                  <a:rPr lang="ru-RU" dirty="0"/>
                  <a:t>ун</a:t>
                </a:r>
                <a:r>
                  <a:rPr lang="ru-RU" b="0" dirty="0"/>
                  <a:t>кция </a:t>
                </a:r>
                <a:r>
                  <a:rPr lang="ru-RU" b="1" dirty="0" err="1"/>
                  <a:t>зашифрования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b="0" dirty="0"/>
                  <a:t> и </a:t>
                </a:r>
                <a:r>
                  <a:rPr lang="ru-RU" b="0" dirty="0" err="1"/>
                  <a:t>шифртекста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функция </a:t>
                </a:r>
                <a:r>
                  <a:rPr lang="ru-RU" b="1" dirty="0" err="1"/>
                  <a:t>расшифрования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b="1" dirty="0"/>
                  <a:t>Корректность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ru-RU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[0]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),…,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−1]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−1])=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RU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1443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  <a:r>
              <a:rPr lang="en-US" dirty="0"/>
              <a:t>: </a:t>
            </a:r>
            <a:r>
              <a:rPr lang="ru-RU" dirty="0"/>
              <a:t>Аддитивный одноразовый блокнот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b="1" dirty="0"/>
                  <a:t>шифр Шеннона</a:t>
                </a:r>
                <a:r>
                  <a:rPr lang="ru-RU" dirty="0"/>
                  <a:t>, для которого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0,…,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b="0" dirty="0"/>
                  <a:t>, где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– </a:t>
                </a:r>
                <a:r>
                  <a:rPr lang="ru-RU" b="0" dirty="0"/>
                  <a:t>фиксированный параметр.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b="0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и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dirty="0"/>
                  <a:t>функция</a:t>
                </a:r>
                <a:r>
                  <a:rPr lang="ru-RU" b="0" dirty="0"/>
                  <a:t> </a:t>
                </a:r>
                <a:r>
                  <a:rPr lang="ru-RU" b="1" dirty="0" err="1"/>
                  <a:t>зашифрования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 покоординатно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dirty="0"/>
                  <a:t>Для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b="0" dirty="0"/>
                  <a:t> и </a:t>
                </a:r>
                <a:r>
                  <a:rPr lang="ru-RU" b="0" dirty="0" err="1"/>
                  <a:t>шифртекста</a:t>
                </a:r>
                <a:r>
                  <a:rPr lang="ru-RU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b="0" dirty="0"/>
                  <a:t> </a:t>
                </a:r>
                <a:r>
                  <a:rPr lang="ru-RU" b="0" dirty="0"/>
                  <a:t>функция </a:t>
                </a:r>
                <a:r>
                  <a:rPr lang="ru-RU" b="1" dirty="0" err="1"/>
                  <a:t>расшифрования</a:t>
                </a:r>
                <a:r>
                  <a:rPr lang="ru-RU" b="0" dirty="0"/>
                  <a:t> определена как</a:t>
                </a:r>
                <a:r>
                  <a:rPr lang="en-US" b="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mod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,покоординатно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ru-RU" b="1" dirty="0"/>
                  <a:t>Корректность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58302"/>
              </a:xfrm>
              <a:blipFill>
                <a:blip r:embed="rId2"/>
                <a:stretch>
                  <a:fillRect l="-1043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4123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шифра Шеннона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Цель шифра Шеннона – обеспечение </a:t>
                </a:r>
                <a:r>
                  <a:rPr lang="ru-RU" b="1" dirty="0"/>
                  <a:t>секретности</a:t>
                </a:r>
                <a:r>
                  <a:rPr lang="ru-RU" dirty="0"/>
                  <a:t> передаваемых сообщений по открытому каналу</a:t>
                </a:r>
              </a:p>
              <a:p>
                <a:r>
                  <a:rPr lang="ru-RU" dirty="0"/>
                  <a:t>Для обеспечения секретности необходим общий секретный ключ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, неизвестный для злоумышленника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44</a:t>
            </a:fld>
            <a:endParaRPr lang="ru-RU"/>
          </a:p>
        </p:txBody>
      </p:sp>
      <p:grpSp>
        <p:nvGrpSpPr>
          <p:cNvPr id="5" name="Group 17"/>
          <p:cNvGrpSpPr/>
          <p:nvPr/>
        </p:nvGrpSpPr>
        <p:grpSpPr>
          <a:xfrm>
            <a:off x="1447128" y="3578530"/>
            <a:ext cx="1635660" cy="1523622"/>
            <a:chOff x="4038600" y="1123950"/>
            <a:chExt cx="1076739" cy="990600"/>
          </a:xfrm>
        </p:grpSpPr>
        <p:pic>
          <p:nvPicPr>
            <p:cNvPr id="6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4038600" y="1123950"/>
              <a:ext cx="1076739" cy="9906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343400" y="1200150"/>
              <a:ext cx="771939" cy="38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Alice</a:t>
              </a:r>
            </a:p>
          </p:txBody>
        </p:sp>
      </p:grpSp>
      <p:grpSp>
        <p:nvGrpSpPr>
          <p:cNvPr id="8" name="Group 17"/>
          <p:cNvGrpSpPr/>
          <p:nvPr/>
        </p:nvGrpSpPr>
        <p:grpSpPr>
          <a:xfrm>
            <a:off x="8968295" y="3578530"/>
            <a:ext cx="1635660" cy="1523622"/>
            <a:chOff x="4038600" y="1123950"/>
            <a:chExt cx="1076739" cy="990600"/>
          </a:xfrm>
        </p:grpSpPr>
        <p:pic>
          <p:nvPicPr>
            <p:cNvPr id="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4038600" y="1123950"/>
              <a:ext cx="1076739" cy="99060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4343400" y="1200150"/>
              <a:ext cx="771939" cy="380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Bob</a:t>
              </a:r>
            </a:p>
          </p:txBody>
        </p:sp>
      </p:grpSp>
      <p:cxnSp>
        <p:nvCxnSpPr>
          <p:cNvPr id="11" name="Прямая со стрелкой 10"/>
          <p:cNvCxnSpPr/>
          <p:nvPr/>
        </p:nvCxnSpPr>
        <p:spPr>
          <a:xfrm>
            <a:off x="3327725" y="4280507"/>
            <a:ext cx="556814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339405" y="3695732"/>
                <a:ext cx="145341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405" y="3695732"/>
                <a:ext cx="145341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Рисунок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411" y="5733676"/>
            <a:ext cx="1003992" cy="9877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Выноска-облако 13"/>
              <p:cNvSpPr/>
              <p:nvPr/>
            </p:nvSpPr>
            <p:spPr>
              <a:xfrm>
                <a:off x="6754591" y="4662348"/>
                <a:ext cx="1548143" cy="1002715"/>
              </a:xfrm>
              <a:prstGeom prst="cloudCallout">
                <a:avLst>
                  <a:gd name="adj1" fmla="val -68201"/>
                  <a:gd name="adj2" fmla="val 72432"/>
                </a:avLst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4" name="Выноска-облако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4591" y="4662348"/>
                <a:ext cx="1548143" cy="1002715"/>
              </a:xfrm>
              <a:prstGeom prst="cloudCallout">
                <a:avLst>
                  <a:gd name="adj1" fmla="val -68201"/>
                  <a:gd name="adj2" fmla="val 72432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Прямая со стрелкой 14"/>
          <p:cNvCxnSpPr/>
          <p:nvPr/>
        </p:nvCxnSpPr>
        <p:spPr>
          <a:xfrm>
            <a:off x="5866646" y="4300396"/>
            <a:ext cx="0" cy="122221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952477" y="5102152"/>
                <a:ext cx="4757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477" y="5102152"/>
                <a:ext cx="475707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9717347" y="5019929"/>
                <a:ext cx="47570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7347" y="5019929"/>
                <a:ext cx="47570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036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стойкости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Очевидный вопрос – что понимать под стойкостью шифра?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Стойкость – метрика </a:t>
                </a:r>
                <a:r>
                  <a:rPr lang="ru-RU"/>
                  <a:t>«качества» </a:t>
                </a:r>
                <a:r>
                  <a:rPr lang="ru-RU" dirty="0"/>
                  <a:t>шифра.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r>
                  <a:rPr lang="ru-RU" dirty="0"/>
                  <a:t>Попытка 1</a:t>
                </a:r>
                <a:r>
                  <a:rPr lang="en-US" dirty="0"/>
                  <a:t>: </a:t>
                </a:r>
                <a:r>
                  <a:rPr lang="ru-RU" dirty="0"/>
                  <a:t>размер ключа </a:t>
                </a:r>
              </a:p>
              <a:p>
                <a:pPr lvl="1"/>
                <a:r>
                  <a:rPr lang="ru-RU" dirty="0"/>
                  <a:t>Чем больше ключ, тем сложнее перебрать все возможные варианты. Длина ключа как параметр стойкости.</a:t>
                </a:r>
              </a:p>
              <a:p>
                <a:pPr lvl="1"/>
                <a:r>
                  <a:rPr lang="ru-RU" dirty="0"/>
                  <a:t>Но возможны и другие атаки, кроме перебора, например частотный анализ</a:t>
                </a:r>
              </a:p>
              <a:p>
                <a:pPr lvl="1"/>
                <a:r>
                  <a:rPr lang="ru-RU" dirty="0"/>
                  <a:t>Пример – шифр подстановки,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=27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28</m:t>
                        </m:r>
                      </m:sup>
                    </m:sSup>
                  </m:oMath>
                </a14:m>
                <a:r>
                  <a:rPr lang="ru-RU" dirty="0"/>
                  <a:t>, но возможна полиномиальная частотная атака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0061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стойкости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Попытка 2</a:t>
            </a:r>
            <a:r>
              <a:rPr lang="en-US" dirty="0"/>
              <a:t>: </a:t>
            </a:r>
            <a:r>
              <a:rPr lang="ru-RU" dirty="0"/>
              <a:t>малая вероятность </a:t>
            </a:r>
            <a:r>
              <a:rPr lang="ru-RU" dirty="0" err="1"/>
              <a:t>расшифрования</a:t>
            </a:r>
            <a:endParaRPr lang="ru-RU" dirty="0"/>
          </a:p>
          <a:p>
            <a:pPr lvl="1"/>
            <a:r>
              <a:rPr lang="ru-RU" dirty="0"/>
              <a:t>Чем меньше вероятность </a:t>
            </a:r>
            <a:r>
              <a:rPr lang="ru-RU" dirty="0" err="1"/>
              <a:t>расшифрования</a:t>
            </a:r>
            <a:r>
              <a:rPr lang="ru-RU" dirty="0"/>
              <a:t> для злоумышленника, тем более стойкий шифр. Вероятность </a:t>
            </a:r>
            <a:r>
              <a:rPr lang="ru-RU" dirty="0" err="1"/>
              <a:t>расшифрования</a:t>
            </a:r>
            <a:r>
              <a:rPr lang="ru-RU" dirty="0"/>
              <a:t> как параметр стойкости.</a:t>
            </a:r>
          </a:p>
          <a:p>
            <a:pPr lvl="1"/>
            <a:r>
              <a:rPr lang="ru-RU" dirty="0"/>
              <a:t>Но тогда шифр определённый на коротких сообщениях, например 1 бит, менее стойкий чем шифр, определённый на длинных сообщениях, так как велика возможность «угадать» сообщение.</a:t>
            </a:r>
          </a:p>
          <a:p>
            <a:pPr lvl="1"/>
            <a:r>
              <a:rPr lang="ru-RU" dirty="0"/>
              <a:t>Иными словами, невозможно обеспечить стойкость при шифровании однобитного сообщения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90983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стойкости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ru-RU" dirty="0"/>
                  <a:t>Попытка 3</a:t>
                </a:r>
                <a:r>
                  <a:rPr lang="en-US" dirty="0"/>
                  <a:t>: </a:t>
                </a:r>
                <a:r>
                  <a:rPr lang="ru-RU" b="1" dirty="0"/>
                  <a:t>равная</a:t>
                </a:r>
                <a:r>
                  <a:rPr lang="ru-RU" dirty="0"/>
                  <a:t> вероятность </a:t>
                </a:r>
                <a:r>
                  <a:rPr lang="ru-RU" dirty="0" err="1"/>
                  <a:t>расшифрования</a:t>
                </a:r>
                <a:endParaRPr lang="ru-RU" dirty="0"/>
              </a:p>
              <a:p>
                <a:pPr lvl="1"/>
                <a:r>
                  <a:rPr lang="ru-RU" sz="2600" dirty="0"/>
                  <a:t>При данном </a:t>
                </a:r>
                <a:r>
                  <a:rPr lang="ru-RU" sz="2600" dirty="0" err="1"/>
                  <a:t>шифртексте</a:t>
                </a:r>
                <a:r>
                  <a:rPr lang="ru-RU" sz="2600" dirty="0"/>
                  <a:t> вероятность расшифрованы его в любой открытый текст </a:t>
                </a:r>
                <a:r>
                  <a:rPr lang="ru-RU" sz="2600" b="1" dirty="0"/>
                  <a:t>одинакова</a:t>
                </a:r>
              </a:p>
              <a:p>
                <a:pPr lvl="1"/>
                <a:r>
                  <a:rPr lang="ru-RU" sz="2600" dirty="0"/>
                  <a:t>Пример нестойкого шифра</a:t>
                </a:r>
                <a:r>
                  <a:rPr lang="en-US" sz="2600" dirty="0"/>
                  <a:t>:</a:t>
                </a:r>
                <a:r>
                  <a:rPr lang="ru-RU" sz="2600" dirty="0"/>
                  <a:t>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6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600" dirty="0"/>
                  <a:t> </a:t>
                </a:r>
                <a:r>
                  <a:rPr lang="en-US" sz="2600" dirty="0"/>
                  <a:t>– </a:t>
                </a:r>
                <a:r>
                  <a:rPr lang="ru-RU" sz="2600" dirty="0"/>
                  <a:t>шифр Шеннона над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600" dirty="0"/>
              </a:p>
              <a:p>
                <a:pPr marL="457200" lvl="1" indent="0" algn="ctr">
                  <a:buNone/>
                </a:pP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600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600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600" b="0" i="0" dirty="0">
                    <a:latin typeface="Cambria Math" panose="02040503050406030204" pitchFamily="18" charset="0"/>
                  </a:rPr>
                  <a:t>,</a:t>
                </a:r>
              </a:p>
              <a:p>
                <a:pPr marL="457200" lvl="1" indent="0" algn="ctr">
                  <a:buNone/>
                </a:pPr>
                <a:r>
                  <a:rPr lang="en-US" sz="2600" b="0" i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i="1" dirty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600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600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600" b="0" i="0" dirty="0">
                    <a:latin typeface="Cambria Math" panose="02040503050406030204" pitchFamily="18" charset="0"/>
                  </a:rPr>
                  <a:t>, </a:t>
                </a:r>
                <a:endParaRPr lang="en-US" sz="2600" b="0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&gt;|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600" b="0" i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0" dirty="0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)∈</m:t>
                      </m:r>
                      <m:sSub>
                        <m:sSub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600" b="0" i="1" dirty="0"/>
              </a:p>
              <a:p>
                <a:pPr marL="457200" lvl="1" indent="258763">
                  <a:buNone/>
                </a:pPr>
                <a:r>
                  <a:rPr lang="en-US" sz="2600" dirty="0"/>
                  <a:t> </a:t>
                </a:r>
                <a:r>
                  <a:rPr lang="ru-RU" sz="2600" dirty="0"/>
                  <a:t>Вероятность расшифровать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600" dirty="0"/>
                  <a:t>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=800, </m:t>
                    </m:r>
                    <m:d>
                      <m:dPr>
                        <m:begChr m:val="|"/>
                        <m:endChr m:val="|"/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=600)</m:t>
                    </m:r>
                  </m:oMath>
                </a14:m>
                <a:r>
                  <a:rPr lang="en-US" sz="2600" dirty="0"/>
                  <a:t>:</a:t>
                </a:r>
              </a:p>
              <a:p>
                <a:pPr lvl="1"/>
                <a:endParaRPr lang="en-US" sz="26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+|</m:t>
                          </m:r>
                          <m:sSub>
                            <m:sSub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r>
                        <a:rPr lang="en-US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≈57%&gt;50%</m:t>
                      </m:r>
                    </m:oMath>
                  </m:oMathPara>
                </a14:m>
                <a:endParaRPr lang="ru-RU" sz="26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4598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Абсолютная стойкость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20442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b="1" dirty="0"/>
                  <a:t>Определение 1.1.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шифр шеннона над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Рассмотрим вероятностный эксперимент, в котором случайная величина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ru-RU" b="1" dirty="0"/>
                  <a:t> </a:t>
                </a:r>
                <a:r>
                  <a:rPr lang="ru-RU" dirty="0"/>
                  <a:t>равномерна распределена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𝒌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b="1" dirty="0"/>
                  <a:t> </a:t>
                </a:r>
              </a:p>
              <a:p>
                <a:pPr marL="0" indent="0">
                  <a:buNone/>
                </a:pPr>
                <a:endParaRPr lang="ru-RU" b="0" dirty="0"/>
              </a:p>
              <a:p>
                <a:pPr marL="0" indent="0">
                  <a:buNone/>
                </a:pPr>
                <a:r>
                  <a:rPr lang="ru-RU" b="0" dirty="0"/>
                  <a:t>Если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имеем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То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называется </a:t>
                </a:r>
                <a:r>
                  <a:rPr lang="ru-RU" b="1" dirty="0"/>
                  <a:t>абсолютно стойким шифром Шеннона</a:t>
                </a:r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Абсолютная стойкость защищает против </a:t>
                </a:r>
                <a:r>
                  <a:rPr lang="ru-RU" b="1" dirty="0"/>
                  <a:t>любых</a:t>
                </a:r>
                <a:r>
                  <a:rPr lang="ru-RU" dirty="0"/>
                  <a:t> (не только эффективных</a:t>
                </a:r>
                <a:r>
                  <a:rPr lang="en-US" dirty="0"/>
                  <a:t>*</a:t>
                </a:r>
                <a:r>
                  <a:rPr lang="ru-RU" dirty="0"/>
                  <a:t>) противников.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20442"/>
              </a:xfrm>
              <a:blipFill>
                <a:blip r:embed="rId2"/>
                <a:stretch>
                  <a:fillRect l="-1043" t="-2639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48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BF140-4AD6-47B6-B128-F3369B3AF3E0}"/>
              </a:ext>
            </a:extLst>
          </p:cNvPr>
          <p:cNvSpPr txBox="1"/>
          <p:nvPr/>
        </p:nvSpPr>
        <p:spPr>
          <a:xfrm>
            <a:off x="0" y="649287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</a:t>
            </a:r>
            <a:r>
              <a:rPr lang="ru-RU" dirty="0"/>
              <a:t>– формально введём этот термин через пару лекций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4529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720505" y="1690688"/>
            <a:ext cx="10542006" cy="27726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Эквивалентные определения</a:t>
            </a:r>
            <a:r>
              <a:rPr lang="en-US" dirty="0"/>
              <a:t> </a:t>
            </a:r>
            <a:r>
              <a:rPr lang="ru-RU" dirty="0"/>
              <a:t>абсолютной стойкости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1.1.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</a:t>
                </a:r>
                <a:r>
                  <a:rPr lang="ru-RU" b="1" dirty="0"/>
                  <a:t> </a:t>
                </a:r>
                <a:r>
                  <a:rPr lang="ru-RU" dirty="0"/>
                  <a:t>шифр Шеннона над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ru-RU" dirty="0"/>
                  <a:t>. Тогда следующие определения эквивалентны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(1)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абсолютно стойкий</a:t>
                </a:r>
              </a:p>
              <a:p>
                <a:r>
                  <a:rPr lang="ru-RU" dirty="0"/>
                  <a:t>(2)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ru-RU" dirty="0"/>
              </a:p>
              <a:p>
                <a:r>
                  <a:rPr lang="ru-RU" dirty="0"/>
                  <a:t>(3) Если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тогда все случайные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имеют одинаковое равномерное распределение 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&gt;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Переформулируем (2)</a:t>
                </a:r>
                <a:r>
                  <a:rPr lang="en-US" dirty="0"/>
                  <a:t>: </a:t>
                </a:r>
                <a:r>
                  <a:rPr lang="ru-RU" dirty="0"/>
                  <a:t>для каждого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существует число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ru-RU" dirty="0"/>
                  <a:t>, такое что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13478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27726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Эквивалентные определения</a:t>
            </a:r>
            <a:r>
              <a:rPr lang="en-US" dirty="0"/>
              <a:t> </a:t>
            </a:r>
            <a:r>
              <a:rPr lang="ru-RU" dirty="0"/>
              <a:t>абсолютной стойкости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1.1.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</a:t>
                </a:r>
                <a:r>
                  <a:rPr lang="ru-RU" b="1" dirty="0"/>
                  <a:t> </a:t>
                </a:r>
                <a:r>
                  <a:rPr lang="ru-RU" dirty="0"/>
                  <a:t>шифр Шеннона над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ru-RU" dirty="0"/>
                  <a:t>. Тогда следующие определения эквивалентны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(1)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абсолютно стойкий</a:t>
                </a:r>
              </a:p>
              <a:p>
                <a:r>
                  <a:rPr lang="ru-RU" dirty="0"/>
                  <a:t>(2)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ru-RU" dirty="0"/>
              </a:p>
              <a:p>
                <a:r>
                  <a:rPr lang="ru-RU" dirty="0"/>
                  <a:t>(3) Если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тогда все случайные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имеют одинаковое равномерное распределение 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фиксированный </a:t>
                </a:r>
                <a:r>
                  <a:rPr lang="ru-RU" dirty="0" err="1"/>
                  <a:t>шифртекст</a:t>
                </a:r>
                <a:r>
                  <a:rPr lang="ru-RU" dirty="0"/>
                  <a:t>. Выберем произвольное сообщение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ru-RU" dirty="0"/>
                  <a:t>.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⇒∀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∗|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1737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277267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Эквивалентные определения</a:t>
            </a:r>
            <a:r>
              <a:rPr lang="en-US" dirty="0"/>
              <a:t> </a:t>
            </a:r>
            <a:r>
              <a:rPr lang="ru-RU" dirty="0"/>
              <a:t>абсолютной стойкости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1.1.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</a:t>
                </a:r>
                <a:r>
                  <a:rPr lang="ru-RU" b="1" dirty="0"/>
                  <a:t> </a:t>
                </a:r>
                <a:r>
                  <a:rPr lang="ru-RU" dirty="0"/>
                  <a:t>шифр Шеннона над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ru-RU" dirty="0"/>
                  <a:t>. Тогда следующие определения эквивалентны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(1)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абсолютно стойкий</a:t>
                </a:r>
              </a:p>
              <a:p>
                <a:r>
                  <a:rPr lang="ru-RU" dirty="0"/>
                  <a:t>(2)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ru-RU" dirty="0"/>
              </a:p>
              <a:p>
                <a:r>
                  <a:rPr lang="ru-RU" dirty="0"/>
                  <a:t>(3) Если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тогда все случайные величины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имеют одинаковое равномерное распределение 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Фиксируем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(2)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9406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2969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Одноразовый блокнот – абсолютно стойкий шифр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/>
                  <a:t>Теорема 1.2.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</a:t>
                </a:r>
                <a:r>
                  <a:rPr lang="en-US" dirty="0"/>
                  <a:t>–</a:t>
                </a:r>
                <a:r>
                  <a:rPr lang="ru-RU" dirty="0"/>
                  <a:t> одноразовый блокнот при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dirty="0"/>
                  <a:t> для параметра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абсолютно стойкий шифр.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 </m:t>
                    </m:r>
                  </m:oMath>
                </a14:m>
                <a:r>
                  <a:rPr lang="en-US" dirty="0"/>
                  <a:t>  </a:t>
                </a:r>
                <a:r>
                  <a:rPr lang="ru-RU" dirty="0"/>
                  <a:t>Для фиксированного сообщения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 err="1"/>
                  <a:t>шифртекста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и ключа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ru-RU" dirty="0"/>
                  <a:t>, уникального для сообщения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имеем определение (2) из </a:t>
                </a:r>
                <a:r>
                  <a:rPr lang="ru-RU" b="1" dirty="0"/>
                  <a:t>Теоремы 1</a:t>
                </a:r>
                <a:r>
                  <a:rPr lang="en-US" b="1" dirty="0"/>
                  <a:t>.1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1795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19318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Одноразовый блокнот переменной длины – не абсолютно стойкий шифр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1.3.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</a:t>
                </a:r>
                <a:r>
                  <a:rPr lang="en-US" dirty="0"/>
                  <a:t>–</a:t>
                </a:r>
                <a:r>
                  <a:rPr lang="ru-RU" dirty="0"/>
                  <a:t> одноразовый блокнот  переменной длины при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sup>
                    </m:sSup>
                  </m:oMath>
                </a14:m>
                <a:r>
                  <a:rPr lang="ru-RU" dirty="0"/>
                  <a:t> для параметра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ru-RU" dirty="0"/>
                  <a:t>. 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</a:t>
                </a:r>
                <a:r>
                  <a:rPr lang="ru-RU" b="1" dirty="0"/>
                  <a:t>не</a:t>
                </a:r>
                <a:r>
                  <a:rPr lang="ru-RU" dirty="0"/>
                  <a:t> абсолютно стойкий шифр.</a:t>
                </a: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|=1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b="0" dirty="0"/>
              </a:p>
              <a:p>
                <a:pPr marL="0" indent="0">
                  <a:buNone/>
                </a:pPr>
                <a:r>
                  <a:rPr lang="en-US" dirty="0"/>
                  <a:t>(</a:t>
                </a:r>
                <a:r>
                  <a:rPr lang="ru-RU" dirty="0"/>
                  <a:t>Шифртекст размера 1 бит не может иметь открытый текст длины </a:t>
                </a:r>
                <a:r>
                  <a:rPr lang="en-US" dirty="0"/>
                  <a:t>&gt; 1)</a:t>
                </a: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Иными словами не выполняется </a:t>
                </a:r>
                <a:r>
                  <a:rPr lang="ru-RU" b="1" dirty="0"/>
                  <a:t>Определение 1.1</a:t>
                </a:r>
                <a:r>
                  <a:rPr lang="ru-RU" dirty="0"/>
                  <a:t>. (Абсолютная стойкость).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⊲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 b="-5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2241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Предикат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имеется некоторый элемент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Пусть мы хотим получить некоторую информацию обладая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Пусть функция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есть функция «получения» некоторой информации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b="1" dirty="0"/>
                  <a:t>Предикатом</a:t>
                </a:r>
                <a:r>
                  <a:rPr lang="ru-RU" dirty="0"/>
                  <a:t> на множестве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назовём булеву функцию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Тогда вычисление предиката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есть минимальная функция «получения» информации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функция получения информации, с выходом 1 бит)</a:t>
                </a:r>
                <a:r>
                  <a:rPr lang="en-US" dirty="0"/>
                  <a:t>.</a:t>
                </a:r>
                <a:r>
                  <a:rPr lang="ru-RU" dirty="0"/>
                  <a:t> </a:t>
                </a:r>
              </a:p>
              <a:p>
                <a:pPr marL="0" indent="0">
                  <a:buNone/>
                </a:pPr>
                <a:r>
                  <a:rPr lang="ru-RU" dirty="0"/>
                  <a:t>Альтернативная трактовка предиката – бинарная различимость элементов множества.</a:t>
                </a:r>
                <a:endParaRPr lang="en-US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661" r="-3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702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20665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Эквивалентные определения</a:t>
            </a:r>
            <a:r>
              <a:rPr lang="en-US" dirty="0"/>
              <a:t> </a:t>
            </a:r>
            <a:r>
              <a:rPr lang="ru-RU" dirty="0"/>
              <a:t>абсолютной стойкости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9155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4</a:t>
                </a:r>
                <a:r>
                  <a:rPr lang="ru-RU" b="1" dirty="0"/>
                  <a:t>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</a:t>
                </a:r>
                <a:r>
                  <a:rPr lang="ru-RU" dirty="0"/>
                  <a:t> шифр Шеннона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Рассмотрим вероятностный эксперимент для равномерно распределённой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 </a:t>
                </a:r>
                <a:r>
                  <a:rPr lang="ru-RU" dirty="0"/>
                  <a:t>абсолютно стойкий тогда и только тогда, когда для произвольного предиката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ru-RU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⊳</m:t>
                    </m:r>
                  </m:oMath>
                </a14:m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ru-RU" dirty="0"/>
                  <a:t> Так как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абсолютно стойкий имеем 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func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91553"/>
              </a:xfrm>
              <a:blipFill>
                <a:blip r:embed="rId2"/>
                <a:stretch>
                  <a:fillRect l="-1043" t="-2597" r="-1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55</a:t>
            </a:fld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F24DD81-915F-4BD5-9242-0E5C80C39CD4}"/>
              </a:ext>
            </a:extLst>
          </p:cNvPr>
          <p:cNvSpPr/>
          <p:nvPr/>
        </p:nvSpPr>
        <p:spPr>
          <a:xfrm>
            <a:off x="245165" y="4731026"/>
            <a:ext cx="2478157" cy="1921087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4C0123-D43D-4998-BA21-5ABD6765985B}"/>
                  </a:ext>
                </a:extLst>
              </p:cNvPr>
              <p:cNvSpPr txBox="1"/>
              <p:nvPr/>
            </p:nvSpPr>
            <p:spPr>
              <a:xfrm>
                <a:off x="2133396" y="6172946"/>
                <a:ext cx="4969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ru-RU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4C0123-D43D-4998-BA21-5ABD67659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396" y="6172946"/>
                <a:ext cx="49699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B054E4A5-3176-4FC9-BAD5-BC4C19C28750}"/>
                  </a:ext>
                </a:extLst>
              </p:cNvPr>
              <p:cNvSpPr/>
              <p:nvPr/>
            </p:nvSpPr>
            <p:spPr>
              <a:xfrm>
                <a:off x="556591" y="4949687"/>
                <a:ext cx="1437861" cy="102041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8" name="Прямоугольник: скругленные углы 7">
                <a:extLst>
                  <a:ext uri="{FF2B5EF4-FFF2-40B4-BE49-F238E27FC236}">
                    <a16:creationId xmlns:a16="http://schemas.microsoft.com/office/drawing/2014/main" id="{B054E4A5-3176-4FC9-BAD5-BC4C19C287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91" y="4949687"/>
                <a:ext cx="1437861" cy="102041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266946-C772-4D05-91EC-B627F8595C49}"/>
                  </a:ext>
                </a:extLst>
              </p:cNvPr>
              <p:cNvSpPr txBox="1"/>
              <p:nvPr/>
            </p:nvSpPr>
            <p:spPr>
              <a:xfrm>
                <a:off x="860920" y="5622799"/>
                <a:ext cx="8292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9266946-C772-4D05-91EC-B627F8595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20" y="5622799"/>
                <a:ext cx="829201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4F33E2-2FC3-4A7C-AF41-BC587DC23561}"/>
                  </a:ext>
                </a:extLst>
              </p:cNvPr>
              <p:cNvSpPr txBox="1"/>
              <p:nvPr/>
            </p:nvSpPr>
            <p:spPr>
              <a:xfrm>
                <a:off x="838200" y="6105040"/>
                <a:ext cx="8292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4F33E2-2FC3-4A7C-AF41-BC587DC23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105040"/>
                <a:ext cx="829201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77735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720505" y="1690687"/>
            <a:ext cx="10542006" cy="214798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Эквивалентные определения</a:t>
            </a:r>
            <a:r>
              <a:rPr lang="en-US" dirty="0"/>
              <a:t> </a:t>
            </a:r>
            <a:r>
              <a:rPr lang="ru-RU" dirty="0"/>
              <a:t>абсолютной стойкости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86862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4</a:t>
                </a:r>
                <a:r>
                  <a:rPr lang="ru-RU" b="1" dirty="0"/>
                  <a:t>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</a:t>
                </a:r>
                <a:r>
                  <a:rPr lang="ru-RU" dirty="0"/>
                  <a:t> шифр Шеннона на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Рассмотрим вероятностный эксперимент для равномерно распределённой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 </a:t>
                </a:r>
                <a:r>
                  <a:rPr lang="ru-RU" dirty="0"/>
                  <a:t>абсолютно стойкий тогда и только тогда, когда для произвольного предиката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en-US" dirty="0"/>
                  <a:t> –</a:t>
                </a:r>
                <a:r>
                  <a:rPr lang="ru-RU" dirty="0"/>
                  <a:t> </a:t>
                </a:r>
                <a:r>
                  <a:rPr lang="ru-RU" b="1" dirty="0"/>
                  <a:t>не</a:t>
                </a:r>
                <a:r>
                  <a:rPr lang="en-US" dirty="0"/>
                  <a:t> </a:t>
                </a:r>
                <a:r>
                  <a:rPr lang="ru-RU" dirty="0"/>
                  <a:t>абсолютно стойкий. То есть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ru-RU" dirty="0"/>
              </a:p>
              <a:p>
                <a:pPr marL="0" indent="0" algn="ctr">
                  <a:buNone/>
                </a:pP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Cambria Math" panose="020405030504060302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86862" cy="4351338"/>
              </a:xfrm>
              <a:blipFill>
                <a:blip r:embed="rId2"/>
                <a:stretch>
                  <a:fillRect l="-1027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56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5412074"/>
                <a:ext cx="10939818" cy="1684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60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endChr m:val="]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en-US" sz="26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600" i="1">
                          <a:latin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60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2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60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sz="2600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endChr m:val="]"/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600" b="1" i="1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  <m:r>
                                <a:rPr lang="en-US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600" i="1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</m:oMath>
                  </m:oMathPara>
                </a14:m>
                <a:endParaRPr lang="en-US" sz="26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⊲</m:t>
                      </m:r>
                    </m:oMath>
                  </m:oMathPara>
                </a14:m>
                <a:endParaRPr lang="en-US" sz="2600" dirty="0"/>
              </a:p>
              <a:p>
                <a:endParaRPr lang="ru-RU" sz="2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12074"/>
                <a:ext cx="10939818" cy="16840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8DF29BC-5D6B-4F0C-A252-AC3E127EEB58}"/>
              </a:ext>
            </a:extLst>
          </p:cNvPr>
          <p:cNvSpPr/>
          <p:nvPr/>
        </p:nvSpPr>
        <p:spPr>
          <a:xfrm>
            <a:off x="9541565" y="4060613"/>
            <a:ext cx="2478157" cy="1921087"/>
          </a:xfrm>
          <a:prstGeom prst="round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F34E3F-F76A-48D5-B050-81AE562F67D7}"/>
                  </a:ext>
                </a:extLst>
              </p:cNvPr>
              <p:cNvSpPr txBox="1"/>
              <p:nvPr/>
            </p:nvSpPr>
            <p:spPr>
              <a:xfrm>
                <a:off x="11429796" y="5502533"/>
                <a:ext cx="4969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ru-RU" sz="2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F34E3F-F76A-48D5-B050-81AE562F6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9796" y="5502533"/>
                <a:ext cx="49699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28C3EE1-62B6-46FB-A434-307ADC8C47AE}"/>
              </a:ext>
            </a:extLst>
          </p:cNvPr>
          <p:cNvSpPr/>
          <p:nvPr/>
        </p:nvSpPr>
        <p:spPr>
          <a:xfrm>
            <a:off x="10880036" y="4298142"/>
            <a:ext cx="473764" cy="2893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FA85AD-D894-4819-ADF8-1706078CFB0D}"/>
                  </a:ext>
                </a:extLst>
              </p:cNvPr>
              <p:cNvSpPr txBox="1"/>
              <p:nvPr/>
            </p:nvSpPr>
            <p:spPr>
              <a:xfrm>
                <a:off x="11006117" y="3980671"/>
                <a:ext cx="8292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BFA85AD-D894-4819-ADF8-1706078CF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6117" y="3980671"/>
                <a:ext cx="829201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4B26E6-D864-4288-AED4-535C44E3072B}"/>
                  </a:ext>
                </a:extLst>
              </p:cNvPr>
              <p:cNvSpPr txBox="1"/>
              <p:nvPr/>
            </p:nvSpPr>
            <p:spPr>
              <a:xfrm>
                <a:off x="9561443" y="5328232"/>
                <a:ext cx="8292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B4B26E6-D864-4288-AED4-535C44E30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1443" y="5328232"/>
                <a:ext cx="829201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Овал 5">
            <a:extLst>
              <a:ext uri="{FF2B5EF4-FFF2-40B4-BE49-F238E27FC236}">
                <a16:creationId xmlns:a16="http://schemas.microsoft.com/office/drawing/2014/main" id="{A433FB22-2752-4EBC-BBE6-5A3FFD871B1A}"/>
              </a:ext>
            </a:extLst>
          </p:cNvPr>
          <p:cNvSpPr/>
          <p:nvPr/>
        </p:nvSpPr>
        <p:spPr>
          <a:xfrm>
            <a:off x="10986521" y="4402787"/>
            <a:ext cx="89304" cy="9012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5598AD4E-8E11-4C11-858C-55F20BB1DF4D}"/>
              </a:ext>
            </a:extLst>
          </p:cNvPr>
          <p:cNvSpPr/>
          <p:nvPr/>
        </p:nvSpPr>
        <p:spPr>
          <a:xfrm>
            <a:off x="9792340" y="5770078"/>
            <a:ext cx="89304" cy="9012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95C6A8-97D8-4529-8052-975470077F67}"/>
                  </a:ext>
                </a:extLst>
              </p:cNvPr>
              <p:cNvSpPr txBox="1"/>
              <p:nvPr/>
            </p:nvSpPr>
            <p:spPr>
              <a:xfrm>
                <a:off x="11321263" y="3623813"/>
                <a:ext cx="445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D95C6A8-97D8-4529-8052-975470077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1263" y="3623813"/>
                <a:ext cx="44505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39DFDB-32F3-4741-A205-C31D1E964F08}"/>
                  </a:ext>
                </a:extLst>
              </p:cNvPr>
              <p:cNvSpPr txBox="1"/>
              <p:nvPr/>
            </p:nvSpPr>
            <p:spPr>
              <a:xfrm>
                <a:off x="9852991" y="5987048"/>
                <a:ext cx="4026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39DFDB-32F3-4741-A205-C31D1E964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991" y="5987048"/>
                <a:ext cx="40267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Соединитель: изогнутый 16">
            <a:extLst>
              <a:ext uri="{FF2B5EF4-FFF2-40B4-BE49-F238E27FC236}">
                <a16:creationId xmlns:a16="http://schemas.microsoft.com/office/drawing/2014/main" id="{23E43CEB-9683-4FE8-8719-965DA636E544}"/>
              </a:ext>
            </a:extLst>
          </p:cNvPr>
          <p:cNvCxnSpPr>
            <a:stCxn id="14" idx="1"/>
            <a:endCxn id="6" idx="0"/>
          </p:cNvCxnSpPr>
          <p:nvPr/>
        </p:nvCxnSpPr>
        <p:spPr>
          <a:xfrm rot="10800000" flipV="1">
            <a:off x="11031173" y="3808479"/>
            <a:ext cx="290090" cy="594308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BBA55590-A29F-4B15-BD1A-03C80A16E1BA}"/>
              </a:ext>
            </a:extLst>
          </p:cNvPr>
          <p:cNvCxnSpPr>
            <a:cxnSpLocks/>
            <a:stCxn id="15" idx="3"/>
            <a:endCxn id="13" idx="6"/>
          </p:cNvCxnSpPr>
          <p:nvPr/>
        </p:nvCxnSpPr>
        <p:spPr>
          <a:xfrm flipH="1" flipV="1">
            <a:off x="9881644" y="5815141"/>
            <a:ext cx="374021" cy="356573"/>
          </a:xfrm>
          <a:prstGeom prst="curvedConnector3">
            <a:avLst>
              <a:gd name="adj1" fmla="val -61120"/>
            </a:avLst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5337A5-0B30-4F11-A44C-25EBF753FBEC}"/>
                  </a:ext>
                </a:extLst>
              </p:cNvPr>
              <p:cNvSpPr txBox="1"/>
              <p:nvPr/>
            </p:nvSpPr>
            <p:spPr>
              <a:xfrm>
                <a:off x="11004178" y="4275469"/>
                <a:ext cx="410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’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5337A5-0B30-4F11-A44C-25EBF753F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4178" y="4275469"/>
                <a:ext cx="41069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9258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215703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Эквивалентные определения</a:t>
            </a:r>
            <a:r>
              <a:rPr lang="en-US" dirty="0"/>
              <a:t> </a:t>
            </a:r>
            <a:r>
              <a:rPr lang="ru-RU" dirty="0"/>
              <a:t>абсолютной стойкости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704968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4</a:t>
                </a:r>
                <a:r>
                  <a:rPr lang="ru-RU" b="1" dirty="0"/>
                  <a:t>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</a:t>
                </a:r>
                <a:r>
                  <a:rPr lang="ru-RU" dirty="0"/>
                  <a:t> шифр Шеннона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Рассмотрим вероятностный эксперимент для равномерно распределённой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</a:p>
              <a:p>
                <a:pPr marL="0" indent="0">
                  <a:buNone/>
                </a:pPr>
                <a:r>
                  <a:rPr lang="ru-RU" dirty="0"/>
                  <a:t>Тогда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 </a:t>
                </a:r>
                <a:r>
                  <a:rPr lang="ru-RU" dirty="0"/>
                  <a:t>абсолютно стойкий тогда и только тогда, когда для произвольного предиката </a:t>
                </a:r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Иными словами</a:t>
                </a:r>
                <a:r>
                  <a:rPr lang="en-US" dirty="0"/>
                  <a:t>: </a:t>
                </a:r>
                <a:r>
                  <a:rPr lang="ru-RU" dirty="0"/>
                  <a:t>при использовании произвольного предиката на </a:t>
                </a:r>
                <a:r>
                  <a:rPr lang="ru-RU" dirty="0" err="1"/>
                  <a:t>шифртекстах</a:t>
                </a:r>
                <a:r>
                  <a:rPr lang="ru-RU" dirty="0"/>
                  <a:t> абсолютно стойкого шифра злоумышленник не получает информации об открытом тексте.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704968" cy="4351338"/>
              </a:xfrm>
              <a:blipFill>
                <a:blip r:embed="rId2"/>
                <a:stretch>
                  <a:fillRect l="-1025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9150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7"/>
            <a:ext cx="10542006" cy="2834929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Эквивалентные определения</a:t>
            </a:r>
            <a:r>
              <a:rPr lang="en-US" dirty="0"/>
              <a:t> </a:t>
            </a:r>
            <a:r>
              <a:rPr lang="ru-RU" dirty="0"/>
              <a:t>абсолютной стойкости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5</a:t>
                </a:r>
                <a:r>
                  <a:rPr lang="ru-RU" b="1" dirty="0"/>
                  <a:t>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</a:t>
                </a:r>
                <a:r>
                  <a:rPr lang="ru-RU" dirty="0"/>
                  <a:t> шифр Шеннона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 Рассмотрим вероятностный эксперимент для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(</a:t>
                </a: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ru-RU" dirty="0"/>
                  <a:t> не обязательно равномерное распределение)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ru-RU" dirty="0"/>
                  <a:t> и</a:t>
                </a:r>
                <a:r>
                  <a:rPr lang="ru-RU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ru-RU" b="1" dirty="0"/>
                  <a:t> </a:t>
                </a:r>
                <a:r>
                  <a:rPr lang="ru-RU" dirty="0"/>
                  <a:t>– независимы. Введём случайную величину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Тогда</a:t>
                </a:r>
                <a:r>
                  <a:rPr lang="en-US" dirty="0"/>
                  <a:t>:</a:t>
                </a:r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абсолютно стойкий, тогда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ru-RU" dirty="0"/>
                  <a:t> независимы</a:t>
                </a:r>
                <a:r>
                  <a:rPr lang="en-US" dirty="0"/>
                  <a:t>:</a:t>
                </a:r>
              </a:p>
              <a:p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ru-RU" dirty="0"/>
                  <a:t> 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ru-RU" dirty="0"/>
                  <a:t> независимы, и каждое сообщение из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выберется с вероятностью, отличной от 0, то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абсолютно стойкий.</a:t>
                </a:r>
              </a:p>
              <a:p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Иными словами, для абсолютно стойкого шифра верно равенство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⁡[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То есть наличие </a:t>
                </a:r>
                <a:r>
                  <a:rPr lang="ru-RU" dirty="0" err="1"/>
                  <a:t>шифртекста</a:t>
                </a:r>
                <a:r>
                  <a:rPr lang="ru-RU" dirty="0"/>
                  <a:t> не даёт злоумышленнику никаких преимуществ.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 b="-30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1829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Энтропия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6390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dirty="0">
                    <a:latin typeface="Cambria Math" panose="02040503050406030204" pitchFamily="18" charset="0"/>
                  </a:rPr>
                  <a:t>Мера неопределённости в поведении сигнала, количество информации передаваемое сигналом, величина измерения – бит.</a:t>
                </a:r>
              </a:p>
              <a:p>
                <a:pPr marL="0" indent="0">
                  <a:buNone/>
                </a:pPr>
                <a:endParaRPr lang="ru-RU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⁡[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]</m:t>
                        </m:r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Pr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⁡[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dirty="0"/>
                  <a:t> </a:t>
                </a:r>
                <a:r>
                  <a:rPr lang="ru-RU" dirty="0">
                    <a:latin typeface="Cambria Math" panose="02040503050406030204" pitchFamily="18" charset="0"/>
                  </a:rPr>
                  <a:t>–</a:t>
                </a:r>
                <a:r>
                  <a:rPr lang="en-US" dirty="0"/>
                  <a:t> </a:t>
                </a:r>
                <a:r>
                  <a:rPr lang="ru-RU" dirty="0"/>
                  <a:t>энтропия </a:t>
                </a:r>
                <a:r>
                  <a:rPr lang="ru-RU" b="1" dirty="0"/>
                  <a:t>случайной величины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dirty="0"/>
                  <a:t>, тогда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dirty="0"/>
                  <a:t> если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равномерно распределённая</a:t>
                </a:r>
                <a:endParaRPr lang="ru-RU" b="1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Pr</m:t>
                                </m:r>
                              </m:fName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func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Pr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|</m:t>
                                        </m:r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=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func>
                          </m:e>
                        </m:nary>
                      </m:e>
                    </m:nary>
                  </m:oMath>
                </a14:m>
                <a:r>
                  <a:rPr lang="en-US" dirty="0"/>
                  <a:t> </a:t>
                </a:r>
                <a:r>
                  <a:rPr lang="ru-RU" dirty="0">
                    <a:latin typeface="Cambria Math" panose="02040503050406030204" pitchFamily="18" charset="0"/>
                  </a:rPr>
                  <a:t>–</a:t>
                </a:r>
                <a:r>
                  <a:rPr lang="en-US" dirty="0"/>
                  <a:t> </a:t>
                </a:r>
                <a:r>
                  <a:rPr lang="ru-RU" dirty="0"/>
                  <a:t>условная энтропия случайной величины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r>
                      <a:rPr lang="ru-RU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:r>
                  <a:rPr lang="ru-RU" dirty="0"/>
                  <a:t>если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/>
                  <a:t> </a:t>
                </a:r>
                <a:r>
                  <a:rPr lang="ru-RU" dirty="0"/>
                  <a:t>независимы.</a:t>
                </a: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6390"/>
                <a:ext cx="10515600" cy="4351338"/>
              </a:xfrm>
              <a:blipFill>
                <a:blip r:embed="rId2"/>
                <a:stretch>
                  <a:fillRect l="-1043" t="-2241" b="-222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0373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Энтропия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7850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dirty="0"/>
                  <a:t>Простыми словами – сколько в данной величине случайности в битах.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0…0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…0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1001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00∗001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1∗∗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бросок монетки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бросок кубика с 4 гранями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бросок кубика с 3 гранями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7850"/>
                <a:ext cx="10515600" cy="4351338"/>
              </a:xfrm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60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BC421-A8F1-4B80-A453-62B59842F0B1}"/>
              </a:ext>
            </a:extLst>
          </p:cNvPr>
          <p:cNvSpPr txBox="1"/>
          <p:nvPr/>
        </p:nvSpPr>
        <p:spPr>
          <a:xfrm>
            <a:off x="0" y="6536809"/>
            <a:ext cx="362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</a:t>
            </a:r>
            <a:r>
              <a:rPr lang="ru-RU" dirty="0"/>
              <a:t>– равновероятный выбор из </a:t>
            </a:r>
            <a:r>
              <a:rPr lang="en-US" dirty="0"/>
              <a:t>{0,1}</a:t>
            </a:r>
          </a:p>
        </p:txBody>
      </p:sp>
    </p:spTree>
    <p:extLst>
      <p:ext uri="{BB962C8B-B14F-4D97-AF65-F5344CB8AC3E}">
        <p14:creationId xmlns:p14="http://schemas.microsoft.com/office/powerpoint/2010/main" val="37863283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Энтропия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7850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dirty="0"/>
                  <a:t>Энтропия аддитивна для независимых событий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∗∗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бросок кубика</m:t>
                          </m:r>
                          <m:r>
                            <a:rPr lang="ru-RU" b="0" i="0" smtClean="0">
                              <a:latin typeface="Cambria Math" panose="02040503050406030204" pitchFamily="18" charset="0"/>
                            </a:rPr>
                            <m:t> с 4 гранями</m:t>
                          </m:r>
                        </m:e>
                      </m:d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0" smtClean="0">
                              <a:latin typeface="Cambria Math" panose="02040503050406030204" pitchFamily="18" charset="0"/>
                            </a:rPr>
                            <m:t>бросок монетки</m:t>
                          </m:r>
                        </m:e>
                      </m:d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ru-RU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Энтропия максимальна при случайном равновероятном выборе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(бросок "честной" монетки)≥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(бросок монетки, одна из сторон которой тяжелее)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7850"/>
                <a:ext cx="10515600" cy="4351338"/>
              </a:xfrm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DBC421-A8F1-4B80-A453-62B59842F0B1}"/>
              </a:ext>
            </a:extLst>
          </p:cNvPr>
          <p:cNvSpPr txBox="1"/>
          <p:nvPr/>
        </p:nvSpPr>
        <p:spPr>
          <a:xfrm>
            <a:off x="0" y="6536809"/>
            <a:ext cx="3629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</a:t>
            </a:r>
            <a:r>
              <a:rPr lang="ru-RU" dirty="0"/>
              <a:t>– равновероятный выбор из </a:t>
            </a:r>
            <a:r>
              <a:rPr lang="en-US" dirty="0"/>
              <a:t>{0,1}</a:t>
            </a:r>
          </a:p>
        </p:txBody>
      </p:sp>
    </p:spTree>
    <p:extLst>
      <p:ext uri="{BB962C8B-B14F-4D97-AF65-F5344CB8AC3E}">
        <p14:creationId xmlns:p14="http://schemas.microsoft.com/office/powerpoint/2010/main" val="36803580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36033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Эквивалентные определения </a:t>
            </a:r>
            <a:r>
              <a:rPr lang="ru-RU"/>
              <a:t>абсолютно стойкого </a:t>
            </a:r>
            <a:r>
              <a:rPr lang="ru-RU" dirty="0"/>
              <a:t>шифра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6</a:t>
                </a:r>
                <a:r>
                  <a:rPr lang="ru-RU" b="1" dirty="0"/>
                  <a:t>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–</a:t>
                </a:r>
                <a:r>
                  <a:rPr lang="ru-RU" dirty="0"/>
                  <a:t> шифр Шеннона на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.</a:t>
                </a:r>
                <a:r>
                  <a:rPr lang="en-US" dirty="0"/>
                  <a:t> </a:t>
                </a: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ru-RU" dirty="0"/>
                  <a:t> </a:t>
                </a:r>
                <a:r>
                  <a:rPr lang="en-US" dirty="0"/>
                  <a:t>(</a:t>
                </a:r>
                <a:r>
                  <a:rPr lang="ru-RU" dirty="0"/>
                  <a:t>для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ru-RU" dirty="0"/>
                  <a:t> не обязательно равномерное распределение). Тогда шифр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абсолютно стойкий, если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Иными словами </a:t>
                </a:r>
                <a:r>
                  <a:rPr lang="ru-RU" dirty="0" err="1"/>
                  <a:t>шифртекст</a:t>
                </a:r>
                <a:r>
                  <a:rPr lang="ru-RU" dirty="0"/>
                  <a:t> не даёт никакой информации об открытом тексте.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Принцип действия абсолютно стойкого шифра – «применить» энтропию (неопределённость) равномерно распределённого ключа к сообщению для получения равномерно распределённого </a:t>
                </a:r>
                <a:r>
                  <a:rPr lang="ru-RU" dirty="0" err="1"/>
                  <a:t>шифртекста</a:t>
                </a:r>
                <a:r>
                  <a:rPr lang="ru-RU" dirty="0"/>
                  <a:t>. 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101" r="-5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3371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/>
          <p:cNvSpPr/>
          <p:nvPr/>
        </p:nvSpPr>
        <p:spPr>
          <a:xfrm>
            <a:off x="720505" y="1690688"/>
            <a:ext cx="10542006" cy="194880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Плохие новости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Теорема 1.</a:t>
                </a:r>
                <a:r>
                  <a:rPr lang="en-US" b="1" dirty="0"/>
                  <a:t>7</a:t>
                </a:r>
                <a:r>
                  <a:rPr lang="ru-RU" b="1" dirty="0"/>
                  <a:t> (Шеннона).</a:t>
                </a:r>
                <a:r>
                  <a:rPr lang="ru-RU" dirty="0"/>
                  <a:t> 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b="0" i="0" smtClean="0">
                        <a:latin typeface="Cambria Math" panose="02040503050406030204" pitchFamily="18" charset="0"/>
                      </a:rPr>
                      <m:t>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ru-RU" dirty="0"/>
                  <a:t> шифр Шеннона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Если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Ε</m:t>
                    </m:r>
                  </m:oMath>
                </a14:m>
                <a:r>
                  <a:rPr lang="ru-RU" dirty="0"/>
                  <a:t> – абсолютно стойкий, то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Простое объяснение – невозможно получить равномерно распределённую случайную величину длины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, используя детерминированный алгоритм над равномерно распределённой случайной величиной длины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:r>
                  <a:rPr lang="ru-RU" b="0" dirty="0"/>
                  <a:t>Иными словами, для шифрования 1 </a:t>
                </a:r>
                <a:r>
                  <a:rPr lang="en-US" b="0" dirty="0"/>
                  <a:t>Gb </a:t>
                </a:r>
                <a:r>
                  <a:rPr lang="ru-RU" b="0" dirty="0"/>
                  <a:t>данных </a:t>
                </a:r>
                <a:r>
                  <a:rPr lang="ru-RU" b="1" dirty="0"/>
                  <a:t>любым</a:t>
                </a:r>
                <a:r>
                  <a:rPr lang="ru-RU" b="0" dirty="0"/>
                  <a:t> абсолютно стойким шифром потребуется ключ размера как минимум 1 </a:t>
                </a:r>
                <a:r>
                  <a:rPr lang="en-US" b="0" dirty="0"/>
                  <a:t>Gb</a:t>
                </a:r>
                <a:r>
                  <a:rPr lang="ru-RU" dirty="0"/>
                  <a:t>.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6235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Семантическая стойкость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Продолжение следует…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1955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46684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1913</TotalTime>
  <Words>4413</Words>
  <Application>Microsoft Office PowerPoint</Application>
  <PresentationFormat>Широкоэкранный</PresentationFormat>
  <Paragraphs>551</Paragraphs>
  <Slides>65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65</vt:i4>
      </vt:variant>
    </vt:vector>
  </HeadingPairs>
  <TitlesOfParts>
    <vt:vector size="70" baseType="lpstr">
      <vt:lpstr>Arial</vt:lpstr>
      <vt:lpstr>Calibri</vt:lpstr>
      <vt:lpstr>Calibri Light</vt:lpstr>
      <vt:lpstr>Cambria Math</vt:lpstr>
      <vt:lpstr>Тема Office</vt:lpstr>
      <vt:lpstr>Прикладная Криптография: Симметричные криптосистемы Абсолютная и Cемантическая стойкость</vt:lpstr>
      <vt:lpstr>Структура курса</vt:lpstr>
      <vt:lpstr>Структура курса (2)</vt:lpstr>
      <vt:lpstr>Структура курса (3)</vt:lpstr>
      <vt:lpstr>Структура курса (4)</vt:lpstr>
      <vt:lpstr>Связь</vt:lpstr>
      <vt:lpstr>Лабораторные работы</vt:lpstr>
      <vt:lpstr>Сдача теории</vt:lpstr>
      <vt:lpstr>Материалы прошлого года</vt:lpstr>
      <vt:lpstr>Материалы прошлого года</vt:lpstr>
      <vt:lpstr>Использование нейронок</vt:lpstr>
      <vt:lpstr>Обратная связь и пожелания по курсу</vt:lpstr>
      <vt:lpstr>Историческая задача криптографической защите информации</vt:lpstr>
      <vt:lpstr>Способы построения и анализа криптосистем</vt:lpstr>
      <vt:lpstr>Современная задача криптографической защиты информации</vt:lpstr>
      <vt:lpstr>Понятие стойкости</vt:lpstr>
      <vt:lpstr>Оценка стойкости криптографического примитива</vt:lpstr>
      <vt:lpstr>Способы построения и анализа криптосистем</vt:lpstr>
      <vt:lpstr>Принцип Керкгоффса</vt:lpstr>
      <vt:lpstr>Способы построения и анализа криптосистем</vt:lpstr>
      <vt:lpstr>Слишком сложно</vt:lpstr>
      <vt:lpstr>Прикладное мостостроение  Стойкость мостов через сведение к стойкости составных элементов*</vt:lpstr>
      <vt:lpstr>Историческая задача построения мостов</vt:lpstr>
      <vt:lpstr>Оценка стойкости моста</vt:lpstr>
      <vt:lpstr>Сведение стойкости моста к стойкости составных элементов</vt:lpstr>
      <vt:lpstr>Сведение стойкости (Security Reduction)</vt:lpstr>
      <vt:lpstr>Сведение стойкости (Security Reduction)</vt:lpstr>
      <vt:lpstr>Ах да, криптография</vt:lpstr>
      <vt:lpstr>Сведение стойкости (Security Reduction)</vt:lpstr>
      <vt:lpstr>Сведение стойкости (Security Reduction)</vt:lpstr>
      <vt:lpstr>Сведение стойкости (Security Reduction)</vt:lpstr>
      <vt:lpstr>Сведение стойкости (Security Reduction)</vt:lpstr>
      <vt:lpstr>Сведение стойкости криптографический примитивов</vt:lpstr>
      <vt:lpstr>Вопросов больше, чем ответов</vt:lpstr>
      <vt:lpstr>Шифр Шеннона</vt:lpstr>
      <vt:lpstr>Шифр Шеннона</vt:lpstr>
      <vt:lpstr>Нотация</vt:lpstr>
      <vt:lpstr>Нотация</vt:lpstr>
      <vt:lpstr>Нотация</vt:lpstr>
      <vt:lpstr>Пример: Одноразовый блокнот</vt:lpstr>
      <vt:lpstr>Пример: Одноразовый блокнот переменной длины</vt:lpstr>
      <vt:lpstr>Пример: Шифр подстановки</vt:lpstr>
      <vt:lpstr>Пример: Аддитивный одноразовый блокнот</vt:lpstr>
      <vt:lpstr>Цель шифра Шеннона</vt:lpstr>
      <vt:lpstr>Понятие стойкости</vt:lpstr>
      <vt:lpstr>Понятие стойкости</vt:lpstr>
      <vt:lpstr>Понятие стойкости</vt:lpstr>
      <vt:lpstr>Абсолютная стойкость</vt:lpstr>
      <vt:lpstr>Эквивалентные определения абсолютной стойкости</vt:lpstr>
      <vt:lpstr>Эквивалентные определения абсолютной стойкости</vt:lpstr>
      <vt:lpstr>Эквивалентные определения абсолютной стойкости</vt:lpstr>
      <vt:lpstr>Одноразовый блокнот – абсолютно стойкий шифр</vt:lpstr>
      <vt:lpstr>Одноразовый блокнот переменной длины – не абсолютно стойкий шифр</vt:lpstr>
      <vt:lpstr>Предикат</vt:lpstr>
      <vt:lpstr>Эквивалентные определения абсолютной стойкости</vt:lpstr>
      <vt:lpstr>Эквивалентные определения абсолютной стойкости</vt:lpstr>
      <vt:lpstr>Эквивалентные определения абсолютной стойкости</vt:lpstr>
      <vt:lpstr>Эквивалентные определения абсолютной стойкости</vt:lpstr>
      <vt:lpstr>Энтропия</vt:lpstr>
      <vt:lpstr>Энтропия</vt:lpstr>
      <vt:lpstr>Энтропия</vt:lpstr>
      <vt:lpstr>Эквивалентные определения абсолютно стойкого шифра</vt:lpstr>
      <vt:lpstr>Плохие новости</vt:lpstr>
      <vt:lpstr>Семантическая стойкость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Макаров Артём Олегович</cp:lastModifiedBy>
  <cp:revision>537</cp:revision>
  <dcterms:created xsi:type="dcterms:W3CDTF">2018-08-24T12:25:18Z</dcterms:created>
  <dcterms:modified xsi:type="dcterms:W3CDTF">2026-09-03T05:29:45Z</dcterms:modified>
</cp:coreProperties>
</file>