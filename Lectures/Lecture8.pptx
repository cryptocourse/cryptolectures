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96" r:id="rId2"/>
    <p:sldId id="444" r:id="rId3"/>
    <p:sldId id="449" r:id="rId4"/>
    <p:sldId id="446" r:id="rId5"/>
    <p:sldId id="368" r:id="rId6"/>
    <p:sldId id="410" r:id="rId7"/>
    <p:sldId id="411" r:id="rId8"/>
    <p:sldId id="409" r:id="rId9"/>
    <p:sldId id="415" r:id="rId10"/>
    <p:sldId id="416" r:id="rId11"/>
    <p:sldId id="417" r:id="rId12"/>
    <p:sldId id="419" r:id="rId13"/>
    <p:sldId id="374" r:id="rId14"/>
    <p:sldId id="425" r:id="rId15"/>
    <p:sldId id="375" r:id="rId16"/>
    <p:sldId id="413" r:id="rId17"/>
    <p:sldId id="412" r:id="rId18"/>
    <p:sldId id="385" r:id="rId19"/>
    <p:sldId id="389" r:id="rId20"/>
    <p:sldId id="388" r:id="rId21"/>
    <p:sldId id="420" r:id="rId22"/>
    <p:sldId id="414" r:id="rId23"/>
    <p:sldId id="421" r:id="rId24"/>
    <p:sldId id="396" r:id="rId25"/>
    <p:sldId id="424" r:id="rId26"/>
    <p:sldId id="398" r:id="rId27"/>
    <p:sldId id="423" r:id="rId28"/>
    <p:sldId id="422" r:id="rId29"/>
    <p:sldId id="426" r:id="rId30"/>
    <p:sldId id="439" r:id="rId31"/>
    <p:sldId id="440" r:id="rId32"/>
    <p:sldId id="429" r:id="rId33"/>
    <p:sldId id="427" r:id="rId34"/>
    <p:sldId id="428" r:id="rId35"/>
    <p:sldId id="430" r:id="rId36"/>
    <p:sldId id="431" r:id="rId37"/>
    <p:sldId id="433" r:id="rId38"/>
    <p:sldId id="435" r:id="rId39"/>
    <p:sldId id="436" r:id="rId40"/>
    <p:sldId id="441" r:id="rId41"/>
    <p:sldId id="442" r:id="rId42"/>
    <p:sldId id="443" r:id="rId43"/>
    <p:sldId id="437" r:id="rId44"/>
    <p:sldId id="438" r:id="rId45"/>
    <p:sldId id="447" r:id="rId46"/>
    <p:sldId id="448" r:id="rId47"/>
    <p:sldId id="445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  <p14:sldId id="444"/>
            <p14:sldId id="449"/>
            <p14:sldId id="446"/>
          </p14:sldIdLst>
        </p14:section>
        <p14:section name="Лирическое отступление в блочные шифры" id="{166FB796-C804-494D-81E1-46F5EBC53402}">
          <p14:sldIdLst>
            <p14:sldId id="368"/>
            <p14:sldId id="410"/>
            <p14:sldId id="411"/>
            <p14:sldId id="409"/>
          </p14:sldIdLst>
        </p14:section>
        <p14:section name="nonce based encyrption" id="{BDB6B9FB-F9C3-47B8-A5AA-E2B6D87B1A81}">
          <p14:sldIdLst>
            <p14:sldId id="415"/>
            <p14:sldId id="416"/>
            <p14:sldId id="417"/>
            <p14:sldId id="419"/>
          </p14:sldIdLst>
        </p14:section>
        <p14:section name="гибридная конструкция" id="{8D7119DD-8269-4067-B041-CBC75DC9F3BE}">
          <p14:sldIdLst>
            <p14:sldId id="374"/>
            <p14:sldId id="425"/>
            <p14:sldId id="375"/>
            <p14:sldId id="413"/>
            <p14:sldId id="412"/>
          </p14:sldIdLst>
        </p14:section>
        <p14:section name="ctr" id="{BB52D12A-AD2B-4D91-AE6C-68129FB28A94}">
          <p14:sldIdLst>
            <p14:sldId id="385"/>
            <p14:sldId id="389"/>
            <p14:sldId id="388"/>
            <p14:sldId id="420"/>
            <p14:sldId id="414"/>
            <p14:sldId id="421"/>
          </p14:sldIdLst>
        </p14:section>
        <p14:section name="CBC" id="{C4CD0A65-B822-46E5-B632-31A9388536BE}">
          <p14:sldIdLst>
            <p14:sldId id="396"/>
            <p14:sldId id="424"/>
            <p14:sldId id="398"/>
            <p14:sldId id="423"/>
            <p14:sldId id="422"/>
            <p14:sldId id="426"/>
          </p14:sldIdLst>
        </p14:section>
        <p14:section name="Детерминированный CPA" id="{0532A29F-7973-4F7E-84F6-C56353BBD596}">
          <p14:sldIdLst>
            <p14:sldId id="439"/>
            <p14:sldId id="440"/>
            <p14:sldId id="429"/>
            <p14:sldId id="427"/>
            <p14:sldId id="428"/>
            <p14:sldId id="430"/>
            <p14:sldId id="431"/>
            <p14:sldId id="433"/>
            <p14:sldId id="435"/>
            <p14:sldId id="436"/>
            <p14:sldId id="441"/>
            <p14:sldId id="442"/>
            <p14:sldId id="443"/>
            <p14:sldId id="437"/>
            <p14:sldId id="438"/>
            <p14:sldId id="447"/>
          </p14:sldIdLst>
        </p14:section>
        <p14:section name="тесты" id="{3B03BC41-9C8F-408D-9D4F-A37B8FFA921D}">
          <p14:sldIdLst>
            <p14:sldId id="448"/>
            <p14:sldId id="4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1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Alice is encrypted with k1,   data is encrypted with k2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195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Alice is encrypted with k1,   data is encrypted with k2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3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en-US" baseline="0" dirty="0"/>
              <a:t> captures the settings where the adversary never sees the encryption of the same message twice under the same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546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93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80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5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90.png"/><Relationship Id="rId5" Type="http://schemas.openxmlformats.org/officeDocument/2006/relationships/image" Target="../media/image8.png"/><Relationship Id="rId10" Type="http://schemas.openxmlformats.org/officeDocument/2006/relationships/image" Target="../media/image82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10.png"/><Relationship Id="rId7" Type="http://schemas.openxmlformats.org/officeDocument/2006/relationships/image" Target="../media/image120.png"/><Relationship Id="rId12" Type="http://schemas.openxmlformats.org/officeDocument/2006/relationships/image" Target="../media/image6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1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220.png"/><Relationship Id="rId12" Type="http://schemas.openxmlformats.org/officeDocument/2006/relationships/image" Target="../media/image6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6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12" Type="http://schemas.openxmlformats.org/officeDocument/2006/relationships/image" Target="../media/image6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36.png"/><Relationship Id="rId9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en-US" dirty="0"/>
              <a:t>nonce CPA, </a:t>
            </a:r>
            <a:r>
              <a:rPr lang="en-US" dirty="0" err="1"/>
              <a:t>det</a:t>
            </a:r>
            <a:r>
              <a:rPr lang="en-US" dirty="0"/>
              <a:t>-CPA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2025</a:t>
            </a:r>
          </a:p>
        </p:txBody>
      </p:sp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85371" y="1408578"/>
            <a:ext cx="531861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4 </a:t>
            </a:r>
            <a:r>
              <a:rPr lang="ru-RU" sz="2600" dirty="0"/>
              <a:t>вопроса. </a:t>
            </a:r>
            <a:endParaRPr lang="en-US" sz="2600" dirty="0"/>
          </a:p>
          <a:p>
            <a:endParaRPr lang="en-US" sz="2600" dirty="0"/>
          </a:p>
          <a:p>
            <a:r>
              <a:rPr lang="ru-RU" sz="2600" dirty="0"/>
              <a:t>Краткие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74046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838200" y="1031953"/>
            <a:ext cx="101345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1 – режим </a:t>
            </a:r>
            <a:r>
              <a:rPr lang="en-US" sz="2800" b="1" dirty="0"/>
              <a:t>CTR</a:t>
            </a:r>
            <a:r>
              <a:rPr lang="ru-RU" sz="2800" dirty="0"/>
              <a:t>, как следует выбирать ключ?</a:t>
            </a:r>
            <a:endParaRPr lang="en-US" sz="2800" dirty="0"/>
          </a:p>
          <a:p>
            <a:r>
              <a:rPr lang="en-US" sz="2800" dirty="0"/>
              <a:t>2 – </a:t>
            </a:r>
            <a:r>
              <a:rPr lang="ru-RU" sz="2800" dirty="0"/>
              <a:t>режим </a:t>
            </a:r>
            <a:r>
              <a:rPr lang="en-US" sz="2800" b="1" dirty="0"/>
              <a:t>CBC</a:t>
            </a:r>
            <a:r>
              <a:rPr lang="ru-RU" sz="2800" dirty="0"/>
              <a:t>, как следует выбирать </a:t>
            </a:r>
            <a:r>
              <a:rPr lang="en-US" sz="2800" dirty="0"/>
              <a:t>IV?</a:t>
            </a:r>
          </a:p>
          <a:p>
            <a:r>
              <a:rPr lang="ru-RU" sz="2800" dirty="0"/>
              <a:t>3 – режим </a:t>
            </a:r>
            <a:r>
              <a:rPr lang="en-US" sz="2800" b="1" dirty="0"/>
              <a:t>OFB</a:t>
            </a:r>
            <a:r>
              <a:rPr lang="ru-RU" sz="2800" dirty="0"/>
              <a:t>, нужно ли использовать дополнение ОТ?  Если да</a:t>
            </a:r>
            <a:r>
              <a:rPr lang="ru-RU" sz="2800"/>
              <a:t>, то какое</a:t>
            </a:r>
            <a:r>
              <a:rPr lang="ru-RU" sz="2800" dirty="0"/>
              <a:t>?</a:t>
            </a:r>
          </a:p>
          <a:p>
            <a:r>
              <a:rPr lang="ru-RU" sz="2800" dirty="0"/>
              <a:t>4 –</a:t>
            </a:r>
            <a:r>
              <a:rPr lang="en-US" sz="2800" dirty="0"/>
              <a:t> </a:t>
            </a:r>
            <a:r>
              <a:rPr lang="ru-RU" sz="2800" dirty="0"/>
              <a:t>в блочном шифре «сломалась» процедура шифрования. Доступна только процедура расшифрования. Можно ли построить с помощью такого шифра </a:t>
            </a:r>
            <a:r>
              <a:rPr lang="en-US" sz="2800" dirty="0"/>
              <a:t>CPA </a:t>
            </a:r>
            <a:r>
              <a:rPr lang="ru-RU" sz="2800" dirty="0"/>
              <a:t>стойкий шифр? Почему </a:t>
            </a:r>
            <a:r>
              <a:rPr lang="en-US" sz="2800" dirty="0"/>
              <a:t>/ </a:t>
            </a:r>
            <a:r>
              <a:rPr lang="ru-RU" sz="2800" dirty="0"/>
              <a:t>как именно? </a:t>
            </a:r>
          </a:p>
        </p:txBody>
      </p:sp>
    </p:spTree>
    <p:extLst>
      <p:ext uri="{BB962C8B-B14F-4D97-AF65-F5344CB8AC3E}">
        <p14:creationId xmlns:p14="http://schemas.microsoft.com/office/powerpoint/2010/main" val="218409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9633" y="375503"/>
            <a:ext cx="5811715" cy="2847914"/>
          </a:xfrm>
        </p:spPr>
        <p:txBody>
          <a:bodyPr>
            <a:noAutofit/>
          </a:bodyPr>
          <a:lstStyle/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  <a:r>
              <a:rPr lang="en-US" sz="15000" dirty="0">
                <a:solidFill>
                  <a:schemeClr val="bg1"/>
                </a:solidFill>
              </a:rPr>
              <a:t> </a:t>
            </a:r>
            <a:endParaRPr lang="ru-RU" sz="15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17512" y="3223417"/>
            <a:ext cx="3145924" cy="2704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UP</a:t>
            </a:r>
            <a:endParaRPr lang="ru-RU" sz="20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005482" y="1189831"/>
            <a:ext cx="307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sz="20000" dirty="0">
                <a:solidFill>
                  <a:schemeClr val="bg1"/>
                </a:solidFill>
              </a:rPr>
              <a:t> </a:t>
            </a:r>
            <a:endParaRPr lang="ru-RU" sz="2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75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7692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Шифр называется </a:t>
                </a:r>
                <a:r>
                  <a:rPr lang="en-US" dirty="0"/>
                  <a:t>CPA </a:t>
                </a:r>
                <a:r>
                  <a:rPr lang="ru-RU" dirty="0"/>
                  <a:t>стойким, если для любого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𝐶𝑃𝐴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</a:p>
              <a:p>
                <a:r>
                  <a:rPr lang="ru-RU" dirty="0"/>
                  <a:t>Детерминированный шифр не может быть </a:t>
                </a:r>
                <a:r>
                  <a:rPr lang="en-US" dirty="0"/>
                  <a:t>CPA </a:t>
                </a:r>
                <a:r>
                  <a:rPr lang="ru-RU" dirty="0"/>
                  <a:t>стойким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7692"/>
                <a:ext cx="10515600" cy="4351338"/>
              </a:xfrm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306940"/>
            <a:ext cx="3733800" cy="510780"/>
            <a:chOff x="1776" y="1987"/>
            <a:chExt cx="2352" cy="429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51" y="1987"/>
                  <a:ext cx="1048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1" y="1987"/>
                  <a:ext cx="1048" cy="429"/>
                </a:xfrm>
                <a:prstGeom prst="rect">
                  <a:avLst/>
                </a:prstGeom>
                <a:blipFill>
                  <a:blip r:embed="rId6"/>
                  <a:stretch>
                    <a:fillRect r="-2941" b="-216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488045"/>
            <a:ext cx="3733800" cy="516733"/>
            <a:chOff x="1776" y="1976"/>
            <a:chExt cx="2352" cy="434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4" y="1976"/>
                  <a:ext cx="1048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4" y="1976"/>
                  <a:ext cx="1048" cy="429"/>
                </a:xfrm>
                <a:prstGeom prst="rect">
                  <a:avLst/>
                </a:prstGeom>
                <a:blipFill>
                  <a:blip r:embed="rId9"/>
                  <a:stretch>
                    <a:fillRect r="-2941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632609" cy="423129"/>
              </a:xfrm>
              <a:prstGeom prst="rect">
                <a:avLst/>
              </a:prstGeom>
              <a:blipFill rotWithShape="0">
                <a:blip r:embed="rId11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188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показано ранее, для </a:t>
            </a:r>
            <a:r>
              <a:rPr lang="en-US" dirty="0"/>
              <a:t>CPA </a:t>
            </a:r>
            <a:r>
              <a:rPr lang="ru-RU" dirty="0"/>
              <a:t>стойкости необходима «рандомизация» </a:t>
            </a:r>
            <a:r>
              <a:rPr lang="ru-RU" dirty="0" err="1"/>
              <a:t>шифртекстов</a:t>
            </a:r>
            <a:endParaRPr lang="ru-RU" dirty="0"/>
          </a:p>
          <a:p>
            <a:r>
              <a:rPr lang="ru-RU" dirty="0"/>
              <a:t>Подход 1 – </a:t>
            </a:r>
            <a:r>
              <a:rPr lang="ru-RU" dirty="0">
                <a:solidFill>
                  <a:srgbClr val="FF0000"/>
                </a:solidFill>
              </a:rPr>
              <a:t>рандомизация функции </a:t>
            </a:r>
            <a:r>
              <a:rPr lang="ru-RU" dirty="0" err="1">
                <a:solidFill>
                  <a:srgbClr val="FF0000"/>
                </a:solidFill>
              </a:rPr>
              <a:t>зашифрования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lvl="1"/>
            <a:r>
              <a:rPr lang="ru-RU" dirty="0" err="1"/>
              <a:t>Зашифрование</a:t>
            </a:r>
            <a:r>
              <a:rPr lang="ru-RU" dirty="0"/>
              <a:t> одного и того же сообщения даст разные </a:t>
            </a:r>
            <a:r>
              <a:rPr lang="ru-RU" dirty="0" err="1"/>
              <a:t>шифртексты</a:t>
            </a:r>
            <a:endParaRPr lang="ru-RU" dirty="0"/>
          </a:p>
          <a:p>
            <a:pPr lvl="1"/>
            <a:r>
              <a:rPr lang="ru-RU" dirty="0"/>
              <a:t>Необходим внешний источник энтропии</a:t>
            </a:r>
          </a:p>
          <a:p>
            <a:pPr lvl="1"/>
            <a:r>
              <a:rPr lang="ru-RU" dirty="0" err="1"/>
              <a:t>Шифртексты</a:t>
            </a:r>
            <a:r>
              <a:rPr lang="ru-RU" dirty="0"/>
              <a:t> всегда длиннее открытых текстов, так как необходимо также </a:t>
            </a:r>
            <a:r>
              <a:rPr lang="ru-RU" dirty="0">
                <a:solidFill>
                  <a:srgbClr val="FF0000"/>
                </a:solidFill>
              </a:rPr>
              <a:t>передать энтропию</a:t>
            </a:r>
            <a:r>
              <a:rPr lang="ru-RU" dirty="0"/>
              <a:t>, необходимую для восстановления открытого текста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sp>
        <p:nvSpPr>
          <p:cNvPr id="5" name="Rounded Rectangle 3"/>
          <p:cNvSpPr/>
          <p:nvPr/>
        </p:nvSpPr>
        <p:spPr>
          <a:xfrm>
            <a:off x="4980326" y="3334987"/>
            <a:ext cx="1524000" cy="1219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Oval 4"/>
          <p:cNvSpPr/>
          <p:nvPr/>
        </p:nvSpPr>
        <p:spPr>
          <a:xfrm>
            <a:off x="5437526" y="3411187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Oval 5"/>
          <p:cNvSpPr/>
          <p:nvPr/>
        </p:nvSpPr>
        <p:spPr>
          <a:xfrm>
            <a:off x="5437526" y="4020787"/>
            <a:ext cx="457200" cy="457200"/>
          </a:xfrm>
          <a:prstGeom prst="ellipse">
            <a:avLst/>
          </a:prstGeom>
          <a:solidFill>
            <a:srgbClr val="A6A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22926" y="3940122"/>
            <a:ext cx="534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</a:t>
            </a:r>
            <a:r>
              <a:rPr lang="en-US" sz="2400" baseline="-25000" dirty="0"/>
              <a:t>1</a:t>
            </a:r>
          </a:p>
        </p:txBody>
      </p:sp>
      <p:cxnSp>
        <p:nvCxnSpPr>
          <p:cNvPr id="9" name="Straight Arrow Connector 28"/>
          <p:cNvCxnSpPr/>
          <p:nvPr/>
        </p:nvCxnSpPr>
        <p:spPr>
          <a:xfrm flipV="1">
            <a:off x="3471327" y="4146797"/>
            <a:ext cx="2249201" cy="39477"/>
          </a:xfrm>
          <a:prstGeom prst="straightConnector1">
            <a:avLst/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29"/>
          <p:cNvCxnSpPr/>
          <p:nvPr/>
        </p:nvCxnSpPr>
        <p:spPr>
          <a:xfrm>
            <a:off x="3456326" y="4181274"/>
            <a:ext cx="2244201" cy="185513"/>
          </a:xfrm>
          <a:prstGeom prst="straightConnector1">
            <a:avLst/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30"/>
          <p:cNvCxnSpPr/>
          <p:nvPr/>
        </p:nvCxnSpPr>
        <p:spPr>
          <a:xfrm>
            <a:off x="3471327" y="4186274"/>
            <a:ext cx="2304202" cy="65605"/>
          </a:xfrm>
          <a:prstGeom prst="straightConnector1">
            <a:avLst/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32"/>
          <p:cNvGrpSpPr/>
          <p:nvPr/>
        </p:nvGrpSpPr>
        <p:grpSpPr>
          <a:xfrm>
            <a:off x="2922926" y="3207987"/>
            <a:ext cx="2853724" cy="588665"/>
            <a:chOff x="1676400" y="1606550"/>
            <a:chExt cx="2853724" cy="588665"/>
          </a:xfrm>
        </p:grpSpPr>
        <p:sp>
          <p:nvSpPr>
            <p:cNvPr id="24" name="TextBox 6"/>
            <p:cNvSpPr txBox="1"/>
            <p:nvPr/>
          </p:nvSpPr>
          <p:spPr>
            <a:xfrm>
              <a:off x="1676400" y="1733550"/>
              <a:ext cx="534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</a:t>
              </a:r>
              <a:r>
                <a:rPr lang="en-US" sz="2400" baseline="-25000" dirty="0"/>
                <a:t>0</a:t>
              </a:r>
            </a:p>
          </p:txBody>
        </p:sp>
        <p:cxnSp>
          <p:nvCxnSpPr>
            <p:cNvPr id="25" name="Straight Arrow Connector 11"/>
            <p:cNvCxnSpPr/>
            <p:nvPr/>
          </p:nvCxnSpPr>
          <p:spPr>
            <a:xfrm flipV="1">
              <a:off x="2225922" y="1929906"/>
              <a:ext cx="2249201" cy="39477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3"/>
            <p:cNvCxnSpPr>
              <a:stCxn id="24" idx="3"/>
            </p:cNvCxnSpPr>
            <p:nvPr/>
          </p:nvCxnSpPr>
          <p:spPr>
            <a:xfrm>
              <a:off x="2210921" y="1964383"/>
              <a:ext cx="2244201" cy="185513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5"/>
            <p:cNvCxnSpPr/>
            <p:nvPr/>
          </p:nvCxnSpPr>
          <p:spPr>
            <a:xfrm>
              <a:off x="2225922" y="1969383"/>
              <a:ext cx="2304202" cy="65605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1"/>
            <p:cNvSpPr txBox="1"/>
            <p:nvPr/>
          </p:nvSpPr>
          <p:spPr>
            <a:xfrm>
              <a:off x="2758196" y="1606550"/>
              <a:ext cx="51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enc</a:t>
              </a:r>
              <a:endParaRPr lang="en-US" dirty="0"/>
            </a:p>
          </p:txBody>
        </p:sp>
      </p:grpSp>
      <p:grpSp>
        <p:nvGrpSpPr>
          <p:cNvPr id="13" name="Group 33"/>
          <p:cNvGrpSpPr/>
          <p:nvPr/>
        </p:nvGrpSpPr>
        <p:grpSpPr>
          <a:xfrm flipH="1">
            <a:off x="5756876" y="3182587"/>
            <a:ext cx="2853724" cy="588665"/>
            <a:chOff x="1676400" y="1606550"/>
            <a:chExt cx="2853724" cy="588665"/>
          </a:xfrm>
        </p:grpSpPr>
        <p:sp>
          <p:nvSpPr>
            <p:cNvPr id="19" name="TextBox 34"/>
            <p:cNvSpPr txBox="1"/>
            <p:nvPr/>
          </p:nvSpPr>
          <p:spPr>
            <a:xfrm>
              <a:off x="1676400" y="1733550"/>
              <a:ext cx="534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</a:t>
              </a:r>
              <a:r>
                <a:rPr lang="en-US" sz="2400" baseline="-25000" dirty="0"/>
                <a:t>0</a:t>
              </a:r>
            </a:p>
          </p:txBody>
        </p:sp>
        <p:cxnSp>
          <p:nvCxnSpPr>
            <p:cNvPr id="20" name="Straight Arrow Connector 35"/>
            <p:cNvCxnSpPr/>
            <p:nvPr/>
          </p:nvCxnSpPr>
          <p:spPr>
            <a:xfrm flipV="1">
              <a:off x="2225922" y="1929906"/>
              <a:ext cx="2249201" cy="39477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36"/>
            <p:cNvCxnSpPr>
              <a:stCxn id="19" idx="3"/>
            </p:cNvCxnSpPr>
            <p:nvPr/>
          </p:nvCxnSpPr>
          <p:spPr>
            <a:xfrm>
              <a:off x="2210921" y="1964383"/>
              <a:ext cx="2244201" cy="185513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37"/>
            <p:cNvCxnSpPr/>
            <p:nvPr/>
          </p:nvCxnSpPr>
          <p:spPr>
            <a:xfrm>
              <a:off x="2225922" y="1969383"/>
              <a:ext cx="2304202" cy="65605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38"/>
            <p:cNvSpPr txBox="1"/>
            <p:nvPr/>
          </p:nvSpPr>
          <p:spPr>
            <a:xfrm>
              <a:off x="2758196" y="1606550"/>
              <a:ext cx="51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dec</a:t>
              </a:r>
              <a:endParaRPr lang="en-US" dirty="0"/>
            </a:p>
          </p:txBody>
        </p:sp>
      </p:grpSp>
      <p:grpSp>
        <p:nvGrpSpPr>
          <p:cNvPr id="14" name="Group 39"/>
          <p:cNvGrpSpPr/>
          <p:nvPr/>
        </p:nvGrpSpPr>
        <p:grpSpPr>
          <a:xfrm flipH="1">
            <a:off x="5742326" y="3919187"/>
            <a:ext cx="2853724" cy="461665"/>
            <a:chOff x="1676400" y="1733550"/>
            <a:chExt cx="2853724" cy="461665"/>
          </a:xfrm>
        </p:grpSpPr>
        <p:sp>
          <p:nvSpPr>
            <p:cNvPr id="15" name="TextBox 40"/>
            <p:cNvSpPr txBox="1"/>
            <p:nvPr/>
          </p:nvSpPr>
          <p:spPr>
            <a:xfrm>
              <a:off x="1676400" y="1733550"/>
              <a:ext cx="534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</a:t>
              </a:r>
              <a:r>
                <a:rPr lang="en-US" sz="2400" baseline="-25000" dirty="0"/>
                <a:t>1</a:t>
              </a:r>
            </a:p>
          </p:txBody>
        </p:sp>
        <p:cxnSp>
          <p:nvCxnSpPr>
            <p:cNvPr id="16" name="Straight Arrow Connector 41"/>
            <p:cNvCxnSpPr/>
            <p:nvPr/>
          </p:nvCxnSpPr>
          <p:spPr>
            <a:xfrm flipV="1">
              <a:off x="2225922" y="1929906"/>
              <a:ext cx="2249201" cy="39477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42"/>
            <p:cNvCxnSpPr>
              <a:stCxn id="15" idx="3"/>
            </p:cNvCxnSpPr>
            <p:nvPr/>
          </p:nvCxnSpPr>
          <p:spPr>
            <a:xfrm>
              <a:off x="2210921" y="1964383"/>
              <a:ext cx="2244200" cy="185513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43"/>
            <p:cNvCxnSpPr/>
            <p:nvPr/>
          </p:nvCxnSpPr>
          <p:spPr>
            <a:xfrm>
              <a:off x="2225922" y="1969383"/>
              <a:ext cx="2304202" cy="65605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665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Вероятностное шифрование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Подход 2 – использование уникальных, неповторяющихся величин (</a:t>
                </a:r>
                <a:r>
                  <a:rPr lang="en-US" dirty="0"/>
                  <a:t>nonce)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,∗,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∗, 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dirty="0"/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:r>
                  <a:rPr lang="ru-RU" dirty="0"/>
                  <a:t>должна быть уникально для каждого сообщения, пара </a:t>
                </a:r>
                <a:r>
                  <a:rPr lang="en-US" dirty="0"/>
                  <a:t>(nonce, key)</a:t>
                </a:r>
                <a:r>
                  <a:rPr lang="ru-RU" dirty="0"/>
                  <a:t> не должна повторяться при жизни ключа.</a:t>
                </a:r>
              </a:p>
              <a:p>
                <a:r>
                  <a:rPr lang="ru-RU" dirty="0"/>
                  <a:t>В качестве </a:t>
                </a:r>
                <a:r>
                  <a:rPr lang="en-US" dirty="0"/>
                  <a:t>nonce </a:t>
                </a:r>
                <a:r>
                  <a:rPr lang="ru-RU" dirty="0"/>
                  <a:t>можно использовать </a:t>
                </a:r>
                <a:r>
                  <a:rPr lang="ru-RU" dirty="0">
                    <a:solidFill>
                      <a:srgbClr val="00B050"/>
                    </a:solidFill>
                  </a:rPr>
                  <a:t>счётчик, строго возрастающую последовательность, случайные величины (большой длины)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:r>
                  <a:rPr lang="ru-RU" dirty="0"/>
                  <a:t>может не пересылаться в явном виде, обе стороны могут синхронно обновлять его.</a:t>
                </a:r>
                <a:endParaRPr lang="en-US" dirty="0"/>
              </a:p>
              <a:p>
                <a:r>
                  <a:rPr lang="ru-RU" dirty="0"/>
                  <a:t>Не любое использование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:r>
                  <a:rPr lang="ru-RU" dirty="0"/>
                  <a:t>даёт стойкие схемы!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56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8"/>
            <a:ext cx="6149454" cy="1653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CBC vs 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𝑐𝑡𝑟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𝑐𝑏𝑐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CTR </a:t>
                </a:r>
                <a:r>
                  <a:rPr lang="ru-RU" dirty="0"/>
                  <a:t>режим имеет большую стойкость для фиксированных параметров и блочного шифра</a:t>
                </a:r>
              </a:p>
              <a:p>
                <a:r>
                  <a:rPr lang="en-US" dirty="0"/>
                  <a:t>CTR </a:t>
                </a:r>
                <a:r>
                  <a:rPr lang="ru-RU" dirty="0"/>
                  <a:t>может использоваться в параллельном режиме, так как </a:t>
                </a:r>
                <a:r>
                  <a:rPr lang="ru-RU" dirty="0" err="1"/>
                  <a:t>зашифрование</a:t>
                </a:r>
                <a:r>
                  <a:rPr lang="ru-RU" dirty="0"/>
                  <a:t> блоков производит независимо</a:t>
                </a:r>
              </a:p>
              <a:p>
                <a:r>
                  <a:rPr lang="ru-RU" dirty="0"/>
                  <a:t>Для коротких сообщений </a:t>
                </a:r>
                <a:r>
                  <a:rPr lang="en-US" dirty="0"/>
                  <a:t>CTR </a:t>
                </a:r>
                <a:r>
                  <a:rPr lang="ru-RU" dirty="0"/>
                  <a:t>может иметь длины </a:t>
                </a:r>
                <a:r>
                  <a:rPr lang="ru-RU" dirty="0" err="1"/>
                  <a:t>шифртекстов</a:t>
                </a:r>
                <a:r>
                  <a:rPr lang="ru-RU" dirty="0"/>
                  <a:t> значительно короче, чем </a:t>
                </a:r>
                <a:r>
                  <a:rPr lang="en-US" dirty="0"/>
                  <a:t>CBC</a:t>
                </a:r>
                <a:r>
                  <a:rPr lang="ru-RU" dirty="0"/>
                  <a:t>, так как нет необходимости в дополнении до длины блока.</a:t>
                </a:r>
              </a:p>
              <a:p>
                <a:r>
                  <a:rPr lang="en-US" dirty="0"/>
                  <a:t>CTR </a:t>
                </a:r>
                <a:r>
                  <a:rPr lang="ru-RU" dirty="0"/>
                  <a:t>использует только функцию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 блочного шифра.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IV</a:t>
                </a:r>
                <a:r>
                  <a:rPr lang="en-US" b="1" dirty="0"/>
                  <a:t> </a:t>
                </a:r>
                <a:r>
                  <a:rPr lang="ru-RU" b="1" dirty="0"/>
                  <a:t>должны быть случайными!</a:t>
                </a:r>
                <a:endParaRPr lang="en-US" b="1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 rotWithShape="0">
                <a:blip r:embed="rId2"/>
                <a:stretch>
                  <a:fillRect l="-812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63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encryption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всех рассмотренных ранее схем </a:t>
            </a:r>
            <a:r>
              <a:rPr lang="en-US" dirty="0"/>
              <a:t>CPA</a:t>
            </a:r>
            <a:r>
              <a:rPr lang="ru-RU" dirty="0"/>
              <a:t> шифрования длина результирующего шифртекста была больше длины открытых тестов из-за добавления </a:t>
            </a:r>
            <a:r>
              <a:rPr lang="ru-RU" dirty="0">
                <a:solidFill>
                  <a:srgbClr val="FF0000"/>
                </a:solidFill>
              </a:rPr>
              <a:t>вектора инициализации</a:t>
            </a:r>
            <a:r>
              <a:rPr lang="ru-RU" dirty="0"/>
              <a:t>.</a:t>
            </a:r>
          </a:p>
          <a:p>
            <a:r>
              <a:rPr lang="ru-RU" dirty="0"/>
              <a:t>Длина </a:t>
            </a:r>
            <a:r>
              <a:rPr lang="ru-RU" dirty="0">
                <a:solidFill>
                  <a:srgbClr val="FF0000"/>
                </a:solidFill>
              </a:rPr>
              <a:t>вектора инициализации </a:t>
            </a:r>
            <a:r>
              <a:rPr lang="ru-RU" dirty="0"/>
              <a:t>не зависит от длины сообщения</a:t>
            </a:r>
          </a:p>
          <a:p>
            <a:r>
              <a:rPr lang="ru-RU" dirty="0"/>
              <a:t>Для больших сообщений не является проблемой (добавление 16 байт к мегабайту несущественно)</a:t>
            </a:r>
          </a:p>
          <a:p>
            <a:r>
              <a:rPr lang="ru-RU" dirty="0"/>
              <a:t>Может являться проблемой для небольших </a:t>
            </a:r>
            <a:r>
              <a:rPr lang="ru-RU" dirty="0" err="1"/>
              <a:t>шифтекстов</a:t>
            </a:r>
            <a:r>
              <a:rPr lang="ru-RU" dirty="0"/>
              <a:t>, сравнимых с длинной блока (добавление 16 байт к сообщению длинны меньше 16 байт)</a:t>
            </a:r>
          </a:p>
          <a:p>
            <a:r>
              <a:rPr lang="ru-RU" dirty="0"/>
              <a:t>Возможно ли уйти от </a:t>
            </a:r>
            <a:r>
              <a:rPr lang="ru-RU" dirty="0">
                <a:solidFill>
                  <a:srgbClr val="FF0000"/>
                </a:solidFill>
              </a:rPr>
              <a:t>случайных векторов инициализации</a:t>
            </a:r>
            <a:r>
              <a:rPr lang="ru-RU" dirty="0"/>
              <a:t>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encryption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Первый подход – хранить некоторое состояние на стороне получателя и отправителя, которое явно или не явно синхронизируется перед процедурой шифрования. Затем обновлять эти значения после приёма-отправления сообщений.</a:t>
            </a:r>
          </a:p>
          <a:p>
            <a:pPr lvl="1"/>
            <a:r>
              <a:rPr lang="ru-RU" dirty="0"/>
              <a:t>Необходима полная синхронизация, при </a:t>
            </a:r>
            <a:r>
              <a:rPr lang="ru-RU" dirty="0" err="1"/>
              <a:t>рассинхронизации</a:t>
            </a:r>
            <a:r>
              <a:rPr lang="ru-RU" dirty="0"/>
              <a:t> – необходимо заново проводить процедуру синхронизации</a:t>
            </a:r>
          </a:p>
          <a:p>
            <a:endParaRPr lang="ru-RU" dirty="0"/>
          </a:p>
          <a:p>
            <a:r>
              <a:rPr lang="ru-RU" dirty="0"/>
              <a:t>Второй подход – использование </a:t>
            </a:r>
            <a:r>
              <a:rPr lang="en-US" dirty="0">
                <a:solidFill>
                  <a:srgbClr val="00B050"/>
                </a:solidFill>
              </a:rPr>
              <a:t>nonce</a:t>
            </a:r>
            <a:r>
              <a:rPr lang="ru-RU" dirty="0"/>
              <a:t>. Вместо использования внутренних состояний использовать уникальные неповторяющиеся величины </a:t>
            </a:r>
            <a:r>
              <a:rPr lang="en-US" dirty="0"/>
              <a:t>(nonce)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16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encryption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шифром на основе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:r>
                  <a:rPr lang="ru-RU" dirty="0"/>
                  <a:t>называется пара алгоритмов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r>
                  <a:rPr lang="ru-RU" dirty="0" err="1"/>
                  <a:t>Зашифрование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ru-RU" dirty="0"/>
              </a:p>
              <a:p>
                <a:r>
                  <a:rPr lang="ru-RU" dirty="0" err="1"/>
                  <a:t>Расшифрование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Корректность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53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CPA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7692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Шифр</a:t>
                </a:r>
                <a:r>
                  <a:rPr lang="en-US" dirty="0"/>
                  <a:t> </a:t>
                </a:r>
                <a:r>
                  <a:rPr lang="ru-RU" dirty="0"/>
                  <a:t>на основе </a:t>
                </a:r>
                <a:r>
                  <a:rPr lang="en-US" dirty="0"/>
                  <a:t>nonce</a:t>
                </a:r>
                <a:r>
                  <a:rPr lang="ru-RU" dirty="0"/>
                  <a:t> называется </a:t>
                </a:r>
                <a:r>
                  <a:rPr lang="en-US" dirty="0" err="1"/>
                  <a:t>nCPA</a:t>
                </a:r>
                <a:r>
                  <a:rPr lang="en-US" dirty="0"/>
                  <a:t> </a:t>
                </a:r>
                <a:r>
                  <a:rPr lang="ru-RU" dirty="0"/>
                  <a:t>стойким, если для любого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𝑛𝐶𝑃𝐴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  <a:endParaRPr lang="en-US" dirty="0"/>
              </a:p>
              <a:p>
                <a:r>
                  <a:rPr lang="ru-RU" dirty="0"/>
                  <a:t>Заметим, что противник</a:t>
                </a:r>
                <a:r>
                  <a:rPr lang="en-US" dirty="0"/>
                  <a:t> </a:t>
                </a:r>
                <a:r>
                  <a:rPr lang="ru-RU" dirty="0"/>
                  <a:t>полностью выбирает </a:t>
                </a:r>
                <a:r>
                  <a:rPr lang="en-US" dirty="0"/>
                  <a:t>nonce.</a:t>
                </a:r>
                <a:r>
                  <a:rPr lang="ru-RU" dirty="0"/>
                  <a:t> Единственное требование – </a:t>
                </a:r>
                <a:r>
                  <a:rPr lang="ru-RU" b="1" dirty="0">
                    <a:solidFill>
                      <a:srgbClr val="00B050"/>
                    </a:solidFill>
                  </a:rPr>
                  <a:t>уникальность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7692"/>
                <a:ext cx="10515600" cy="4351338"/>
              </a:xfrm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20224" y="3842587"/>
            <a:ext cx="1284195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32552" y="310582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2552" y="3105822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23469" y="3653230"/>
            <a:ext cx="3867151" cy="708172"/>
            <a:chOff x="1740" y="1761"/>
            <a:chExt cx="2436" cy="378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40" y="1761"/>
                  <a:ext cx="2432" cy="3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baseline="-25000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0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=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baseline="-25000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𝑁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40" y="1761"/>
                  <a:ext cx="2432" cy="37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125683" y="3491345"/>
            <a:ext cx="6875814" cy="308758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335513"/>
            <a:ext cx="3733800" cy="538164"/>
            <a:chOff x="1776" y="2011"/>
            <a:chExt cx="2352" cy="452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375" y="2011"/>
                  <a:ext cx="1288" cy="4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5" y="2011"/>
                  <a:ext cx="1288" cy="45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2090" b="-2045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598430" y="5085754"/>
            <a:ext cx="3822700" cy="1015603"/>
            <a:chOff x="1768" y="1475"/>
            <a:chExt cx="2408" cy="853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68" y="1475"/>
                  <a:ext cx="2402" cy="8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8" charset="2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8" charset="2"/>
                          </a:rPr>
                          <m:t>𝑁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\</m:t>
                        </m:r>
                        <m:r>
                          <m:rPr>
                            <m:lit/>
                          </m:rPr>
                          <a:rPr lang="en-US" sz="2000" b="0" i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{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}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  <a:p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8" y="1475"/>
                  <a:ext cx="2402" cy="85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746406"/>
            <a:ext cx="3733800" cy="541736"/>
            <a:chOff x="1776" y="1955"/>
            <a:chExt cx="2352" cy="455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364" y="1955"/>
                  <a:ext cx="1268" cy="4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4" y="1955"/>
                  <a:ext cx="1268" cy="45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r="-2121" b="-2045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38316" y="611074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16" y="6110746"/>
                <a:ext cx="53572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658933" y="4245819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8933" y="4245819"/>
                <a:ext cx="632609" cy="423129"/>
              </a:xfrm>
              <a:prstGeom prst="rect">
                <a:avLst/>
              </a:prstGeom>
              <a:blipFill rotWithShape="0">
                <a:blip r:embed="rId11"/>
                <a:stretch>
                  <a:fillRect l="-4808" r="-27885" b="-428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1940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Вспоминаем гибридную конструкцию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Попробуем построить </a:t>
                </a:r>
                <a:r>
                  <a:rPr lang="en-US" dirty="0"/>
                  <a:t>CPA </a:t>
                </a:r>
                <a:r>
                  <a:rPr lang="ru-RU" dirty="0"/>
                  <a:t>стойкий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используя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Ключом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для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будет ключ для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. Для шифрования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 выбирается случайный вход для </a:t>
                </a:r>
                <a:r>
                  <a:rPr lang="en-US" dirty="0"/>
                  <a:t>PRF 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/>
                  <a:t>. Далее вычисляется ключ для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. Затем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b="0" dirty="0"/>
                  <a:t> шифруется с использование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. </a:t>
                </a:r>
                <a:r>
                  <a:rPr lang="ru-RU" b="0" dirty="0" err="1"/>
                  <a:t>Шифртекстом</a:t>
                </a:r>
                <a:r>
                  <a:rPr lang="ru-RU" dirty="0"/>
                  <a:t> является пара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output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Называется – </a:t>
                </a:r>
                <a:r>
                  <a:rPr lang="ru-RU" b="1" dirty="0"/>
                  <a:t>гибридная конструкция</a:t>
                </a:r>
                <a:r>
                  <a:rPr lang="ru-RU" dirty="0"/>
                  <a:t>.</a:t>
                </a:r>
                <a:endParaRPr lang="en-US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0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</a:t>
            </a:r>
            <a:r>
              <a:rPr lang="en-US" dirty="0"/>
              <a:t>CPA </a:t>
            </a:r>
            <a:r>
              <a:rPr lang="ru-RU" dirty="0"/>
              <a:t>стойкость гибридной конструкции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625083" y="2666930"/>
            <a:ext cx="1451617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3390900" y="2152580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3362326" y="2019229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2326" y="2019229"/>
                <a:ext cx="42704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962900" y="2666930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2900" y="2666930"/>
                <a:ext cx="1295400" cy="2620125"/>
              </a:xfrm>
              <a:prstGeom prst="rect">
                <a:avLst/>
              </a:prstGeom>
              <a:blipFill rotWithShape="0">
                <a:blip r:embed="rId3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112752" y="3353068"/>
            <a:ext cx="3813175" cy="401241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43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526712" y="2438329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133344" y="3746580"/>
            <a:ext cx="3733801" cy="510780"/>
            <a:chOff x="1776" y="1981"/>
            <a:chExt cx="2352" cy="429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),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2" y="1981"/>
                  <a:ext cx="1536" cy="429"/>
                </a:xfrm>
                <a:prstGeom prst="rect">
                  <a:avLst/>
                </a:prstGeom>
                <a:blipFill>
                  <a:blip r:embed="rId6"/>
                  <a:stretch>
                    <a:fillRect b="-216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74029" y="2553237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029" y="2553237"/>
                <a:ext cx="5357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574029" y="4221969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029" y="4221969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625083" y="3042951"/>
                <a:ext cx="1807435" cy="1084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/>
                  <a:t>k’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5083" y="3042951"/>
                <a:ext cx="1807435" cy="1084721"/>
              </a:xfrm>
              <a:prstGeom prst="rect">
                <a:avLst/>
              </a:prstGeom>
              <a:blipFill>
                <a:blip r:embed="rId9"/>
                <a:stretch>
                  <a:fillRect l="-2027" b="-168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9235281" y="3379529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226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гибридной конструкции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7.1.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семантически стойкий шифр,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то введённый ранее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- CPA </a:t>
                </a:r>
                <a:r>
                  <a:rPr lang="ru-RU" dirty="0"/>
                  <a:t>стойкий шифр. В частности для любого противника в </a:t>
                </a:r>
                <a:r>
                  <a:rPr lang="en-US" dirty="0"/>
                  <a:t>CPA </a:t>
                </a:r>
                <a:r>
                  <a:rPr lang="ru-RU" dirty="0"/>
                  <a:t>игре,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существует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 </a:t>
                </a:r>
                <a:r>
                  <a:rPr lang="ru-RU" dirty="0"/>
                  <a:t>и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ru-RU" dirty="0"/>
                  <a:t> в игре на семантическую стойкость, причём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05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77000"/>
            <a:ext cx="10515600" cy="1325563"/>
          </a:xfrm>
        </p:spPr>
        <p:txBody>
          <a:bodyPr/>
          <a:lstStyle/>
          <a:p>
            <a:r>
              <a:rPr lang="ru-RU" dirty="0"/>
              <a:t>Гибридная конструкция на основе </a:t>
            </a:r>
            <a:r>
              <a:rPr lang="en-US" dirty="0"/>
              <a:t>nonce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Модифицируем гибридную конструкцию, заменив случайный элемент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на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output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output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891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Детерминированная гибридная конструкция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</a:t>
                </a:r>
                <a:r>
                  <a:rPr lang="en-US" b="1" dirty="0"/>
                  <a:t>8</a:t>
                </a:r>
                <a:r>
                  <a:rPr lang="ru-RU" b="1" dirty="0"/>
                  <a:t>.1.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семантически стойкий шифр,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то введённый ранее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- </a:t>
                </a:r>
                <a:r>
                  <a:rPr lang="en-US"/>
                  <a:t>nCPA</a:t>
                </a:r>
                <a:r>
                  <a:rPr lang="en-US" dirty="0"/>
                  <a:t> </a:t>
                </a:r>
                <a:r>
                  <a:rPr lang="ru-RU" dirty="0"/>
                  <a:t>стойкий шифр. В частности для любого противника в </a:t>
                </a:r>
                <a:r>
                  <a:rPr lang="en-US" dirty="0" err="1"/>
                  <a:t>nCPA</a:t>
                </a:r>
                <a:r>
                  <a:rPr lang="en-US" dirty="0"/>
                  <a:t> </a:t>
                </a:r>
                <a:r>
                  <a:rPr lang="ru-RU" dirty="0"/>
                  <a:t>игре, делающим не более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существует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 </a:t>
                </a:r>
                <a:r>
                  <a:rPr lang="ru-RU" dirty="0"/>
                  <a:t>и противник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ru-RU" dirty="0"/>
                  <a:t> в игре на семантическую стойкость, причём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≤2∗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Аналогично </a:t>
                </a:r>
                <a:r>
                  <a:rPr lang="ru-RU" b="1" dirty="0"/>
                  <a:t>Теореме 7.1</a:t>
                </a:r>
                <a:r>
                  <a:rPr lang="ru-RU" dirty="0"/>
                  <a:t>, без необходимости добавления слагаемого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, т.к. коллизии не возможно из за требования уникальности </a:t>
                </a:r>
                <a:r>
                  <a:rPr lang="en-US" dirty="0"/>
                  <a:t>nonce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812" b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488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Вспоминаем </a:t>
            </a:r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ещё один способ построения – на основе </a:t>
                </a:r>
                <a:r>
                  <a:rPr lang="en-US" dirty="0"/>
                  <a:t>CTR </a:t>
                </a:r>
                <a:r>
                  <a:rPr lang="ru-RU" dirty="0"/>
                  <a:t>режима.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={0,…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.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следующим образом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29" y="4030189"/>
            <a:ext cx="6571404" cy="23261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334" y="4176215"/>
            <a:ext cx="5993666" cy="17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06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</a:t>
            </a:r>
            <a:r>
              <a:rPr lang="en-US" dirty="0"/>
              <a:t>CPA </a:t>
            </a:r>
            <a:r>
              <a:rPr lang="ru-RU" dirty="0"/>
              <a:t>стойкость </a:t>
            </a:r>
            <a:r>
              <a:rPr lang="ru-RU" dirty="0" err="1"/>
              <a:t>рандомизированного</a:t>
            </a:r>
            <a:r>
              <a:rPr lang="ru-RU" dirty="0"/>
              <a:t> </a:t>
            </a:r>
            <a:r>
              <a:rPr lang="en-US" dirty="0"/>
              <a:t>CTR </a:t>
            </a:r>
            <a:r>
              <a:rPr lang="ru-RU" dirty="0"/>
              <a:t>режима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19057" y="2999439"/>
            <a:ext cx="177990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3084874" y="2485089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3056300" y="2351738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6300" y="2351738"/>
                <a:ext cx="42704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656874" y="2999439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6874" y="2999439"/>
                <a:ext cx="1295400" cy="2620125"/>
              </a:xfrm>
              <a:prstGeom prst="rect">
                <a:avLst/>
              </a:prstGeom>
              <a:blipFill rotWithShape="0">
                <a:blip r:embed="rId3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126491" y="3523875"/>
            <a:ext cx="3521927" cy="562944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220686" y="2770838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190070" y="4114771"/>
            <a:ext cx="3398576" cy="401147"/>
            <a:chOff x="1820" y="1982"/>
            <a:chExt cx="2352" cy="15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/>
                    <a:t> A</a:t>
                  </a:r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2" y="1982"/>
                  <a:ext cx="967" cy="150"/>
                </a:xfrm>
                <a:prstGeom prst="rect">
                  <a:avLst/>
                </a:prstGeom>
                <a:blipFill>
                  <a:blip r:embed="rId6"/>
                  <a:stretch>
                    <a:fillRect t="-9091" r="-3043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268003" y="288574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003" y="2885746"/>
                <a:ext cx="5357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512521" y="436865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521" y="4368654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319057" y="3375460"/>
                <a:ext cx="1966525" cy="1798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endParaRPr lang="ru-RU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9057" y="3375460"/>
                <a:ext cx="1966525" cy="1798249"/>
              </a:xfrm>
              <a:prstGeom prst="rect">
                <a:avLst/>
              </a:prstGeom>
              <a:blipFill>
                <a:blip r:embed="rId9"/>
                <a:stretch>
                  <a:fillRect l="-15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929255" y="3712038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00605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ru-RU" dirty="0" err="1"/>
              <a:t>рандомизированного</a:t>
            </a:r>
            <a:r>
              <a:rPr lang="ru-RU" dirty="0"/>
              <a:t> </a:t>
            </a:r>
            <a:r>
              <a:rPr lang="en-US"/>
              <a:t>CTR </a:t>
            </a:r>
            <a:r>
              <a:rPr lang="ru-RU" dirty="0"/>
              <a:t>режима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7.2.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ограниченная, то введённый ранее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- CPA </a:t>
                </a:r>
                <a:r>
                  <a:rPr lang="ru-RU" dirty="0"/>
                  <a:t>стойкий шифр. В частности для любого противника в </a:t>
                </a:r>
                <a:r>
                  <a:rPr lang="en-US" dirty="0"/>
                  <a:t>CPA </a:t>
                </a:r>
                <a:r>
                  <a:rPr lang="ru-RU" dirty="0"/>
                  <a:t>игре,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существует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 </a:t>
                </a:r>
                <a:r>
                  <a:rPr lang="ru-RU" dirty="0"/>
                  <a:t>причём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836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Можно ли построить </a:t>
                </a:r>
                <a:r>
                  <a:rPr lang="en-US" dirty="0"/>
                  <a:t>CTR </a:t>
                </a:r>
                <a:r>
                  <a:rPr lang="ru-RU" dirty="0"/>
                  <a:t>режим, заменив </a:t>
                </a:r>
                <a:r>
                  <a:rPr lang="ru-RU" dirty="0">
                    <a:solidFill>
                      <a:srgbClr val="FF0000"/>
                    </a:solidFill>
                  </a:rPr>
                  <a:t>случайный элемент </a:t>
                </a:r>
                <a:r>
                  <a:rPr lang="ru-RU" dirty="0"/>
                  <a:t>на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?</a:t>
                </a:r>
              </a:p>
              <a:p>
                <a:r>
                  <a:rPr lang="ru-RU" dirty="0"/>
                  <a:t>Нет! В отличии от гибридной конструкции, где нам была важна уникальность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ru-RU" dirty="0"/>
                  <a:t>, здесь нам важна не только уникальность «начальных состояний», но и уникальность «отрезков»</a:t>
                </a:r>
                <a:r>
                  <a:rPr lang="en-US" dirty="0"/>
                  <a:t>. </a:t>
                </a:r>
                <a:r>
                  <a:rPr lang="ru-RU" dirty="0"/>
                  <a:t>(См </a:t>
                </a:r>
                <a:r>
                  <a:rPr lang="ru-RU" b="1" dirty="0"/>
                  <a:t>лемму</a:t>
                </a:r>
                <a:r>
                  <a:rPr lang="ru-RU" dirty="0"/>
                  <a:t> из </a:t>
                </a:r>
                <a:r>
                  <a:rPr lang="ru-RU" b="1" dirty="0"/>
                  <a:t>Теоремы 7.2</a:t>
                </a:r>
                <a:r>
                  <a:rPr lang="ru-RU" dirty="0"/>
                  <a:t>).</a:t>
                </a:r>
              </a:p>
              <a:p>
                <a:r>
                  <a:rPr lang="ru-RU" dirty="0"/>
                  <a:t>Иными словами, если заменить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на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ru-RU" dirty="0"/>
                  <a:t>, то противник может выбрать такие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ru-RU" dirty="0"/>
                  <a:t>, т.е. могут совпасть счётчики на каком то блоке для различных сообщений =</a:t>
                </a:r>
                <a:r>
                  <a:rPr lang="en-US" dirty="0"/>
                  <a:t>&gt; </a:t>
                </a:r>
                <a:r>
                  <a:rPr lang="ru-RU" dirty="0"/>
                  <a:t>имеем двухразовый блокнот.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456221" y="5814740"/>
            <a:ext cx="3287917" cy="335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совпадения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4357" y="6149803"/>
            <a:ext cx="8836182" cy="271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2181885" y="6038661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81885" y="6149803"/>
                <a:ext cx="11925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885" y="6149803"/>
                <a:ext cx="119250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единительная линия 8"/>
          <p:cNvCxnSpPr/>
          <p:nvPr/>
        </p:nvCxnSpPr>
        <p:spPr>
          <a:xfrm>
            <a:off x="8744138" y="5990958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789694" y="6122009"/>
                <a:ext cx="11925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694" y="6122009"/>
                <a:ext cx="119250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3819053" y="6018118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19053" y="6163383"/>
                <a:ext cx="4869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053" y="6163383"/>
                <a:ext cx="486928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единительная линия 12"/>
          <p:cNvCxnSpPr/>
          <p:nvPr/>
        </p:nvCxnSpPr>
        <p:spPr>
          <a:xfrm>
            <a:off x="5474328" y="5982262"/>
            <a:ext cx="0" cy="317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99747" y="6154745"/>
                <a:ext cx="433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747" y="6154745"/>
                <a:ext cx="43338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875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Введём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:r>
                  <a:rPr lang="ru-RU" dirty="0"/>
                  <a:t>по другому.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∈{0,…,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dirty="0"/>
                  <a:t> –</a:t>
                </a:r>
                <a:r>
                  <a:rPr lang="ru-RU" dirty="0"/>
                  <a:t>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</m:t>
                    </m:r>
                  </m:oMath>
                </a14:m>
                <a:r>
                  <a:rPr lang="ru-RU" dirty="0"/>
                  <a:t>. Т.е. на вход</a:t>
                </a:r>
                <a:r>
                  <a:rPr lang="en-US" dirty="0"/>
                  <a:t> PRF </a:t>
                </a:r>
                <a:r>
                  <a:rPr lang="ru-RU" dirty="0"/>
                  <a:t>подаётся не </a:t>
                </a:r>
                <a:r>
                  <a:rPr lang="en-US" dirty="0"/>
                  <a:t>nonce</a:t>
                </a:r>
                <a:r>
                  <a:rPr lang="ru-RU" dirty="0"/>
                  <a:t>, а </a:t>
                </a:r>
                <a:r>
                  <a:rPr lang="en-US" dirty="0"/>
                  <a:t>nonce</a:t>
                </a:r>
                <a:r>
                  <a:rPr lang="ru-RU" dirty="0"/>
                  <a:t> умноженная на максимально допустимую длину сообщения в блоках. </a:t>
                </a:r>
              </a:p>
              <a:p>
                <a:r>
                  <a:rPr lang="ru-RU" dirty="0"/>
                  <a:t>Т.е. два различных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дают два входа для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интервалах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ru-RU" dirty="0"/>
                  <a:t>, которые не пересекаются.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6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629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8.2.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ограниченная, то введённый ранее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- CPA </a:t>
                </a:r>
                <a:r>
                  <a:rPr lang="ru-RU" dirty="0"/>
                  <a:t>стойкий шифр. В частности для любого противника в </a:t>
                </a:r>
                <a:r>
                  <a:rPr lang="en-US" dirty="0" err="1"/>
                  <a:t>nCPA</a:t>
                </a:r>
                <a:r>
                  <a:rPr lang="en-US" dirty="0"/>
                  <a:t> </a:t>
                </a:r>
                <a:r>
                  <a:rPr lang="ru-RU" dirty="0"/>
                  <a:t>игре,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существует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 </a:t>
                </a:r>
                <a:r>
                  <a:rPr lang="ru-RU" dirty="0"/>
                  <a:t>причём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Аналогично </a:t>
                </a:r>
                <a:r>
                  <a:rPr lang="ru-RU" b="1" dirty="0"/>
                  <a:t>Теореме 7.</a:t>
                </a:r>
                <a:r>
                  <a:rPr lang="en-US" b="1" dirty="0"/>
                  <a:t>2</a:t>
                </a:r>
                <a:r>
                  <a:rPr lang="ru-RU" dirty="0"/>
                  <a:t>, без необходимости добавления слагаемого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ru-RU" dirty="0"/>
                  <a:t>, т.к. коллизии не возможно из за требования уникальности </a:t>
                </a:r>
                <a:r>
                  <a:rPr lang="en-US" dirty="0"/>
                  <a:t>nonce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126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блочный шифр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.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\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. </a:t>
                </a:r>
                <a:r>
                  <a:rPr lang="ru-RU" dirty="0" err="1"/>
                  <a:t>Зашифрование</a:t>
                </a:r>
                <a:r>
                  <a:rPr lang="ru-RU" dirty="0"/>
                  <a:t> и </a:t>
                </a:r>
                <a:r>
                  <a:rPr lang="ru-RU" dirty="0" err="1"/>
                  <a:t>расшифрование</a:t>
                </a:r>
                <a:r>
                  <a:rPr lang="ru-RU" dirty="0"/>
                  <a:t> определены следующим образом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20151"/>
            <a:ext cx="5152155" cy="20279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704" y="3920151"/>
            <a:ext cx="4905792" cy="174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05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</a:t>
            </a:r>
            <a:r>
              <a:rPr lang="en-US" dirty="0"/>
              <a:t>CPA </a:t>
            </a:r>
            <a:r>
              <a:rPr lang="ru-RU" dirty="0"/>
              <a:t>стойкость </a:t>
            </a:r>
            <a:r>
              <a:rPr lang="en-US" dirty="0"/>
              <a:t>CBC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625083" y="2655054"/>
            <a:ext cx="1779908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3390900" y="2140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3362326" y="2007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2326" y="2007353"/>
                <a:ext cx="42704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962900" y="2655054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2900" y="2655054"/>
                <a:ext cx="1295400" cy="2620125"/>
              </a:xfrm>
              <a:prstGeom prst="rect">
                <a:avLst/>
              </a:prstGeom>
              <a:blipFill rotWithShape="0">
                <a:blip r:embed="rId3"/>
                <a:stretch>
                  <a:fillRect t="-116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432517" y="3179490"/>
            <a:ext cx="3521927" cy="562944"/>
            <a:chOff x="1774" y="1785"/>
            <a:chExt cx="2402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320" cy="240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526712" y="2426453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4496096" y="3799803"/>
            <a:ext cx="3398576" cy="401147"/>
            <a:chOff x="1820" y="1993"/>
            <a:chExt cx="2352" cy="15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0" y="2132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993"/>
                  <a:ext cx="303" cy="150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03147" y="2582638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147" y="2582638"/>
                <a:ext cx="5357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818547" y="4024269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547" y="4024269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625084" y="3031075"/>
                <a:ext cx="1739206" cy="1527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0" i="1" dirty="0"/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[0]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sz="1600" b="0" i="1" dirty="0"/>
                  <a:t>X,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+1]←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1" dirty="0"/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5084" y="3031075"/>
                <a:ext cx="1739206" cy="1527213"/>
              </a:xfrm>
              <a:prstGeom prst="rect">
                <a:avLst/>
              </a:prstGeom>
              <a:blipFill>
                <a:blip r:embed="rId9"/>
                <a:stretch>
                  <a:fillRect l="-2105" b="-7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9235281" y="3367653"/>
            <a:ext cx="1701026" cy="427436"/>
            <a:chOff x="1776" y="2051"/>
            <a:chExt cx="2896" cy="359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56909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7.3.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ограниченная. Тогда введенный ранее </a:t>
                </a:r>
                <a:r>
                  <a:rPr lang="en-US" dirty="0"/>
                  <a:t>CBC</a:t>
                </a:r>
                <a:r>
                  <a:rPr lang="ru-RU" dirty="0"/>
                  <a:t> шифр является </a:t>
                </a:r>
                <a:r>
                  <a:rPr lang="en-US" dirty="0"/>
                  <a:t>CPA </a:t>
                </a:r>
                <a:r>
                  <a:rPr lang="ru-RU" dirty="0"/>
                  <a:t>стойким, причём для любого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</a:t>
                </a:r>
                <a:r>
                  <a:rPr lang="en-US" dirty="0"/>
                  <a:t>CPA </a:t>
                </a:r>
                <a:r>
                  <a:rPr lang="ru-RU" dirty="0"/>
                  <a:t>стойкость,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оракулу, существует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блочных шифров, при чём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92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Можно ли построить </a:t>
                </a:r>
                <a:r>
                  <a:rPr lang="en-US" dirty="0"/>
                  <a:t>CBC </a:t>
                </a:r>
                <a:r>
                  <a:rPr lang="ru-RU" dirty="0"/>
                  <a:t>режим, заменив </a:t>
                </a:r>
                <a:r>
                  <a:rPr lang="ru-RU" dirty="0">
                    <a:solidFill>
                      <a:srgbClr val="FF0000"/>
                    </a:solidFill>
                  </a:rPr>
                  <a:t>случайный элемент </a:t>
                </a:r>
                <a:r>
                  <a:rPr lang="ru-RU" dirty="0"/>
                  <a:t>на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?</a:t>
                </a:r>
              </a:p>
              <a:p>
                <a:r>
                  <a:rPr lang="ru-RU" dirty="0"/>
                  <a:t>Нет! Противник может сделать 2 запроса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ru-RU" dirty="0"/>
                  <a:t>. В эксперименте 0 </a:t>
                </a:r>
                <a:r>
                  <a:rPr lang="ru-RU" dirty="0" err="1"/>
                  <a:t>шифртексты</a:t>
                </a:r>
                <a:r>
                  <a:rPr lang="ru-RU" dirty="0"/>
                  <a:t> будут одинаковые, в эксперименте 1 – разными.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695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Nonce based 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Идея – заменить </a:t>
                </a:r>
                <a:r>
                  <a:rPr lang="ru-RU" dirty="0">
                    <a:solidFill>
                      <a:srgbClr val="FF0000"/>
                    </a:solidFill>
                  </a:rPr>
                  <a:t>случайный </a:t>
                </a:r>
                <a:r>
                  <a:rPr lang="en-US" dirty="0">
                    <a:solidFill>
                      <a:srgbClr val="FF0000"/>
                    </a:solidFill>
                  </a:rPr>
                  <a:t>IV</a:t>
                </a:r>
                <a:r>
                  <a:rPr lang="ru-RU" dirty="0">
                    <a:solidFill>
                      <a:srgbClr val="FF0000"/>
                    </a:solidFill>
                  </a:rPr>
                  <a:t> </a:t>
                </a:r>
                <a:r>
                  <a:rPr lang="ru-RU" dirty="0"/>
                  <a:t>на псевдослучайный, полученный из </a:t>
                </a:r>
                <a:r>
                  <a:rPr lang="en-US" dirty="0">
                    <a:solidFill>
                      <a:srgbClr val="00B050"/>
                    </a:solidFill>
                  </a:rPr>
                  <a:t>nonce</a:t>
                </a:r>
                <a:r>
                  <a:rPr lang="en-US" dirty="0"/>
                  <a:t> </a:t>
                </a:r>
                <a:r>
                  <a:rPr lang="ru-RU" dirty="0"/>
                  <a:t>с помощью </a:t>
                </a:r>
                <a:r>
                  <a:rPr lang="en-US" dirty="0"/>
                  <a:t>PRF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– 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множество блоков блочного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, отпрядённого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Ключом является элемент из множества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, алгоритм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 и </a:t>
                </a:r>
                <a:r>
                  <a:rPr lang="ru-RU" dirty="0" err="1"/>
                  <a:t>расшифрования</a:t>
                </a:r>
                <a:r>
                  <a:rPr lang="ru-RU" dirty="0"/>
                  <a:t> отличаются от </a:t>
                </a:r>
                <a:r>
                  <a:rPr lang="en-US" dirty="0"/>
                  <a:t>CBC </a:t>
                </a:r>
                <a:r>
                  <a:rPr lang="ru-RU" dirty="0"/>
                  <a:t>только в получении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958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31269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8.3.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- </a:t>
                </a:r>
                <a:r>
                  <a:rPr lang="ru-RU" dirty="0" err="1"/>
                  <a:t>сверхполиномиальная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ограниченная. Тогда введенный ранее </a:t>
                </a:r>
                <a:r>
                  <a:rPr lang="en-US" dirty="0"/>
                  <a:t>CBC</a:t>
                </a:r>
                <a:r>
                  <a:rPr lang="ru-RU" dirty="0"/>
                  <a:t> шифр является </a:t>
                </a:r>
                <a:r>
                  <a:rPr lang="en-US" dirty="0"/>
                  <a:t>CPA </a:t>
                </a:r>
                <a:r>
                  <a:rPr lang="ru-RU" dirty="0"/>
                  <a:t>стойким, причём для любого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</a:t>
                </a:r>
                <a:r>
                  <a:rPr lang="en-US" dirty="0" err="1"/>
                  <a:t>nCPA</a:t>
                </a:r>
                <a:r>
                  <a:rPr lang="en-US" dirty="0"/>
                  <a:t> </a:t>
                </a:r>
                <a:r>
                  <a:rPr lang="ru-RU" dirty="0"/>
                  <a:t>стойкость, делающим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оракулу, существует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блочных шифров,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, при чём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Аналогично </a:t>
                </a:r>
                <a:r>
                  <a:rPr lang="ru-RU" b="1" dirty="0"/>
                  <a:t>Теореме </a:t>
                </a:r>
                <a:r>
                  <a:rPr lang="en-US" b="1" dirty="0"/>
                  <a:t>7</a:t>
                </a:r>
                <a:r>
                  <a:rPr lang="ru-RU" b="1" dirty="0"/>
                  <a:t>.</a:t>
                </a:r>
                <a:r>
                  <a:rPr lang="en-US" b="1" dirty="0"/>
                  <a:t>3</a:t>
                </a:r>
                <a:r>
                  <a:rPr lang="ru-RU" dirty="0"/>
                  <a:t>, но с учётом использования не только блочного шифра, но и </a:t>
                </a:r>
                <a:r>
                  <a:rPr lang="en-US" dirty="0"/>
                  <a:t>PRF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643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в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Рассмотрим пример – хранение шифрованных файлов на удалённом сервере.</a:t>
            </a:r>
          </a:p>
          <a:p>
            <a:r>
              <a:rPr lang="ru-RU" dirty="0"/>
              <a:t>При использовании </a:t>
            </a:r>
            <a:r>
              <a:rPr lang="en-US" dirty="0"/>
              <a:t>CPA </a:t>
            </a:r>
            <a:r>
              <a:rPr lang="ru-RU" dirty="0"/>
              <a:t>стойкого шифра имеем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69" y="3292636"/>
            <a:ext cx="7454412" cy="32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35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в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 – необходимость выкачивания всей информации для осуществления поиска (выборки)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33" y="2980592"/>
            <a:ext cx="7959467" cy="319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4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Детерминированное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Рандомизированное</a:t>
            </a:r>
            <a:r>
              <a:rPr lang="ru-RU" dirty="0"/>
              <a:t> шифрование не позволяет искать на стороне сервера. Хотелось бы реализовать такой сценарий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Пользователь отправляет зашифрованный файл на сервер, приписывая заголовок. Сервер записывает </a:t>
            </a:r>
            <a:r>
              <a:rPr lang="ru-RU" dirty="0" err="1"/>
              <a:t>шифртекст</a:t>
            </a:r>
            <a:r>
              <a:rPr lang="ru-RU" dirty="0"/>
              <a:t> без расшифровки</a:t>
            </a:r>
          </a:p>
          <a:p>
            <a:r>
              <a:rPr lang="ru-RU" dirty="0"/>
              <a:t>Для получения файла из базы данных пользователь отправляет зашифрованный (тем же ключом) заголовок и получает </a:t>
            </a:r>
            <a:r>
              <a:rPr lang="ru-RU" dirty="0" err="1"/>
              <a:t>шифртекст</a:t>
            </a:r>
            <a:r>
              <a:rPr lang="ru-RU" dirty="0"/>
              <a:t>, который потом расшифровывает.</a:t>
            </a:r>
          </a:p>
          <a:p>
            <a:pPr marL="0" indent="0">
              <a:buNone/>
            </a:pPr>
            <a:r>
              <a:rPr lang="ru-RU" dirty="0"/>
              <a:t>Данная схема возможна только при детерминированном шифровании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663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need for det. Encryption   </a:t>
            </a:r>
            <a:r>
              <a:rPr lang="en-US" sz="4800" dirty="0"/>
              <a:t>(no nonce)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133" y="2108200"/>
            <a:ext cx="2015067" cy="2336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0761" y="4343401"/>
            <a:ext cx="1591846" cy="913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67" dirty="0"/>
              <a:t>encrypted</a:t>
            </a:r>
          </a:p>
          <a:p>
            <a:pPr algn="ctr"/>
            <a:r>
              <a:rPr lang="en-US" sz="2667" dirty="0"/>
              <a:t>database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24000" y="1803400"/>
            <a:ext cx="3048000" cy="508000"/>
            <a:chOff x="4724400" y="1581150"/>
            <a:chExt cx="2286000" cy="381000"/>
          </a:xfrm>
          <a:pattFill prst="horzBrick">
            <a:fgClr>
              <a:schemeClr val="accent5">
                <a:lumMod val="75000"/>
              </a:schemeClr>
            </a:fgClr>
            <a:bgClr>
              <a:schemeClr val="bg1">
                <a:lumMod val="85000"/>
              </a:schemeClr>
            </a:bgClr>
          </a:pattFill>
        </p:grpSpPr>
        <p:sp>
          <p:nvSpPr>
            <p:cNvPr id="12" name="Rectangle 11"/>
            <p:cNvSpPr/>
            <p:nvPr/>
          </p:nvSpPr>
          <p:spPr>
            <a:xfrm>
              <a:off x="4724400" y="1581150"/>
              <a:ext cx="838200" cy="3810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dirty="0">
                  <a:solidFill>
                    <a:schemeClr val="tx1"/>
                  </a:solidFill>
                </a:rPr>
                <a:t>Alice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62600" y="1581150"/>
              <a:ext cx="1447800" cy="3810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data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1600200"/>
            <a:ext cx="836033" cy="109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2819401"/>
            <a:ext cx="1056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k</a:t>
            </a:r>
            <a:r>
              <a:rPr lang="en-US" sz="3200" b="1" baseline="-25000" dirty="0">
                <a:solidFill>
                  <a:srgbClr val="FF0000"/>
                </a:solidFill>
              </a:rPr>
              <a:t>1</a:t>
            </a:r>
            <a:r>
              <a:rPr lang="en-US" sz="3200" b="1" dirty="0">
                <a:solidFill>
                  <a:srgbClr val="FF0000"/>
                </a:solidFill>
              </a:rPr>
              <a:t>, k</a:t>
            </a:r>
            <a:r>
              <a:rPr lang="en-US" sz="3200" b="1" baseline="-25000" dirty="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524000" y="1803400"/>
            <a:ext cx="3048000" cy="508000"/>
            <a:chOff x="4724400" y="1581150"/>
            <a:chExt cx="2286000" cy="381000"/>
          </a:xfrm>
          <a:solidFill>
            <a:schemeClr val="bg1">
              <a:lumMod val="8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4724400" y="1581150"/>
              <a:ext cx="838200" cy="3810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dirty="0">
                  <a:solidFill>
                    <a:schemeClr val="tx1"/>
                  </a:solidFill>
                </a:rPr>
                <a:t>Alice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562600" y="1581150"/>
              <a:ext cx="1447800" cy="3810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data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197600" y="3022601"/>
            <a:ext cx="3048000" cy="1319407"/>
            <a:chOff x="4648200" y="2266950"/>
            <a:chExt cx="2286000" cy="989555"/>
          </a:xfrm>
        </p:grpSpPr>
        <p:grpSp>
          <p:nvGrpSpPr>
            <p:cNvPr id="21" name="Group 20"/>
            <p:cNvGrpSpPr/>
            <p:nvPr/>
          </p:nvGrpSpPr>
          <p:grpSpPr>
            <a:xfrm>
              <a:off x="4648200" y="2266950"/>
              <a:ext cx="2286000" cy="381000"/>
              <a:chOff x="4724400" y="1581150"/>
              <a:chExt cx="2286000" cy="381000"/>
            </a:xfrm>
            <a:pattFill prst="horzBrick">
              <a:fgClr>
                <a:schemeClr val="accent5">
                  <a:lumMod val="75000"/>
                </a:schemeClr>
              </a:fgClr>
              <a:bgClr>
                <a:schemeClr val="bg1">
                  <a:lumMod val="85000"/>
                </a:schemeClr>
              </a:bgClr>
            </a:pattFill>
          </p:grpSpPr>
          <p:sp>
            <p:nvSpPr>
              <p:cNvPr id="22" name="Rectangle 21"/>
              <p:cNvSpPr/>
              <p:nvPr/>
            </p:nvSpPr>
            <p:spPr>
              <a:xfrm>
                <a:off x="4724400" y="1581150"/>
                <a:ext cx="838200" cy="381000"/>
              </a:xfrm>
              <a:prstGeom prst="rect">
                <a:avLst/>
              </a:prstGeom>
              <a:grp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Bob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562600" y="1581150"/>
                <a:ext cx="1447800" cy="381000"/>
              </a:xfrm>
              <a:prstGeom prst="rect">
                <a:avLst/>
              </a:prstGeom>
              <a:grp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data</a:t>
                </a: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350054" y="2571750"/>
              <a:ext cx="294792" cy="684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333" b="1" dirty="0"/>
                <a:t>⋮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9956801" y="1512173"/>
            <a:ext cx="627095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733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38931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5.55112E-17 L 0.38333 0.0963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67" y="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need for det. Encryption   </a:t>
            </a:r>
            <a:r>
              <a:rPr lang="en-US" sz="4800" dirty="0"/>
              <a:t>(no nonce)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133" y="2108200"/>
            <a:ext cx="2015067" cy="2336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0761" y="4343401"/>
            <a:ext cx="1591846" cy="913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67" dirty="0"/>
              <a:t>encrypted</a:t>
            </a:r>
          </a:p>
          <a:p>
            <a:pPr algn="ctr"/>
            <a:r>
              <a:rPr lang="en-US" sz="2667" dirty="0"/>
              <a:t>database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197600" y="2429933"/>
            <a:ext cx="3048000" cy="508000"/>
            <a:chOff x="4724400" y="1581150"/>
            <a:chExt cx="2286000" cy="381000"/>
          </a:xfrm>
          <a:pattFill prst="horzBrick">
            <a:fgClr>
              <a:schemeClr val="accent5">
                <a:lumMod val="75000"/>
              </a:schemeClr>
            </a:fgClr>
            <a:bgClr>
              <a:schemeClr val="bg1">
                <a:lumMod val="85000"/>
              </a:schemeClr>
            </a:bgClr>
          </a:pattFill>
        </p:grpSpPr>
        <p:sp>
          <p:nvSpPr>
            <p:cNvPr id="12" name="Rectangle 11"/>
            <p:cNvSpPr/>
            <p:nvPr/>
          </p:nvSpPr>
          <p:spPr>
            <a:xfrm>
              <a:off x="4724400" y="1581150"/>
              <a:ext cx="838200" cy="3810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dirty="0">
                  <a:solidFill>
                    <a:schemeClr val="tx1"/>
                  </a:solidFill>
                </a:rPr>
                <a:t>Alice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62600" y="1581150"/>
              <a:ext cx="1447800" cy="381000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data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1600200"/>
            <a:ext cx="836033" cy="109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2819401"/>
            <a:ext cx="1056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k</a:t>
            </a:r>
            <a:r>
              <a:rPr lang="en-US" sz="3200" b="1" baseline="-25000" dirty="0">
                <a:solidFill>
                  <a:srgbClr val="FF0000"/>
                </a:solidFill>
              </a:rPr>
              <a:t>1</a:t>
            </a:r>
            <a:r>
              <a:rPr lang="en-US" sz="3200" b="1" dirty="0">
                <a:solidFill>
                  <a:srgbClr val="FF0000"/>
                </a:solidFill>
              </a:rPr>
              <a:t>, k</a:t>
            </a:r>
            <a:r>
              <a:rPr lang="en-US" sz="3200" b="1" baseline="-25000" dirty="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97600" y="3022601"/>
            <a:ext cx="3048000" cy="1319407"/>
            <a:chOff x="4648200" y="2266950"/>
            <a:chExt cx="2286000" cy="989555"/>
          </a:xfrm>
        </p:grpSpPr>
        <p:grpSp>
          <p:nvGrpSpPr>
            <p:cNvPr id="21" name="Group 20"/>
            <p:cNvGrpSpPr/>
            <p:nvPr/>
          </p:nvGrpSpPr>
          <p:grpSpPr>
            <a:xfrm>
              <a:off x="4648200" y="2266950"/>
              <a:ext cx="2286000" cy="381000"/>
              <a:chOff x="4724400" y="1581150"/>
              <a:chExt cx="2286000" cy="381000"/>
            </a:xfrm>
            <a:pattFill prst="horzBrick">
              <a:fgClr>
                <a:schemeClr val="accent5">
                  <a:lumMod val="75000"/>
                </a:schemeClr>
              </a:fgClr>
              <a:bgClr>
                <a:schemeClr val="bg1">
                  <a:lumMod val="85000"/>
                </a:schemeClr>
              </a:bgClr>
            </a:pattFill>
          </p:grpSpPr>
          <p:sp>
            <p:nvSpPr>
              <p:cNvPr id="22" name="Rectangle 21"/>
              <p:cNvSpPr/>
              <p:nvPr/>
            </p:nvSpPr>
            <p:spPr>
              <a:xfrm>
                <a:off x="4724400" y="1581150"/>
                <a:ext cx="838200" cy="381000"/>
              </a:xfrm>
              <a:prstGeom prst="rect">
                <a:avLst/>
              </a:prstGeom>
              <a:grp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Bob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562600" y="1581150"/>
                <a:ext cx="1447800" cy="381000"/>
              </a:xfrm>
              <a:prstGeom prst="rect">
                <a:avLst/>
              </a:prstGeom>
              <a:grp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data</a:t>
                </a: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350054" y="2571750"/>
              <a:ext cx="294792" cy="684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333" b="1" dirty="0"/>
                <a:t>⋮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9956801" y="1512173"/>
            <a:ext cx="627095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733" dirty="0">
                <a:solidFill>
                  <a:srgbClr val="FF0000"/>
                </a:solidFill>
              </a:rPr>
              <a:t>??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406400" y="4140200"/>
            <a:ext cx="1141466" cy="2032000"/>
            <a:chOff x="304800" y="3105150"/>
            <a:chExt cx="856099" cy="1524000"/>
          </a:xfrm>
        </p:grpSpPr>
        <p:sp>
          <p:nvSpPr>
            <p:cNvPr id="25" name="TextBox 24"/>
            <p:cNvSpPr txBox="1"/>
            <p:nvPr/>
          </p:nvSpPr>
          <p:spPr>
            <a:xfrm>
              <a:off x="304800" y="3105150"/>
              <a:ext cx="856099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Later:</a:t>
              </a: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775" y="3810000"/>
              <a:ext cx="627025" cy="819150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1625600" y="4038600"/>
            <a:ext cx="4876800" cy="1219200"/>
            <a:chOff x="1219200" y="3028950"/>
            <a:chExt cx="3657600" cy="914400"/>
          </a:xfrm>
        </p:grpSpPr>
        <p:cxnSp>
          <p:nvCxnSpPr>
            <p:cNvPr id="28" name="Straight Arrow Connector 27"/>
            <p:cNvCxnSpPr/>
            <p:nvPr/>
          </p:nvCxnSpPr>
          <p:spPr>
            <a:xfrm flipV="1">
              <a:off x="1219200" y="3028950"/>
              <a:ext cx="36576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 rot="20738807">
              <a:off x="1474565" y="3130835"/>
              <a:ext cx="3183083" cy="377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67" dirty="0"/>
                <a:t>Retrieve record  </a:t>
              </a:r>
              <a:r>
                <a:rPr lang="en-US" sz="2667" b="1" dirty="0">
                  <a:solidFill>
                    <a:srgbClr val="FF0000"/>
                  </a:solidFill>
                </a:rPr>
                <a:t>E(k</a:t>
              </a:r>
              <a:r>
                <a:rPr lang="en-US" sz="2667" b="1" baseline="-25000" dirty="0">
                  <a:solidFill>
                    <a:srgbClr val="FF0000"/>
                  </a:solidFill>
                </a:rPr>
                <a:t>1</a:t>
              </a:r>
              <a:r>
                <a:rPr lang="en-US" sz="2667" b="1" dirty="0">
                  <a:solidFill>
                    <a:srgbClr val="FF0000"/>
                  </a:solidFill>
                </a:rPr>
                <a:t>, “Alice”)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828800" y="4445000"/>
            <a:ext cx="4876800" cy="1219200"/>
            <a:chOff x="1371600" y="3333750"/>
            <a:chExt cx="3657600" cy="914400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1371600" y="3333750"/>
              <a:ext cx="36576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 rot="20809704">
              <a:off x="2224208" y="3857798"/>
              <a:ext cx="2286000" cy="381000"/>
              <a:chOff x="4724400" y="1581150"/>
              <a:chExt cx="2286000" cy="381000"/>
            </a:xfrm>
            <a:pattFill prst="horzBrick">
              <a:fgClr>
                <a:schemeClr val="accent5">
                  <a:lumMod val="75000"/>
                </a:schemeClr>
              </a:fgClr>
              <a:bgClr>
                <a:schemeClr val="bg1">
                  <a:lumMod val="85000"/>
                </a:schemeClr>
              </a:bgClr>
            </a:pattFill>
          </p:grpSpPr>
          <p:sp>
            <p:nvSpPr>
              <p:cNvPr id="32" name="Rectangle 31"/>
              <p:cNvSpPr/>
              <p:nvPr/>
            </p:nvSpPr>
            <p:spPr>
              <a:xfrm>
                <a:off x="4724400" y="1581150"/>
                <a:ext cx="838200" cy="381000"/>
              </a:xfrm>
              <a:prstGeom prst="rect">
                <a:avLst/>
              </a:prstGeom>
              <a:grp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Alice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5562600" y="1581150"/>
                <a:ext cx="1447800" cy="381000"/>
              </a:xfrm>
              <a:prstGeom prst="rect">
                <a:avLst/>
              </a:prstGeom>
              <a:grp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data</a:t>
                </a:r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6197601" y="5765801"/>
            <a:ext cx="5114349" cy="584775"/>
          </a:xfrm>
          <a:prstGeom prst="rect">
            <a:avLst/>
          </a:prstGeom>
          <a:noFill/>
          <a:ln>
            <a:solidFill>
              <a:srgbClr val="00CC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det. enc. enables later lookup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06400" y="4140200"/>
            <a:ext cx="1320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24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Детерминированное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7398"/>
          </a:xfrm>
        </p:spPr>
        <p:txBody>
          <a:bodyPr>
            <a:normAutofit fontScale="92500"/>
          </a:bodyPr>
          <a:lstStyle/>
          <a:p>
            <a:r>
              <a:rPr lang="ru-RU" dirty="0"/>
              <a:t>Проблема – при детерминированном шифровании противник может проверять заголовки на равенство, т.к. одинаковые заголовки дают одинаковые </a:t>
            </a:r>
            <a:r>
              <a:rPr lang="ru-RU" dirty="0" err="1"/>
              <a:t>зашифрования</a:t>
            </a:r>
            <a:r>
              <a:rPr lang="ru-RU" dirty="0"/>
              <a:t> заголовков.</a:t>
            </a:r>
          </a:p>
          <a:p>
            <a:r>
              <a:rPr lang="ru-RU" dirty="0"/>
              <a:t>Аналогично для </a:t>
            </a:r>
            <a:r>
              <a:rPr lang="ru-RU" dirty="0" err="1"/>
              <a:t>шифртекстов</a:t>
            </a:r>
            <a:r>
              <a:rPr lang="ru-RU" dirty="0"/>
              <a:t>. Если множество </a:t>
            </a:r>
            <a:r>
              <a:rPr lang="ru-RU" dirty="0" err="1"/>
              <a:t>шифртекстов</a:t>
            </a:r>
            <a:r>
              <a:rPr lang="ru-RU" dirty="0"/>
              <a:t> мало (например шифруются только слова, длины не более 6 символов), и распределение неравномерное, противник может провести частотный анализ и полностью расшифровать все </a:t>
            </a:r>
            <a:r>
              <a:rPr lang="ru-RU" dirty="0" err="1"/>
              <a:t>шифртексты</a:t>
            </a:r>
            <a:r>
              <a:rPr lang="ru-RU" dirty="0"/>
              <a:t>.</a:t>
            </a:r>
          </a:p>
          <a:p>
            <a:r>
              <a:rPr lang="ru-RU" dirty="0"/>
              <a:t>Нужно новое определение.</a:t>
            </a:r>
            <a:r>
              <a:rPr lang="en-US" dirty="0"/>
              <a:t> </a:t>
            </a:r>
            <a:r>
              <a:rPr lang="ru-RU" dirty="0"/>
              <a:t>Основная идея –</a:t>
            </a:r>
            <a:r>
              <a:rPr lang="en-US" dirty="0"/>
              <a:t> </a:t>
            </a:r>
            <a:r>
              <a:rPr lang="ru-RU" dirty="0"/>
              <a:t>новое требование</a:t>
            </a:r>
            <a:r>
              <a:rPr lang="en-US" dirty="0"/>
              <a:t>:</a:t>
            </a:r>
            <a:r>
              <a:rPr lang="ru-RU" dirty="0"/>
              <a:t> сообщения должны быть уникальными для фиксированного ключа.</a:t>
            </a:r>
          </a:p>
          <a:p>
            <a:pPr lvl="1"/>
            <a:r>
              <a:rPr lang="ru-RU" dirty="0"/>
              <a:t>Уникальный идентификаторы, которые не повторяются (номер в очереди, номер передаваемого пакета, уникальный для сессии </a:t>
            </a:r>
            <a:r>
              <a:rPr lang="en-US" dirty="0"/>
              <a:t>id </a:t>
            </a:r>
            <a:r>
              <a:rPr lang="ru-RU" dirty="0"/>
              <a:t>пользователя, индекс</a:t>
            </a:r>
            <a:r>
              <a:rPr lang="en-US" dirty="0"/>
              <a:t> </a:t>
            </a:r>
            <a:r>
              <a:rPr lang="ru-RU" dirty="0"/>
              <a:t>записи в </a:t>
            </a:r>
            <a:r>
              <a:rPr lang="ru-RU" dirty="0" err="1"/>
              <a:t>б.д</a:t>
            </a:r>
            <a:r>
              <a:rPr lang="ru-RU" dirty="0"/>
              <a:t>. </a:t>
            </a:r>
            <a:r>
              <a:rPr lang="ru-RU" dirty="0" err="1"/>
              <a:t>и.т.д</a:t>
            </a:r>
            <a:r>
              <a:rPr lang="ru-RU"/>
              <a:t>.)</a:t>
            </a:r>
            <a:endParaRPr lang="ru-RU" dirty="0"/>
          </a:p>
          <a:p>
            <a:pPr lvl="1"/>
            <a:r>
              <a:rPr lang="ru-RU" dirty="0"/>
              <a:t>Сообщения выбранные случайно из большого множества (например ключи)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76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30200"/>
            <a:ext cx="10972800" cy="1143000"/>
          </a:xfrm>
        </p:spPr>
        <p:txBody>
          <a:bodyPr/>
          <a:lstStyle/>
          <a:p>
            <a:r>
              <a:rPr lang="en-US" dirty="0"/>
              <a:t>Deterministic CPA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 txBox="1">
                <a:spLocks noChangeArrowheads="1"/>
              </p:cNvSpPr>
              <p:nvPr/>
            </p:nvSpPr>
            <p:spPr>
              <a:xfrm>
                <a:off x="609600" y="889000"/>
                <a:ext cx="11582400" cy="5969000"/>
              </a:xfrm>
              <a:prstGeom prst="rect">
                <a:avLst/>
              </a:prstGeom>
            </p:spPr>
            <p:txBody>
              <a:bodyPr vert="horz" lIns="121920" tIns="60960" rIns="121920" bIns="6096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шифр 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ru-RU" dirty="0">
                    <a:solidFill>
                      <a:schemeClr val="tx1"/>
                    </a:solidFill>
                  </a:rPr>
                  <a:t> Введём игру на</a:t>
                </a:r>
                <a:r>
                  <a:rPr lang="en-US" dirty="0">
                    <a:solidFill>
                      <a:schemeClr val="tx1"/>
                    </a:solidFill>
                  </a:rPr>
                  <a:t> CPA </a:t>
                </a:r>
                <a:r>
                  <a:rPr lang="ru-RU" dirty="0">
                    <a:solidFill>
                      <a:schemeClr val="tx1"/>
                    </a:solidFill>
                  </a:rPr>
                  <a:t>стойкость, в которой противник </a:t>
                </a:r>
                <a:r>
                  <a:rPr lang="ru-RU" b="1" dirty="0">
                    <a:solidFill>
                      <a:schemeClr val="tx1"/>
                    </a:solidFill>
                  </a:rPr>
                  <a:t>запрашивает только уникальные сообщения</a:t>
                </a:r>
                <a:r>
                  <a:rPr lang="ru-RU" dirty="0">
                    <a:solidFill>
                      <a:schemeClr val="tx1"/>
                    </a:solidFill>
                  </a:rPr>
                  <a:t>, т.е. </a:t>
                </a:r>
                <a:r>
                  <a:rPr lang="en-US" i="1" dirty="0">
                    <a:solidFill>
                      <a:schemeClr val="tx1"/>
                    </a:solidFill>
                  </a:rPr>
                  <a:t>m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1,0</a:t>
                </a:r>
                <a:r>
                  <a:rPr lang="en-US" dirty="0">
                    <a:solidFill>
                      <a:schemeClr val="tx1"/>
                    </a:solidFill>
                  </a:rPr>
                  <a:t>, …, </a:t>
                </a:r>
                <a:r>
                  <a:rPr lang="en-US" i="1" dirty="0"/>
                  <a:t>m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q,0</a:t>
                </a:r>
                <a:r>
                  <a:rPr lang="en-US" b="1" dirty="0">
                    <a:solidFill>
                      <a:schemeClr val="tx1"/>
                    </a:solidFill>
                  </a:rPr>
                  <a:t>  </a:t>
                </a:r>
                <a:r>
                  <a:rPr lang="ru-RU" dirty="0">
                    <a:solidFill>
                      <a:schemeClr val="tx1"/>
                    </a:solidFill>
                  </a:rPr>
                  <a:t>и</a:t>
                </a:r>
                <a:r>
                  <a:rPr lang="en-US" dirty="0">
                    <a:solidFill>
                      <a:schemeClr val="tx1"/>
                    </a:solidFill>
                  </a:rPr>
                  <a:t>    </a:t>
                </a: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i="1" dirty="0">
                    <a:solidFill>
                      <a:schemeClr val="tx1"/>
                    </a:solidFill>
                  </a:rPr>
                  <a:t>m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1,1</a:t>
                </a:r>
                <a:r>
                  <a:rPr lang="en-US" dirty="0">
                    <a:solidFill>
                      <a:schemeClr val="tx1"/>
                    </a:solidFill>
                  </a:rPr>
                  <a:t>, …, </a:t>
                </a:r>
                <a:r>
                  <a:rPr lang="en-US" i="1" dirty="0">
                    <a:solidFill>
                      <a:schemeClr val="tx1"/>
                    </a:solidFill>
                  </a:rPr>
                  <a:t>m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q,1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различны.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ru-RU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определённый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называется </a:t>
                </a:r>
                <a:r>
                  <a:rPr lang="ru-RU" dirty="0" err="1"/>
                  <a:t>детерминированно</a:t>
                </a:r>
                <a:r>
                  <a:rPr lang="ru-RU" dirty="0"/>
                  <a:t> </a:t>
                </a:r>
                <a:r>
                  <a:rPr lang="en-US" dirty="0"/>
                  <a:t>CPA</a:t>
                </a:r>
                <a:r>
                  <a:rPr lang="ru-RU" dirty="0"/>
                  <a:t> стойким, если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стойкость </a:t>
                </a:r>
                <a:r>
                  <a:rPr lang="en-US" dirty="0"/>
                  <a:t>Deterministic CPA </a:t>
                </a:r>
                <a:r>
                  <a:rPr lang="ru-RU" dirty="0"/>
                  <a:t>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𝑑𝐶𝑃𝐴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ru-RU" i="1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2667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3200" dirty="0"/>
              </a:p>
              <a:p>
                <a:pPr>
                  <a:lnSpc>
                    <a:spcPct val="90000"/>
                  </a:lnSpc>
                </a:pPr>
                <a:endParaRPr lang="en-US" sz="3200" dirty="0"/>
              </a:p>
              <a:p>
                <a:pPr>
                  <a:lnSpc>
                    <a:spcPct val="90000"/>
                  </a:lnSpc>
                </a:pPr>
                <a:endParaRPr lang="en-US" sz="3200" dirty="0"/>
              </a:p>
              <a:p>
                <a:pPr>
                  <a:lnSpc>
                    <a:spcPct val="90000"/>
                  </a:lnSpc>
                </a:pPr>
                <a:endParaRPr lang="en-US" sz="3200" dirty="0"/>
              </a:p>
              <a:p>
                <a:pPr>
                  <a:lnSpc>
                    <a:spcPct val="90000"/>
                  </a:lnSpc>
                </a:pPr>
                <a:endParaRPr lang="en-US" sz="3200" dirty="0"/>
              </a:p>
              <a:p>
                <a:pPr>
                  <a:lnSpc>
                    <a:spcPct val="90000"/>
                  </a:lnSpc>
                  <a:spcBef>
                    <a:spcPct val="100000"/>
                  </a:spcBef>
                </a:pPr>
                <a:endParaRPr lang="en-US" sz="3200" dirty="0"/>
              </a:p>
            </p:txBody>
          </p:sp>
        </mc:Choice>
        <mc:Fallback xmlns="">
          <p:sp>
            <p:nvSpPr>
              <p:cNvPr id="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889000"/>
                <a:ext cx="11582400" cy="5969000"/>
              </a:xfrm>
              <a:prstGeom prst="rect">
                <a:avLst/>
              </a:prstGeom>
              <a:blipFill>
                <a:blip r:embed="rId3"/>
                <a:stretch>
                  <a:fillRect l="-526" t="-12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96667" y="2800055"/>
            <a:ext cx="1727200" cy="1930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sz="2400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-28933" y="3196534"/>
            <a:ext cx="162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-28933" y="2707981"/>
            <a:ext cx="40107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i="1" dirty="0"/>
              <a:t>b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505467" y="2800055"/>
            <a:ext cx="1727200" cy="182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sz="2400"/>
              <a:t>Adv.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03069" y="3271544"/>
            <a:ext cx="7873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 err="1"/>
              <a:t>k</a:t>
            </a:r>
            <a:r>
              <a:rPr lang="en-US" sz="2400" dirty="0" err="1">
                <a:sym typeface="Symbol" pitchFamily="18" charset="2"/>
              </a:rPr>
              <a:t></a:t>
            </a:r>
            <a:r>
              <a:rPr lang="en-US" sz="2400" i="1" dirty="0" err="1">
                <a:sym typeface="Symbol" pitchFamily="18" charset="2"/>
              </a:rPr>
              <a:t>K</a:t>
            </a:r>
            <a:endParaRPr lang="en-US" sz="2400" b="1" i="1" dirty="0">
              <a:cs typeface="Arial" charset="0"/>
              <a:sym typeface="Symbol" pitchFamily="18" charset="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232666" y="3816056"/>
            <a:ext cx="1766910" cy="609600"/>
            <a:chOff x="7772400" y="2647950"/>
            <a:chExt cx="1325183" cy="457200"/>
          </a:xfrm>
        </p:grpSpPr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7925147" y="2647950"/>
              <a:ext cx="1172436" cy="438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i="1" dirty="0"/>
                <a:t>b</a:t>
              </a:r>
              <a:r>
                <a:rPr lang="en-US" sz="3200" dirty="0"/>
                <a:t>’ </a:t>
              </a:r>
              <a:r>
                <a:rPr lang="en-US" sz="2667" dirty="0">
                  <a:sym typeface="Symbol" pitchFamily="18" charset="2"/>
                </a:rPr>
                <a:t> {0,1}</a:t>
              </a:r>
              <a:endParaRPr lang="en-US" sz="2667" dirty="0"/>
            </a:p>
          </p:txBody>
        </p:sp>
      </p:grp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682267" y="2495255"/>
            <a:ext cx="10566400" cy="2336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14" name="Group 13"/>
          <p:cNvGrpSpPr/>
          <p:nvPr/>
        </p:nvGrpSpPr>
        <p:grpSpPr>
          <a:xfrm>
            <a:off x="3425468" y="3206457"/>
            <a:ext cx="5080000" cy="526854"/>
            <a:chOff x="2667000" y="2376632"/>
            <a:chExt cx="3810000" cy="395140"/>
          </a:xfrm>
        </p:grpSpPr>
        <p:sp>
          <p:nvSpPr>
            <p:cNvPr id="15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3186209" cy="3770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67" i="1" dirty="0"/>
                <a:t>m</a:t>
              </a:r>
              <a:r>
                <a:rPr lang="en-US" sz="2667" baseline="-25000" dirty="0"/>
                <a:t>i,0</a:t>
              </a:r>
              <a:r>
                <a:rPr lang="en-US" sz="2667" dirty="0"/>
                <a:t> , </a:t>
              </a:r>
              <a:r>
                <a:rPr lang="en-US" sz="2667" i="1" dirty="0"/>
                <a:t>m</a:t>
              </a:r>
              <a:r>
                <a:rPr lang="en-US" sz="2667" baseline="-25000" dirty="0"/>
                <a:t>i,1  </a:t>
              </a:r>
              <a:r>
                <a:rPr lang="en-US" sz="2400" dirty="0">
                  <a:sym typeface="Symbol" pitchFamily="18" charset="2"/>
                </a:rPr>
                <a:t> M :    |</a:t>
              </a:r>
              <a:r>
                <a:rPr lang="en-US" sz="2400" i="1" dirty="0">
                  <a:sym typeface="Symbol" pitchFamily="18" charset="2"/>
                </a:rPr>
                <a:t>m</a:t>
              </a:r>
              <a:r>
                <a:rPr lang="en-US" sz="2400" baseline="-25000" dirty="0">
                  <a:sym typeface="Symbol" pitchFamily="18" charset="2"/>
                </a:rPr>
                <a:t>i,0</a:t>
              </a:r>
              <a:r>
                <a:rPr lang="en-US" sz="2400" dirty="0">
                  <a:sym typeface="Symbol" pitchFamily="18" charset="2"/>
                </a:rPr>
                <a:t>| = |</a:t>
              </a:r>
              <a:r>
                <a:rPr lang="en-US" sz="2400" i="1" dirty="0">
                  <a:sym typeface="Symbol" pitchFamily="18" charset="2"/>
                </a:rPr>
                <a:t>m</a:t>
              </a:r>
              <a:r>
                <a:rPr lang="en-US" sz="2400" baseline="-25000" dirty="0">
                  <a:sym typeface="Symbol" pitchFamily="18" charset="2"/>
                </a:rPr>
                <a:t>i,1</a:t>
              </a:r>
              <a:r>
                <a:rPr lang="en-US" sz="2400" dirty="0">
                  <a:sym typeface="Symbol" pitchFamily="18" charset="2"/>
                </a:rPr>
                <a:t>|</a:t>
              </a:r>
            </a:p>
          </p:txBody>
        </p:sp>
      </p:grpSp>
      <p:grpSp>
        <p:nvGrpSpPr>
          <p:cNvPr id="17" name="Group 11"/>
          <p:cNvGrpSpPr>
            <a:grpSpLocks/>
          </p:cNvGrpSpPr>
          <p:nvPr/>
        </p:nvGrpSpPr>
        <p:grpSpPr bwMode="auto">
          <a:xfrm>
            <a:off x="3425467" y="3993860"/>
            <a:ext cx="4978400" cy="503238"/>
            <a:chOff x="1776" y="2194"/>
            <a:chExt cx="2352" cy="317"/>
          </a:xfrm>
        </p:grpSpPr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934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67" dirty="0"/>
                <a:t>c</a:t>
              </a:r>
              <a:r>
                <a:rPr lang="en-US" sz="2667" baseline="-25000" dirty="0"/>
                <a:t>i</a:t>
              </a:r>
              <a:r>
                <a:rPr lang="en-US" sz="2667" dirty="0"/>
                <a:t> </a:t>
              </a:r>
              <a:r>
                <a:rPr lang="en-US" sz="2400" dirty="0">
                  <a:sym typeface="Symbol" pitchFamily="18" charset="2"/>
                </a:rPr>
                <a:t> </a:t>
              </a:r>
              <a:r>
                <a:rPr lang="en-US" sz="2400" i="1" dirty="0"/>
                <a:t>E</a:t>
              </a:r>
              <a:r>
                <a:rPr lang="en-US" sz="2400" dirty="0"/>
                <a:t>(</a:t>
              </a:r>
              <a:r>
                <a:rPr lang="en-US" sz="2400" i="1" dirty="0"/>
                <a:t>k</a:t>
              </a:r>
              <a:r>
                <a:rPr lang="en-US" sz="2400" dirty="0"/>
                <a:t>,</a:t>
              </a:r>
              <a:r>
                <a:rPr lang="en-US" sz="2667" b="1" dirty="0"/>
                <a:t> </a:t>
              </a:r>
              <a:r>
                <a:rPr lang="en-US" sz="2667" i="1" dirty="0" err="1"/>
                <a:t>m</a:t>
              </a:r>
              <a:r>
                <a:rPr lang="en-US" sz="2667" i="1" baseline="-25000" dirty="0" err="1"/>
                <a:t>i,b</a:t>
              </a:r>
              <a:r>
                <a:rPr lang="en-US" sz="2400" dirty="0"/>
                <a:t>)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730268" y="2596855"/>
            <a:ext cx="1910331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/>
              <a:t>for </a:t>
            </a:r>
            <a:r>
              <a:rPr lang="en-US" sz="2667" i="1" dirty="0" err="1"/>
              <a:t>i</a:t>
            </a:r>
            <a:r>
              <a:rPr lang="en-US" sz="2667" dirty="0"/>
              <a:t>=1,…,</a:t>
            </a:r>
            <a:r>
              <a:rPr lang="en-US" sz="2667" i="1" dirty="0"/>
              <a:t>q</a:t>
            </a:r>
            <a:r>
              <a:rPr lang="en-US" sz="2667" dirty="0"/>
              <a:t>:  </a:t>
            </a:r>
          </a:p>
        </p:txBody>
      </p:sp>
    </p:spTree>
    <p:extLst>
      <p:ext uri="{BB962C8B-B14F-4D97-AF65-F5344CB8AC3E}">
        <p14:creationId xmlns:p14="http://schemas.microsoft.com/office/powerpoint/2010/main" val="529277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Фиксированный </a:t>
            </a:r>
            <a:r>
              <a:rPr lang="en-US" dirty="0"/>
              <a:t>IV </a:t>
            </a:r>
            <a:r>
              <a:rPr lang="ru-RU" dirty="0"/>
              <a:t>в </a:t>
            </a:r>
            <a:r>
              <a:rPr lang="en-US" dirty="0"/>
              <a:t>CBC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43218"/>
                <a:ext cx="10972800" cy="1600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Фиксированный </a:t>
                </a:r>
                <a:r>
                  <a:rPr lang="en-US" b="1" dirty="0"/>
                  <a:t>IV</a:t>
                </a:r>
                <a:r>
                  <a:rPr lang="ru-RU" b="1" dirty="0"/>
                  <a:t> в </a:t>
                </a:r>
                <a:r>
                  <a:rPr lang="en-US" b="1" dirty="0"/>
                  <a:t>CBC </a:t>
                </a:r>
                <a:r>
                  <a:rPr lang="ru-RU" b="1" dirty="0"/>
                  <a:t>не даёт </a:t>
                </a:r>
                <a:r>
                  <a:rPr lang="en-US" b="1" dirty="0" err="1"/>
                  <a:t>det</a:t>
                </a:r>
                <a:r>
                  <a:rPr lang="en-US" b="1" dirty="0"/>
                  <a:t>-CPA </a:t>
                </a:r>
                <a:r>
                  <a:rPr lang="ru-RU" b="1" dirty="0"/>
                  <a:t>стойкость!</a:t>
                </a:r>
                <a:endParaRPr lang="en-US" b="1" dirty="0"/>
              </a:p>
              <a:p>
                <a:pPr marL="0" indent="0">
                  <a:spcBef>
                    <a:spcPts val="1632"/>
                  </a:spcBef>
                  <a:buNone/>
                </a:pPr>
                <a:r>
                  <a:rPr lang="en-US" dirty="0"/>
                  <a:t>	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{0,1}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⟶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{0,1}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</a:t>
                </a:r>
                <a:r>
                  <a:rPr lang="ru-RU" dirty="0"/>
                  <a:t>стойкая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𝑃𝑅𝑃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</a:t>
                </a:r>
                <a:r>
                  <a:rPr lang="en-US" dirty="0"/>
                  <a:t>CBC</a:t>
                </a:r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43218"/>
                <a:ext cx="10972800" cy="1600200"/>
              </a:xfrm>
              <a:blipFill>
                <a:blip r:embed="rId2"/>
                <a:stretch>
                  <a:fillRect l="-1000" t="-6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17600" y="3134492"/>
            <a:ext cx="1727200" cy="212330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sz="2400"/>
              <a:t>Chal.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26400" y="3134492"/>
            <a:ext cx="1727200" cy="212330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sz="2400" dirty="0"/>
              <a:t>Adv.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524002" y="3647760"/>
            <a:ext cx="7873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k</a:t>
            </a:r>
            <a:r>
              <a:rPr lang="en-US" sz="2400">
                <a:sym typeface="Symbol" pitchFamily="18" charset="2"/>
              </a:rPr>
              <a:t>K</a:t>
            </a:r>
            <a:endParaRPr lang="en-US" sz="2400" b="1">
              <a:cs typeface="Arial" charset="0"/>
              <a:sym typeface="Symbol" pitchFamily="18" charset="2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>
            <a:off x="2946400" y="4414017"/>
            <a:ext cx="508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4534836" y="3977984"/>
            <a:ext cx="2433680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667" dirty="0"/>
              <a:t>m</a:t>
            </a:r>
            <a:r>
              <a:rPr lang="en-US" sz="2667" baseline="-25000" dirty="0"/>
              <a:t>0</a:t>
            </a:r>
            <a:r>
              <a:rPr lang="en-US" sz="2667" dirty="0"/>
              <a:t>=0</a:t>
            </a:r>
            <a:r>
              <a:rPr lang="en-US" sz="2667" baseline="30000" dirty="0"/>
              <a:t>n</a:t>
            </a:r>
            <a:r>
              <a:rPr lang="en-US" sz="2667" dirty="0"/>
              <a:t> ,   m</a:t>
            </a:r>
            <a:r>
              <a:rPr lang="en-US" sz="2667" baseline="-25000" dirty="0"/>
              <a:t>1</a:t>
            </a:r>
            <a:r>
              <a:rPr lang="en-US" sz="2667" dirty="0">
                <a:sym typeface="Symbol" pitchFamily="18" charset="2"/>
              </a:rPr>
              <a:t> = 1</a:t>
            </a:r>
            <a:r>
              <a:rPr lang="en-US" sz="2667" baseline="30000" dirty="0">
                <a:sym typeface="Symbol" pitchFamily="18" charset="2"/>
              </a:rPr>
              <a:t>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946400" y="4454528"/>
            <a:ext cx="4978400" cy="584775"/>
            <a:chOff x="2209800" y="3645692"/>
            <a:chExt cx="3733800" cy="438581"/>
          </a:xfrm>
        </p:grpSpPr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209800" y="4077890"/>
              <a:ext cx="3733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971800" y="3645692"/>
              <a:ext cx="2767248" cy="438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67" dirty="0"/>
                <a:t>c </a:t>
              </a:r>
              <a:r>
                <a:rPr lang="en-US" sz="2667" dirty="0">
                  <a:sym typeface="Symbol" pitchFamily="18" charset="2"/>
                </a:rPr>
                <a:t> </a:t>
              </a:r>
              <a:r>
                <a:rPr lang="en-US" sz="3200" dirty="0">
                  <a:sym typeface="Symbol"/>
                </a:rPr>
                <a:t>[</a:t>
              </a:r>
              <a:r>
                <a:rPr lang="en-US" sz="2667" dirty="0">
                  <a:sym typeface="Symbol"/>
                </a:rPr>
                <a:t> </a:t>
              </a:r>
              <a:r>
                <a:rPr lang="en-US" sz="2667" b="1" dirty="0">
                  <a:solidFill>
                    <a:srgbClr val="FF0000"/>
                  </a:solidFill>
                  <a:sym typeface="Symbol"/>
                </a:rPr>
                <a:t>FIV,  E(k, FIV) </a:t>
              </a:r>
              <a:r>
                <a:rPr lang="en-US" sz="3200" dirty="0">
                  <a:sym typeface="Symbol"/>
                </a:rPr>
                <a:t>]   or</a:t>
              </a:r>
              <a:endParaRPr lang="en-US" sz="2667" dirty="0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946400" y="2819397"/>
            <a:ext cx="5080000" cy="503236"/>
            <a:chOff x="1776" y="2014"/>
            <a:chExt cx="2400" cy="317"/>
          </a:xfrm>
        </p:grpSpPr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>
              <a:off x="1776" y="2304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2667"/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2544" y="2014"/>
              <a:ext cx="917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67" b="1" dirty="0"/>
                <a:t>0</a:t>
              </a:r>
              <a:r>
                <a:rPr lang="en-US" sz="2667" b="1" baseline="30000" dirty="0"/>
                <a:t>n</a:t>
              </a:r>
              <a:r>
                <a:rPr lang="en-US" sz="2667" b="1" dirty="0"/>
                <a:t> 1</a:t>
              </a:r>
              <a:r>
                <a:rPr lang="en-US" sz="2667" b="1" baseline="30000" dirty="0"/>
                <a:t>n  </a:t>
              </a:r>
              <a:r>
                <a:rPr lang="en-US" sz="2667" b="1" dirty="0"/>
                <a:t> ,  0</a:t>
              </a:r>
              <a:r>
                <a:rPr lang="en-US" sz="2667" b="1" baseline="30000" dirty="0"/>
                <a:t>n</a:t>
              </a:r>
              <a:r>
                <a:rPr lang="en-US" sz="2667" b="1" dirty="0"/>
                <a:t> 1</a:t>
              </a:r>
              <a:r>
                <a:rPr lang="en-US" sz="2667" b="1" baseline="30000" dirty="0"/>
                <a:t>n</a:t>
              </a:r>
              <a:endParaRPr lang="en-US" sz="2667" dirty="0">
                <a:sym typeface="Symbol" pitchFamily="18" charset="2"/>
              </a:endParaRPr>
            </a:p>
          </p:txBody>
        </p:sp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2844801" y="3190884"/>
            <a:ext cx="4978401" cy="596901"/>
            <a:chOff x="1776" y="2352"/>
            <a:chExt cx="2352" cy="376"/>
          </a:xfrm>
        </p:grpSpPr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1776" y="2728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2667"/>
            </a:p>
          </p:txBody>
        </p:sp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2064" y="2352"/>
              <a:ext cx="196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67" dirty="0"/>
                <a:t>c</a:t>
              </a:r>
              <a:r>
                <a:rPr lang="en-US" sz="2667" baseline="-25000" dirty="0"/>
                <a:t>1</a:t>
              </a:r>
              <a:r>
                <a:rPr lang="en-US" sz="2667" dirty="0"/>
                <a:t> </a:t>
              </a:r>
              <a:r>
                <a:rPr lang="en-US" sz="2667" dirty="0">
                  <a:sym typeface="Symbol"/>
                </a:rPr>
                <a:t> </a:t>
              </a:r>
              <a:r>
                <a:rPr lang="en-US" sz="3200" dirty="0">
                  <a:sym typeface="Symbol"/>
                </a:rPr>
                <a:t>[</a:t>
              </a:r>
              <a:r>
                <a:rPr lang="en-US" sz="2667" dirty="0">
                  <a:sym typeface="Symbol"/>
                </a:rPr>
                <a:t> </a:t>
              </a:r>
              <a:r>
                <a:rPr lang="en-US" sz="2667" b="1" dirty="0">
                  <a:solidFill>
                    <a:srgbClr val="FF0000"/>
                  </a:solidFill>
                  <a:sym typeface="Symbol"/>
                </a:rPr>
                <a:t>FIV,  E(k, 0</a:t>
              </a:r>
              <a:r>
                <a:rPr lang="en-US" sz="2667" b="1" baseline="30000" dirty="0">
                  <a:solidFill>
                    <a:srgbClr val="FF0000"/>
                  </a:solidFill>
                  <a:sym typeface="Symbol"/>
                </a:rPr>
                <a:t>n</a:t>
              </a:r>
              <a:r>
                <a:rPr lang="en-US" sz="2667" b="1" dirty="0">
                  <a:solidFill>
                    <a:srgbClr val="FF0000"/>
                  </a:solidFill>
                  <a:sym typeface="Symbol"/>
                </a:rPr>
                <a:t>⨁FIV)</a:t>
              </a:r>
              <a:r>
                <a:rPr lang="en-US" sz="2667" dirty="0">
                  <a:sym typeface="Symbol"/>
                </a:rPr>
                <a:t> , …</a:t>
              </a:r>
              <a:r>
                <a:rPr lang="en-US" sz="3200" dirty="0">
                  <a:sym typeface="Symbol"/>
                </a:rPr>
                <a:t>]</a:t>
              </a:r>
              <a:endParaRPr lang="en-US" sz="2667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8018828" y="4396027"/>
            <a:ext cx="17636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FFFFCC"/>
                </a:solidFill>
              </a:rPr>
              <a:t>output 0</a:t>
            </a:r>
          </a:p>
          <a:p>
            <a:pPr algn="ctr"/>
            <a:r>
              <a:rPr lang="en-US" sz="2400" dirty="0">
                <a:solidFill>
                  <a:srgbClr val="FFFFCC"/>
                </a:solidFill>
              </a:rPr>
              <a:t>if c[1] = c</a:t>
            </a:r>
            <a:r>
              <a:rPr lang="en-US" sz="2400" baseline="-25000" dirty="0">
                <a:solidFill>
                  <a:srgbClr val="FFFFCC"/>
                </a:solidFill>
              </a:rPr>
              <a:t>1</a:t>
            </a:r>
            <a:r>
              <a:rPr lang="en-US" sz="2400" dirty="0">
                <a:solidFill>
                  <a:srgbClr val="FFFFCC"/>
                </a:solidFill>
              </a:rPr>
              <a:t>[1]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>
            <a:off x="9753600" y="4849814"/>
            <a:ext cx="13208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3962400" y="4982883"/>
            <a:ext cx="36383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667" dirty="0"/>
              <a:t>c </a:t>
            </a:r>
            <a:r>
              <a:rPr lang="en-US" sz="2667" dirty="0">
                <a:sym typeface="Symbol" pitchFamily="18" charset="2"/>
              </a:rPr>
              <a:t> </a:t>
            </a:r>
            <a:r>
              <a:rPr lang="en-US" sz="3200" dirty="0">
                <a:sym typeface="Symbol"/>
              </a:rPr>
              <a:t>[</a:t>
            </a:r>
            <a:r>
              <a:rPr lang="en-US" sz="2667" dirty="0">
                <a:sym typeface="Symbol"/>
              </a:rPr>
              <a:t> </a:t>
            </a:r>
            <a:r>
              <a:rPr lang="en-US" sz="2667" b="1" dirty="0">
                <a:solidFill>
                  <a:srgbClr val="FF0000"/>
                </a:solidFill>
                <a:sym typeface="Symbol"/>
              </a:rPr>
              <a:t>FIV,  E(k, 1</a:t>
            </a:r>
            <a:r>
              <a:rPr lang="en-US" sz="2667" b="1" baseline="30000" dirty="0">
                <a:solidFill>
                  <a:srgbClr val="FF0000"/>
                </a:solidFill>
                <a:sym typeface="Symbol"/>
              </a:rPr>
              <a:t>n</a:t>
            </a:r>
            <a:r>
              <a:rPr lang="en-US" sz="2667" b="1" dirty="0">
                <a:solidFill>
                  <a:srgbClr val="FF0000"/>
                </a:solidFill>
                <a:sym typeface="Symbol"/>
              </a:rPr>
              <a:t>⨁FIV) </a:t>
            </a:r>
            <a:r>
              <a:rPr lang="en-US" sz="3200" dirty="0">
                <a:sym typeface="Symbol"/>
              </a:rPr>
              <a:t>]</a:t>
            </a:r>
            <a:endParaRPr lang="en-US" sz="2667" dirty="0"/>
          </a:p>
        </p:txBody>
      </p:sp>
      <p:sp>
        <p:nvSpPr>
          <p:cNvPr id="22" name="Line 5"/>
          <p:cNvSpPr>
            <a:spLocks noChangeShapeType="1"/>
          </p:cNvSpPr>
          <p:nvPr/>
        </p:nvSpPr>
        <p:spPr bwMode="auto">
          <a:xfrm flipV="1">
            <a:off x="304800" y="3320652"/>
            <a:ext cx="81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304800" y="2819401"/>
            <a:ext cx="40107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0402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8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5209357" y="1220579"/>
            <a:ext cx="6881044" cy="2106821"/>
            <a:chOff x="3907017" y="1144034"/>
            <a:chExt cx="5160783" cy="1580116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962400" y="2241830"/>
              <a:ext cx="5105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>
              <a:off x="3907017" y="1144034"/>
              <a:ext cx="4932183" cy="1580116"/>
              <a:chOff x="3907017" y="1525034"/>
              <a:chExt cx="4932183" cy="1580116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343400" y="1525034"/>
                <a:ext cx="4495800" cy="381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0090"/>
                    </a:solidFill>
                  </a:rPr>
                  <a:t>message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343400" y="2058434"/>
                <a:ext cx="4495800" cy="43711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400"/>
                  </a:spcBef>
                </a:pP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F(k, </a:t>
                </a:r>
                <a:r>
                  <a:rPr lang="en-US" sz="2400" dirty="0">
                    <a:solidFill>
                      <a:schemeClr val="bg1"/>
                    </a:solidFill>
                  </a:rPr>
                  <a:t>FIV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)   </a:t>
                </a:r>
                <a:r>
                  <a:rPr lang="en-US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ll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 F(k, </a:t>
                </a:r>
                <a:r>
                  <a:rPr lang="en-US" sz="2400" dirty="0">
                    <a:solidFill>
                      <a:schemeClr val="bg1"/>
                    </a:solidFill>
                  </a:rPr>
                  <a:t>F</a:t>
                </a:r>
                <a:r>
                  <a:rPr lang="en-US" sz="2400" dirty="0">
                    <a:solidFill>
                      <a:srgbClr val="FFFFFF"/>
                    </a:solidFill>
                  </a:rPr>
                  <a:t>IV+1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) </a:t>
                </a:r>
                <a:r>
                  <a:rPr lang="en-US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ll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… </a:t>
                </a:r>
                <a:r>
                  <a:rPr lang="en-US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ll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F(k, </a:t>
                </a:r>
                <a:r>
                  <a:rPr lang="en-US" sz="2400" dirty="0">
                    <a:solidFill>
                      <a:schemeClr val="bg1"/>
                    </a:solidFill>
                  </a:rPr>
                  <a:t>F</a:t>
                </a:r>
                <a:r>
                  <a:rPr lang="en-US" sz="2400" dirty="0">
                    <a:solidFill>
                      <a:srgbClr val="FFFFFF"/>
                    </a:solidFill>
                  </a:rPr>
                  <a:t>IV+L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343400" y="2724150"/>
                <a:ext cx="4495800" cy="381000"/>
              </a:xfrm>
              <a:prstGeom prst="rect">
                <a:avLst/>
              </a:prstGeom>
              <a:solidFill>
                <a:srgbClr val="008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solidFill>
                      <a:schemeClr val="bg1">
                        <a:lumMod val="95000"/>
                      </a:schemeClr>
                    </a:solidFill>
                  </a:rPr>
                  <a:t>ciphertext</a:t>
                </a:r>
                <a:endParaRPr lang="en-US" sz="2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907017" y="1733550"/>
                <a:ext cx="445074" cy="500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733" b="1" dirty="0">
                    <a:solidFill>
                      <a:srgbClr val="FF0000"/>
                    </a:solidFill>
                    <a:sym typeface="Symbol"/>
                  </a:rPr>
                  <a:t>⨁</a:t>
                </a:r>
                <a:endParaRPr lang="en-US" sz="3733" dirty="0"/>
              </a:p>
            </p:txBody>
          </p:sp>
        </p:grpSp>
      </p:grpSp>
      <p:grpSp>
        <p:nvGrpSpPr>
          <p:cNvPr id="40" name="Group 39"/>
          <p:cNvGrpSpPr/>
          <p:nvPr/>
        </p:nvGrpSpPr>
        <p:grpSpPr>
          <a:xfrm>
            <a:off x="2230020" y="3327399"/>
            <a:ext cx="7959009" cy="2942771"/>
            <a:chOff x="3522654" y="2947977"/>
            <a:chExt cx="5341771" cy="1878816"/>
          </a:xfrm>
        </p:grpSpPr>
        <p:grpSp>
          <p:nvGrpSpPr>
            <p:cNvPr id="32" name="Group 31"/>
            <p:cNvGrpSpPr/>
            <p:nvPr/>
          </p:nvGrpSpPr>
          <p:grpSpPr>
            <a:xfrm>
              <a:off x="3522654" y="3280178"/>
              <a:ext cx="5341771" cy="1546615"/>
              <a:chOff x="3522654" y="3280178"/>
              <a:chExt cx="5341771" cy="1546615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3522654" y="3418433"/>
                <a:ext cx="744546" cy="1371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sz="2400"/>
                  <a:t>Chal.</a:t>
                </a: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6705600" y="3398043"/>
                <a:ext cx="685800" cy="14287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sz="2400"/>
                  <a:t>Adv.</a:t>
                </a:r>
              </a:p>
            </p:txBody>
          </p:sp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3522654" y="3751659"/>
                <a:ext cx="59054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 err="1"/>
                  <a:t>k</a:t>
                </a:r>
                <a:r>
                  <a:rPr lang="en-US" sz="2400" dirty="0" err="1">
                    <a:sym typeface="Symbol" pitchFamily="18" charset="2"/>
                  </a:rPr>
                  <a:t>K</a:t>
                </a:r>
                <a:endParaRPr lang="en-US" sz="2400" b="1" dirty="0">
                  <a:cs typeface="Arial" charset="0"/>
                  <a:sym typeface="Symbol" pitchFamily="18" charset="2"/>
                </a:endParaRPr>
              </a:p>
            </p:txBody>
          </p:sp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 flipH="1">
                <a:off x="4343400" y="4346973"/>
                <a:ext cx="2362200" cy="107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0" name="Text Box 10"/>
              <p:cNvSpPr txBox="1">
                <a:spLocks noChangeArrowheads="1"/>
              </p:cNvSpPr>
              <p:nvPr/>
            </p:nvSpPr>
            <p:spPr bwMode="auto">
              <a:xfrm>
                <a:off x="4998168" y="4030662"/>
                <a:ext cx="919964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m</a:t>
                </a:r>
                <a:r>
                  <a:rPr lang="en-US" sz="2400" b="1" baseline="-25000" dirty="0"/>
                  <a:t>0</a:t>
                </a:r>
                <a:r>
                  <a:rPr lang="en-US" sz="2400" b="1" dirty="0"/>
                  <a:t> , m</a:t>
                </a:r>
                <a:r>
                  <a:rPr lang="en-US" sz="2400" b="1" baseline="-25000" dirty="0"/>
                  <a:t>1 </a:t>
                </a:r>
                <a:r>
                  <a:rPr lang="en-US" sz="2400" dirty="0">
                    <a:sym typeface="Symbol" pitchFamily="18" charset="2"/>
                  </a:rPr>
                  <a:t> </a:t>
                </a:r>
              </a:p>
            </p:txBody>
          </p:sp>
          <p:grpSp>
            <p:nvGrpSpPr>
              <p:cNvPr id="21" name="Group 20"/>
              <p:cNvGrpSpPr>
                <a:grpSpLocks/>
              </p:cNvGrpSpPr>
              <p:nvPr/>
            </p:nvGrpSpPr>
            <p:grpSpPr bwMode="auto">
              <a:xfrm>
                <a:off x="4267076" y="4389846"/>
                <a:ext cx="2578553" cy="346472"/>
                <a:chOff x="1651" y="2149"/>
                <a:chExt cx="2653" cy="291"/>
              </a:xfrm>
            </p:grpSpPr>
            <p:sp>
              <p:nvSpPr>
                <p:cNvPr id="22" name="Line 12"/>
                <p:cNvSpPr>
                  <a:spLocks noChangeShapeType="1"/>
                </p:cNvSpPr>
                <p:nvPr/>
              </p:nvSpPr>
              <p:spPr bwMode="auto">
                <a:xfrm>
                  <a:off x="1651" y="2410"/>
                  <a:ext cx="25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117" y="2149"/>
                  <a:ext cx="218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c’ </a:t>
                  </a:r>
                  <a:r>
                    <a:rPr lang="en-US" sz="2400" dirty="0">
                      <a:sym typeface="Symbol" pitchFamily="18" charset="2"/>
                    </a:rPr>
                    <a:t> </a:t>
                  </a:r>
                  <a:r>
                    <a:rPr lang="en-US" sz="2400" b="1" dirty="0" err="1">
                      <a:sym typeface="Symbol"/>
                    </a:rPr>
                    <a:t>m</a:t>
                  </a:r>
                  <a:r>
                    <a:rPr lang="en-US" sz="2667" b="1" baseline="-25000" dirty="0" err="1">
                      <a:sym typeface="Symbol"/>
                    </a:rPr>
                    <a:t>b</a:t>
                  </a:r>
                  <a:r>
                    <a:rPr lang="en-US" sz="2400" dirty="0" err="1">
                      <a:sym typeface="Symbol"/>
                    </a:rPr>
                    <a:t>⨁F</a:t>
                  </a:r>
                  <a:r>
                    <a:rPr lang="en-US" sz="2400" dirty="0"/>
                    <a:t>(k, FIV)</a:t>
                  </a:r>
                </a:p>
              </p:txBody>
            </p:sp>
          </p:grpSp>
          <p:grpSp>
            <p:nvGrpSpPr>
              <p:cNvPr id="24" name="Group 23"/>
              <p:cNvGrpSpPr>
                <a:grpSpLocks/>
              </p:cNvGrpSpPr>
              <p:nvPr/>
            </p:nvGrpSpPr>
            <p:grpSpPr bwMode="auto">
              <a:xfrm>
                <a:off x="4343502" y="3280178"/>
                <a:ext cx="2362375" cy="346472"/>
                <a:chOff x="1809" y="2014"/>
                <a:chExt cx="2504" cy="291"/>
              </a:xfrm>
            </p:grpSpPr>
            <p:sp>
              <p:nvSpPr>
                <p:cNvPr id="25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809" y="2304"/>
                  <a:ext cx="25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496" y="2014"/>
                  <a:ext cx="682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1" dirty="0"/>
                    <a:t>m</a:t>
                  </a:r>
                  <a:r>
                    <a:rPr lang="en-US" sz="2400" b="1" baseline="-25000" dirty="0"/>
                    <a:t> </a:t>
                  </a:r>
                  <a:r>
                    <a:rPr lang="en-US" sz="2400" b="1" dirty="0"/>
                    <a:t>,</a:t>
                  </a:r>
                  <a:r>
                    <a:rPr lang="en-US" sz="2400" b="1" baseline="-25000" dirty="0"/>
                    <a:t> </a:t>
                  </a:r>
                  <a:r>
                    <a:rPr lang="en-US" sz="2400" b="1" dirty="0"/>
                    <a:t>m</a:t>
                  </a:r>
                  <a:endParaRPr lang="en-US" sz="2400" dirty="0">
                    <a:sym typeface="Symbol" pitchFamily="18" charset="2"/>
                  </a:endParaRPr>
                </a:p>
              </p:txBody>
            </p:sp>
          </p:grpSp>
          <p:grpSp>
            <p:nvGrpSpPr>
              <p:cNvPr id="27" name="Group 26"/>
              <p:cNvGrpSpPr>
                <a:grpSpLocks/>
              </p:cNvGrpSpPr>
              <p:nvPr/>
            </p:nvGrpSpPr>
            <p:grpSpPr bwMode="auto">
              <a:xfrm>
                <a:off x="4267121" y="3606399"/>
                <a:ext cx="2438505" cy="346472"/>
                <a:chOff x="1729" y="2422"/>
                <a:chExt cx="2533" cy="291"/>
              </a:xfrm>
            </p:grpSpPr>
            <p:sp>
              <p:nvSpPr>
                <p:cNvPr id="28" name="Line 21"/>
                <p:cNvSpPr>
                  <a:spLocks noChangeShapeType="1"/>
                </p:cNvSpPr>
                <p:nvPr/>
              </p:nvSpPr>
              <p:spPr bwMode="auto">
                <a:xfrm>
                  <a:off x="1729" y="2688"/>
                  <a:ext cx="2533" cy="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9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168" y="2422"/>
                  <a:ext cx="171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c </a:t>
                  </a:r>
                  <a:r>
                    <a:rPr lang="en-US" sz="2400" dirty="0">
                      <a:sym typeface="Symbol"/>
                    </a:rPr>
                    <a:t></a:t>
                  </a:r>
                  <a:r>
                    <a:rPr lang="en-US" sz="2400" dirty="0" err="1">
                      <a:sym typeface="Symbol"/>
                    </a:rPr>
                    <a:t>m⨁F</a:t>
                  </a:r>
                  <a:r>
                    <a:rPr lang="en-US" sz="2400" dirty="0"/>
                    <a:t>(k, FIV)</a:t>
                  </a:r>
                </a:p>
              </p:txBody>
            </p:sp>
          </p:grpSp>
          <p:sp>
            <p:nvSpPr>
              <p:cNvPr id="30" name="TextBox 29"/>
              <p:cNvSpPr txBox="1"/>
              <p:nvPr/>
            </p:nvSpPr>
            <p:spPr>
              <a:xfrm>
                <a:off x="7355358" y="4124740"/>
                <a:ext cx="1509067" cy="6232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output 0 if</a:t>
                </a:r>
              </a:p>
              <a:p>
                <a:r>
                  <a:rPr lang="en-US" sz="2400" dirty="0"/>
                  <a:t>   </a:t>
                </a:r>
                <a:r>
                  <a:rPr lang="en-US" sz="2400" dirty="0" err="1"/>
                  <a:t>c</a:t>
                </a:r>
                <a:r>
                  <a:rPr lang="en-US" sz="2400" dirty="0" err="1">
                    <a:sym typeface="Symbol"/>
                  </a:rPr>
                  <a:t>⨁</a:t>
                </a:r>
                <a:r>
                  <a:rPr lang="en-US" sz="2400" dirty="0" err="1"/>
                  <a:t>c</a:t>
                </a:r>
                <a:r>
                  <a:rPr lang="en-US" sz="2400" dirty="0"/>
                  <a:t>’=m</a:t>
                </a:r>
                <a:r>
                  <a:rPr lang="en-US" sz="2400" dirty="0">
                    <a:sym typeface="Symbol"/>
                  </a:rPr>
                  <a:t>⨁m</a:t>
                </a:r>
                <a:r>
                  <a:rPr lang="en-US" sz="2400" baseline="-25000" dirty="0">
                    <a:sym typeface="Symbol"/>
                  </a:rPr>
                  <a:t>0</a:t>
                </a:r>
                <a:endParaRPr lang="en-US" sz="2400" baseline="-25000" dirty="0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 bwMode="auto">
              <a:xfrm flipV="1">
                <a:off x="7391400" y="4769643"/>
                <a:ext cx="1188168" cy="142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sp>
          <p:nvSpPr>
            <p:cNvPr id="36" name="Text Box 6"/>
            <p:cNvSpPr txBox="1">
              <a:spLocks noChangeArrowheads="1"/>
            </p:cNvSpPr>
            <p:nvPr/>
          </p:nvSpPr>
          <p:spPr bwMode="auto">
            <a:xfrm>
              <a:off x="3763090" y="2947977"/>
              <a:ext cx="259928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3841311" y="3105150"/>
              <a:ext cx="0" cy="30343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Фиксированный </a:t>
            </a:r>
            <a:r>
              <a:rPr lang="en-US" dirty="0"/>
              <a:t>IV </a:t>
            </a:r>
            <a:r>
              <a:rPr lang="ru-RU" dirty="0"/>
              <a:t>в </a:t>
            </a:r>
            <a:r>
              <a:rPr lang="en-US" dirty="0"/>
              <a:t>CTR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2"/>
              <p:cNvSpPr txBox="1">
                <a:spLocks/>
              </p:cNvSpPr>
              <p:nvPr/>
            </p:nvSpPr>
            <p:spPr>
              <a:xfrm>
                <a:off x="609600" y="1643218"/>
                <a:ext cx="4767832" cy="1600200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b="1" dirty="0"/>
                  <a:t>Фиксировванный </a:t>
                </a:r>
                <a:r>
                  <a:rPr lang="en-US" b="1" dirty="0"/>
                  <a:t>IV</a:t>
                </a:r>
                <a:r>
                  <a:rPr lang="ru-RU" b="1" dirty="0"/>
                  <a:t> в </a:t>
                </a:r>
                <a:r>
                  <a:rPr lang="en-US" b="1" dirty="0"/>
                  <a:t>CTR </a:t>
                </a:r>
                <a:r>
                  <a:rPr lang="ru-RU" b="1" dirty="0"/>
                  <a:t>не даёт </a:t>
                </a:r>
                <a:r>
                  <a:rPr lang="en-US" b="1" dirty="0" err="1"/>
                  <a:t>det</a:t>
                </a:r>
                <a:r>
                  <a:rPr lang="en-US" b="1" dirty="0"/>
                  <a:t>-CPA </a:t>
                </a:r>
                <a:r>
                  <a:rPr lang="ru-RU" b="1" dirty="0"/>
                  <a:t>стойкость!</a:t>
                </a:r>
                <a:endParaRPr lang="en-US" b="1" dirty="0"/>
              </a:p>
              <a:p>
                <a:pPr marL="0" indent="0">
                  <a:spcBef>
                    <a:spcPts val="1632"/>
                  </a:spcBef>
                  <a:buFont typeface="Arial" panose="020B0604020202020204" pitchFamily="34" charset="0"/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{0,1}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⟶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{0,1}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</a:t>
                </a:r>
                <a:r>
                  <a:rPr lang="ru-RU" dirty="0"/>
                  <a:t>стойкая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</a:t>
                </a:r>
                <a:r>
                  <a:rPr lang="en-US" dirty="0"/>
                  <a:t>CTR</a:t>
                </a:r>
                <a:endParaRPr lang="en-US" baseline="30000" dirty="0"/>
              </a:p>
            </p:txBody>
          </p:sp>
        </mc:Choice>
        <mc:Fallback xmlns="">
          <p:sp>
            <p:nvSpPr>
              <p:cNvPr id="3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43218"/>
                <a:ext cx="4767832" cy="1600200"/>
              </a:xfrm>
              <a:prstGeom prst="rect">
                <a:avLst/>
              </a:prstGeom>
              <a:blipFill>
                <a:blip r:embed="rId2"/>
                <a:stretch>
                  <a:fillRect l="-2302" t="-8015" b="-80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92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5305103"/>
            <a:ext cx="10339316" cy="4950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Синтетический </a:t>
            </a:r>
            <a:r>
              <a:rPr lang="en-US" dirty="0"/>
              <a:t>IV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</a:t>
                </a:r>
                <a:r>
                  <a:rPr lang="en-US" dirty="0"/>
                  <a:t>CPA </a:t>
                </a:r>
                <a:r>
                  <a:rPr lang="ru-RU" dirty="0"/>
                  <a:t>стойкий шифр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функция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, использующая случайный вход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детерминированный шифр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Называется детерминированным шифром, использующем синтетический </a:t>
                </a:r>
                <a:r>
                  <a:rPr lang="en-US" dirty="0"/>
                  <a:t>IV.</a:t>
                </a:r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NB: </a:t>
                </a:r>
                <a:r>
                  <a:rPr lang="ru-RU" dirty="0"/>
                  <a:t>конструкция похожа на использование </a:t>
                </a:r>
                <a:r>
                  <a:rPr lang="en-US" dirty="0"/>
                  <a:t>nonce </a:t>
                </a:r>
                <a:r>
                  <a:rPr lang="ru-RU" dirty="0"/>
                  <a:t>в </a:t>
                </a:r>
                <a:r>
                  <a:rPr lang="en-US" dirty="0"/>
                  <a:t>CTR </a:t>
                </a:r>
                <a:r>
                  <a:rPr lang="ru-RU" dirty="0"/>
                  <a:t>и </a:t>
                </a:r>
                <a:r>
                  <a:rPr lang="en-US" dirty="0"/>
                  <a:t>CBC</a:t>
                </a:r>
                <a:r>
                  <a:rPr lang="ru-RU" dirty="0"/>
                  <a:t>, но случайность заменяется не шифрованием уникального </a:t>
                </a:r>
                <a:r>
                  <a:rPr lang="en-US" dirty="0"/>
                  <a:t>nonce</a:t>
                </a:r>
                <a:r>
                  <a:rPr lang="ru-RU" dirty="0"/>
                  <a:t>, а шифрованием уникального сообщения (сообщения уникальны для </a:t>
                </a:r>
                <a:r>
                  <a:rPr lang="en-US" dirty="0" err="1"/>
                  <a:t>det</a:t>
                </a:r>
                <a:r>
                  <a:rPr lang="en-US" dirty="0"/>
                  <a:t>-CPA)</a:t>
                </a:r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b="1" dirty="0"/>
                  <a:t>Теорема 8.</a:t>
                </a:r>
                <a:r>
                  <a:rPr lang="en-US" b="1" dirty="0"/>
                  <a:t>4</a:t>
                </a:r>
                <a:r>
                  <a:rPr lang="ru-RU" b="1" dirty="0"/>
                  <a:t>.</a:t>
                </a:r>
                <a:r>
                  <a:rPr lang="en-US" b="1" dirty="0"/>
                  <a:t> </a:t>
                </a:r>
                <a:r>
                  <a:rPr lang="ru-RU" dirty="0"/>
                  <a:t>Описанный выше шифр является </a:t>
                </a:r>
                <a:r>
                  <a:rPr lang="en-US" dirty="0" err="1"/>
                  <a:t>det</a:t>
                </a:r>
                <a:r>
                  <a:rPr lang="en-US" dirty="0"/>
                  <a:t>-CPA </a:t>
                </a:r>
                <a:r>
                  <a:rPr lang="ru-RU" dirty="0"/>
                  <a:t>стойким.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b="0" i="0" dirty="0">
                    <a:ea typeface="Cambria Math" panose="02040503050406030204" pitchFamily="18" charset="0"/>
                  </a:rPr>
                  <a:t>без доказательства, или доказать самим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928" t="-1882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994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с использованием маски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Основания идея – после детерминированного шифрования накладывать на шифртекст некоторую маску, которая может быть использована для поиска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19" y="3659396"/>
            <a:ext cx="7282962" cy="251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22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с использованием маски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Пример – </a:t>
                </a:r>
                <a:r>
                  <a:rPr lang="en-US" dirty="0"/>
                  <a:t>Song</a:t>
                </a:r>
                <a:r>
                  <a:rPr lang="ru-RU" dirty="0"/>
                  <a:t>, </a:t>
                </a:r>
                <a:r>
                  <a:rPr lang="en-US" dirty="0"/>
                  <a:t>Wagner</a:t>
                </a:r>
                <a:r>
                  <a:rPr lang="ru-RU" dirty="0"/>
                  <a:t>, </a:t>
                </a:r>
                <a:r>
                  <a:rPr lang="en-US" dirty="0" err="1"/>
                  <a:t>Perrig</a:t>
                </a:r>
                <a:r>
                  <a:rPr lang="ru-RU" dirty="0"/>
                  <a:t> «</a:t>
                </a:r>
                <a:r>
                  <a:rPr lang="en-US" dirty="0"/>
                  <a:t>Practical</a:t>
                </a:r>
                <a:r>
                  <a:rPr lang="ru-RU" dirty="0"/>
                  <a:t> </a:t>
                </a:r>
                <a:r>
                  <a:rPr lang="en-US" dirty="0"/>
                  <a:t>Techniques</a:t>
                </a:r>
                <a:r>
                  <a:rPr lang="ru-RU" dirty="0"/>
                  <a:t> </a:t>
                </a:r>
                <a:r>
                  <a:rPr lang="en-US" dirty="0"/>
                  <a:t>for</a:t>
                </a:r>
                <a:r>
                  <a:rPr lang="ru-RU" dirty="0"/>
                  <a:t> </a:t>
                </a:r>
                <a:r>
                  <a:rPr lang="en-US" dirty="0"/>
                  <a:t>Searches</a:t>
                </a:r>
                <a:r>
                  <a:rPr lang="ru-RU" dirty="0"/>
                  <a:t> </a:t>
                </a:r>
                <a:r>
                  <a:rPr lang="en-US" dirty="0"/>
                  <a:t>on</a:t>
                </a:r>
                <a:r>
                  <a:rPr lang="ru-RU" dirty="0"/>
                  <a:t> </a:t>
                </a:r>
                <a:r>
                  <a:rPr lang="en-US" dirty="0"/>
                  <a:t>Encrypted</a:t>
                </a:r>
                <a:r>
                  <a:rPr lang="ru-RU" dirty="0"/>
                  <a:t> </a:t>
                </a:r>
                <a:r>
                  <a:rPr lang="en-US" dirty="0"/>
                  <a:t>Data</a:t>
                </a:r>
                <a:r>
                  <a:rPr lang="ru-RU" dirty="0"/>
                  <a:t>».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ru-RU" dirty="0"/>
                  <a:t> – </a:t>
                </a:r>
                <a:r>
                  <a:rPr lang="en-US" dirty="0"/>
                  <a:t>PRF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54" y="2897067"/>
            <a:ext cx="4993664" cy="307107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418" y="3025446"/>
            <a:ext cx="6434152" cy="28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7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с использованием маски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Пример – </a:t>
                </a:r>
                <a:r>
                  <a:rPr lang="en-US" dirty="0"/>
                  <a:t>Song</a:t>
                </a:r>
                <a:r>
                  <a:rPr lang="ru-RU" dirty="0"/>
                  <a:t>, </a:t>
                </a:r>
                <a:r>
                  <a:rPr lang="en-US" dirty="0"/>
                  <a:t>Wagner</a:t>
                </a:r>
                <a:r>
                  <a:rPr lang="ru-RU" dirty="0"/>
                  <a:t>, </a:t>
                </a:r>
                <a:r>
                  <a:rPr lang="en-US" dirty="0" err="1"/>
                  <a:t>Perrig</a:t>
                </a:r>
                <a:r>
                  <a:rPr lang="ru-RU" dirty="0"/>
                  <a:t> «</a:t>
                </a:r>
                <a:r>
                  <a:rPr lang="en-US" dirty="0"/>
                  <a:t>Practical</a:t>
                </a:r>
                <a:r>
                  <a:rPr lang="ru-RU" dirty="0"/>
                  <a:t> </a:t>
                </a:r>
                <a:r>
                  <a:rPr lang="en-US" dirty="0"/>
                  <a:t>Techniques</a:t>
                </a:r>
                <a:r>
                  <a:rPr lang="ru-RU" dirty="0"/>
                  <a:t> </a:t>
                </a:r>
                <a:r>
                  <a:rPr lang="en-US" dirty="0"/>
                  <a:t>for</a:t>
                </a:r>
                <a:r>
                  <a:rPr lang="ru-RU" dirty="0"/>
                  <a:t> </a:t>
                </a:r>
                <a:r>
                  <a:rPr lang="en-US" dirty="0"/>
                  <a:t>Searches</a:t>
                </a:r>
                <a:r>
                  <a:rPr lang="ru-RU" dirty="0"/>
                  <a:t> </a:t>
                </a:r>
                <a:r>
                  <a:rPr lang="en-US" dirty="0"/>
                  <a:t>on</a:t>
                </a:r>
                <a:r>
                  <a:rPr lang="ru-RU" dirty="0"/>
                  <a:t> </a:t>
                </a:r>
                <a:r>
                  <a:rPr lang="en-US" dirty="0"/>
                  <a:t>Encrypted</a:t>
                </a:r>
                <a:r>
                  <a:rPr lang="ru-RU" dirty="0"/>
                  <a:t> </a:t>
                </a:r>
                <a:r>
                  <a:rPr lang="en-US" dirty="0"/>
                  <a:t>Data</a:t>
                </a:r>
                <a:r>
                  <a:rPr lang="ru-RU" dirty="0"/>
                  <a:t>».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ru-RU" dirty="0"/>
                  <a:t> – </a:t>
                </a:r>
                <a:r>
                  <a:rPr lang="en-US" dirty="0"/>
                  <a:t>PRF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54" y="2897067"/>
            <a:ext cx="4993664" cy="30710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864" y="2899264"/>
            <a:ext cx="5897458" cy="306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53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r>
              <a:rPr lang="ru-RU" dirty="0"/>
              <a:t>Шифры решают задачу конфиденциальности информации при пассивном противнике (противнике не влияющем на передаваемые сообщения)</a:t>
            </a:r>
          </a:p>
          <a:p>
            <a:r>
              <a:rPr lang="ru-RU" dirty="0"/>
              <a:t>Абсолютная стойкость – достижимая, но не удобная для построения шифров модель</a:t>
            </a:r>
          </a:p>
          <a:p>
            <a:r>
              <a:rPr lang="ru-RU" dirty="0"/>
              <a:t>Ослабленная версия абсолютной стойкости – семантическая стойкость (одноразовая семантическая стойкость) – используется для построения и анализа шифров при однократном использовании ключа</a:t>
            </a:r>
          </a:p>
          <a:p>
            <a:r>
              <a:rPr lang="ru-RU" dirty="0"/>
              <a:t>При шифровании нескольких сообщений используется </a:t>
            </a:r>
            <a:r>
              <a:rPr lang="en-US" dirty="0"/>
              <a:t>CPA </a:t>
            </a:r>
            <a:r>
              <a:rPr lang="ru-RU" dirty="0"/>
              <a:t>стойкость (многоразовая семантическая стойкость), позволяющая противнику получать </a:t>
            </a:r>
            <a:r>
              <a:rPr lang="ru-RU" dirty="0" err="1"/>
              <a:t>зашифрования</a:t>
            </a:r>
            <a:r>
              <a:rPr lang="ru-RU" dirty="0"/>
              <a:t> нескольких сообщений на одном ключе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926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r>
              <a:rPr lang="ru-RU" dirty="0"/>
              <a:t>Основные примитивы – псевдослучайные генераторы, поточные шифры, блочные шифры.</a:t>
            </a:r>
          </a:p>
          <a:p>
            <a:r>
              <a:rPr lang="ru-RU" dirty="0"/>
              <a:t>Для построения семантических и </a:t>
            </a:r>
            <a:r>
              <a:rPr lang="en-US" dirty="0"/>
              <a:t>CPA </a:t>
            </a:r>
            <a:r>
              <a:rPr lang="ru-RU" dirty="0"/>
              <a:t>стойких шифров из блочных шифров используют режимы шифрования.</a:t>
            </a:r>
          </a:p>
          <a:p>
            <a:r>
              <a:rPr lang="ru-RU" dirty="0"/>
              <a:t>При использовании режимов шифрования, требующих случайный </a:t>
            </a:r>
            <a:r>
              <a:rPr lang="en-US" dirty="0"/>
              <a:t>IV</a:t>
            </a:r>
            <a:r>
              <a:rPr lang="ru-RU" dirty="0"/>
              <a:t>, он должен быть случайным!</a:t>
            </a:r>
            <a:endParaRPr lang="en-US" dirty="0"/>
          </a:p>
          <a:p>
            <a:r>
              <a:rPr lang="ru-RU" dirty="0"/>
              <a:t>Шифры не должны использоваться для обеспечения целостности или аутентичности!</a:t>
            </a:r>
          </a:p>
          <a:p>
            <a:r>
              <a:rPr lang="ru-RU" dirty="0"/>
              <a:t>Для ряда приложений могут использоваться и другие модели </a:t>
            </a:r>
            <a:r>
              <a:rPr lang="ru-RU"/>
              <a:t>стойкости шифров.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666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420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1031953"/>
                <a:ext cx="1013459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1 – режим </a:t>
                </a:r>
                <a:r>
                  <a:rPr lang="en-US" sz="2800" b="1" dirty="0"/>
                  <a:t>CFB</a:t>
                </a:r>
                <a:r>
                  <a:rPr lang="ru-RU" sz="2800" dirty="0"/>
                  <a:t>, как следует выбирать ключ?</a:t>
                </a:r>
                <a:endParaRPr lang="en-US" sz="2800" dirty="0"/>
              </a:p>
              <a:p>
                <a:r>
                  <a:rPr lang="en-US" sz="2800" dirty="0"/>
                  <a:t>2 – </a:t>
                </a:r>
                <a:r>
                  <a:rPr lang="ru-RU" sz="2800" dirty="0"/>
                  <a:t>режим </a:t>
                </a:r>
                <a:r>
                  <a:rPr lang="en-US" sz="2800" b="1" dirty="0"/>
                  <a:t>CBC</a:t>
                </a:r>
                <a:r>
                  <a:rPr lang="ru-RU" sz="2800" dirty="0"/>
                  <a:t>, как следует выбирать </a:t>
                </a:r>
                <a:r>
                  <a:rPr lang="en-US" sz="2800" dirty="0"/>
                  <a:t>IV?</a:t>
                </a:r>
              </a:p>
              <a:p>
                <a:r>
                  <a:rPr lang="ru-RU" sz="2800" dirty="0"/>
                  <a:t>3 – режим </a:t>
                </a:r>
                <a:r>
                  <a:rPr lang="en-US" sz="2800" b="1" dirty="0"/>
                  <a:t>CBC</a:t>
                </a:r>
                <a:r>
                  <a:rPr lang="ru-RU" sz="2800" dirty="0"/>
                  <a:t>, можно ли для шифрования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800" dirty="0"/>
                  <a:t> в качестве </a:t>
                </a:r>
                <a:r>
                  <a:rPr lang="en-US" sz="2800" dirty="0"/>
                  <a:t>IV</a:t>
                </a:r>
                <a:r>
                  <a:rPr lang="ru-RU" sz="2800" dirty="0"/>
                  <a:t> использовать</a:t>
                </a:r>
                <a:r>
                  <a:rPr lang="en-US" sz="2800" dirty="0"/>
                  <a:t> </a:t>
                </a:r>
                <a:r>
                  <a:rPr lang="ru-RU" sz="2800" dirty="0"/>
                  <a:t>последний блок шт. предыдущего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? </a:t>
                </a:r>
                <a:r>
                  <a:rPr lang="ru-RU" sz="2800" b="1" dirty="0"/>
                  <a:t>Почему</a:t>
                </a:r>
                <a:r>
                  <a:rPr lang="ru-RU" sz="2800" dirty="0"/>
                  <a:t>?</a:t>
                </a:r>
              </a:p>
              <a:p>
                <a:r>
                  <a:rPr lang="ru-RU" sz="2800" dirty="0"/>
                  <a:t>4 – Режим </a:t>
                </a:r>
                <a:r>
                  <a:rPr lang="en-US" sz="2800" b="1" dirty="0"/>
                  <a:t>CTR</a:t>
                </a:r>
                <a:r>
                  <a:rPr lang="ru-RU" sz="2800" dirty="0"/>
                  <a:t>, можно ли для шифрования двух различных сообщений одинаковой длинны использовать одинаковое начальное заполнение счётчика (под счётчиком понимается вектор длинны равно размеру блок, который инкрементируется для каждого блока О.Т.)? </a:t>
                </a:r>
                <a:r>
                  <a:rPr lang="ru-RU" sz="2800" b="1" dirty="0"/>
                  <a:t>Почему</a:t>
                </a:r>
                <a:r>
                  <a:rPr lang="ru-RU" sz="2800" dirty="0"/>
                  <a:t>?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31953"/>
                <a:ext cx="10134599" cy="4401205"/>
              </a:xfrm>
              <a:prstGeom prst="rect">
                <a:avLst/>
              </a:prstGeom>
              <a:blipFill rotWithShape="0">
                <a:blip r:embed="rId2"/>
                <a:stretch>
                  <a:fillRect l="-1264" t="-1247" r="-241" b="-30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1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47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1031953"/>
                <a:ext cx="1013459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i="1" dirty="0"/>
                  <a:t> –</a:t>
                </a:r>
                <a:r>
                  <a:rPr lang="ru-RU" sz="2800" i="1" dirty="0"/>
                  <a:t> </a:t>
                </a:r>
                <a:r>
                  <a:rPr lang="en-US" sz="2800" dirty="0"/>
                  <a:t>CBC </a:t>
                </a:r>
                <a:r>
                  <a:rPr lang="ru-RU" sz="2800" dirty="0"/>
                  <a:t>шифр для сообщений </a:t>
                </a:r>
                <a:r>
                  <a:rPr lang="ru-RU" sz="2800" b="1" dirty="0"/>
                  <a:t>произвольной длинны</a:t>
                </a:r>
                <a:r>
                  <a:rPr lang="ru-RU" sz="2800" dirty="0"/>
                  <a:t>, использующий некоторый блочный шифр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800" dirty="0"/>
                  <a:t> с размером блока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800" dirty="0"/>
                  <a:t> бит</a:t>
                </a:r>
                <a:r>
                  <a:rPr lang="ru-RU" sz="2800" i="1" dirty="0"/>
                  <a:t>.</a:t>
                </a:r>
              </a:p>
              <a:p>
                <a:endParaRPr lang="ru-RU" sz="2800" i="1" dirty="0"/>
              </a:p>
              <a:p>
                <a:pPr marL="514350" indent="-514350">
                  <a:buAutoNum type="arabicPeriod"/>
                </a:pPr>
                <a:r>
                  <a:rPr lang="ru-RU" sz="2800" dirty="0"/>
                  <a:t>Как следует выбрать ключ для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ru-RU" sz="2800" dirty="0"/>
                  <a:t>?</a:t>
                </a:r>
              </a:p>
              <a:p>
                <a:pPr marL="514350" indent="-514350">
                  <a:buAutoNum type="arabicPeriod"/>
                </a:pPr>
                <a:r>
                  <a:rPr lang="ru-RU" sz="2800" dirty="0"/>
                  <a:t>Как следует выбрать и передавать </a:t>
                </a:r>
                <a:r>
                  <a:rPr lang="en-US" sz="2800" dirty="0"/>
                  <a:t>IV?</a:t>
                </a:r>
                <a:endParaRPr lang="ru-RU" sz="2800" dirty="0"/>
              </a:p>
              <a:p>
                <a:pPr marL="514350" indent="-514350">
                  <a:buAutoNum type="arabicPeriod"/>
                </a:pPr>
                <a:r>
                  <a:rPr lang="ru-RU" sz="2800" dirty="0"/>
                  <a:t>Какой ожидаемый размер </a:t>
                </a:r>
                <a:r>
                  <a:rPr lang="ru-RU" sz="2800" dirty="0" err="1"/>
                  <a:t>ш.т</a:t>
                </a:r>
                <a:r>
                  <a:rPr lang="ru-RU" sz="2800" dirty="0"/>
                  <a:t>. при шифровании сообщения размера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ru-RU" sz="2800" dirty="0"/>
                  <a:t> бит?</a:t>
                </a:r>
                <a:endParaRPr lang="en-US" sz="2800" dirty="0"/>
              </a:p>
              <a:p>
                <a:pPr marL="514350" indent="-514350">
                  <a:buFontTx/>
                  <a:buAutoNum type="arabicPeriod"/>
                </a:pPr>
                <a:r>
                  <a:rPr lang="ru-RU" sz="2800" dirty="0"/>
                  <a:t>Какой ожидаемый размер </a:t>
                </a:r>
                <a:r>
                  <a:rPr lang="ru-RU" sz="2800" dirty="0" err="1"/>
                  <a:t>ш.т</a:t>
                </a:r>
                <a:r>
                  <a:rPr lang="ru-RU" sz="2800" dirty="0"/>
                  <a:t>. при шифровании сообщения размера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бит?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31953"/>
                <a:ext cx="10134599" cy="4401205"/>
              </a:xfrm>
              <a:prstGeom prst="rect">
                <a:avLst/>
              </a:prstGeom>
              <a:blipFill rotWithShape="0">
                <a:blip r:embed="rId2"/>
                <a:stretch>
                  <a:fillRect l="-1264" t="-1247" b="-30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29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4026</TotalTime>
  <Words>3613</Words>
  <Application>Microsoft Office PowerPoint</Application>
  <PresentationFormat>Широкоэкранный</PresentationFormat>
  <Paragraphs>382</Paragraphs>
  <Slides>47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Consolas</vt:lpstr>
      <vt:lpstr>Symbol</vt:lpstr>
      <vt:lpstr>Тема Office</vt:lpstr>
      <vt:lpstr>Прикладная Криптография: Симметричные криптосистемы nonce CPA, det-CPA</vt:lpstr>
      <vt:lpstr>Тест.</vt:lpstr>
      <vt:lpstr>Тест.</vt:lpstr>
      <vt:lpstr>TIME </vt:lpstr>
      <vt:lpstr>CPA</vt:lpstr>
      <vt:lpstr>Вероятностное шифрование</vt:lpstr>
      <vt:lpstr>Вероятностное шифрование</vt:lpstr>
      <vt:lpstr>CBC vs CTR</vt:lpstr>
      <vt:lpstr>Nonce based encryption</vt:lpstr>
      <vt:lpstr>Nonce based encryption</vt:lpstr>
      <vt:lpstr>Nonce based encryption</vt:lpstr>
      <vt:lpstr>Nonce based CPA</vt:lpstr>
      <vt:lpstr>Вспоминаем гибридную конструкцию</vt:lpstr>
      <vt:lpstr>Игра на CPA стойкость гибридной конструкции</vt:lpstr>
      <vt:lpstr>Стойкость гибридной конструкции</vt:lpstr>
      <vt:lpstr>Гибридная конструкция на основе nonce</vt:lpstr>
      <vt:lpstr>Детерминированная гибридная конструкция</vt:lpstr>
      <vt:lpstr>Вспоминаем рандомизированный CTR режим</vt:lpstr>
      <vt:lpstr>Игра на CPA стойкость рандомизированного CTR режима</vt:lpstr>
      <vt:lpstr>Стойкость рандомизированного CTR режима</vt:lpstr>
      <vt:lpstr>Nonce based CTR</vt:lpstr>
      <vt:lpstr>Nonce based CTR</vt:lpstr>
      <vt:lpstr>Nonce based CTR</vt:lpstr>
      <vt:lpstr>CBC</vt:lpstr>
      <vt:lpstr>Игра на CPA стойкость CBC</vt:lpstr>
      <vt:lpstr>CBC</vt:lpstr>
      <vt:lpstr>Nonce based CBC</vt:lpstr>
      <vt:lpstr>Nonce based CBC</vt:lpstr>
      <vt:lpstr>CBC</vt:lpstr>
      <vt:lpstr>Поиск в базе данных</vt:lpstr>
      <vt:lpstr>Поиск в базе данных</vt:lpstr>
      <vt:lpstr>Детерминированное шифрование</vt:lpstr>
      <vt:lpstr>The need for det. Encryption   (no nonce)</vt:lpstr>
      <vt:lpstr>The need for det. Encryption   (no nonce)</vt:lpstr>
      <vt:lpstr>Детерминированное шифрование</vt:lpstr>
      <vt:lpstr>Deterministic CPA security</vt:lpstr>
      <vt:lpstr>Фиксированный IV в CBC</vt:lpstr>
      <vt:lpstr>Презентация PowerPoint</vt:lpstr>
      <vt:lpstr>Синтетический IV</vt:lpstr>
      <vt:lpstr>Поиск с использованием маски</vt:lpstr>
      <vt:lpstr>Поиск с использованием маски</vt:lpstr>
      <vt:lpstr>Поиск с использованием маски</vt:lpstr>
      <vt:lpstr>Выводы</vt:lpstr>
      <vt:lpstr>Выводы</vt:lpstr>
      <vt:lpstr>Презентация PowerPoint</vt:lpstr>
      <vt:lpstr>Тест.</vt:lpstr>
      <vt:lpstr>Тест.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1090</cp:revision>
  <dcterms:created xsi:type="dcterms:W3CDTF">2018-08-24T12:25:18Z</dcterms:created>
  <dcterms:modified xsi:type="dcterms:W3CDTF">2026-10-14T10:21:58Z</dcterms:modified>
</cp:coreProperties>
</file>