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sldIdLst>
    <p:sldId id="296" r:id="rId2"/>
    <p:sldId id="297" r:id="rId3"/>
    <p:sldId id="340" r:id="rId4"/>
    <p:sldId id="331" r:id="rId5"/>
    <p:sldId id="334" r:id="rId6"/>
    <p:sldId id="332" r:id="rId7"/>
    <p:sldId id="333" r:id="rId8"/>
    <p:sldId id="342" r:id="rId9"/>
    <p:sldId id="336" r:id="rId10"/>
    <p:sldId id="341" r:id="rId11"/>
    <p:sldId id="338" r:id="rId12"/>
    <p:sldId id="337" r:id="rId13"/>
    <p:sldId id="343" r:id="rId14"/>
    <p:sldId id="339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359" r:id="rId30"/>
    <p:sldId id="364" r:id="rId31"/>
    <p:sldId id="373" r:id="rId32"/>
    <p:sldId id="358" r:id="rId33"/>
    <p:sldId id="360" r:id="rId34"/>
    <p:sldId id="361" r:id="rId35"/>
    <p:sldId id="362" r:id="rId36"/>
    <p:sldId id="363" r:id="rId37"/>
    <p:sldId id="365" r:id="rId38"/>
    <p:sldId id="371" r:id="rId39"/>
    <p:sldId id="366" r:id="rId40"/>
    <p:sldId id="370" r:id="rId41"/>
    <p:sldId id="367" r:id="rId42"/>
    <p:sldId id="368" r:id="rId43"/>
    <p:sldId id="369" r:id="rId44"/>
    <p:sldId id="372" r:id="rId4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9489B66-A166-4A24-B55F-EDCB98E57948}">
          <p14:sldIdLst>
            <p14:sldId id="296"/>
          </p14:sldIdLst>
        </p14:section>
        <p14:section name="Лирическое отступление в блочные шифры" id="{166FB796-C804-494D-81E1-46F5EBC53402}">
          <p14:sldIdLst>
            <p14:sldId id="297"/>
            <p14:sldId id="340"/>
            <p14:sldId id="331"/>
            <p14:sldId id="334"/>
            <p14:sldId id="332"/>
            <p14:sldId id="333"/>
            <p14:sldId id="342"/>
            <p14:sldId id="336"/>
            <p14:sldId id="341"/>
            <p14:sldId id="338"/>
            <p14:sldId id="337"/>
            <p14:sldId id="343"/>
            <p14:sldId id="339"/>
          </p14:sldIdLst>
        </p14:section>
        <p14:section name="Свойтва стойкости блочных шифров" id="{2C77A2BA-BD35-45BF-901F-8D54177E878C}">
          <p14:sldIdLst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</p14:sldIdLst>
        </p14:section>
        <p14:section name="Реальные конструкции поточных шифров" id="{C4CD0A65-B822-46E5-B632-31A9388536BE}">
          <p14:sldIdLst>
            <p14:sldId id="353"/>
            <p14:sldId id="354"/>
            <p14:sldId id="355"/>
            <p14:sldId id="356"/>
            <p14:sldId id="357"/>
            <p14:sldId id="359"/>
            <p14:sldId id="364"/>
            <p14:sldId id="373"/>
            <p14:sldId id="358"/>
          </p14:sldIdLst>
        </p14:section>
        <p14:section name="Построение блочных шифров" id="{59469AD1-2B57-4335-8612-62B992E44F08}">
          <p14:sldIdLst>
            <p14:sldId id="360"/>
            <p14:sldId id="361"/>
            <p14:sldId id="362"/>
            <p14:sldId id="363"/>
            <p14:sldId id="365"/>
          </p14:sldIdLst>
        </p14:section>
        <p14:section name="Прочие режимы шифрования" id="{E90C6DAE-2EE3-45D4-B396-A281E5A769EC}">
          <p14:sldIdLst>
            <p14:sldId id="371"/>
            <p14:sldId id="366"/>
            <p14:sldId id="370"/>
            <p14:sldId id="367"/>
            <p14:sldId id="368"/>
            <p14:sldId id="369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41" autoAdjust="0"/>
    <p:restoredTop sz="94664" autoAdjust="0"/>
  </p:normalViewPr>
  <p:slideViewPr>
    <p:cSldViewPr snapToGrid="0">
      <p:cViewPr varScale="1">
        <p:scale>
          <a:sx n="108" d="100"/>
          <a:sy n="108" d="100"/>
        </p:scale>
        <p:origin x="88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77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30.09.2026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30.09.2026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30.09.2026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510.png"/><Relationship Id="rId7" Type="http://schemas.openxmlformats.org/officeDocument/2006/relationships/image" Target="../media/image47.png"/><Relationship Id="rId12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1.png"/><Relationship Id="rId3" Type="http://schemas.openxmlformats.org/officeDocument/2006/relationships/image" Target="../media/image510.png"/><Relationship Id="rId7" Type="http://schemas.openxmlformats.org/officeDocument/2006/relationships/image" Target="../media/image47.png"/><Relationship Id="rId12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5" Type="http://schemas.openxmlformats.org/officeDocument/2006/relationships/image" Target="../media/image15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1.png"/><Relationship Id="rId3" Type="http://schemas.openxmlformats.org/officeDocument/2006/relationships/image" Target="../media/image510.png"/><Relationship Id="rId7" Type="http://schemas.openxmlformats.org/officeDocument/2006/relationships/image" Target="../media/image47.png"/><Relationship Id="rId12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1.png"/><Relationship Id="rId3" Type="http://schemas.openxmlformats.org/officeDocument/2006/relationships/image" Target="../media/image510.png"/><Relationship Id="rId7" Type="http://schemas.openxmlformats.org/officeDocument/2006/relationships/image" Target="../media/image47.png"/><Relationship Id="rId12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1.png"/><Relationship Id="rId3" Type="http://schemas.openxmlformats.org/officeDocument/2006/relationships/image" Target="../media/image510.png"/><Relationship Id="rId7" Type="http://schemas.openxmlformats.org/officeDocument/2006/relationships/image" Target="../media/image47.png"/><Relationship Id="rId12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5" Type="http://schemas.openxmlformats.org/officeDocument/2006/relationships/image" Target="../media/image23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openxmlformats.org/officeDocument/2006/relationships/image" Target="../media/image510.png"/><Relationship Id="rId7" Type="http://schemas.openxmlformats.org/officeDocument/2006/relationships/image" Target="../media/image47.png"/><Relationship Id="rId12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0.png"/><Relationship Id="rId3" Type="http://schemas.openxmlformats.org/officeDocument/2006/relationships/image" Target="../media/image510.png"/><Relationship Id="rId7" Type="http://schemas.openxmlformats.org/officeDocument/2006/relationships/image" Target="../media/image47.png"/><Relationship Id="rId12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5" Type="http://schemas.openxmlformats.org/officeDocument/2006/relationships/image" Target="../media/image23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0.png"/><Relationship Id="rId3" Type="http://schemas.openxmlformats.org/officeDocument/2006/relationships/image" Target="../media/image270.png"/><Relationship Id="rId12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5" Type="http://schemas.openxmlformats.org/officeDocument/2006/relationships/image" Target="../media/image29.png"/><Relationship Id="rId15" Type="http://schemas.openxmlformats.org/officeDocument/2006/relationships/image" Target="../media/image32.png"/><Relationship Id="rId10" Type="http://schemas.openxmlformats.org/officeDocument/2006/relationships/image" Target="../media/image8.png"/><Relationship Id="rId4" Type="http://schemas.openxmlformats.org/officeDocument/2006/relationships/image" Target="../media/image28.png"/><Relationship Id="rId1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0.png"/><Relationship Id="rId3" Type="http://schemas.openxmlformats.org/officeDocument/2006/relationships/image" Target="../media/image270.png"/><Relationship Id="rId12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5" Type="http://schemas.openxmlformats.org/officeDocument/2006/relationships/image" Target="../media/image29.png"/><Relationship Id="rId15" Type="http://schemas.openxmlformats.org/officeDocument/2006/relationships/image" Target="../media/image32.png"/><Relationship Id="rId10" Type="http://schemas.openxmlformats.org/officeDocument/2006/relationships/image" Target="../media/image8.png"/><Relationship Id="rId4" Type="http://schemas.openxmlformats.org/officeDocument/2006/relationships/image" Target="../media/image28.png"/><Relationship Id="rId1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50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5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240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50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48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240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9" Type="http://schemas.openxmlformats.org/officeDocument/2006/relationships/image" Target="../media/image49.png"/><Relationship Id="rId1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0.png"/><Relationship Id="rId3" Type="http://schemas.openxmlformats.org/officeDocument/2006/relationships/image" Target="../media/image270.png"/><Relationship Id="rId12" Type="http://schemas.openxmlformats.org/officeDocument/2006/relationships/image" Target="../media/image52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5" Type="http://schemas.openxmlformats.org/officeDocument/2006/relationships/image" Target="../media/image29.png"/><Relationship Id="rId15" Type="http://schemas.openxmlformats.org/officeDocument/2006/relationships/image" Target="../media/image53.png"/><Relationship Id="rId10" Type="http://schemas.openxmlformats.org/officeDocument/2006/relationships/image" Target="../media/image8.png"/><Relationship Id="rId4" Type="http://schemas.openxmlformats.org/officeDocument/2006/relationships/image" Target="../media/image511.png"/><Relationship Id="rId1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0.png"/><Relationship Id="rId3" Type="http://schemas.openxmlformats.org/officeDocument/2006/relationships/image" Target="../media/image270.png"/><Relationship Id="rId12" Type="http://schemas.openxmlformats.org/officeDocument/2006/relationships/image" Target="../media/image54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5" Type="http://schemas.openxmlformats.org/officeDocument/2006/relationships/image" Target="../media/image29.png"/><Relationship Id="rId15" Type="http://schemas.openxmlformats.org/officeDocument/2006/relationships/image" Target="../media/image53.png"/><Relationship Id="rId10" Type="http://schemas.openxmlformats.org/officeDocument/2006/relationships/image" Target="../media/image8.png"/><Relationship Id="rId4" Type="http://schemas.openxmlformats.org/officeDocument/2006/relationships/image" Target="../media/image511.png"/><Relationship Id="rId1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065212"/>
            <a:ext cx="9144000" cy="310560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Прикладная Криптография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Симметричные криптосистемы</a:t>
            </a:r>
            <a:br>
              <a:rPr lang="en-US" dirty="0"/>
            </a:br>
            <a:r>
              <a:rPr lang="ru-RU" dirty="0"/>
              <a:t>Блочные шифры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 dirty="0"/>
              <a:t>МИФИ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07301C-C8CD-4B86-9C74-7317EB3AC0BA}"/>
              </a:ext>
            </a:extLst>
          </p:cNvPr>
          <p:cNvSpPr txBox="1"/>
          <p:nvPr/>
        </p:nvSpPr>
        <p:spPr>
          <a:xfrm>
            <a:off x="9634910" y="6165543"/>
            <a:ext cx="1935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Плейлист в ожидании пары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879BB4-89C1-473F-B87B-8E82B88DD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340" y="4328906"/>
            <a:ext cx="192405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17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Блочный шифр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2339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Блочный шифр </a:t>
                </a:r>
                <a:r>
                  <a:rPr lang="ru-RU" dirty="0"/>
                  <a:t>– детерминированный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о</a:t>
                </a:r>
                <a:r>
                  <a:rPr lang="ru-RU" dirty="0" err="1"/>
                  <a:t>пределённный</a:t>
                </a:r>
                <a:r>
                  <a:rPr lang="ru-RU" dirty="0"/>
                  <a:t>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– блок данных,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– множество блоков,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 – множество ключей блочного шифра.</a:t>
                </a:r>
              </a:p>
              <a:p>
                <a:pPr marL="0" indent="0">
                  <a:buNone/>
                </a:pPr>
                <a:r>
                  <a:rPr lang="ru-RU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 определим функцию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∗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,∗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Из свойства корректности имеем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ru-RU" dirty="0"/>
                  <a:t> - подстановки на множестве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ru-RU" dirty="0"/>
                  <a:t> – тождественная подстановка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.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233981"/>
              </a:xfrm>
              <a:blipFill>
                <a:blip r:embed="rId2"/>
                <a:stretch>
                  <a:fillRect l="-1043" t="-2158" r="-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046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Блочный шифр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Блочные шифры является основным криптографическим примитивом для построения симметричных криптосистем.</a:t>
            </a:r>
          </a:p>
          <a:p>
            <a:r>
              <a:rPr lang="ru-RU" dirty="0"/>
              <a:t>Могут быть использованы для как схем шифрования (в схемах шифрования), так и для обеспечения аутентичности (в кодах аутентичности сообщений.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231643" y="4586050"/>
            <a:ext cx="1371600" cy="7429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2800" b="1" dirty="0">
                <a:solidFill>
                  <a:srgbClr val="0000FF"/>
                </a:solidFill>
                <a:latin typeface="Tahoma" pitchFamily="34" charset="0"/>
              </a:rPr>
              <a:t>E, D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4317243" y="49861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6603243" y="49861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517643" y="4814650"/>
            <a:ext cx="2209800" cy="342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>
                <a:latin typeface="Tahoma" pitchFamily="34" charset="0"/>
              </a:rPr>
              <a:t>CT Block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8230417" y="4468733"/>
            <a:ext cx="7489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latin typeface="Tahoma" pitchFamily="34" charset="0"/>
              </a:rPr>
              <a:t>n</a:t>
            </a:r>
            <a:r>
              <a:rPr lang="en-US" sz="1800" dirty="0">
                <a:latin typeface="Tahoma" pitchFamily="34" charset="0"/>
              </a:rPr>
              <a:t> </a:t>
            </a:r>
            <a:r>
              <a:rPr lang="ru-RU" sz="1800" dirty="0">
                <a:latin typeface="Tahoma" pitchFamily="34" charset="0"/>
              </a:rPr>
              <a:t>бит</a:t>
            </a:r>
            <a:endParaRPr lang="en-US" sz="1800" dirty="0">
              <a:latin typeface="Tahoma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132843" y="4814650"/>
            <a:ext cx="2209800" cy="342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2000">
                <a:latin typeface="Tahoma" pitchFamily="34" charset="0"/>
              </a:rPr>
              <a:t>PT Block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744704" y="4444365"/>
            <a:ext cx="8130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Tahoma" pitchFamily="34" charset="0"/>
              </a:rPr>
              <a:t>n </a:t>
            </a:r>
            <a:r>
              <a:rPr lang="ru-RU" sz="2000" dirty="0">
                <a:latin typeface="Tahoma" pitchFamily="34" charset="0"/>
              </a:rPr>
              <a:t>бит</a:t>
            </a:r>
            <a:endParaRPr lang="en-US" sz="2000" dirty="0">
              <a:latin typeface="Tahoma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460243" y="5786200"/>
            <a:ext cx="990600" cy="342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>
                <a:latin typeface="Tahoma" pitchFamily="34" charset="0"/>
              </a:rPr>
              <a:t>Key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520152" y="5807631"/>
            <a:ext cx="7360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>
                <a:latin typeface="Tahoma" pitchFamily="34" charset="0"/>
              </a:rPr>
              <a:t>k </a:t>
            </a:r>
            <a:r>
              <a:rPr lang="ru-RU" sz="1800" dirty="0">
                <a:latin typeface="Tahoma" pitchFamily="34" charset="0"/>
              </a:rPr>
              <a:t>бит</a:t>
            </a:r>
            <a:endParaRPr lang="en-US" sz="1800" dirty="0">
              <a:latin typeface="Tahoma" pitchFamily="34" charset="0"/>
            </a:endParaRP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V="1">
            <a:off x="5993643" y="5329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3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стойкости блочного шифры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Для блочных шифров требуют более строгое требование, чем семантическая стойкость</a:t>
                </a:r>
                <a:r>
                  <a:rPr lang="en-US" dirty="0"/>
                  <a:t>:</a:t>
                </a:r>
                <a:r>
                  <a:rPr lang="ru-RU" dirty="0"/>
                  <a:t> для случайно выбранного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 подстановка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 должна быть </a:t>
                </a:r>
                <a:r>
                  <a:rPr lang="ru-RU" b="1" dirty="0"/>
                  <a:t>псевдослучайной</a:t>
                </a:r>
                <a:r>
                  <a:rPr lang="ru-RU" dirty="0"/>
                  <a:t>, т.е. выглядеть вычислительно неотличимой от случайной подстановки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b="1" dirty="0"/>
                  <a:t>Идея игры </a:t>
                </a:r>
                <a:r>
                  <a:rPr lang="ru-RU" dirty="0"/>
                  <a:t>– эффективный противник имеет доступ к оракулу, который выбирает </a:t>
                </a:r>
                <a:r>
                  <a:rPr lang="ru-RU" b="1" dirty="0"/>
                  <a:t>функцию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ru-RU" b="1" dirty="0"/>
                  <a:t> либо случайно</a:t>
                </a:r>
                <a:r>
                  <a:rPr lang="ru-RU" dirty="0"/>
                  <a:t>, </a:t>
                </a:r>
                <a:r>
                  <a:rPr lang="ru-RU" b="1" dirty="0"/>
                  <a:t>либо</a:t>
                </a:r>
                <a:r>
                  <a:rPr lang="ru-RU" dirty="0"/>
                  <a:t> использует </a:t>
                </a:r>
                <a:r>
                  <a:rPr lang="ru-RU" b="1" dirty="0"/>
                  <a:t>псевдослучайную</a:t>
                </a:r>
                <a:r>
                  <a:rPr lang="ru-RU" dirty="0"/>
                  <a:t> </a:t>
                </a:r>
                <a:r>
                  <a:rPr lang="ru-RU" b="1" dirty="0"/>
                  <a:t>функцию</a:t>
                </a:r>
                <a:r>
                  <a:rPr lang="ru-RU" dirty="0"/>
                  <a:t> на </a:t>
                </a:r>
                <a:r>
                  <a:rPr lang="ru-RU" b="1" dirty="0"/>
                  <a:t>случайном ключе</a:t>
                </a:r>
                <a:r>
                  <a:rPr lang="ru-RU" dirty="0"/>
                  <a:t>. Противник может получить произвольное число образов 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dirty="0"/>
                  <a:t> на указанных им входах. Задача – различить эксперименты описанной игры.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Претендента, реализующего доступ противника к некоторой 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dirty="0"/>
                  <a:t> называют </a:t>
                </a:r>
                <a:r>
                  <a:rPr lang="ru-RU" b="1" dirty="0"/>
                  <a:t>оракулом</a:t>
                </a:r>
                <a:r>
                  <a:rPr lang="ru-RU" dirty="0"/>
                  <a:t> функции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28" t="-2480" r="-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832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PRP </a:t>
            </a:r>
            <a:r>
              <a:rPr lang="ru-RU" dirty="0"/>
              <a:t>и </a:t>
            </a:r>
            <a:r>
              <a:rPr lang="en-US" dirty="0"/>
              <a:t>PRF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73958"/>
                <a:ext cx="11008056" cy="488239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ym typeface="Symbol" pitchFamily="18" charset="2"/>
                  </a:rPr>
                  <a:t>Пусть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𝑌</m:t>
                    </m:r>
                  </m:oMath>
                </a14:m>
                <a:r>
                  <a:rPr lang="en-US" dirty="0">
                    <a:sym typeface="Symbol" pitchFamily="18" charset="2"/>
                  </a:rPr>
                  <a:t> </a:t>
                </a:r>
                <a:r>
                  <a:rPr lang="ru-RU" dirty="0">
                    <a:sym typeface="Symbol" pitchFamily="18" charset="2"/>
                  </a:rPr>
                  <a:t>определена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)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ym typeface="Symbol" pitchFamily="18" charset="2"/>
                  </a:rPr>
                  <a:t>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𝐹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 – </a:t>
                </a:r>
                <a:r>
                  <a:rPr lang="ru-RU" b="1" dirty="0">
                    <a:sym typeface="Symbol" pitchFamily="18" charset="2"/>
                  </a:rPr>
                  <a:t>псевдослучайная функция (</a:t>
                </a:r>
                <a:r>
                  <a:rPr lang="en-US" b="1" dirty="0">
                    <a:sym typeface="Symbol" pitchFamily="18" charset="2"/>
                  </a:rPr>
                  <a:t>PRF)</a:t>
                </a:r>
                <a:r>
                  <a:rPr lang="ru-RU" dirty="0">
                    <a:sym typeface="Symbol" pitchFamily="18" charset="2"/>
                  </a:rPr>
                  <a:t>, если существует эффективный алгоритм, вычисляющий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ru-RU" dirty="0">
                  <a:sym typeface="Symbol" pitchFamily="18" charset="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ym typeface="Symbol" pitchFamily="18" charset="2"/>
                  </a:rPr>
                  <a:t>Пусть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  <m:r>
                      <a:rPr lang="en-US" b="0" i="0" smtClean="0">
                        <a:latin typeface="Cambria Math" panose="02040503050406030204" pitchFamily="18" charset="0"/>
                        <a:sym typeface="Symbol" pitchFamily="18" charset="2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</m:oMath>
                </a14:m>
                <a:r>
                  <a:rPr lang="en-US" dirty="0">
                    <a:sym typeface="Symbol" pitchFamily="18" charset="2"/>
                  </a:rPr>
                  <a:t> </a:t>
                </a:r>
                <a:r>
                  <a:rPr lang="ru-RU" dirty="0">
                    <a:sym typeface="Symbol" pitchFamily="18" charset="2"/>
                  </a:rPr>
                  <a:t>определена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  <a:sym typeface="Symbol" pitchFamily="18" charset="2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sym typeface="Symbol" pitchFamily="18" charset="2"/>
                      </a:rPr>
                      <m:t>)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. </a:t>
                </a:r>
                <a:endParaRPr lang="en-US" dirty="0">
                  <a:sym typeface="Symbol" pitchFamily="18" charset="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ym typeface="Symbol" pitchFamily="18" charset="2"/>
                  </a:rPr>
                  <a:t>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 – </a:t>
                </a:r>
                <a:r>
                  <a:rPr lang="ru-RU" b="1" dirty="0">
                    <a:sym typeface="Symbol" pitchFamily="18" charset="2"/>
                  </a:rPr>
                  <a:t>псевдослучайная подстановка (</a:t>
                </a:r>
                <a:r>
                  <a:rPr lang="en-US" b="1" dirty="0">
                    <a:sym typeface="Symbol" pitchFamily="18" charset="2"/>
                  </a:rPr>
                  <a:t>PRP)</a:t>
                </a:r>
                <a:r>
                  <a:rPr lang="ru-RU" dirty="0">
                    <a:sym typeface="Symbol" pitchFamily="18" charset="2"/>
                  </a:rPr>
                  <a:t>, если</a:t>
                </a: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sym typeface="Symbol" pitchFamily="18" charset="2"/>
                  </a:rPr>
                  <a:t>Существует эффективный алгоритм вычисляющий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</m:oMath>
                </a14:m>
                <a:endParaRPr lang="en-US" dirty="0">
                  <a:sym typeface="Symbol" pitchFamily="18" charset="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sym typeface="Symbol" pitchFamily="18" charset="2"/>
                  </a:rPr>
                  <a:t>Функция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,∗)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 – подстановка.</a:t>
                </a:r>
              </a:p>
            </p:txBody>
          </p:sp>
        </mc:Choice>
        <mc:Fallback>
          <p:sp>
            <p:nvSpPr>
              <p:cNvPr id="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3958"/>
                <a:ext cx="11008056" cy="4882391"/>
              </a:xfrm>
              <a:blipFill>
                <a:blip r:embed="rId2"/>
                <a:stretch>
                  <a:fillRect l="-9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409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на стойкость</a:t>
            </a:r>
            <a:r>
              <a:rPr lang="en-US" dirty="0"/>
              <a:t> PRF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117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dirty="0"/>
                  <a:t> событие того,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=1</a:t>
                </a:r>
                <a:r>
                  <a:rPr lang="ru-RU" dirty="0"/>
                  <a:t> в эксперименте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Тогда преимуществом алгоритма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 псевдослучайной 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называется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117200"/>
              </a:xfrm>
              <a:blipFill>
                <a:blip r:embed="rId2"/>
                <a:stretch>
                  <a:fillRect l="-1043" t="-4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</a:t>
            </a:fld>
            <a:endParaRPr lang="ru-RU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48" name="Line 5"/>
          <p:cNvSpPr>
            <a:spLocks noChangeShapeType="1"/>
          </p:cNvSpPr>
          <p:nvPr/>
        </p:nvSpPr>
        <p:spPr bwMode="auto">
          <a:xfrm>
            <a:off x="2973151" y="3970914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22"/>
          <p:cNvGrpSpPr>
            <a:grpSpLocks/>
          </p:cNvGrpSpPr>
          <p:nvPr/>
        </p:nvGrpSpPr>
        <p:grpSpPr bwMode="auto">
          <a:xfrm>
            <a:off x="8882368" y="6042819"/>
            <a:ext cx="1570040" cy="678656"/>
            <a:chOff x="4560" y="2842"/>
            <a:chExt cx="989" cy="570"/>
          </a:xfrm>
        </p:grpSpPr>
        <p:sp>
          <p:nvSpPr>
            <p:cNvPr id="51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Funs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5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blipFill>
                <a:blip r:embed="rId8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Box 6"/>
              <p:cNvSpPr txBox="1">
                <a:spLocks noChangeArrowheads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57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58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60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61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oup 21"/>
          <p:cNvGrpSpPr>
            <a:grpSpLocks/>
          </p:cNvGrpSpPr>
          <p:nvPr/>
        </p:nvGrpSpPr>
        <p:grpSpPr bwMode="auto">
          <a:xfrm>
            <a:off x="4769739" y="5209689"/>
            <a:ext cx="3464929" cy="400050"/>
            <a:chOff x="1776" y="1816"/>
            <a:chExt cx="2400" cy="336"/>
          </a:xfrm>
        </p:grpSpPr>
        <p:sp>
          <p:nvSpPr>
            <p:cNvPr id="63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64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20"/>
          <p:cNvGrpSpPr>
            <a:grpSpLocks/>
          </p:cNvGrpSpPr>
          <p:nvPr/>
        </p:nvGrpSpPr>
        <p:grpSpPr bwMode="auto">
          <a:xfrm>
            <a:off x="4736135" y="5559096"/>
            <a:ext cx="3464929" cy="427436"/>
            <a:chOff x="1776" y="2051"/>
            <a:chExt cx="2352" cy="359"/>
          </a:xfrm>
        </p:grpSpPr>
        <p:sp>
          <p:nvSpPr>
            <p:cNvPr id="6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67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blipFill>
                  <a:blip r:embed="rId13"/>
                  <a:stretch>
                    <a:fillRect t="-9091" r="-1282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1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Стойкая </a:t>
            </a:r>
            <a:r>
              <a:rPr lang="en-US" dirty="0"/>
              <a:t>PRF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117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, определённая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называется стойкой </a:t>
                </a:r>
                <a:r>
                  <a:rPr lang="en-US" dirty="0"/>
                  <a:t>PRF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эффективный алгоритм в игре на стойкость </a:t>
                </a:r>
                <a:r>
                  <a:rPr lang="en-US" dirty="0"/>
                  <a:t>PRF</a:t>
                </a:r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– пренебрежимо малая величина.</a:t>
                </a:r>
                <a:endParaRPr lang="ru-RU" i="1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117200"/>
              </a:xfrm>
              <a:blipFill>
                <a:blip r:embed="rId2"/>
                <a:stretch>
                  <a:fillRect l="-1043" t="-4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20" name="Line 5"/>
          <p:cNvSpPr>
            <a:spLocks noChangeShapeType="1"/>
          </p:cNvSpPr>
          <p:nvPr/>
        </p:nvSpPr>
        <p:spPr bwMode="auto">
          <a:xfrm>
            <a:off x="2973151" y="3970914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2"/>
          <p:cNvGrpSpPr>
            <a:grpSpLocks/>
          </p:cNvGrpSpPr>
          <p:nvPr/>
        </p:nvGrpSpPr>
        <p:grpSpPr bwMode="auto">
          <a:xfrm>
            <a:off x="8882368" y="6042819"/>
            <a:ext cx="1570040" cy="678656"/>
            <a:chOff x="4560" y="2842"/>
            <a:chExt cx="989" cy="570"/>
          </a:xfrm>
        </p:grpSpPr>
        <p:sp>
          <p:nvSpPr>
            <p:cNvPr id="26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Funs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blipFill>
                <a:blip r:embed="rId8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6"/>
              <p:cNvSpPr txBox="1">
                <a:spLocks noChangeArrowheads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32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35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21"/>
          <p:cNvGrpSpPr>
            <a:grpSpLocks/>
          </p:cNvGrpSpPr>
          <p:nvPr/>
        </p:nvGrpSpPr>
        <p:grpSpPr bwMode="auto">
          <a:xfrm>
            <a:off x="4769739" y="5209689"/>
            <a:ext cx="3464929" cy="400050"/>
            <a:chOff x="1776" y="1816"/>
            <a:chExt cx="2400" cy="336"/>
          </a:xfrm>
        </p:grpSpPr>
        <p:sp>
          <p:nvSpPr>
            <p:cNvPr id="41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4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20"/>
          <p:cNvGrpSpPr>
            <a:grpSpLocks/>
          </p:cNvGrpSpPr>
          <p:nvPr/>
        </p:nvGrpSpPr>
        <p:grpSpPr bwMode="auto">
          <a:xfrm>
            <a:off x="4736135" y="5559096"/>
            <a:ext cx="3464929" cy="427436"/>
            <a:chOff x="1776" y="2051"/>
            <a:chExt cx="2352" cy="359"/>
          </a:xfrm>
        </p:grpSpPr>
        <p:sp>
          <p:nvSpPr>
            <p:cNvPr id="4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4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blipFill>
                  <a:blip r:embed="rId13"/>
                  <a:stretch>
                    <a:fillRect t="-9091" r="-1282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1723791" y="6299755"/>
                <a:ext cx="47543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]|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791" y="6299755"/>
                <a:ext cx="4754378" cy="461665"/>
              </a:xfrm>
              <a:prstGeom prst="rect">
                <a:avLst/>
              </a:prstGeom>
              <a:blipFill>
                <a:blip r:embed="rId1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029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на стойкость</a:t>
            </a:r>
            <a:r>
              <a:rPr lang="en-US" dirty="0"/>
              <a:t> PRF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21863" y="1375057"/>
                <a:ext cx="10515600" cy="250045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Альтернативное определение</a:t>
                </a:r>
                <a:r>
                  <a:rPr lang="en-US" dirty="0"/>
                  <a:t>:</a:t>
                </a:r>
                <a:r>
                  <a:rPr lang="ru-RU" dirty="0"/>
                  <a:t> рассмотри игру на угадывание бита (см лекцию 1) для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</a:t>
                </a:r>
                <a:r>
                  <a:rPr lang="en-US" dirty="0"/>
                  <a:t> PRF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. Определим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sSubSup>
                      <m:sSubSupPr>
                        <m:ctrlPr>
                          <a:rPr lang="ru-RU" b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  <m:sup>
                        <m:r>
                          <a:rPr lang="ru-RU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−1/2|</m:t>
                    </m:r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– стойкая </a:t>
                </a:r>
                <a:r>
                  <a:rPr lang="en-US" dirty="0"/>
                  <a:t>PRF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эффективный алгоритм в игре на угадывание бита в игре на стойкость </a:t>
                </a:r>
                <a:r>
                  <a:rPr lang="en-US" dirty="0"/>
                  <a:t>PRF</a:t>
                </a:r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PRF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– пренебрежимо малая величина.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PRF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  <m:sup/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=2∗</m:t>
                    </m:r>
                    <m:sSubSup>
                      <m:sSub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PRF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r>
                  <a:rPr lang="ru-RU" i="1" dirty="0"/>
                  <a:t>. </a:t>
                </a:r>
                <a:r>
                  <a:rPr lang="ru-RU" dirty="0"/>
                  <a:t>(см лекцию 1) </a:t>
                </a:r>
                <a:endParaRPr lang="ru-RU" i="1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1863" y="1375057"/>
                <a:ext cx="10515600" cy="2500456"/>
              </a:xfrm>
              <a:blipFill>
                <a:blip r:embed="rId2"/>
                <a:stretch>
                  <a:fillRect l="-1043" t="-3902" b="-29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48" name="Line 5"/>
          <p:cNvSpPr>
            <a:spLocks noChangeShapeType="1"/>
          </p:cNvSpPr>
          <p:nvPr/>
        </p:nvSpPr>
        <p:spPr bwMode="auto">
          <a:xfrm>
            <a:off x="2973151" y="3970914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22"/>
          <p:cNvGrpSpPr>
            <a:grpSpLocks/>
          </p:cNvGrpSpPr>
          <p:nvPr/>
        </p:nvGrpSpPr>
        <p:grpSpPr bwMode="auto">
          <a:xfrm>
            <a:off x="8882368" y="6042819"/>
            <a:ext cx="1570040" cy="678656"/>
            <a:chOff x="4560" y="2842"/>
            <a:chExt cx="989" cy="570"/>
          </a:xfrm>
        </p:grpSpPr>
        <p:sp>
          <p:nvSpPr>
            <p:cNvPr id="51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Funs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5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blipFill>
                <a:blip r:embed="rId8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Box 6"/>
              <p:cNvSpPr txBox="1">
                <a:spLocks noChangeArrowheads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57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58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60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61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oup 21"/>
          <p:cNvGrpSpPr>
            <a:grpSpLocks/>
          </p:cNvGrpSpPr>
          <p:nvPr/>
        </p:nvGrpSpPr>
        <p:grpSpPr bwMode="auto">
          <a:xfrm>
            <a:off x="4769739" y="5209689"/>
            <a:ext cx="3464929" cy="400050"/>
            <a:chOff x="1776" y="1816"/>
            <a:chExt cx="2400" cy="336"/>
          </a:xfrm>
        </p:grpSpPr>
        <p:sp>
          <p:nvSpPr>
            <p:cNvPr id="63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64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20"/>
          <p:cNvGrpSpPr>
            <a:grpSpLocks/>
          </p:cNvGrpSpPr>
          <p:nvPr/>
        </p:nvGrpSpPr>
        <p:grpSpPr bwMode="auto">
          <a:xfrm>
            <a:off x="4736135" y="5559096"/>
            <a:ext cx="3464929" cy="427436"/>
            <a:chOff x="1776" y="2051"/>
            <a:chExt cx="2352" cy="359"/>
          </a:xfrm>
        </p:grpSpPr>
        <p:sp>
          <p:nvSpPr>
            <p:cNvPr id="6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67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blipFill>
                  <a:blip r:embed="rId13"/>
                  <a:stretch>
                    <a:fillRect t="-9091" r="-1282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5101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Вычислительная неразличимость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4770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– PRF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Рассмотрим множество возможных значений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Funs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}.</m:t>
                    </m:r>
                  </m:oMath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ru-RU" dirty="0"/>
                  <a:t>Тогда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ru-RU" dirty="0"/>
                  <a:t> – стойкая </a:t>
                </a:r>
                <a:r>
                  <a:rPr lang="en-US" dirty="0"/>
                  <a:t>PRF</a:t>
                </a:r>
                <a:r>
                  <a:rPr lang="ru-RU" dirty="0"/>
                  <a:t>, то эффективный Противник не может</a:t>
                </a:r>
                <a:r>
                  <a:rPr lang="en-US" dirty="0"/>
                  <a:t> </a:t>
                </a:r>
                <a:r>
                  <a:rPr lang="ru-RU" dirty="0"/>
                  <a:t>имея доступ к оракулу отличить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Funs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Funs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endParaRPr lang="ru-RU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477000" cy="4351338"/>
              </a:xfrm>
              <a:blipFill>
                <a:blip r:embed="rId2"/>
                <a:stretch>
                  <a:fillRect l="-1695" t="-2101" r="-5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вал 4"/>
              <p:cNvSpPr/>
              <p:nvPr/>
            </p:nvSpPr>
            <p:spPr>
              <a:xfrm>
                <a:off x="7577750" y="1937442"/>
                <a:ext cx="3776050" cy="38386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</a:rPr>
                        <m:t>Funs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5" name="Овал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750" y="1937442"/>
                <a:ext cx="3776050" cy="383866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вал 5"/>
              <p:cNvSpPr/>
              <p:nvPr/>
            </p:nvSpPr>
            <p:spPr>
              <a:xfrm>
                <a:off x="9361283" y="2725093"/>
                <a:ext cx="851026" cy="805758"/>
              </a:xfrm>
              <a:prstGeom prst="ellipse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6" name="Овал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283" y="2725093"/>
                <a:ext cx="851026" cy="80575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1727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стойкая </a:t>
                </a:r>
                <a:r>
                  <a:rPr lang="en-US" dirty="0"/>
                  <a:t>PRF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Является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ли стойкой </a:t>
                </a:r>
                <a:r>
                  <a:rPr lang="en-US" dirty="0"/>
                  <a:t>PRF?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28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≠0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Нет, не является.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передаёт сообщение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, возвращает 0, если</a:t>
                </a:r>
                <a:r>
                  <a:rPr lang="en-US" dirty="0"/>
                  <a:t> </a:t>
                </a:r>
                <a:r>
                  <a:rPr lang="ru-RU" dirty="0"/>
                  <a:t>ответ претендента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</m:oMath>
                </a14:m>
                <a:r>
                  <a:rPr lang="ru-RU" dirty="0"/>
                  <a:t>, иначе 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128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&gt;1/2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597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на стойкость</a:t>
            </a:r>
            <a:r>
              <a:rPr lang="en-US" dirty="0"/>
              <a:t> PRP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117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Строится аналогично игре на </a:t>
                </a:r>
                <a:r>
                  <a:rPr lang="en-US" dirty="0"/>
                  <a:t>PRF</a:t>
                </a:r>
                <a:r>
                  <a:rPr lang="ru-RU" dirty="0"/>
                  <a:t>, но для подстановок.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dirty="0"/>
                  <a:t> событие того,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=1</a:t>
                </a:r>
                <a:r>
                  <a:rPr lang="ru-RU" dirty="0"/>
                  <a:t> в эксперименте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Тогда преимуществом алгоритма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 псевдослучайной подстановки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называется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117200"/>
              </a:xfrm>
              <a:blipFill>
                <a:blip r:embed="rId2"/>
                <a:stretch>
                  <a:fillRect l="-1043" t="-4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48" name="Line 5"/>
          <p:cNvSpPr>
            <a:spLocks noChangeShapeType="1"/>
          </p:cNvSpPr>
          <p:nvPr/>
        </p:nvSpPr>
        <p:spPr bwMode="auto">
          <a:xfrm>
            <a:off x="2973151" y="3970914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22"/>
          <p:cNvGrpSpPr>
            <a:grpSpLocks/>
          </p:cNvGrpSpPr>
          <p:nvPr/>
        </p:nvGrpSpPr>
        <p:grpSpPr bwMode="auto">
          <a:xfrm>
            <a:off x="8882368" y="6042819"/>
            <a:ext cx="1570040" cy="678656"/>
            <a:chOff x="4560" y="2842"/>
            <a:chExt cx="989" cy="570"/>
          </a:xfrm>
        </p:grpSpPr>
        <p:sp>
          <p:nvSpPr>
            <p:cNvPr id="51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5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blipFill>
                <a:blip r:embed="rId8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Box 6"/>
              <p:cNvSpPr txBox="1">
                <a:spLocks noChangeArrowheads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57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58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60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61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oup 21"/>
          <p:cNvGrpSpPr>
            <a:grpSpLocks/>
          </p:cNvGrpSpPr>
          <p:nvPr/>
        </p:nvGrpSpPr>
        <p:grpSpPr bwMode="auto">
          <a:xfrm>
            <a:off x="4769739" y="5209689"/>
            <a:ext cx="3464929" cy="400050"/>
            <a:chOff x="1776" y="1816"/>
            <a:chExt cx="2400" cy="336"/>
          </a:xfrm>
        </p:grpSpPr>
        <p:sp>
          <p:nvSpPr>
            <p:cNvPr id="63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64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20"/>
          <p:cNvGrpSpPr>
            <a:grpSpLocks/>
          </p:cNvGrpSpPr>
          <p:nvPr/>
        </p:nvGrpSpPr>
        <p:grpSpPr bwMode="auto">
          <a:xfrm>
            <a:off x="4736135" y="5559096"/>
            <a:ext cx="3464929" cy="427436"/>
            <a:chOff x="1776" y="2051"/>
            <a:chExt cx="2352" cy="359"/>
          </a:xfrm>
        </p:grpSpPr>
        <p:sp>
          <p:nvSpPr>
            <p:cNvPr id="6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67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68" cy="336"/>
                </a:xfrm>
                <a:prstGeom prst="rect">
                  <a:avLst/>
                </a:prstGeom>
                <a:blipFill>
                  <a:blip r:embed="rId13"/>
                  <a:stretch>
                    <a:fillRect t="-9091" r="-1282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8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Стойкая </a:t>
            </a:r>
            <a:r>
              <a:rPr lang="en-US" dirty="0"/>
              <a:t>PRP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117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, определённая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называется стойкой </a:t>
                </a:r>
                <a:r>
                  <a:rPr lang="en-US" dirty="0"/>
                  <a:t>PRP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эффективный алгоритм в игре на стойкость </a:t>
                </a:r>
                <a:r>
                  <a:rPr lang="en-US" dirty="0"/>
                  <a:t>PRP</a:t>
                </a:r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– пренебрежимо малая величина.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117200"/>
              </a:xfrm>
              <a:blipFill>
                <a:blip r:embed="rId2"/>
                <a:stretch>
                  <a:fillRect l="-1043" t="-4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20" name="Line 5"/>
          <p:cNvSpPr>
            <a:spLocks noChangeShapeType="1"/>
          </p:cNvSpPr>
          <p:nvPr/>
        </p:nvSpPr>
        <p:spPr bwMode="auto">
          <a:xfrm>
            <a:off x="2973151" y="3970914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2"/>
          <p:cNvGrpSpPr>
            <a:grpSpLocks/>
          </p:cNvGrpSpPr>
          <p:nvPr/>
        </p:nvGrpSpPr>
        <p:grpSpPr bwMode="auto">
          <a:xfrm>
            <a:off x="8882368" y="6042819"/>
            <a:ext cx="1570040" cy="678656"/>
            <a:chOff x="4560" y="2842"/>
            <a:chExt cx="989" cy="570"/>
          </a:xfrm>
        </p:grpSpPr>
        <p:sp>
          <p:nvSpPr>
            <p:cNvPr id="26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blipFill>
                <a:blip r:embed="rId8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6"/>
              <p:cNvSpPr txBox="1">
                <a:spLocks noChangeArrowheads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32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35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21"/>
          <p:cNvGrpSpPr>
            <a:grpSpLocks/>
          </p:cNvGrpSpPr>
          <p:nvPr/>
        </p:nvGrpSpPr>
        <p:grpSpPr bwMode="auto">
          <a:xfrm>
            <a:off x="4769739" y="5209689"/>
            <a:ext cx="3464929" cy="400050"/>
            <a:chOff x="1776" y="1816"/>
            <a:chExt cx="2400" cy="336"/>
          </a:xfrm>
        </p:grpSpPr>
        <p:sp>
          <p:nvSpPr>
            <p:cNvPr id="41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4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20"/>
          <p:cNvGrpSpPr>
            <a:grpSpLocks/>
          </p:cNvGrpSpPr>
          <p:nvPr/>
        </p:nvGrpSpPr>
        <p:grpSpPr bwMode="auto">
          <a:xfrm>
            <a:off x="4736135" y="5559096"/>
            <a:ext cx="3464929" cy="427436"/>
            <a:chOff x="1776" y="2051"/>
            <a:chExt cx="2352" cy="359"/>
          </a:xfrm>
        </p:grpSpPr>
        <p:sp>
          <p:nvSpPr>
            <p:cNvPr id="4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41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4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41" cy="336"/>
                </a:xfrm>
                <a:prstGeom prst="rect">
                  <a:avLst/>
                </a:prstGeom>
                <a:blipFill>
                  <a:blip r:embed="rId13"/>
                  <a:stretch>
                    <a:fillRect t="-9091" r="-3947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1723791" y="6299755"/>
                <a:ext cx="47543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]|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791" y="6299755"/>
                <a:ext cx="4754378" cy="461665"/>
              </a:xfrm>
              <a:prstGeom prst="rect">
                <a:avLst/>
              </a:prstGeom>
              <a:blipFill>
                <a:blip r:embed="rId1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635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на стойкость</a:t>
            </a:r>
            <a:r>
              <a:rPr lang="en-US" dirty="0"/>
              <a:t> PRP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21863" y="1375057"/>
                <a:ext cx="10515600" cy="250045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Альтернативное определение</a:t>
                </a:r>
                <a:r>
                  <a:rPr lang="en-US" dirty="0"/>
                  <a:t>:</a:t>
                </a:r>
                <a:r>
                  <a:rPr lang="ru-RU" dirty="0"/>
                  <a:t> рассмотри игру на угадывание бита (см лекцию 1) для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</a:t>
                </a:r>
                <a:r>
                  <a:rPr lang="en-US" dirty="0"/>
                  <a:t> PRP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. Определим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sSubSup>
                      <m:sSubSupPr>
                        <m:ctrlPr>
                          <a:rPr lang="ru-RU" b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  <m:sup>
                        <m:r>
                          <a:rPr lang="ru-RU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−1/2|</m:t>
                    </m:r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– стойкая </a:t>
                </a:r>
                <a:r>
                  <a:rPr lang="en-US" dirty="0"/>
                  <a:t>PRP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эффективный алгоритм в игре на угадывание бита в игре на стойкость </a:t>
                </a:r>
                <a:r>
                  <a:rPr lang="en-US" dirty="0"/>
                  <a:t>PRP</a:t>
                </a:r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– пренебрежимо малая величина.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  <m:sup/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=2∗</m:t>
                    </m:r>
                    <m:sSubSup>
                      <m:sSub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ru-RU" i="1" dirty="0"/>
                  <a:t>. </a:t>
                </a:r>
                <a:r>
                  <a:rPr lang="ru-RU" dirty="0"/>
                  <a:t>(см лекцию 1) </a:t>
                </a:r>
                <a:endParaRPr lang="ru-RU" i="1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1863" y="1375057"/>
                <a:ext cx="10515600" cy="2500456"/>
              </a:xfrm>
              <a:blipFill>
                <a:blip r:embed="rId2"/>
                <a:stretch>
                  <a:fillRect l="-1043" t="-3902" b="-29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13</a:t>
            </a:fld>
            <a:endParaRPr lang="ru-RU"/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48" name="Line 5"/>
          <p:cNvSpPr>
            <a:spLocks noChangeShapeType="1"/>
          </p:cNvSpPr>
          <p:nvPr/>
        </p:nvSpPr>
        <p:spPr bwMode="auto">
          <a:xfrm>
            <a:off x="2973151" y="3970914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22"/>
          <p:cNvGrpSpPr>
            <a:grpSpLocks/>
          </p:cNvGrpSpPr>
          <p:nvPr/>
        </p:nvGrpSpPr>
        <p:grpSpPr bwMode="auto">
          <a:xfrm>
            <a:off x="8882368" y="6042819"/>
            <a:ext cx="1570040" cy="678656"/>
            <a:chOff x="4560" y="2842"/>
            <a:chExt cx="989" cy="570"/>
          </a:xfrm>
        </p:grpSpPr>
        <p:sp>
          <p:nvSpPr>
            <p:cNvPr id="51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5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blipFill>
                <a:blip r:embed="rId8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Box 6"/>
              <p:cNvSpPr txBox="1">
                <a:spLocks noChangeArrowheads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57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58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60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61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oup 21"/>
          <p:cNvGrpSpPr>
            <a:grpSpLocks/>
          </p:cNvGrpSpPr>
          <p:nvPr/>
        </p:nvGrpSpPr>
        <p:grpSpPr bwMode="auto">
          <a:xfrm>
            <a:off x="4769739" y="5209689"/>
            <a:ext cx="3464929" cy="400050"/>
            <a:chOff x="1776" y="1816"/>
            <a:chExt cx="2400" cy="336"/>
          </a:xfrm>
        </p:grpSpPr>
        <p:sp>
          <p:nvSpPr>
            <p:cNvPr id="63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64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20"/>
          <p:cNvGrpSpPr>
            <a:grpSpLocks/>
          </p:cNvGrpSpPr>
          <p:nvPr/>
        </p:nvGrpSpPr>
        <p:grpSpPr bwMode="auto">
          <a:xfrm>
            <a:off x="4736135" y="5559096"/>
            <a:ext cx="3464929" cy="427436"/>
            <a:chOff x="1776" y="2051"/>
            <a:chExt cx="2352" cy="359"/>
          </a:xfrm>
        </p:grpSpPr>
        <p:sp>
          <p:nvSpPr>
            <p:cNvPr id="6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0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67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03" cy="336"/>
                </a:xfrm>
                <a:prstGeom prst="rect">
                  <a:avLst/>
                </a:prstGeom>
                <a:blipFill>
                  <a:blip r:embed="rId13"/>
                  <a:stretch>
                    <a:fillRect t="-9091" r="-3653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944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Стойкий блочный шифр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блочный шифр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стойкий блочный шифр,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– стойкая псевдослучайная перестановка. </a:t>
                </a:r>
              </a:p>
              <a:p>
                <a:pPr marL="0" indent="0">
                  <a:buNone/>
                </a:pPr>
                <a:r>
                  <a:rPr lang="ru-RU" dirty="0"/>
                  <a:t>Т.е.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эффективный противник в игре на стойкость </a:t>
                </a:r>
                <a:r>
                  <a:rPr lang="en-US" dirty="0"/>
                  <a:t>PRP</a:t>
                </a:r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пренебрежимо малая величина.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14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973151" y="3970914"/>
            <a:ext cx="0" cy="40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8882368" y="6042819"/>
            <a:ext cx="1570040" cy="678656"/>
            <a:chOff x="4560" y="2842"/>
            <a:chExt cx="989" cy="570"/>
          </a:xfrm>
        </p:grpSpPr>
        <p:sp>
          <p:nvSpPr>
            <p:cNvPr id="9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2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1185453"/>
              </a:xfrm>
              <a:prstGeom prst="rect">
                <a:avLst/>
              </a:prstGeom>
              <a:blipFill>
                <a:blip r:embed="rId8"/>
                <a:stretch>
                  <a:fillRect l="-162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"/>
              <p:cNvSpPr txBox="1">
                <a:spLocks noChangeArrowheads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3151" y="3740082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15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6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21"/>
          <p:cNvGrpSpPr>
            <a:grpSpLocks/>
          </p:cNvGrpSpPr>
          <p:nvPr/>
        </p:nvGrpSpPr>
        <p:grpSpPr bwMode="auto">
          <a:xfrm>
            <a:off x="4769739" y="5209689"/>
            <a:ext cx="3464929" cy="400050"/>
            <a:chOff x="1776" y="1816"/>
            <a:chExt cx="2400" cy="336"/>
          </a:xfrm>
        </p:grpSpPr>
        <p:sp>
          <p:nvSpPr>
            <p:cNvPr id="21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2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18" cy="336"/>
                </a:xfrm>
                <a:prstGeom prst="rect">
                  <a:avLst/>
                </a:prstGeom>
                <a:blipFill>
                  <a:blip r:embed="rId12"/>
                  <a:stretch>
                    <a:fillRect b="-153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0"/>
          <p:cNvGrpSpPr>
            <a:grpSpLocks/>
          </p:cNvGrpSpPr>
          <p:nvPr/>
        </p:nvGrpSpPr>
        <p:grpSpPr bwMode="auto">
          <a:xfrm>
            <a:off x="4736135" y="5559096"/>
            <a:ext cx="3464929" cy="427436"/>
            <a:chOff x="1776" y="2051"/>
            <a:chExt cx="2352" cy="359"/>
          </a:xfrm>
        </p:grpSpPr>
        <p:sp>
          <p:nvSpPr>
            <p:cNvPr id="2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0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5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03" cy="336"/>
                </a:xfrm>
                <a:prstGeom prst="rect">
                  <a:avLst/>
                </a:prstGeom>
                <a:blipFill>
                  <a:blip r:embed="rId13"/>
                  <a:stretch>
                    <a:fillRect t="-9091" r="-3653" b="-25758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Прямоугольник 26"/>
              <p:cNvSpPr/>
              <p:nvPr/>
            </p:nvSpPr>
            <p:spPr>
              <a:xfrm>
                <a:off x="1723791" y="6299755"/>
                <a:ext cx="47543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]|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27" name="Прямоугольник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791" y="6299755"/>
                <a:ext cx="4754378" cy="461665"/>
              </a:xfrm>
              <a:prstGeom prst="rect">
                <a:avLst/>
              </a:prstGeom>
              <a:blipFill>
                <a:blip r:embed="rId1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0900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Непредсказуемость блочных шифров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89506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Рассмотрим игру.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блочный шифр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Пусть претендент выбирает случайный ключ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. Противник выбирает произвольные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ru-RU" dirty="0"/>
                  <a:t> и получает шифртексты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Задача противника получить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895067"/>
              </a:xfrm>
              <a:blipFill>
                <a:blip r:embed="rId2"/>
                <a:stretch>
                  <a:fillRect l="-1043" t="-48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8882375" y="6042819"/>
            <a:ext cx="1420816" cy="707231"/>
            <a:chOff x="4560" y="2842"/>
            <a:chExt cx="895" cy="594"/>
          </a:xfrm>
        </p:grpSpPr>
        <p:sp>
          <p:nvSpPr>
            <p:cNvPr id="9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887" cy="4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887" cy="412"/>
                </a:xfrm>
                <a:prstGeom prst="rect">
                  <a:avLst/>
                </a:prstGeom>
                <a:blipFill>
                  <a:blip r:embed="rId4"/>
                  <a:stretch>
                    <a:fillRect l="-433" r="-866" b="-1250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813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,∗) </m:t>
                      </m:r>
                    </m:oMath>
                  </m:oMathPara>
                </a14:m>
                <a:endParaRPr lang="en-US" b="0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2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813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6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21"/>
          <p:cNvGrpSpPr>
            <a:grpSpLocks/>
          </p:cNvGrpSpPr>
          <p:nvPr/>
        </p:nvGrpSpPr>
        <p:grpSpPr bwMode="auto">
          <a:xfrm>
            <a:off x="4769739" y="5168020"/>
            <a:ext cx="3464929" cy="423863"/>
            <a:chOff x="1776" y="1781"/>
            <a:chExt cx="2400" cy="356"/>
          </a:xfrm>
        </p:grpSpPr>
        <p:sp>
          <p:nvSpPr>
            <p:cNvPr id="2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91" y="1781"/>
                  <a:ext cx="350" cy="3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1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91" y="1781"/>
                  <a:ext cx="350" cy="356"/>
                </a:xfrm>
                <a:prstGeom prst="rect">
                  <a:avLst/>
                </a:prstGeom>
                <a:blipFill>
                  <a:blip r:embed="rId12"/>
                  <a:stretch>
                    <a:fillRect b="-579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4736135" y="5559097"/>
            <a:ext cx="3464929" cy="431008"/>
            <a:chOff x="1776" y="2051"/>
            <a:chExt cx="2352" cy="362"/>
          </a:xfrm>
        </p:grpSpPr>
        <p:sp>
          <p:nvSpPr>
            <p:cNvPr id="23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98" cy="3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4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98" cy="362"/>
                </a:xfrm>
                <a:prstGeom prst="rect">
                  <a:avLst/>
                </a:prstGeom>
                <a:blipFill>
                  <a:blip r:embed="rId13"/>
                  <a:stretch>
                    <a:fillRect t="-7042" b="-1831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Прямоугольник 25"/>
              <p:cNvSpPr/>
              <p:nvPr/>
            </p:nvSpPr>
            <p:spPr>
              <a:xfrm>
                <a:off x="1723791" y="6299755"/>
                <a:ext cx="5125634" cy="51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Pred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=|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26" name="Прямоугольник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791" y="6299755"/>
                <a:ext cx="5125634" cy="51661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0579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Непредсказуемость блочных шифров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Блочный шифр называется стойким непредсказуемым блочным шифром, если для всех эффективных противников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>
                            <a:latin typeface="Cambria Math" panose="02040503050406030204" pitchFamily="18" charset="0"/>
                          </a:rPr>
                          <m:t>Pred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=|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]|</m:t>
                    </m:r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sz="2800" dirty="0"/>
                  <a:t>, </a:t>
                </a:r>
                <a14:m>
                  <m:oMath xmlns:m="http://schemas.openxmlformats.org/officeDocument/2006/math">
                    <m:r>
                      <a:rPr lang="ru-RU" sz="2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sz="2800" dirty="0"/>
                  <a:t> – пренебрежимо малая величина.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01" r="-8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8882375" y="6042819"/>
            <a:ext cx="1420816" cy="707231"/>
            <a:chOff x="4560" y="2842"/>
            <a:chExt cx="895" cy="594"/>
          </a:xfrm>
        </p:grpSpPr>
        <p:sp>
          <p:nvSpPr>
            <p:cNvPr id="8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887" cy="4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887" cy="412"/>
                </a:xfrm>
                <a:prstGeom prst="rect">
                  <a:avLst/>
                </a:prstGeom>
                <a:blipFill>
                  <a:blip r:embed="rId4"/>
                  <a:stretch>
                    <a:fillRect l="-433" r="-866" b="-1250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813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,∗) </m:t>
                      </m:r>
                    </m:oMath>
                  </m:oMathPara>
                </a14:m>
                <a:endParaRPr lang="en-US" b="0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1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813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6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21"/>
          <p:cNvGrpSpPr>
            <a:grpSpLocks/>
          </p:cNvGrpSpPr>
          <p:nvPr/>
        </p:nvGrpSpPr>
        <p:grpSpPr bwMode="auto">
          <a:xfrm>
            <a:off x="4769739" y="5182308"/>
            <a:ext cx="3464929" cy="423863"/>
            <a:chOff x="1776" y="1793"/>
            <a:chExt cx="2400" cy="356"/>
          </a:xfrm>
        </p:grpSpPr>
        <p:sp>
          <p:nvSpPr>
            <p:cNvPr id="1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68" y="1793"/>
                  <a:ext cx="350" cy="3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68" y="1793"/>
                  <a:ext cx="350" cy="356"/>
                </a:xfrm>
                <a:prstGeom prst="rect">
                  <a:avLst/>
                </a:prstGeom>
                <a:blipFill>
                  <a:blip r:embed="rId12"/>
                  <a:stretch>
                    <a:fillRect b="-5714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4736135" y="5559097"/>
            <a:ext cx="3464929" cy="431008"/>
            <a:chOff x="1776" y="2051"/>
            <a:chExt cx="2352" cy="362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98" cy="3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98" cy="362"/>
                </a:xfrm>
                <a:prstGeom prst="rect">
                  <a:avLst/>
                </a:prstGeom>
                <a:blipFill>
                  <a:blip r:embed="rId13"/>
                  <a:stretch>
                    <a:fillRect t="-7042" b="-1831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Прямоугольник 24"/>
              <p:cNvSpPr/>
              <p:nvPr/>
            </p:nvSpPr>
            <p:spPr>
              <a:xfrm>
                <a:off x="1723791" y="6299755"/>
                <a:ext cx="5125634" cy="51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Pred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=|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25" name="Прямоугольник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791" y="6299755"/>
                <a:ext cx="5125634" cy="51661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5791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Скругленный прямоугольник 37"/>
          <p:cNvSpPr/>
          <p:nvPr/>
        </p:nvSpPr>
        <p:spPr>
          <a:xfrm>
            <a:off x="633421" y="1324301"/>
            <a:ext cx="10542006" cy="88112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Непредсказуемость блочных шифров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23564" y="136586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4.1. </a:t>
                </a:r>
                <a:r>
                  <a:rPr lang="ru-RU" dirty="0"/>
                  <a:t>Пусть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блочный шифр 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Тогда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– стойкий,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-</a:t>
                </a:r>
                <a:r>
                  <a:rPr lang="ru-RU" dirty="0"/>
                  <a:t> </a:t>
                </a:r>
                <a:r>
                  <a:rPr lang="ru-RU" dirty="0" err="1"/>
                  <a:t>сверх-полиномиальная</a:t>
                </a:r>
                <a:r>
                  <a:rPr lang="ru-RU" dirty="0"/>
                  <a:t>, 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– непредсказуемый.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предсказуемый. Тогда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Pred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– не пренебрежимо малая. Построим противника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следующим образом.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3564" y="1365867"/>
                <a:ext cx="10515600" cy="4351338"/>
              </a:xfrm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78839" y="6492875"/>
            <a:ext cx="2743200" cy="365125"/>
          </a:xfrm>
        </p:spPr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54640" y="3195814"/>
            <a:ext cx="4782480" cy="306539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algn="ctr"/>
            <a:r>
              <a:rPr lang="en-US" dirty="0"/>
              <a:t>Adv.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7"/>
              <p:cNvSpPr>
                <a:spLocks noChangeArrowheads="1"/>
              </p:cNvSpPr>
              <p:nvPr/>
            </p:nvSpPr>
            <p:spPr bwMode="auto">
              <a:xfrm>
                <a:off x="9497877" y="3373445"/>
                <a:ext cx="1312027" cy="22548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97877" y="3373445"/>
                <a:ext cx="1312027" cy="2254825"/>
              </a:xfrm>
              <a:prstGeom prst="rect">
                <a:avLst/>
              </a:prstGeom>
              <a:blipFill>
                <a:blip r:embed="rId3"/>
                <a:stretch>
                  <a:fillRect t="-107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22"/>
          <p:cNvGrpSpPr>
            <a:grpSpLocks/>
          </p:cNvGrpSpPr>
          <p:nvPr/>
        </p:nvGrpSpPr>
        <p:grpSpPr bwMode="auto">
          <a:xfrm>
            <a:off x="10565280" y="5475696"/>
            <a:ext cx="1467836" cy="502443"/>
            <a:chOff x="4173" y="2602"/>
            <a:chExt cx="415" cy="422"/>
          </a:xfrm>
        </p:grpSpPr>
        <p:sp>
          <p:nvSpPr>
            <p:cNvPr id="11" name="Line 16"/>
            <p:cNvSpPr>
              <a:spLocks noChangeShapeType="1"/>
            </p:cNvSpPr>
            <p:nvPr/>
          </p:nvSpPr>
          <p:spPr bwMode="auto">
            <a:xfrm flipV="1">
              <a:off x="4173" y="3024"/>
              <a:ext cx="3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281" y="2602"/>
                  <a:ext cx="307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1" y="2602"/>
                  <a:ext cx="307" cy="38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1250303" y="3105503"/>
            <a:ext cx="9937491" cy="3387372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473335" y="3318528"/>
            <a:ext cx="2879002" cy="280922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981256" y="3865908"/>
            <a:ext cx="492078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6"/>
              <p:cNvSpPr txBox="1">
                <a:spLocks noChangeArrowheads="1"/>
              </p:cNvSpPr>
              <p:nvPr/>
            </p:nvSpPr>
            <p:spPr bwMode="auto">
              <a:xfrm>
                <a:off x="678283" y="3373445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283" y="3373445"/>
                <a:ext cx="42704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21"/>
          <p:cNvGrpSpPr>
            <a:grpSpLocks/>
          </p:cNvGrpSpPr>
          <p:nvPr/>
        </p:nvGrpSpPr>
        <p:grpSpPr bwMode="auto">
          <a:xfrm>
            <a:off x="4348560" y="3195814"/>
            <a:ext cx="5154943" cy="400050"/>
            <a:chOff x="1776" y="1816"/>
            <a:chExt cx="2400" cy="336"/>
          </a:xfrm>
        </p:grpSpPr>
        <p:sp>
          <p:nvSpPr>
            <p:cNvPr id="43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176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44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6" y="1816"/>
                  <a:ext cx="328" cy="33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20"/>
          <p:cNvGrpSpPr>
            <a:grpSpLocks/>
          </p:cNvGrpSpPr>
          <p:nvPr/>
        </p:nvGrpSpPr>
        <p:grpSpPr bwMode="auto">
          <a:xfrm>
            <a:off x="4380316" y="3546410"/>
            <a:ext cx="5089584" cy="426245"/>
            <a:chOff x="1776" y="2052"/>
            <a:chExt cx="2352" cy="358"/>
          </a:xfrm>
        </p:grpSpPr>
        <p:sp>
          <p:nvSpPr>
            <p:cNvPr id="4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016" y="2052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47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6" y="2052"/>
                  <a:ext cx="959" cy="336"/>
                </a:xfrm>
                <a:prstGeom prst="rect">
                  <a:avLst/>
                </a:prstGeom>
                <a:blipFill>
                  <a:blip r:embed="rId8"/>
                  <a:stretch>
                    <a:fillRect t="-9231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21"/>
          <p:cNvGrpSpPr>
            <a:grpSpLocks/>
          </p:cNvGrpSpPr>
          <p:nvPr/>
        </p:nvGrpSpPr>
        <p:grpSpPr bwMode="auto">
          <a:xfrm>
            <a:off x="4380314" y="4173142"/>
            <a:ext cx="5123189" cy="423863"/>
            <a:chOff x="1776" y="1766"/>
            <a:chExt cx="2400" cy="356"/>
          </a:xfrm>
        </p:grpSpPr>
        <p:sp>
          <p:nvSpPr>
            <p:cNvPr id="4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202" y="1766"/>
                  <a:ext cx="236" cy="3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5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02" y="1766"/>
                  <a:ext cx="236" cy="356"/>
                </a:xfrm>
                <a:prstGeom prst="rect">
                  <a:avLst/>
                </a:prstGeom>
                <a:blipFill>
                  <a:blip r:embed="rId9"/>
                  <a:stretch>
                    <a:fillRect b="-579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20"/>
          <p:cNvGrpSpPr>
            <a:grpSpLocks/>
          </p:cNvGrpSpPr>
          <p:nvPr/>
        </p:nvGrpSpPr>
        <p:grpSpPr bwMode="auto">
          <a:xfrm>
            <a:off x="4357532" y="4608272"/>
            <a:ext cx="5112367" cy="431008"/>
            <a:chOff x="1776" y="2073"/>
            <a:chExt cx="2352" cy="362"/>
          </a:xfrm>
        </p:grpSpPr>
        <p:sp>
          <p:nvSpPr>
            <p:cNvPr id="5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073" y="2073"/>
                  <a:ext cx="998" cy="3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5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73" y="2073"/>
                  <a:ext cx="998" cy="362"/>
                </a:xfrm>
                <a:prstGeom prst="rect">
                  <a:avLst/>
                </a:prstGeom>
                <a:blipFill>
                  <a:blip r:embed="rId10"/>
                  <a:stretch>
                    <a:fillRect t="-7042" b="-1831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439631" y="3857466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631" y="3857466"/>
                <a:ext cx="53572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22"/>
          <p:cNvGrpSpPr>
            <a:grpSpLocks/>
          </p:cNvGrpSpPr>
          <p:nvPr/>
        </p:nvGrpSpPr>
        <p:grpSpPr bwMode="auto">
          <a:xfrm>
            <a:off x="7634641" y="5142782"/>
            <a:ext cx="1909767" cy="490537"/>
            <a:chOff x="4497" y="2694"/>
            <a:chExt cx="1203" cy="412"/>
          </a:xfrm>
        </p:grpSpPr>
        <p:sp>
          <p:nvSpPr>
            <p:cNvPr id="66" name="Line 16"/>
            <p:cNvSpPr>
              <a:spLocks noChangeShapeType="1"/>
            </p:cNvSpPr>
            <p:nvPr/>
          </p:nvSpPr>
          <p:spPr bwMode="auto">
            <a:xfrm flipH="1" flipV="1">
              <a:off x="5336" y="2919"/>
              <a:ext cx="364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497" y="2694"/>
                  <a:ext cx="887" cy="4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7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97" y="2694"/>
                  <a:ext cx="887" cy="412"/>
                </a:xfrm>
                <a:prstGeom prst="rect">
                  <a:avLst/>
                </a:prstGeom>
                <a:blipFill>
                  <a:blip r:embed="rId12"/>
                  <a:stretch>
                    <a:fillRect l="-433" r="-866" b="-1250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21"/>
          <p:cNvGrpSpPr>
            <a:grpSpLocks/>
          </p:cNvGrpSpPr>
          <p:nvPr/>
        </p:nvGrpSpPr>
        <p:grpSpPr bwMode="auto">
          <a:xfrm>
            <a:off x="4346710" y="5028389"/>
            <a:ext cx="3354351" cy="431007"/>
            <a:chOff x="1776" y="1760"/>
            <a:chExt cx="2400" cy="362"/>
          </a:xfrm>
        </p:grpSpPr>
        <p:sp>
          <p:nvSpPr>
            <p:cNvPr id="6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183" y="1760"/>
                  <a:ext cx="537" cy="3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7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83" y="1760"/>
                  <a:ext cx="537" cy="356"/>
                </a:xfrm>
                <a:prstGeom prst="rect">
                  <a:avLst/>
                </a:prstGeom>
                <a:blipFill>
                  <a:blip r:embed="rId13"/>
                  <a:stretch>
                    <a:fillRect b="-579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20"/>
          <p:cNvGrpSpPr>
            <a:grpSpLocks/>
          </p:cNvGrpSpPr>
          <p:nvPr/>
        </p:nvGrpSpPr>
        <p:grpSpPr bwMode="auto">
          <a:xfrm>
            <a:off x="4368923" y="5496259"/>
            <a:ext cx="1937395" cy="431008"/>
            <a:chOff x="1776" y="2048"/>
            <a:chExt cx="2409" cy="362"/>
          </a:xfrm>
        </p:grpSpPr>
        <p:sp>
          <p:nvSpPr>
            <p:cNvPr id="7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801" y="2048"/>
                  <a:ext cx="2384" cy="3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>
            <p:sp>
              <p:nvSpPr>
                <p:cNvPr id="7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01" y="2048"/>
                  <a:ext cx="2384" cy="362"/>
                </a:xfrm>
                <a:prstGeom prst="rect">
                  <a:avLst/>
                </a:prstGeom>
                <a:blipFill>
                  <a:blip r:embed="rId14"/>
                  <a:stretch>
                    <a:fillRect t="-7143" r="-4762" b="-2000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Box 13"/>
              <p:cNvSpPr txBox="1">
                <a:spLocks noChangeArrowheads="1"/>
              </p:cNvSpPr>
              <p:nvPr/>
            </p:nvSpPr>
            <p:spPr bwMode="auto">
              <a:xfrm>
                <a:off x="1560443" y="3650139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7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0443" y="3650139"/>
                <a:ext cx="2991440" cy="1185453"/>
              </a:xfrm>
              <a:prstGeom prst="rect">
                <a:avLst/>
              </a:prstGeom>
              <a:blipFill>
                <a:blip r:embed="rId15"/>
                <a:stretch>
                  <a:fillRect l="-18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7176724" y="5736821"/>
                <a:ext cx="3562770" cy="423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′=1,</m:t>
                    </m:r>
                  </m:oMath>
                </a14:m>
                <a:r>
                  <a:rPr lang="en-US" sz="2000" dirty="0"/>
                  <a:t> else 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′=0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724" y="5736821"/>
                <a:ext cx="3562770" cy="423770"/>
              </a:xfrm>
              <a:prstGeom prst="rect">
                <a:avLst/>
              </a:prstGeom>
              <a:blipFill>
                <a:blip r:embed="rId16"/>
                <a:stretch>
                  <a:fillRect l="-1709" t="-5714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897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7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Непредсказуемость блочных шифров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23564" y="1365867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Pre</m:t>
                    </m:r>
                    <m:sSub>
                      <m:sSubPr>
                        <m:ctrlPr>
                          <a:rPr lang="en-US" b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угадать результат случайной функции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пренебрежимо малая, для </a:t>
                </a:r>
                <a:r>
                  <a:rPr lang="ru-RU" dirty="0" err="1"/>
                  <a:t>сверх-полиномиального</a:t>
                </a:r>
                <a:r>
                  <a:rPr lang="ru-RU" dirty="0"/>
                  <a:t> значения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3564" y="1365867"/>
                <a:ext cx="10515600" cy="4351338"/>
              </a:xfrm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78839" y="6492875"/>
            <a:ext cx="2743200" cy="365125"/>
          </a:xfrm>
        </p:spPr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54640" y="3195814"/>
            <a:ext cx="4782480" cy="306539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/>
          <a:lstStyle/>
          <a:p>
            <a:pPr algn="ctr"/>
            <a:r>
              <a:rPr lang="en-US" dirty="0"/>
              <a:t>Adv.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7"/>
              <p:cNvSpPr>
                <a:spLocks noChangeArrowheads="1"/>
              </p:cNvSpPr>
              <p:nvPr/>
            </p:nvSpPr>
            <p:spPr bwMode="auto">
              <a:xfrm>
                <a:off x="9497877" y="3373445"/>
                <a:ext cx="1312027" cy="225482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97877" y="3373445"/>
                <a:ext cx="1312027" cy="2254825"/>
              </a:xfrm>
              <a:prstGeom prst="rect">
                <a:avLst/>
              </a:prstGeom>
              <a:blipFill>
                <a:blip r:embed="rId3"/>
                <a:stretch>
                  <a:fillRect t="-1075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22"/>
          <p:cNvGrpSpPr>
            <a:grpSpLocks/>
          </p:cNvGrpSpPr>
          <p:nvPr/>
        </p:nvGrpSpPr>
        <p:grpSpPr bwMode="auto">
          <a:xfrm>
            <a:off x="10565280" y="5475696"/>
            <a:ext cx="1467836" cy="502443"/>
            <a:chOff x="4173" y="2602"/>
            <a:chExt cx="415" cy="422"/>
          </a:xfrm>
        </p:grpSpPr>
        <p:sp>
          <p:nvSpPr>
            <p:cNvPr id="11" name="Line 16"/>
            <p:cNvSpPr>
              <a:spLocks noChangeShapeType="1"/>
            </p:cNvSpPr>
            <p:nvPr/>
          </p:nvSpPr>
          <p:spPr bwMode="auto">
            <a:xfrm flipV="1">
              <a:off x="4173" y="3024"/>
              <a:ext cx="3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281" y="2602"/>
                  <a:ext cx="307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1" y="2602"/>
                  <a:ext cx="307" cy="38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1250303" y="3105503"/>
            <a:ext cx="9937491" cy="3387372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473335" y="3318528"/>
            <a:ext cx="2879002" cy="280922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981256" y="3865908"/>
            <a:ext cx="492078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6"/>
              <p:cNvSpPr txBox="1">
                <a:spLocks noChangeArrowheads="1"/>
              </p:cNvSpPr>
              <p:nvPr/>
            </p:nvSpPr>
            <p:spPr bwMode="auto">
              <a:xfrm>
                <a:off x="678283" y="3373445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283" y="3373445"/>
                <a:ext cx="42704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21"/>
          <p:cNvGrpSpPr>
            <a:grpSpLocks/>
          </p:cNvGrpSpPr>
          <p:nvPr/>
        </p:nvGrpSpPr>
        <p:grpSpPr bwMode="auto">
          <a:xfrm>
            <a:off x="4348560" y="3195814"/>
            <a:ext cx="5154943" cy="400050"/>
            <a:chOff x="1776" y="1816"/>
            <a:chExt cx="2400" cy="336"/>
          </a:xfrm>
        </p:grpSpPr>
        <p:sp>
          <p:nvSpPr>
            <p:cNvPr id="43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176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44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6" y="1816"/>
                  <a:ext cx="328" cy="33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20"/>
          <p:cNvGrpSpPr>
            <a:grpSpLocks/>
          </p:cNvGrpSpPr>
          <p:nvPr/>
        </p:nvGrpSpPr>
        <p:grpSpPr bwMode="auto">
          <a:xfrm>
            <a:off x="4380316" y="3546410"/>
            <a:ext cx="5089584" cy="426245"/>
            <a:chOff x="1776" y="2052"/>
            <a:chExt cx="2352" cy="358"/>
          </a:xfrm>
        </p:grpSpPr>
        <p:sp>
          <p:nvSpPr>
            <p:cNvPr id="4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016" y="2052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47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16" y="2052"/>
                  <a:ext cx="959" cy="336"/>
                </a:xfrm>
                <a:prstGeom prst="rect">
                  <a:avLst/>
                </a:prstGeom>
                <a:blipFill>
                  <a:blip r:embed="rId8"/>
                  <a:stretch>
                    <a:fillRect t="-9231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21"/>
          <p:cNvGrpSpPr>
            <a:grpSpLocks/>
          </p:cNvGrpSpPr>
          <p:nvPr/>
        </p:nvGrpSpPr>
        <p:grpSpPr bwMode="auto">
          <a:xfrm>
            <a:off x="4380314" y="4170760"/>
            <a:ext cx="5123189" cy="426244"/>
            <a:chOff x="1776" y="1764"/>
            <a:chExt cx="2400" cy="358"/>
          </a:xfrm>
        </p:grpSpPr>
        <p:sp>
          <p:nvSpPr>
            <p:cNvPr id="4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228" y="1764"/>
                  <a:ext cx="236" cy="3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5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28" y="1764"/>
                  <a:ext cx="236" cy="356"/>
                </a:xfrm>
                <a:prstGeom prst="rect">
                  <a:avLst/>
                </a:prstGeom>
                <a:blipFill>
                  <a:blip r:embed="rId9"/>
                  <a:stretch>
                    <a:fillRect b="-5714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20"/>
          <p:cNvGrpSpPr>
            <a:grpSpLocks/>
          </p:cNvGrpSpPr>
          <p:nvPr/>
        </p:nvGrpSpPr>
        <p:grpSpPr bwMode="auto">
          <a:xfrm>
            <a:off x="4357532" y="4608272"/>
            <a:ext cx="5112367" cy="431008"/>
            <a:chOff x="1776" y="2073"/>
            <a:chExt cx="2352" cy="362"/>
          </a:xfrm>
        </p:grpSpPr>
        <p:sp>
          <p:nvSpPr>
            <p:cNvPr id="5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073" y="2073"/>
                  <a:ext cx="998" cy="3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5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73" y="2073"/>
                  <a:ext cx="998" cy="362"/>
                </a:xfrm>
                <a:prstGeom prst="rect">
                  <a:avLst/>
                </a:prstGeom>
                <a:blipFill>
                  <a:blip r:embed="rId10"/>
                  <a:stretch>
                    <a:fillRect t="-7042" b="-1831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439631" y="3857466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631" y="3857466"/>
                <a:ext cx="53572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22"/>
          <p:cNvGrpSpPr>
            <a:grpSpLocks/>
          </p:cNvGrpSpPr>
          <p:nvPr/>
        </p:nvGrpSpPr>
        <p:grpSpPr bwMode="auto">
          <a:xfrm>
            <a:off x="7634641" y="5142782"/>
            <a:ext cx="1909767" cy="490537"/>
            <a:chOff x="4497" y="2694"/>
            <a:chExt cx="1203" cy="412"/>
          </a:xfrm>
        </p:grpSpPr>
        <p:sp>
          <p:nvSpPr>
            <p:cNvPr id="66" name="Line 16"/>
            <p:cNvSpPr>
              <a:spLocks noChangeShapeType="1"/>
            </p:cNvSpPr>
            <p:nvPr/>
          </p:nvSpPr>
          <p:spPr bwMode="auto">
            <a:xfrm flipH="1" flipV="1">
              <a:off x="5336" y="2919"/>
              <a:ext cx="364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497" y="2694"/>
                  <a:ext cx="887" cy="4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7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97" y="2694"/>
                  <a:ext cx="887" cy="412"/>
                </a:xfrm>
                <a:prstGeom prst="rect">
                  <a:avLst/>
                </a:prstGeom>
                <a:blipFill>
                  <a:blip r:embed="rId12"/>
                  <a:stretch>
                    <a:fillRect l="-433" r="-866" b="-1250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21"/>
          <p:cNvGrpSpPr>
            <a:grpSpLocks/>
          </p:cNvGrpSpPr>
          <p:nvPr/>
        </p:nvGrpSpPr>
        <p:grpSpPr bwMode="auto">
          <a:xfrm>
            <a:off x="4346710" y="5028389"/>
            <a:ext cx="3354351" cy="431007"/>
            <a:chOff x="1776" y="1760"/>
            <a:chExt cx="2400" cy="362"/>
          </a:xfrm>
        </p:grpSpPr>
        <p:sp>
          <p:nvSpPr>
            <p:cNvPr id="6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183" y="1760"/>
                  <a:ext cx="537" cy="3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7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83" y="1760"/>
                  <a:ext cx="537" cy="356"/>
                </a:xfrm>
                <a:prstGeom prst="rect">
                  <a:avLst/>
                </a:prstGeom>
                <a:blipFill>
                  <a:blip r:embed="rId13"/>
                  <a:stretch>
                    <a:fillRect b="-579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20"/>
          <p:cNvGrpSpPr>
            <a:grpSpLocks/>
          </p:cNvGrpSpPr>
          <p:nvPr/>
        </p:nvGrpSpPr>
        <p:grpSpPr bwMode="auto">
          <a:xfrm>
            <a:off x="4329516" y="5506974"/>
            <a:ext cx="1930961" cy="431008"/>
            <a:chOff x="1727" y="2057"/>
            <a:chExt cx="2401" cy="362"/>
          </a:xfrm>
        </p:grpSpPr>
        <p:sp>
          <p:nvSpPr>
            <p:cNvPr id="7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727" y="2057"/>
                  <a:ext cx="2384" cy="3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>
            <p:sp>
              <p:nvSpPr>
                <p:cNvPr id="7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27" y="2057"/>
                  <a:ext cx="2384" cy="362"/>
                </a:xfrm>
                <a:prstGeom prst="rect">
                  <a:avLst/>
                </a:prstGeom>
                <a:blipFill>
                  <a:blip r:embed="rId14"/>
                  <a:stretch>
                    <a:fillRect t="-5634" r="-5079" b="-1831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Box 13"/>
              <p:cNvSpPr txBox="1">
                <a:spLocks noChangeArrowheads="1"/>
              </p:cNvSpPr>
              <p:nvPr/>
            </p:nvSpPr>
            <p:spPr bwMode="auto">
              <a:xfrm>
                <a:off x="1560443" y="3650139"/>
                <a:ext cx="299144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,∗)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7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0443" y="3650139"/>
                <a:ext cx="2991440" cy="1185453"/>
              </a:xfrm>
              <a:prstGeom prst="rect">
                <a:avLst/>
              </a:prstGeom>
              <a:blipFill>
                <a:blip r:embed="rId15"/>
                <a:stretch>
                  <a:fillRect l="-18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7176724" y="5736821"/>
                <a:ext cx="3562770" cy="423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′=1,</m:t>
                    </m:r>
                  </m:oMath>
                </a14:m>
                <a:r>
                  <a:rPr lang="en-US" sz="2000" dirty="0"/>
                  <a:t> else 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′=0</m:t>
                    </m:r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724" y="5736821"/>
                <a:ext cx="3562770" cy="423770"/>
              </a:xfrm>
              <a:prstGeom prst="rect">
                <a:avLst/>
              </a:prstGeom>
              <a:blipFill>
                <a:blip r:embed="rId16"/>
                <a:stretch>
                  <a:fillRect l="-1709" t="-5714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6992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9706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Непредсказуемость блочных шифров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4.1. </a:t>
                </a:r>
                <a:r>
                  <a:rPr lang="ru-RU" dirty="0"/>
                  <a:t>Пусть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блочный шифр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Тогда 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– стойкий,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-</a:t>
                </a:r>
                <a:r>
                  <a:rPr lang="ru-RU" dirty="0"/>
                  <a:t> </a:t>
                </a:r>
                <a:r>
                  <a:rPr lang="ru-RU" dirty="0" err="1"/>
                  <a:t>сверх-полиномиальная</a:t>
                </a:r>
                <a:r>
                  <a:rPr lang="ru-RU" dirty="0"/>
                  <a:t>, 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– непредсказуемый.</a:t>
                </a:r>
              </a:p>
              <a:p>
                <a:pPr marL="0" indent="0">
                  <a:buNone/>
                </a:pPr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]|=|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</a:t>
                </a:r>
                <a:r>
                  <a:rPr lang="en-US" dirty="0"/>
                  <a:t> </a:t>
                </a:r>
                <a:r>
                  <a:rPr lang="ru-RU" dirty="0"/>
                  <a:t>не пренебрежимо малая величина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dirty="0"/>
                  <a:t> построили атаку на блочный шифр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dirty="0"/>
                  <a:t> противоречие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не предсказуемый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dirty="0"/>
                  <a:t> теорема доказана.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076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против восстановления ключа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9573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Рассмотрим игру.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блочный шифр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Пусть претендент выбирает случайный ключ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. Противник выбирает произвольные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ru-RU" dirty="0"/>
                  <a:t> и получает шифртексты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Задача противника получить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957316"/>
              </a:xfrm>
              <a:blipFill>
                <a:blip r:embed="rId2"/>
                <a:stretch>
                  <a:fillRect l="-1043" t="-46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8882378" y="6042819"/>
            <a:ext cx="515939" cy="678656"/>
            <a:chOff x="4560" y="2842"/>
            <a:chExt cx="325" cy="570"/>
          </a:xfrm>
        </p:grpSpPr>
        <p:sp>
          <p:nvSpPr>
            <p:cNvPr id="8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317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317" cy="38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813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,∗) </m:t>
                      </m:r>
                    </m:oMath>
                  </m:oMathPara>
                </a14:m>
                <a:endParaRPr lang="en-US" b="0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1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813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6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21"/>
          <p:cNvGrpSpPr>
            <a:grpSpLocks/>
          </p:cNvGrpSpPr>
          <p:nvPr/>
        </p:nvGrpSpPr>
        <p:grpSpPr bwMode="auto">
          <a:xfrm>
            <a:off x="4769739" y="5129922"/>
            <a:ext cx="3464929" cy="444104"/>
            <a:chOff x="1776" y="1749"/>
            <a:chExt cx="2400" cy="373"/>
          </a:xfrm>
        </p:grpSpPr>
        <p:sp>
          <p:nvSpPr>
            <p:cNvPr id="1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73" y="1749"/>
                  <a:ext cx="350" cy="3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73" y="1749"/>
                  <a:ext cx="350" cy="356"/>
                </a:xfrm>
                <a:prstGeom prst="rect">
                  <a:avLst/>
                </a:prstGeom>
                <a:blipFill>
                  <a:blip r:embed="rId12"/>
                  <a:stretch>
                    <a:fillRect b="-579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4736135" y="5559097"/>
            <a:ext cx="3464929" cy="431008"/>
            <a:chOff x="1776" y="2051"/>
            <a:chExt cx="2352" cy="362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98" cy="3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98" cy="362"/>
                </a:xfrm>
                <a:prstGeom prst="rect">
                  <a:avLst/>
                </a:prstGeom>
                <a:blipFill>
                  <a:blip r:embed="rId13"/>
                  <a:stretch>
                    <a:fillRect t="-7042" b="-1831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Прямоугольник 24"/>
              <p:cNvSpPr/>
              <p:nvPr/>
            </p:nvSpPr>
            <p:spPr>
              <a:xfrm>
                <a:off x="1723791" y="6299755"/>
                <a:ext cx="381072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=|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25" name="Прямоугольник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791" y="6299755"/>
                <a:ext cx="3810723" cy="461665"/>
              </a:xfrm>
              <a:prstGeom prst="rect">
                <a:avLst/>
              </a:prstGeom>
              <a:blipFill>
                <a:blip r:embed="rId1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5973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против восстановления ключа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Блочный шифр называется стойким к восстановлению ключа блочным шифром, если для всех эффективных противников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Rec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=|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]|</m:t>
                    </m:r>
                    <m:r>
                      <a:rPr lang="ru-RU" sz="28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sz="2800" dirty="0"/>
                  <a:t>,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sz="2800" dirty="0"/>
                  <a:t> – пренебрежимо малая величина.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21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23530" y="4335098"/>
            <a:ext cx="2879002" cy="16963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7"/>
              <p:cNvSpPr>
                <a:spLocks noChangeArrowheads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34668" y="4374752"/>
                <a:ext cx="1295400" cy="1628071"/>
              </a:xfrm>
              <a:prstGeom prst="rect">
                <a:avLst/>
              </a:prstGeom>
              <a:blipFill>
                <a:blip r:embed="rId3"/>
                <a:stretch>
                  <a:fillRect t="-185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8882378" y="6042819"/>
            <a:ext cx="515939" cy="678656"/>
            <a:chOff x="4560" y="2842"/>
            <a:chExt cx="325" cy="570"/>
          </a:xfrm>
        </p:grpSpPr>
        <p:sp>
          <p:nvSpPr>
            <p:cNvPr id="8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317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317" cy="38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18"/>
          <p:cNvSpPr>
            <a:spLocks noChangeArrowheads="1"/>
          </p:cNvSpPr>
          <p:nvPr/>
        </p:nvSpPr>
        <p:spPr bwMode="auto">
          <a:xfrm>
            <a:off x="1723791" y="4195453"/>
            <a:ext cx="7924800" cy="200739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3"/>
              <p:cNvSpPr txBox="1">
                <a:spLocks noChangeArrowheads="1"/>
              </p:cNvSpPr>
              <p:nvPr/>
            </p:nvSpPr>
            <p:spPr bwMode="auto">
              <a:xfrm>
                <a:off x="1823530" y="4787387"/>
                <a:ext cx="2991440" cy="813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,∗) </m:t>
                      </m:r>
                    </m:oMath>
                  </m:oMathPara>
                </a14:m>
                <a:endParaRPr lang="en-US" b="0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1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3530" y="4787387"/>
                <a:ext cx="2991440" cy="813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21"/>
          <p:cNvGrpSpPr>
            <a:grpSpLocks/>
          </p:cNvGrpSpPr>
          <p:nvPr/>
        </p:nvGrpSpPr>
        <p:grpSpPr bwMode="auto">
          <a:xfrm>
            <a:off x="4769739" y="4172833"/>
            <a:ext cx="3464929" cy="400050"/>
            <a:chOff x="1776" y="1816"/>
            <a:chExt cx="2400" cy="336"/>
          </a:xfrm>
        </p:grpSpPr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6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816"/>
                  <a:ext cx="328" cy="33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20"/>
          <p:cNvGrpSpPr>
            <a:grpSpLocks/>
          </p:cNvGrpSpPr>
          <p:nvPr/>
        </p:nvGrpSpPr>
        <p:grpSpPr bwMode="auto">
          <a:xfrm>
            <a:off x="4736135" y="4522240"/>
            <a:ext cx="3464929" cy="427436"/>
            <a:chOff x="1776" y="2051"/>
            <a:chExt cx="2352" cy="359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59" cy="336"/>
                </a:xfrm>
                <a:prstGeom prst="rect">
                  <a:avLst/>
                </a:prstGeom>
                <a:blipFill>
                  <a:blip r:embed="rId11"/>
                  <a:stretch>
                    <a:fillRect t="-9231" r="-3879" b="-2769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21"/>
          <p:cNvGrpSpPr>
            <a:grpSpLocks/>
          </p:cNvGrpSpPr>
          <p:nvPr/>
        </p:nvGrpSpPr>
        <p:grpSpPr bwMode="auto">
          <a:xfrm>
            <a:off x="4769739" y="5145401"/>
            <a:ext cx="3464929" cy="428626"/>
            <a:chOff x="1776" y="1762"/>
            <a:chExt cx="2400" cy="360"/>
          </a:xfrm>
        </p:grpSpPr>
        <p:sp>
          <p:nvSpPr>
            <p:cNvPr id="19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785" y="1762"/>
                  <a:ext cx="350" cy="3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0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85" y="1762"/>
                  <a:ext cx="350" cy="356"/>
                </a:xfrm>
                <a:prstGeom prst="rect">
                  <a:avLst/>
                </a:prstGeom>
                <a:blipFill>
                  <a:blip r:embed="rId12"/>
                  <a:stretch>
                    <a:fillRect b="-5714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4736135" y="5559097"/>
            <a:ext cx="3464929" cy="431008"/>
            <a:chOff x="1776" y="2051"/>
            <a:chExt cx="2352" cy="362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48" y="2051"/>
                  <a:ext cx="998" cy="3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3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051"/>
                  <a:ext cx="998" cy="362"/>
                </a:xfrm>
                <a:prstGeom prst="rect">
                  <a:avLst/>
                </a:prstGeom>
                <a:blipFill>
                  <a:blip r:embed="rId13"/>
                  <a:stretch>
                    <a:fillRect t="-7042" b="-18310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796" y="4834485"/>
                <a:ext cx="53572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Прямоугольник 24"/>
              <p:cNvSpPr/>
              <p:nvPr/>
            </p:nvSpPr>
            <p:spPr>
              <a:xfrm>
                <a:off x="1723791" y="6299755"/>
                <a:ext cx="381072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Rec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=|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>
          <p:sp>
            <p:nvSpPr>
              <p:cNvPr id="25" name="Прямоугольник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791" y="6299755"/>
                <a:ext cx="3810723" cy="461665"/>
              </a:xfrm>
              <a:prstGeom prst="rect">
                <a:avLst/>
              </a:prstGeom>
              <a:blipFill>
                <a:blip r:embed="rId1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0909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95697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против восстановления ключа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4.2. </a:t>
                </a:r>
                <a:r>
                  <a:rPr lang="ru-RU" dirty="0"/>
                  <a:t>Пусть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блочный шифр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Тогда 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– непредсказуемый, 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– стойкий к восстановлению ключа.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Доказательство аналогично теореме 4.1. Основная идея – если противник может восстановить ключ блочного шифра – то он может получить пару открытый текст – шифртекст, просто используя ключ.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662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58477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Следствия стойкости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7070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стойкий блочный шифр, он должен быть стойким к восстановлению ключа.</a:t>
                </a:r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стойкий к восстановлению ключа, 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dirty="0"/>
                  <a:t> - сверх- полиномиальная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Противник всегда может выиграть игру на восстановлению ключа с преимуществом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</m:t>
                    </m:r>
                    <m:sSub>
                      <m:sSubPr>
                        <m:ctrlPr>
                          <a:rPr lang="en-US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dirty="0"/>
                  <a:t>, просто угадав ключ. Следовательно величина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1/|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dirty="0"/>
                  <a:t> - должна быть пренебрежимо малой,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dirty="0"/>
                  <a:t> - </a:t>
                </a:r>
                <a:r>
                  <a:rPr lang="ru-RU" dirty="0" err="1"/>
                  <a:t>сверх-полиномиальной</a:t>
                </a:r>
                <a:r>
                  <a:rPr lang="ru-RU" dirty="0"/>
                  <a:t>.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Описанная выше атака на восстановление ключа называется </a:t>
                </a:r>
                <a:r>
                  <a:rPr lang="en-US" dirty="0"/>
                  <a:t>exhaustive-search (</a:t>
                </a:r>
                <a:r>
                  <a:rPr lang="ru-RU" dirty="0"/>
                  <a:t>полный перебор ключа, исчерпывающий поиск ключа, полное </a:t>
                </a:r>
                <a:r>
                  <a:rPr lang="ru-RU" dirty="0" err="1"/>
                  <a:t>апробование</a:t>
                </a:r>
                <a:r>
                  <a:rPr lang="ru-RU" dirty="0"/>
                  <a:t>). Если противник проверяет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dirty="0"/>
                  <a:t> ключей за время</a:t>
                </a:r>
                <a:r>
                  <a:rPr lang="en-US" dirty="0"/>
                  <a:t>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-ограниченное от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то вероятность совершить атаку составляет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Является верхней границей стойкости.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70709"/>
              </a:xfrm>
              <a:blipFill>
                <a:blip r:embed="rId2"/>
                <a:stretch>
                  <a:fillRect l="-1043" t="-2608" b="-19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721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блочных</a:t>
            </a:r>
            <a:r>
              <a:rPr lang="en-US" dirty="0"/>
              <a:t> </a:t>
            </a:r>
            <a:r>
              <a:rPr lang="en-US" dirty="0" err="1"/>
              <a:t>шифров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en-US" dirty="0" err="1"/>
                  <a:t>блочный</a:t>
                </a:r>
                <a:r>
                  <a:rPr lang="en-US" dirty="0"/>
                  <a:t> </a:t>
                </a:r>
                <a:r>
                  <a:rPr lang="en-US" dirty="0" err="1"/>
                  <a:t>шифр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Можем ли мы использовать блочный шифр для построения семантически стойких шифров для сообщений произвольной длины?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264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ECB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en-US" dirty="0" err="1"/>
                  <a:t>блочный</a:t>
                </a:r>
                <a:r>
                  <a:rPr lang="en-US" dirty="0"/>
                  <a:t> </a:t>
                </a:r>
                <a:r>
                  <a:rPr lang="en-US" dirty="0" err="1"/>
                  <a:t>шифр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Для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ограниченной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определим шифр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r>
                  <a:rPr lang="ru-RU" dirty="0"/>
                  <a:t> следующим образом</a:t>
                </a:r>
                <a:r>
                  <a:rPr lang="en-US" dirty="0"/>
                  <a:t>:</a:t>
                </a:r>
                <a:endParaRPr lang="ru-RU" dirty="0"/>
              </a:p>
              <a:p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определим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определим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,с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,с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498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ECB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26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67" y="1972671"/>
            <a:ext cx="5213088" cy="2985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864" y="1972669"/>
            <a:ext cx="5588607" cy="31569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17486" y="5239654"/>
            <a:ext cx="167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Зашифрование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7906842" y="5239654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Расшифрование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7255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275848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Стойкость</a:t>
            </a:r>
            <a:r>
              <a:rPr lang="en-US" dirty="0"/>
              <a:t> </a:t>
            </a:r>
            <a:r>
              <a:rPr lang="ru-RU" dirty="0"/>
              <a:t> ECB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4.3.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en-US" dirty="0" err="1"/>
                  <a:t>блочный</a:t>
                </a:r>
                <a:r>
                  <a:rPr lang="en-US" dirty="0"/>
                  <a:t> </a:t>
                </a:r>
                <a:r>
                  <a:rPr lang="en-US" dirty="0" err="1"/>
                  <a:t>шифр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Для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ограниченной величины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определим </a:t>
                </a:r>
                <a:r>
                  <a:rPr lang="en-US" dirty="0"/>
                  <a:t>ECB</a:t>
                </a:r>
                <a:r>
                  <a:rPr lang="ru-RU" dirty="0"/>
                  <a:t> шифр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ru-RU" dirty="0"/>
                  <a:t> - сообщения, длины не более  чем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</a:t>
                </a:r>
                <a:r>
                  <a:rPr lang="ru-RU" b="1" dirty="0"/>
                  <a:t>попарно различных блоков</a:t>
                </a:r>
                <a:r>
                  <a:rPr lang="ru-RU" dirty="0"/>
                  <a:t>. Тогда 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стойкий блочный шифр, то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- семантически стойкий. В частности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 игре на семантическую стойкость против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блочного шифра, такой что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  <m:sSub>
                        <m:sSubPr>
                          <m:ctrlPr>
                            <a:rPr lang="en-US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</m:t>
                      </m:r>
                      <m:sSub>
                        <m:sSubPr>
                          <m:ctrlPr>
                            <a:rPr lang="en-US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Без доказательства, основная идея – для псевдослучайной подстановки противник не может отличить </a:t>
                </a:r>
                <a:r>
                  <a:rPr lang="ru-RU" dirty="0" err="1"/>
                  <a:t>зашифрование</a:t>
                </a:r>
                <a:r>
                  <a:rPr lang="ru-RU" dirty="0"/>
                  <a:t> уникальных блоков от случайных блоков, а значит не может отличить 2 различных </a:t>
                </a:r>
                <a:r>
                  <a:rPr lang="ru-RU" dirty="0" err="1"/>
                  <a:t>зашифрования</a:t>
                </a:r>
                <a:r>
                  <a:rPr lang="ru-RU" dirty="0"/>
                  <a:t>.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390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Стойкость</a:t>
            </a:r>
            <a:r>
              <a:rPr lang="en-US" dirty="0"/>
              <a:t> </a:t>
            </a:r>
            <a:r>
              <a:rPr lang="ru-RU" dirty="0"/>
              <a:t>ECB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Стойкий блочный шифр в режиме </a:t>
            </a:r>
            <a:r>
              <a:rPr lang="en-US" dirty="0"/>
              <a:t>ECB </a:t>
            </a:r>
            <a:r>
              <a:rPr lang="ru-RU" dirty="0"/>
              <a:t>– семантически стойкий для</a:t>
            </a:r>
          </a:p>
          <a:p>
            <a:pPr lvl="1"/>
            <a:r>
              <a:rPr lang="ru-RU" dirty="0"/>
              <a:t>Сообщений, состоящих из уникальных, </a:t>
            </a:r>
            <a:r>
              <a:rPr lang="ru-RU" b="1" dirty="0"/>
              <a:t>попарно различных блоков </a:t>
            </a:r>
            <a:r>
              <a:rPr lang="ru-RU" dirty="0"/>
              <a:t>(например есть открытый текст – случайных ключ), не повторяющихся во время жизни ключа</a:t>
            </a:r>
          </a:p>
          <a:p>
            <a:pPr lvl="1"/>
            <a:r>
              <a:rPr lang="ru-RU" dirty="0"/>
              <a:t>Любых коротких, уникальных сообщений, длинной в один блок, не повторяющихся во время жизни ключа</a:t>
            </a:r>
          </a:p>
          <a:p>
            <a:r>
              <a:rPr lang="ru-RU" dirty="0"/>
              <a:t>Что для произвольных сообщений произвольной длины?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501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</a:t>
            </a:r>
            <a:r>
              <a:rPr lang="en-US" dirty="0"/>
              <a:t>ECB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838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 err="1"/>
              <a:t>Зашифрование</a:t>
            </a:r>
            <a:r>
              <a:rPr lang="ru-RU" dirty="0"/>
              <a:t> в режиме </a:t>
            </a:r>
            <a:r>
              <a:rPr lang="en-US" dirty="0"/>
              <a:t>ECB</a:t>
            </a:r>
            <a:r>
              <a:rPr lang="ru-RU" dirty="0"/>
              <a:t> происходит </a:t>
            </a:r>
            <a:r>
              <a:rPr lang="ru-RU" dirty="0" err="1"/>
              <a:t>детерминированно</a:t>
            </a:r>
            <a:r>
              <a:rPr lang="ru-RU" dirty="0"/>
              <a:t> и </a:t>
            </a:r>
            <a:r>
              <a:rPr lang="ru-RU" dirty="0" err="1"/>
              <a:t>поблочно</a:t>
            </a:r>
            <a:r>
              <a:rPr lang="ru-RU" dirty="0"/>
              <a:t>, как следствие одинаковые блоки имеют одинаковый </a:t>
            </a:r>
            <a:r>
              <a:rPr lang="ru-RU" dirty="0" err="1"/>
              <a:t>шифртекст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29</a:t>
            </a:fld>
            <a:endParaRPr lang="ru-RU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710510" y="4259730"/>
            <a:ext cx="257175" cy="285750"/>
          </a:xfrm>
          <a:prstGeom prst="downArrow">
            <a:avLst>
              <a:gd name="adj1" fmla="val 50000"/>
              <a:gd name="adj2" fmla="val 37037"/>
            </a:avLst>
          </a:prstGeom>
          <a:noFill/>
          <a:ln w="952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592072" y="4259730"/>
            <a:ext cx="257175" cy="285750"/>
          </a:xfrm>
          <a:prstGeom prst="downArrow">
            <a:avLst>
              <a:gd name="adj1" fmla="val 50000"/>
              <a:gd name="adj2" fmla="val 37037"/>
            </a:avLst>
          </a:prstGeom>
          <a:noFill/>
          <a:ln w="952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7291909" y="4059705"/>
            <a:ext cx="533400" cy="0"/>
          </a:xfrm>
          <a:prstGeom prst="line">
            <a:avLst/>
          </a:prstGeom>
          <a:noFill/>
          <a:ln w="28575">
            <a:solidFill>
              <a:srgbClr val="869406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967684" y="3828782"/>
            <a:ext cx="533400" cy="27265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/>
              <a:t>m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034484" y="3828782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900884" y="3828782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501084" y="3828782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434284" y="3828782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567884" y="3828782"/>
            <a:ext cx="533400" cy="27265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/>
              <a:t>m</a:t>
            </a:r>
            <a:r>
              <a:rPr lang="en-US" baseline="-25000"/>
              <a:t>2</a:t>
            </a:r>
            <a:endParaRPr lang="en-US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101284" y="3828782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7934846" y="3820448"/>
            <a:ext cx="533400" cy="27265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/>
              <a:t>m</a:t>
            </a:r>
            <a:r>
              <a:rPr lang="en-US" baseline="-25000"/>
              <a:t>1</a:t>
            </a:r>
            <a:endParaRPr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634684" y="3828782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8468246" y="3820448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9001646" y="3820448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2221981" y="3739486"/>
            <a:ext cx="5069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Tahoma" pitchFamily="34" charset="0"/>
              </a:rPr>
              <a:t>PT:</a:t>
            </a: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7299846" y="4869330"/>
            <a:ext cx="533400" cy="0"/>
          </a:xfrm>
          <a:prstGeom prst="line">
            <a:avLst/>
          </a:prstGeom>
          <a:noFill/>
          <a:ln w="28575">
            <a:solidFill>
              <a:srgbClr val="869406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3975621" y="4778842"/>
                <a:ext cx="533400" cy="31319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5621" y="4778842"/>
                <a:ext cx="533400" cy="313194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5042421" y="4778842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908821" y="4778842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509021" y="4778842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3442221" y="4778842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109221" y="4778842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>
                <a:spLocks noChangeArrowheads="1"/>
              </p:cNvSpPr>
              <p:nvPr/>
            </p:nvSpPr>
            <p:spPr bwMode="auto">
              <a:xfrm>
                <a:off x="7942784" y="4770508"/>
                <a:ext cx="533400" cy="31319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42784" y="4770508"/>
                <a:ext cx="533400" cy="313194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6642621" y="4778842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8476184" y="4770508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9009584" y="4770508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2231369" y="4697880"/>
            <a:ext cx="51829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Tahoma" pitchFamily="34" charset="0"/>
              </a:rPr>
              <a:t>CT: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27"/>
              <p:cNvSpPr>
                <a:spLocks noChangeArrowheads="1"/>
              </p:cNvSpPr>
              <p:nvPr/>
            </p:nvSpPr>
            <p:spPr bwMode="auto">
              <a:xfrm>
                <a:off x="5567884" y="4778842"/>
                <a:ext cx="533400" cy="31319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67884" y="4778842"/>
                <a:ext cx="533400" cy="313194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6181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</a:t>
            </a:r>
            <a:r>
              <a:rPr lang="en-US" dirty="0"/>
              <a:t>ECB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521" y="1326230"/>
            <a:ext cx="8213891" cy="54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86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</a:t>
            </a:r>
            <a:r>
              <a:rPr lang="en-US" dirty="0"/>
              <a:t>ECB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31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567" y="2017590"/>
            <a:ext cx="2524125" cy="29908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07" y="2017590"/>
            <a:ext cx="2524125" cy="29908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137" y="2017590"/>
            <a:ext cx="2524125" cy="2990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14769" y="5228492"/>
            <a:ext cx="414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PT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5619261" y="5228492"/>
            <a:ext cx="542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ECB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9710874" y="522849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CBC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6536809"/>
            <a:ext cx="4534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https://github.com/pakesson/diy-ecb-penguin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1773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28452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</a:t>
            </a:r>
            <a:r>
              <a:rPr lang="en-US" dirty="0"/>
              <a:t>ECB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4.4.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</a:t>
                </a:r>
                <a:r>
                  <a:rPr lang="en-US" dirty="0"/>
                  <a:t> </a:t>
                </a:r>
                <a:r>
                  <a:rPr lang="ru-RU" dirty="0"/>
                  <a:t>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блочных шифр в режиме </a:t>
                </a:r>
                <a:r>
                  <a:rPr lang="en-US" dirty="0"/>
                  <a:t>ECB </a:t>
                </a:r>
                <a:r>
                  <a:rPr lang="ru-RU" dirty="0"/>
                  <a:t>для произвольных сообщений</a:t>
                </a:r>
                <a:r>
                  <a:rPr lang="en-US" dirty="0"/>
                  <a:t> </a:t>
                </a:r>
                <a:r>
                  <a:rPr lang="ru-RU" dirty="0"/>
                  <a:t>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блоков,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 семантически стойкий.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Построим противника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.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генерирует 2 сообщения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b="0" i="0" dirty="0">
                    <a:latin typeface="+mj-lt"/>
                    <a:ea typeface="Cambria Math" panose="02040503050406030204" pitchFamily="18" charset="0"/>
                  </a:rPr>
                  <a:t>. </a:t>
                </a:r>
                <a:r>
                  <a:rPr lang="ru-RU" b="0" i="0" dirty="0">
                    <a:ea typeface="Cambria Math" panose="02040503050406030204" pitchFamily="18" charset="0"/>
                  </a:rPr>
                  <a:t>От претендента он получает </a:t>
                </a:r>
                <a:r>
                  <a:rPr lang="ru-RU" b="0" i="0" dirty="0" err="1">
                    <a:ea typeface="Cambria Math" panose="02040503050406030204" pitchFamily="18" charset="0"/>
                  </a:rPr>
                  <a:t>шифртекст</a:t>
                </a:r>
                <a:r>
                  <a:rPr lang="ru-RU" b="0" i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b="0" i="0" dirty="0">
                    <a:ea typeface="Cambria Math" panose="02040503050406030204" pitchFamily="18" charset="0"/>
                  </a:rPr>
                  <a:t>).</a:t>
                </a:r>
                <a:r>
                  <a:rPr lang="ru-RU" b="0" i="0" dirty="0">
                    <a:ea typeface="Cambria Math" panose="02040503050406030204" pitchFamily="18" charset="0"/>
                  </a:rPr>
                  <a:t> </a:t>
                </a:r>
                <a:r>
                  <a:rPr lang="en-US" b="0" i="0" dirty="0">
                    <a:ea typeface="Cambria Math" panose="02040503050406030204" pitchFamily="18" charset="0"/>
                  </a:rPr>
                  <a:t> </a:t>
                </a:r>
                <a:r>
                  <a:rPr lang="ru-RU" b="0" i="0" dirty="0">
                    <a:ea typeface="Cambria Math" panose="02040503050406030204" pitchFamily="18" charset="0"/>
                  </a:rPr>
                  <a:t>Тогда 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противник возвращает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, иначе 1.</a:t>
                </a:r>
              </a:p>
              <a:p>
                <a:pPr marL="0" indent="0">
                  <a:buNone/>
                </a:pPr>
                <a:r>
                  <a:rPr lang="ru-RU" dirty="0"/>
                  <a:t>Преимущество противника равно 1, т.к. одинаковые блоки открытого текста переходят в одинаковые блоки </a:t>
                </a:r>
                <a:r>
                  <a:rPr lang="ru-RU" dirty="0" err="1"/>
                  <a:t>шифртекста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677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блочных шифров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Обычно блочные шифры строятся с использованием итеративных конструкций – несколько раз подряд используется некоторая функция (наз. итеративной или раундовой).</a:t>
                </a:r>
              </a:p>
              <a:p>
                <a:r>
                  <a:rPr lang="ru-RU" dirty="0"/>
                  <a:t>В качестве итеративной функции выбирается простой (с точки зрения реализации) блочный шифр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в общем случае может быть не стойкой.</a:t>
                </a:r>
              </a:p>
              <a:p>
                <a:r>
                  <a:rPr lang="ru-RU" dirty="0"/>
                  <a:t>Выбирается простой (с точки зрения реализации) </a:t>
                </a:r>
                <a:r>
                  <a:rPr lang="en-US" dirty="0"/>
                  <a:t>PRG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, используемый для расширения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ru-RU" dirty="0"/>
                  <a:t> раундовых ключей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ru-RU" dirty="0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называется функцией выработки раундовых ключей или функцией расширения ключа.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6768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720505" y="1690688"/>
            <a:ext cx="10542006" cy="165301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блочных шифров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r>
                  <a:rPr lang="ru-RU" dirty="0"/>
                  <a:t>Используя функцию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получить раундовые ключи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=1..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…)</m:t>
                        </m:r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34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12" y="3343701"/>
            <a:ext cx="7714201" cy="318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277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блочных шифров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2074"/>
                <a:ext cx="10515600" cy="4351338"/>
              </a:xfrm>
            </p:spPr>
            <p:txBody>
              <a:bodyPr/>
              <a:lstStyle/>
              <a:p>
                <a:r>
                  <a:rPr lang="ru-RU" dirty="0" err="1"/>
                  <a:t>Расшифрование</a:t>
                </a:r>
                <a:r>
                  <a:rPr lang="ru-RU" dirty="0"/>
                  <a:t> происходит аналогично </a:t>
                </a:r>
                <a:r>
                  <a:rPr lang="ru-RU" dirty="0" err="1"/>
                  <a:t>зашифрованию</a:t>
                </a:r>
                <a:r>
                  <a:rPr lang="ru-RU" dirty="0"/>
                  <a:t>, но с использованием обратной раундовой 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и обратным порядком следования ключей.</a:t>
                </a:r>
              </a:p>
              <a:p>
                <a:r>
                  <a:rPr lang="ru-RU" dirty="0"/>
                  <a:t>Иногда также могут использоваться входные и выходные преобразования </a:t>
                </a:r>
                <a:r>
                  <a:rPr lang="en-US" dirty="0"/>
                  <a:t>: </a:t>
                </a:r>
                <a:r>
                  <a:rPr lang="ru-RU" dirty="0"/>
                  <a:t>перед шифрованием используется некоторое входное преобразование над открытым текстов, после процедуры шифрования – некоторое выходное преобразование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2074"/>
                <a:ext cx="10515600" cy="4351338"/>
              </a:xfrm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35</a:t>
            </a:fld>
            <a:endParaRPr lang="ru-RU"/>
          </a:p>
        </p:txBody>
      </p:sp>
      <p:sp>
        <p:nvSpPr>
          <p:cNvPr id="5" name="Rectangle 5"/>
          <p:cNvSpPr/>
          <p:nvPr/>
        </p:nvSpPr>
        <p:spPr bwMode="auto">
          <a:xfrm>
            <a:off x="5674131" y="4149725"/>
            <a:ext cx="114300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key  k</a:t>
            </a:r>
          </a:p>
        </p:txBody>
      </p:sp>
      <p:sp>
        <p:nvSpPr>
          <p:cNvPr id="6" name="Trapezoid 6"/>
          <p:cNvSpPr/>
          <p:nvPr/>
        </p:nvSpPr>
        <p:spPr bwMode="auto">
          <a:xfrm>
            <a:off x="3417627" y="4435475"/>
            <a:ext cx="5638800" cy="685800"/>
          </a:xfrm>
          <a:prstGeom prst="trapezoid">
            <a:avLst>
              <a:gd name="adj" fmla="val 243342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71975" y="4606925"/>
            <a:ext cx="1515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key expansion</a:t>
            </a:r>
          </a:p>
        </p:txBody>
      </p:sp>
      <p:sp>
        <p:nvSpPr>
          <p:cNvPr id="8" name="Rectangle 8"/>
          <p:cNvSpPr/>
          <p:nvPr/>
        </p:nvSpPr>
        <p:spPr bwMode="auto">
          <a:xfrm>
            <a:off x="3417627" y="5121275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sz="2000" dirty="0">
                <a:latin typeface="+mn-lt"/>
              </a:rPr>
              <a:t>k</a:t>
            </a:r>
            <a:r>
              <a:rPr lang="en-US" sz="2000" baseline="-25000" dirty="0">
                <a:latin typeface="+mn-lt"/>
              </a:rPr>
              <a:t>1</a:t>
            </a:r>
            <a:endParaRPr lang="en-US" sz="2000" dirty="0">
              <a:latin typeface="+mn-lt"/>
            </a:endParaRPr>
          </a:p>
        </p:txBody>
      </p:sp>
      <p:sp>
        <p:nvSpPr>
          <p:cNvPr id="9" name="Rectangle 9"/>
          <p:cNvSpPr/>
          <p:nvPr/>
        </p:nvSpPr>
        <p:spPr bwMode="auto">
          <a:xfrm>
            <a:off x="4560627" y="5121275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sz="2000" dirty="0">
                <a:latin typeface="+mn-lt"/>
              </a:rPr>
              <a:t>k</a:t>
            </a:r>
            <a:r>
              <a:rPr lang="en-US" sz="2000" baseline="-25000" dirty="0">
                <a:latin typeface="+mn-lt"/>
              </a:rPr>
              <a:t>2</a:t>
            </a:r>
            <a:endParaRPr lang="en-US" sz="2000" dirty="0">
              <a:latin typeface="+mn-lt"/>
            </a:endParaRPr>
          </a:p>
        </p:txBody>
      </p:sp>
      <p:sp>
        <p:nvSpPr>
          <p:cNvPr id="10" name="Rectangle 10"/>
          <p:cNvSpPr/>
          <p:nvPr/>
        </p:nvSpPr>
        <p:spPr bwMode="auto">
          <a:xfrm>
            <a:off x="5703627" y="5121275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sz="2000" dirty="0">
                <a:latin typeface="+mn-lt"/>
              </a:rPr>
              <a:t>k</a:t>
            </a:r>
            <a:r>
              <a:rPr lang="en-US" sz="2000" baseline="-25000" dirty="0">
                <a:latin typeface="+mn-lt"/>
              </a:rPr>
              <a:t>3</a:t>
            </a:r>
            <a:endParaRPr lang="en-US" sz="2000" dirty="0">
              <a:latin typeface="+mn-lt"/>
            </a:endParaRPr>
          </a:p>
        </p:txBody>
      </p:sp>
      <p:sp>
        <p:nvSpPr>
          <p:cNvPr id="11" name="Rectangle 11"/>
          <p:cNvSpPr/>
          <p:nvPr/>
        </p:nvSpPr>
        <p:spPr bwMode="auto">
          <a:xfrm>
            <a:off x="8446827" y="5121275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sz="2000" dirty="0" err="1">
                <a:latin typeface="+mn-lt"/>
              </a:rPr>
              <a:t>k</a:t>
            </a:r>
            <a:r>
              <a:rPr lang="en-US" sz="2000" baseline="-25000" dirty="0" err="1">
                <a:latin typeface="+mn-lt"/>
              </a:rPr>
              <a:t>n</a:t>
            </a:r>
            <a:endParaRPr lang="en-US" sz="2000" dirty="0">
              <a:latin typeface="+mn-lt"/>
            </a:endParaRPr>
          </a:p>
        </p:txBody>
      </p:sp>
      <p:sp>
        <p:nvSpPr>
          <p:cNvPr id="12" name="Rectangle 12"/>
          <p:cNvSpPr/>
          <p:nvPr/>
        </p:nvSpPr>
        <p:spPr bwMode="auto">
          <a:xfrm rot="16200000">
            <a:off x="3312854" y="5968999"/>
            <a:ext cx="857250" cy="647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R(k</a:t>
            </a:r>
            <a:r>
              <a:rPr lang="en-US" baseline="-25000" dirty="0">
                <a:latin typeface="+mn-lt"/>
              </a:rPr>
              <a:t>1</a:t>
            </a:r>
            <a:r>
              <a:rPr lang="en-US" dirty="0">
                <a:latin typeface="+mn-lt"/>
              </a:rPr>
              <a:t>, </a:t>
            </a:r>
            <a:r>
              <a:rPr lang="en-US" dirty="0">
                <a:latin typeface="+mn-lt"/>
                <a:sym typeface="Symbol"/>
              </a:rPr>
              <a:t>)</a:t>
            </a:r>
            <a:endParaRPr lang="en-US" dirty="0">
              <a:latin typeface="+mn-lt"/>
            </a:endParaRPr>
          </a:p>
        </p:txBody>
      </p:sp>
      <p:sp>
        <p:nvSpPr>
          <p:cNvPr id="13" name="Rectangle 14"/>
          <p:cNvSpPr/>
          <p:nvPr/>
        </p:nvSpPr>
        <p:spPr bwMode="auto">
          <a:xfrm rot="16200000">
            <a:off x="4493951" y="5968999"/>
            <a:ext cx="857250" cy="647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R(k</a:t>
            </a:r>
            <a:r>
              <a:rPr lang="en-US" baseline="-25000" dirty="0">
                <a:latin typeface="+mn-lt"/>
              </a:rPr>
              <a:t>2</a:t>
            </a:r>
            <a:r>
              <a:rPr lang="en-US" dirty="0">
                <a:latin typeface="+mn-lt"/>
              </a:rPr>
              <a:t>, </a:t>
            </a:r>
            <a:r>
              <a:rPr lang="en-US" dirty="0">
                <a:latin typeface="+mn-lt"/>
                <a:sym typeface="Symbol"/>
              </a:rPr>
              <a:t>)</a:t>
            </a:r>
            <a:endParaRPr lang="en-US" dirty="0">
              <a:latin typeface="+mn-lt"/>
            </a:endParaRPr>
          </a:p>
        </p:txBody>
      </p:sp>
      <p:sp>
        <p:nvSpPr>
          <p:cNvPr id="14" name="Rectangle 15"/>
          <p:cNvSpPr/>
          <p:nvPr/>
        </p:nvSpPr>
        <p:spPr bwMode="auto">
          <a:xfrm rot="16200000">
            <a:off x="5636951" y="5968999"/>
            <a:ext cx="857250" cy="647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R(k</a:t>
            </a:r>
            <a:r>
              <a:rPr lang="en-US" baseline="-25000" dirty="0">
                <a:latin typeface="+mn-lt"/>
              </a:rPr>
              <a:t>3</a:t>
            </a:r>
            <a:r>
              <a:rPr lang="en-US" dirty="0">
                <a:latin typeface="+mn-lt"/>
              </a:rPr>
              <a:t>, </a:t>
            </a:r>
            <a:r>
              <a:rPr lang="en-US" dirty="0">
                <a:latin typeface="+mn-lt"/>
                <a:sym typeface="Symbol"/>
              </a:rPr>
              <a:t>)</a:t>
            </a:r>
            <a:endParaRPr lang="en-US" dirty="0">
              <a:latin typeface="+mn-lt"/>
            </a:endParaRPr>
          </a:p>
        </p:txBody>
      </p:sp>
      <p:sp>
        <p:nvSpPr>
          <p:cNvPr id="15" name="Rectangle 16"/>
          <p:cNvSpPr/>
          <p:nvPr/>
        </p:nvSpPr>
        <p:spPr bwMode="auto">
          <a:xfrm rot="16200000">
            <a:off x="8380151" y="5968999"/>
            <a:ext cx="857250" cy="647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R(</a:t>
            </a:r>
            <a:r>
              <a:rPr lang="en-US" dirty="0" err="1">
                <a:latin typeface="+mn-lt"/>
              </a:rPr>
              <a:t>k</a:t>
            </a:r>
            <a:r>
              <a:rPr lang="en-US" baseline="-25000" dirty="0" err="1">
                <a:latin typeface="+mn-lt"/>
              </a:rPr>
              <a:t>n</a:t>
            </a:r>
            <a:r>
              <a:rPr lang="en-US" dirty="0">
                <a:latin typeface="+mn-lt"/>
              </a:rPr>
              <a:t>, </a:t>
            </a:r>
            <a:r>
              <a:rPr lang="en-US" dirty="0">
                <a:latin typeface="+mn-lt"/>
                <a:sym typeface="Symbol"/>
              </a:rPr>
              <a:t>)</a:t>
            </a:r>
            <a:endParaRPr lang="en-US" dirty="0">
              <a:latin typeface="+mn-lt"/>
            </a:endParaRPr>
          </a:p>
        </p:txBody>
      </p:sp>
      <p:cxnSp>
        <p:nvCxnSpPr>
          <p:cNvPr id="16" name="Straight Arrow Connector 18"/>
          <p:cNvCxnSpPr/>
          <p:nvPr/>
        </p:nvCxnSpPr>
        <p:spPr bwMode="auto">
          <a:xfrm rot="5400000">
            <a:off x="3550977" y="5635426"/>
            <a:ext cx="3429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20"/>
          <p:cNvCxnSpPr/>
          <p:nvPr/>
        </p:nvCxnSpPr>
        <p:spPr bwMode="auto">
          <a:xfrm rot="5400000">
            <a:off x="4694771" y="5634830"/>
            <a:ext cx="3429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21"/>
          <p:cNvCxnSpPr/>
          <p:nvPr/>
        </p:nvCxnSpPr>
        <p:spPr bwMode="auto">
          <a:xfrm rot="5400000">
            <a:off x="5837771" y="5634830"/>
            <a:ext cx="3429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22"/>
          <p:cNvCxnSpPr/>
          <p:nvPr/>
        </p:nvCxnSpPr>
        <p:spPr bwMode="auto">
          <a:xfrm rot="5400000">
            <a:off x="8580971" y="5634830"/>
            <a:ext cx="3429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23"/>
          <p:cNvCxnSpPr/>
          <p:nvPr/>
        </p:nvCxnSpPr>
        <p:spPr bwMode="auto">
          <a:xfrm>
            <a:off x="4103427" y="6264274"/>
            <a:ext cx="457200" cy="1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5"/>
          <p:cNvCxnSpPr/>
          <p:nvPr/>
        </p:nvCxnSpPr>
        <p:spPr bwMode="auto">
          <a:xfrm>
            <a:off x="5246427" y="6263083"/>
            <a:ext cx="457200" cy="1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6"/>
          <p:cNvCxnSpPr/>
          <p:nvPr/>
        </p:nvCxnSpPr>
        <p:spPr bwMode="auto">
          <a:xfrm>
            <a:off x="6389427" y="6264274"/>
            <a:ext cx="457200" cy="1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Arrow Connector 27"/>
          <p:cNvCxnSpPr/>
          <p:nvPr/>
        </p:nvCxnSpPr>
        <p:spPr bwMode="auto">
          <a:xfrm>
            <a:off x="8065827" y="6264274"/>
            <a:ext cx="457200" cy="1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Arrow Connector 28"/>
          <p:cNvCxnSpPr/>
          <p:nvPr/>
        </p:nvCxnSpPr>
        <p:spPr bwMode="auto">
          <a:xfrm>
            <a:off x="10027975" y="6271296"/>
            <a:ext cx="457200" cy="1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9"/>
          <p:cNvCxnSpPr/>
          <p:nvPr/>
        </p:nvCxnSpPr>
        <p:spPr bwMode="auto">
          <a:xfrm>
            <a:off x="2026981" y="6184595"/>
            <a:ext cx="457200" cy="119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Straight Connector 31"/>
          <p:cNvCxnSpPr/>
          <p:nvPr/>
        </p:nvCxnSpPr>
        <p:spPr bwMode="auto">
          <a:xfrm>
            <a:off x="6922827" y="6264274"/>
            <a:ext cx="1143000" cy="119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1674294" y="5726637"/>
            <a:ext cx="471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m</a:t>
            </a:r>
            <a:endParaRPr lang="en-US" dirty="0">
              <a:latin typeface="+mn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89920" y="5864224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n-lt"/>
              </a:rPr>
              <a:t>c</a:t>
            </a:r>
            <a:endParaRPr lang="en-US" dirty="0">
              <a:latin typeface="+mn-lt"/>
            </a:endParaRPr>
          </a:p>
        </p:txBody>
      </p:sp>
      <p:sp>
        <p:nvSpPr>
          <p:cNvPr id="29" name="Rectangle 12"/>
          <p:cNvSpPr/>
          <p:nvPr/>
        </p:nvSpPr>
        <p:spPr bwMode="auto">
          <a:xfrm rot="16200000">
            <a:off x="2342099" y="5893594"/>
            <a:ext cx="1008061" cy="647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/>
              <a:t>Input(.)</a:t>
            </a:r>
            <a:endParaRPr lang="en-US" dirty="0">
              <a:latin typeface="+mn-lt"/>
            </a:endParaRPr>
          </a:p>
        </p:txBody>
      </p:sp>
      <p:sp>
        <p:nvSpPr>
          <p:cNvPr id="31" name="Rectangle 12"/>
          <p:cNvSpPr/>
          <p:nvPr/>
        </p:nvSpPr>
        <p:spPr bwMode="auto">
          <a:xfrm rot="16200000">
            <a:off x="9116119" y="5860744"/>
            <a:ext cx="1176011" cy="6477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dirty="0"/>
              <a:t>Output(.)</a:t>
            </a:r>
            <a:endParaRPr lang="en-US" dirty="0">
              <a:latin typeface="+mn-lt"/>
            </a:endParaRPr>
          </a:p>
        </p:txBody>
      </p:sp>
      <p:cxnSp>
        <p:nvCxnSpPr>
          <p:cNvPr id="32" name="Straight Arrow Connector 29"/>
          <p:cNvCxnSpPr/>
          <p:nvPr/>
        </p:nvCxnSpPr>
        <p:spPr bwMode="auto">
          <a:xfrm>
            <a:off x="3179506" y="6270780"/>
            <a:ext cx="228597" cy="46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29"/>
          <p:cNvCxnSpPr/>
          <p:nvPr/>
        </p:nvCxnSpPr>
        <p:spPr bwMode="auto">
          <a:xfrm>
            <a:off x="9132627" y="6292849"/>
            <a:ext cx="228597" cy="46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1685446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раундовых функций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Как строить хорошие раундовые функции? Как определить стойкость раундовой функции? Никто не знает.</a:t>
                </a:r>
              </a:p>
              <a:p>
                <a:r>
                  <a:rPr lang="ru-RU" dirty="0"/>
                  <a:t>Раундовая функция должна быть сильно нелинейной от ключа, т.к. использование линейной функции (или близкой к линейной) даёт линейный блочный шифр. Пример плохой раундовой функции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. </a:t>
                </a:r>
                <a:endParaRPr lang="ru-RU" dirty="0"/>
              </a:p>
              <a:p>
                <a:r>
                  <a:rPr lang="ru-RU" dirty="0"/>
                  <a:t>Качество раундовой функции определяется возможностью практических атак на полученный шифр.</a:t>
                </a:r>
              </a:p>
              <a:p>
                <a:r>
                  <a:rPr lang="ru-RU" dirty="0"/>
                  <a:t>Сколько нужно использовать раундов для фиксированной раундовой функции? Никто не знает.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5769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блочных шифров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Никогда не строить собственных блочных шифров</a:t>
            </a:r>
          </a:p>
          <a:p>
            <a:r>
              <a:rPr lang="ru-RU" dirty="0"/>
              <a:t>Использовать </a:t>
            </a:r>
            <a:r>
              <a:rPr lang="en-US" dirty="0"/>
              <a:t>AES, </a:t>
            </a:r>
            <a:r>
              <a:rPr lang="ru-RU" dirty="0"/>
              <a:t>ГОСТ</a:t>
            </a:r>
            <a:r>
              <a:rPr lang="en-US" dirty="0"/>
              <a:t> </a:t>
            </a:r>
            <a:r>
              <a:rPr lang="ru-RU" dirty="0"/>
              <a:t>Р 34</a:t>
            </a:r>
            <a:r>
              <a:rPr lang="en-US" dirty="0"/>
              <a:t>.12-2015</a:t>
            </a:r>
            <a:r>
              <a:rPr lang="ru-RU" dirty="0"/>
              <a:t> (Магма (</a:t>
            </a:r>
            <a:r>
              <a:rPr lang="en-US" dirty="0"/>
              <a:t>ex </a:t>
            </a:r>
            <a:r>
              <a:rPr lang="ru-RU" dirty="0"/>
              <a:t>ГОСТ 28147-89)</a:t>
            </a:r>
            <a:r>
              <a:rPr lang="en-US" dirty="0"/>
              <a:t>, </a:t>
            </a:r>
            <a:r>
              <a:rPr lang="ru-RU" dirty="0"/>
              <a:t>Кузнечик)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1983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для достижения </a:t>
            </a:r>
            <a:r>
              <a:rPr lang="ru-RU" dirty="0" err="1"/>
              <a:t>дзена</a:t>
            </a:r>
            <a:r>
              <a:rPr lang="ru-RU" dirty="0"/>
              <a:t> в режимах шифрования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сколько битов, в каких блоках и каким образов влияет </a:t>
            </a:r>
          </a:p>
          <a:p>
            <a:r>
              <a:rPr lang="ru-RU" dirty="0"/>
              <a:t>Изменение одного бита открытого текста на </a:t>
            </a:r>
            <a:r>
              <a:rPr lang="ru-RU" dirty="0" err="1"/>
              <a:t>шифртекст</a:t>
            </a:r>
            <a:endParaRPr lang="ru-RU" dirty="0"/>
          </a:p>
          <a:p>
            <a:r>
              <a:rPr lang="ru-RU" dirty="0"/>
              <a:t>Изменение одного бита </a:t>
            </a:r>
            <a:r>
              <a:rPr lang="ru-RU" dirty="0" err="1"/>
              <a:t>шифртекста</a:t>
            </a:r>
            <a:r>
              <a:rPr lang="ru-RU" dirty="0"/>
              <a:t> на расшифрованный открытый текст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Можно ли контролируемо изменить определённый бит расшифрованного открытого текста, изменив биты </a:t>
            </a:r>
            <a:r>
              <a:rPr lang="ru-RU" dirty="0" err="1"/>
              <a:t>шифртекста</a:t>
            </a:r>
            <a:r>
              <a:rPr lang="ru-RU" dirty="0"/>
              <a:t>, как?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834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ECB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479" y="0"/>
            <a:ext cx="6905345" cy="2780522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39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479" y="3145646"/>
            <a:ext cx="7087159" cy="285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20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715" y="0"/>
            <a:ext cx="6612286" cy="2662518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40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672" y="2854698"/>
            <a:ext cx="6535756" cy="263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149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CFB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203" y="0"/>
            <a:ext cx="7246798" cy="2918012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41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037" y="3083299"/>
            <a:ext cx="6869708" cy="276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848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OFB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619" y="-2"/>
            <a:ext cx="7380382" cy="2971801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42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347" y="3336926"/>
            <a:ext cx="7498653" cy="301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3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CTR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566" y="-1"/>
            <a:ext cx="7547355" cy="3039035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43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566" y="3231962"/>
            <a:ext cx="7451131" cy="300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088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2810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2742</TotalTime>
  <Words>3167</Words>
  <Application>Microsoft Office PowerPoint</Application>
  <PresentationFormat>Широкоэкранный</PresentationFormat>
  <Paragraphs>379</Paragraphs>
  <Slides>44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Symbol</vt:lpstr>
      <vt:lpstr>Tahoma</vt:lpstr>
      <vt:lpstr>Тема Office</vt:lpstr>
      <vt:lpstr>Прикладная Криптография: Симметричные криптосистемы Блочные шифры</vt:lpstr>
      <vt:lpstr>Блочный шифр</vt:lpstr>
      <vt:lpstr>Блочный шифр</vt:lpstr>
      <vt:lpstr>Понятие стойкости блочного шифры</vt:lpstr>
      <vt:lpstr>PRP и PRF</vt:lpstr>
      <vt:lpstr>Игра на стойкость PRF</vt:lpstr>
      <vt:lpstr>Стойкая PRF</vt:lpstr>
      <vt:lpstr>Игра на стойкость PRF</vt:lpstr>
      <vt:lpstr>Вычислительная неразличимость</vt:lpstr>
      <vt:lpstr>Пример</vt:lpstr>
      <vt:lpstr>Игра на стойкость PRP</vt:lpstr>
      <vt:lpstr>Стойкая PRP</vt:lpstr>
      <vt:lpstr>Игра на стойкость PRP</vt:lpstr>
      <vt:lpstr>Стойкий блочный шифр</vt:lpstr>
      <vt:lpstr>Непредсказуемость блочных шифров</vt:lpstr>
      <vt:lpstr>Непредсказуемость блочных шифров</vt:lpstr>
      <vt:lpstr>Непредсказуемость блочных шифров</vt:lpstr>
      <vt:lpstr>Непредсказуемость блочных шифров</vt:lpstr>
      <vt:lpstr>Непредсказуемость блочных шифров</vt:lpstr>
      <vt:lpstr>Стойкость против восстановления ключа</vt:lpstr>
      <vt:lpstr>Стойкость против восстановления ключа</vt:lpstr>
      <vt:lpstr>Стойкость против восстановления ключа</vt:lpstr>
      <vt:lpstr>Следствия стойкости</vt:lpstr>
      <vt:lpstr>Использование блочных шифров</vt:lpstr>
      <vt:lpstr>ECB</vt:lpstr>
      <vt:lpstr>ECB</vt:lpstr>
      <vt:lpstr>Стойкость  ECB</vt:lpstr>
      <vt:lpstr>Стойкость ECB</vt:lpstr>
      <vt:lpstr>Стойкость ECB</vt:lpstr>
      <vt:lpstr>Стойкость ECB</vt:lpstr>
      <vt:lpstr>Стойкость ECB</vt:lpstr>
      <vt:lpstr>Стойкость ECB</vt:lpstr>
      <vt:lpstr>Построение блочных шифров</vt:lpstr>
      <vt:lpstr>Построение блочных шифров</vt:lpstr>
      <vt:lpstr>Построение блочных шифров</vt:lpstr>
      <vt:lpstr>Построение раундовых функций</vt:lpstr>
      <vt:lpstr>Использование блочных шифров</vt:lpstr>
      <vt:lpstr>Вопросы для достижения дзена в режимах шифрования</vt:lpstr>
      <vt:lpstr>ECB</vt:lpstr>
      <vt:lpstr>CBC</vt:lpstr>
      <vt:lpstr>CFB</vt:lpstr>
      <vt:lpstr>OFB</vt:lpstr>
      <vt:lpstr>CTR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Fasjeit</cp:lastModifiedBy>
  <cp:revision>716</cp:revision>
  <dcterms:created xsi:type="dcterms:W3CDTF">2018-08-24T12:25:18Z</dcterms:created>
  <dcterms:modified xsi:type="dcterms:W3CDTF">2026-09-30T06:12:22Z</dcterms:modified>
</cp:coreProperties>
</file>