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7"/>
  </p:notesMasterIdLst>
  <p:sldIdLst>
    <p:sldId id="256" r:id="rId2"/>
    <p:sldId id="323" r:id="rId3"/>
    <p:sldId id="324" r:id="rId4"/>
    <p:sldId id="260" r:id="rId5"/>
    <p:sldId id="319" r:id="rId6"/>
    <p:sldId id="275" r:id="rId7"/>
    <p:sldId id="276" r:id="rId8"/>
    <p:sldId id="281" r:id="rId9"/>
    <p:sldId id="268" r:id="rId10"/>
    <p:sldId id="289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20" r:id="rId33"/>
    <p:sldId id="321" r:id="rId34"/>
    <p:sldId id="322" r:id="rId35"/>
    <p:sldId id="325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55" autoAdjust="0"/>
    <p:restoredTop sz="94664" autoAdjust="0"/>
  </p:normalViewPr>
  <p:slideViewPr>
    <p:cSldViewPr snapToGrid="0">
      <p:cViewPr varScale="1">
        <p:scale>
          <a:sx n="108" d="100"/>
          <a:sy n="108" d="100"/>
        </p:scale>
        <p:origin x="90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2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.gif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Поточные и Блочные шифры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202</a:t>
            </a:r>
            <a:r>
              <a:rPr lang="en-US" dirty="0"/>
              <a:t>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183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лабораторных работ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Лабораторные работы выполняются самостоятельно</a:t>
            </a:r>
          </a:p>
          <a:p>
            <a:r>
              <a:rPr lang="ru-RU" dirty="0"/>
              <a:t>Запрещается использовать части кода, полученные из открытых источников, включая генеративные сети</a:t>
            </a:r>
            <a:endParaRPr lang="en-US" dirty="0"/>
          </a:p>
          <a:p>
            <a:pPr lvl="1"/>
            <a:r>
              <a:rPr lang="ru-RU" dirty="0"/>
              <a:t>Пойманные на нарушении данного правила лишаются возможности сдавать лабораторные</a:t>
            </a:r>
          </a:p>
          <a:p>
            <a:r>
              <a:rPr lang="ru-RU" dirty="0"/>
              <a:t>Запрещается распространение исходных кодов выполненной или части выполненной лабораторной работы</a:t>
            </a:r>
          </a:p>
          <a:p>
            <a:r>
              <a:rPr lang="ru-RU" dirty="0"/>
              <a:t>На выполнение каждой работы 3 недели, каждые 2 недели новая лабораторная работа</a:t>
            </a:r>
          </a:p>
          <a:p>
            <a:pPr lvl="1"/>
            <a:r>
              <a:rPr lang="ru-RU" dirty="0"/>
              <a:t>После истечения </a:t>
            </a:r>
            <a:r>
              <a:rPr lang="ru-RU" dirty="0" err="1"/>
              <a:t>дедлайна</a:t>
            </a:r>
            <a:r>
              <a:rPr lang="ru-RU" dirty="0"/>
              <a:t> сдавать лабораторную работу нельзя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02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лабораторных работ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12277"/>
            <a:ext cx="10515600" cy="520919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Лабораторная работа должна быть загружена в соответствующий </a:t>
            </a:r>
            <a:r>
              <a:rPr lang="ru-RU" dirty="0" err="1"/>
              <a:t>репозиторий</a:t>
            </a:r>
            <a:endParaRPr lang="ru-RU" dirty="0"/>
          </a:p>
          <a:p>
            <a:r>
              <a:rPr lang="ru-RU" dirty="0"/>
              <a:t>После загрузки лабораторной работы необходимо написать мне для проверки работы</a:t>
            </a:r>
          </a:p>
          <a:p>
            <a:pPr lvl="1"/>
            <a:r>
              <a:rPr lang="ru-RU" dirty="0"/>
              <a:t>Результат проверки удовлетворительный – получаете оценку</a:t>
            </a:r>
          </a:p>
          <a:p>
            <a:pPr lvl="1"/>
            <a:r>
              <a:rPr lang="ru-RU" dirty="0"/>
              <a:t>Результат неудовлетворительный – получаете список исправлений для внесения, после чего загружаете изменения и вновь пишите мне для проверки</a:t>
            </a:r>
          </a:p>
          <a:p>
            <a:r>
              <a:rPr lang="ru-RU" dirty="0"/>
              <a:t>Не загружать в </a:t>
            </a:r>
            <a:r>
              <a:rPr lang="ru-RU" dirty="0" err="1"/>
              <a:t>репозиторий</a:t>
            </a:r>
            <a:r>
              <a:rPr lang="ru-RU" dirty="0"/>
              <a:t> файлы, не относящиеся к исходным кодам </a:t>
            </a:r>
            <a:r>
              <a:rPr lang="ru-RU" dirty="0" err="1"/>
              <a:t>выполенной</a:t>
            </a:r>
            <a:r>
              <a:rPr lang="ru-RU" dirty="0"/>
              <a:t> работы</a:t>
            </a:r>
          </a:p>
          <a:p>
            <a:pPr lvl="1"/>
            <a:r>
              <a:rPr lang="ru-RU" dirty="0"/>
              <a:t>Не загружать бинарные файлы! Только файлы с исходным кодом!</a:t>
            </a:r>
          </a:p>
          <a:p>
            <a:pPr lvl="1"/>
            <a:r>
              <a:rPr lang="ru-RU" dirty="0"/>
              <a:t>Рекомендуется использование </a:t>
            </a:r>
            <a:r>
              <a:rPr lang="en-US" dirty="0"/>
              <a:t>.</a:t>
            </a:r>
            <a:r>
              <a:rPr lang="en-US" dirty="0" err="1"/>
              <a:t>gitignore</a:t>
            </a:r>
            <a:endParaRPr lang="en-US" dirty="0"/>
          </a:p>
          <a:p>
            <a:pPr lvl="1"/>
            <a:r>
              <a:rPr lang="ru-RU" dirty="0"/>
              <a:t>Если вы всё же загрузили бинарный файл – написать мне, не удалять самостоятельно (ибо нужно удалить из истории)!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779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Историческая задача криптографической защиты информации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  <p:grpSp>
        <p:nvGrpSpPr>
          <p:cNvPr id="5" name="Group 17"/>
          <p:cNvGrpSpPr/>
          <p:nvPr/>
        </p:nvGrpSpPr>
        <p:grpSpPr>
          <a:xfrm>
            <a:off x="1397251" y="3482943"/>
            <a:ext cx="1635660" cy="1523622"/>
            <a:chOff x="4038600" y="1123950"/>
            <a:chExt cx="1076739" cy="990600"/>
          </a:xfrm>
        </p:grpSpPr>
        <p:pic>
          <p:nvPicPr>
            <p:cNvPr id="6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Alice</a:t>
              </a:r>
            </a:p>
          </p:txBody>
        </p:sp>
      </p:grpSp>
      <p:grpSp>
        <p:nvGrpSpPr>
          <p:cNvPr id="8" name="Group 17"/>
          <p:cNvGrpSpPr/>
          <p:nvPr/>
        </p:nvGrpSpPr>
        <p:grpSpPr>
          <a:xfrm>
            <a:off x="8918418" y="3482943"/>
            <a:ext cx="1635660" cy="1523622"/>
            <a:chOff x="4038600" y="1123950"/>
            <a:chExt cx="1076739" cy="990600"/>
          </a:xfrm>
        </p:grpSpPr>
        <p:pic>
          <p:nvPicPr>
            <p:cNvPr id="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Bob</a:t>
              </a:r>
            </a:p>
          </p:txBody>
        </p:sp>
      </p:grpSp>
      <p:cxnSp>
        <p:nvCxnSpPr>
          <p:cNvPr id="11" name="Прямая со стрелкой 10"/>
          <p:cNvCxnSpPr/>
          <p:nvPr/>
        </p:nvCxnSpPr>
        <p:spPr>
          <a:xfrm>
            <a:off x="3277848" y="4184920"/>
            <a:ext cx="556814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9528" y="3600145"/>
                <a:ext cx="11179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528" y="3600145"/>
                <a:ext cx="111799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Объект 2"/>
          <p:cNvSpPr>
            <a:spLocks noGrp="1"/>
          </p:cNvSpPr>
          <p:nvPr>
            <p:ph idx="1"/>
          </p:nvPr>
        </p:nvSpPr>
        <p:spPr>
          <a:xfrm>
            <a:off x="828705" y="1815451"/>
            <a:ext cx="10741182" cy="2166953"/>
          </a:xfrm>
        </p:spPr>
        <p:txBody>
          <a:bodyPr>
            <a:normAutofit/>
          </a:bodyPr>
          <a:lstStyle/>
          <a:p>
            <a:r>
              <a:rPr lang="ru-RU" sz="2600" dirty="0"/>
              <a:t>Передача зашифрованного сообщения по открытому каналу</a:t>
            </a:r>
          </a:p>
          <a:p>
            <a:r>
              <a:rPr lang="ru-RU" sz="2600" dirty="0"/>
              <a:t>При перехвате зашифрованного сообщения открытый текст должен остаться неизвестным для злоумышленника </a:t>
            </a:r>
            <a:endParaRPr lang="en-US" sz="2600" dirty="0"/>
          </a:p>
        </p:txBody>
      </p:sp>
      <p:cxnSp>
        <p:nvCxnSpPr>
          <p:cNvPr id="17" name="Прямая со стрелкой 16"/>
          <p:cNvCxnSpPr/>
          <p:nvPr/>
        </p:nvCxnSpPr>
        <p:spPr>
          <a:xfrm>
            <a:off x="5866646" y="4300396"/>
            <a:ext cx="0" cy="12222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534" y="5638089"/>
            <a:ext cx="1003992" cy="9877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Выноска-облако 19"/>
              <p:cNvSpPr/>
              <p:nvPr/>
            </p:nvSpPr>
            <p:spPr>
              <a:xfrm>
                <a:off x="6704714" y="4566761"/>
                <a:ext cx="1548143" cy="1002715"/>
              </a:xfrm>
              <a:prstGeom prst="cloudCallout">
                <a:avLst>
                  <a:gd name="adj1" fmla="val -68201"/>
                  <a:gd name="adj2" fmla="val 72432"/>
                </a:avLst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0" name="Выноска-облако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14" y="4566761"/>
                <a:ext cx="1548143" cy="1002715"/>
              </a:xfrm>
              <a:prstGeom prst="cloudCallout">
                <a:avLst>
                  <a:gd name="adj1" fmla="val -68201"/>
                  <a:gd name="adj2" fmla="val 72432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348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 Шеннона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Шифр Шеннона  - пара функций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, таких что</m:t>
                    </m:r>
                  </m:oMath>
                </a14:m>
                <a:r>
                  <a:rPr lang="en-US" b="0" dirty="0"/>
                  <a:t>:</a:t>
                </a:r>
              </a:p>
              <a:p>
                <a:r>
                  <a:rPr lang="ru-RU" dirty="0"/>
                  <a:t>(1)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b="0" dirty="0"/>
                  <a:t> (</a:t>
                </a:r>
                <a:r>
                  <a:rPr lang="ru-RU" b="1" dirty="0"/>
                  <a:t>функция </a:t>
                </a:r>
                <a:r>
                  <a:rPr lang="ru-RU" b="1" dirty="0" err="1"/>
                  <a:t>зашифрования</a:t>
                </a:r>
                <a:r>
                  <a:rPr lang="ru-RU" b="0" dirty="0"/>
                  <a:t>) принимает на вход ключ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(</a:t>
                </a:r>
                <a:r>
                  <a:rPr lang="ru-RU" b="0" dirty="0"/>
                  <a:t>называемой открытым текстом, </a:t>
                </a:r>
                <a:r>
                  <a:rPr lang="en-US" b="0" dirty="0"/>
                  <a:t>PT) </a:t>
                </a:r>
                <a:r>
                  <a:rPr lang="ru-RU" b="0" dirty="0"/>
                  <a:t>и даёт на выходе </a:t>
                </a:r>
                <a:r>
                  <a:rPr lang="ru-RU" b="0" dirty="0" err="1"/>
                  <a:t>шифртекст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b="0" dirty="0"/>
                  <a:t> (</a:t>
                </a:r>
                <a:r>
                  <a:rPr lang="en-US" b="0" dirty="0"/>
                  <a:t>CT)</a:t>
                </a:r>
                <a:r>
                  <a:rPr lang="ru-RU" dirty="0"/>
                  <a:t>, такой что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/>
                  <a:t> </a:t>
                </a:r>
                <a:endParaRPr lang="ru-RU" b="0" dirty="0"/>
              </a:p>
              <a:p>
                <a:pPr marL="0" indent="0">
                  <a:buNone/>
                </a:pPr>
                <a:r>
                  <a:rPr lang="ru-RU" b="0" dirty="0"/>
                  <a:t>Говорят,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есть </a:t>
                </a:r>
                <a:r>
                  <a:rPr lang="ru-RU" b="1" dirty="0" err="1"/>
                  <a:t>зашифрование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на ключе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b="0" dirty="0"/>
                  <a:t>.</a:t>
                </a:r>
              </a:p>
              <a:p>
                <a:r>
                  <a:rPr lang="ru-RU" dirty="0"/>
                  <a:t> (2)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b="0" dirty="0"/>
                  <a:t> (</a:t>
                </a:r>
                <a:r>
                  <a:rPr lang="ru-RU" b="1" dirty="0"/>
                  <a:t>функция </a:t>
                </a:r>
                <a:r>
                  <a:rPr lang="ru-RU" b="1" dirty="0" err="1"/>
                  <a:t>расшифрования</a:t>
                </a:r>
                <a:r>
                  <a:rPr lang="ru-RU" b="0" dirty="0"/>
                  <a:t>) принимает на вход ключ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</a:t>
                </a:r>
                <a:r>
                  <a:rPr lang="ru-RU" b="0" dirty="0" err="1"/>
                  <a:t>шифртекст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даёт на выходе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b="0" dirty="0"/>
                  <a:t>, такое что</a:t>
                </a:r>
              </a:p>
              <a:p>
                <a:pPr marL="0" indent="0" algn="ctr">
                  <a:buNone/>
                </a:pP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ru-RU" b="0" dirty="0"/>
              </a:p>
              <a:p>
                <a:pPr marL="0" indent="0">
                  <a:buNone/>
                </a:pPr>
                <a:r>
                  <a:rPr lang="ru-RU" dirty="0"/>
                  <a:t>Говорят,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b="0" dirty="0"/>
                  <a:t> это </a:t>
                </a:r>
                <a:r>
                  <a:rPr lang="ru-RU" b="1" dirty="0" err="1"/>
                  <a:t>расшифрование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b="0" dirty="0"/>
                  <a:t> на ключе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b="0" dirty="0"/>
                  <a:t>.</a:t>
                </a:r>
                <a:endParaRPr lang="en-US" b="0" dirty="0"/>
              </a:p>
              <a:p>
                <a:endParaRPr lang="en-US" b="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20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 Шеннона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(3)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b="0" dirty="0"/>
                  <a:t> обращает функци</a:t>
                </a:r>
                <a:r>
                  <a:rPr lang="ru-RU" dirty="0"/>
                  <a:t>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b="0" dirty="0"/>
                  <a:t> (</a:t>
                </a:r>
                <a:r>
                  <a:rPr lang="ru-RU" b="1" dirty="0"/>
                  <a:t>свойство корректности</a:t>
                </a:r>
                <a:r>
                  <a:rPr lang="ru-RU" b="0" dirty="0"/>
                  <a:t>)</a:t>
                </a:r>
                <a:r>
                  <a:rPr lang="en-US" b="0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множество ключей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b="1" dirty="0"/>
                  <a:t> – </a:t>
                </a:r>
                <a:r>
                  <a:rPr lang="ru-RU" b="1" dirty="0"/>
                  <a:t>множество сообщений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– множество </a:t>
                </a:r>
                <a:r>
                  <a:rPr lang="ru-RU" b="1" dirty="0" err="1"/>
                  <a:t>шифртекстов</a:t>
                </a:r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dirty="0"/>
                  <a:t>Тогда шифром  Шеннона, определённым над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ru-RU" b="1" dirty="0"/>
                  <a:t> </a:t>
                </a:r>
                <a:r>
                  <a:rPr lang="ru-RU" dirty="0"/>
                  <a:t>называют пару функций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которых выполняются свойства (1) – (3).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b="-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31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ru-RU" dirty="0"/>
              <a:t>Одноразовый блокнот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шифр Шеннона</a:t>
                </a:r>
                <a:r>
                  <a:rPr lang="ru-RU" dirty="0"/>
                  <a:t>, для которого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b="0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– </a:t>
                </a:r>
                <a:r>
                  <a:rPr lang="ru-RU" b="0" dirty="0"/>
                  <a:t>фиксированный параметр.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b="0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dirty="0"/>
                  <a:t>функция</a:t>
                </a:r>
                <a:r>
                  <a:rPr lang="ru-RU" b="0" dirty="0"/>
                  <a:t> </a:t>
                </a:r>
                <a:r>
                  <a:rPr lang="ru-RU" b="1" dirty="0" err="1"/>
                  <a:t>зашифрования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b="0" dirty="0"/>
                  <a:t> и </a:t>
                </a:r>
                <a:r>
                  <a:rPr lang="ru-RU" b="0" dirty="0" err="1"/>
                  <a:t>шифртекста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функция </a:t>
                </a:r>
                <a:r>
                  <a:rPr lang="ru-RU" b="1" dirty="0" err="1"/>
                  <a:t>расшифрования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b="0" dirty="0"/>
                  <a:t> - </a:t>
                </a:r>
                <a:r>
                  <a:rPr lang="ru-RU" b="0" dirty="0"/>
                  <a:t>побитное сложение по модулю 2 (</a:t>
                </a:r>
                <a:r>
                  <a:rPr lang="en-US" b="0" dirty="0"/>
                  <a:t>XOR)</a:t>
                </a:r>
                <a:r>
                  <a:rPr lang="ru-RU" b="0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b="1" dirty="0" err="1"/>
                  <a:t>Корректноть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  <a:blipFill>
                <a:blip r:embed="rId2"/>
                <a:stretch>
                  <a:fillRect l="-1043" t="-18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04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ru-RU" dirty="0"/>
              <a:t>Аддитивный одноразовый блокнот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шифр Шеннона</a:t>
                </a:r>
                <a:r>
                  <a:rPr lang="ru-RU" dirty="0"/>
                  <a:t>, для которого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0,…,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b="0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– </a:t>
                </a:r>
                <a:r>
                  <a:rPr lang="ru-RU" b="0" dirty="0"/>
                  <a:t>фиксированные параметры.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b="0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dirty="0"/>
                  <a:t>функция</a:t>
                </a:r>
                <a:r>
                  <a:rPr lang="ru-RU" b="0" dirty="0"/>
                  <a:t> </a:t>
                </a:r>
                <a:r>
                  <a:rPr lang="ru-RU" b="1" dirty="0" err="1"/>
                  <a:t>зашифрования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покоординатно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b="0" dirty="0"/>
                  <a:t> и </a:t>
                </a:r>
                <a:r>
                  <a:rPr lang="ru-RU" b="0" dirty="0" err="1"/>
                  <a:t>шифртекста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функция </a:t>
                </a:r>
                <a:r>
                  <a:rPr lang="ru-RU" b="1" dirty="0" err="1"/>
                  <a:t>расшифрования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,покоординатно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b="1" dirty="0"/>
                  <a:t>Корректность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b="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41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шифра Шеннона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Цель шифра Шеннона – обеспечение </a:t>
                </a:r>
                <a:r>
                  <a:rPr lang="ru-RU" b="1" dirty="0"/>
                  <a:t>секретности</a:t>
                </a:r>
                <a:r>
                  <a:rPr lang="ru-RU" dirty="0"/>
                  <a:t> передаваемых сообщений по открытому каналу</a:t>
                </a:r>
              </a:p>
              <a:p>
                <a:r>
                  <a:rPr lang="ru-RU" dirty="0"/>
                  <a:t>Для обеспечения секретности необходим общий секретный ключ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, неизвестный для злоумышленника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  <p:grpSp>
        <p:nvGrpSpPr>
          <p:cNvPr id="5" name="Group 17"/>
          <p:cNvGrpSpPr/>
          <p:nvPr/>
        </p:nvGrpSpPr>
        <p:grpSpPr>
          <a:xfrm>
            <a:off x="1447128" y="3578530"/>
            <a:ext cx="1635660" cy="1523622"/>
            <a:chOff x="4038600" y="1123950"/>
            <a:chExt cx="1076739" cy="990600"/>
          </a:xfrm>
        </p:grpSpPr>
        <p:pic>
          <p:nvPicPr>
            <p:cNvPr id="6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Alice</a:t>
              </a:r>
            </a:p>
          </p:txBody>
        </p:sp>
      </p:grpSp>
      <p:grpSp>
        <p:nvGrpSpPr>
          <p:cNvPr id="8" name="Group 17"/>
          <p:cNvGrpSpPr/>
          <p:nvPr/>
        </p:nvGrpSpPr>
        <p:grpSpPr>
          <a:xfrm>
            <a:off x="8968295" y="3578530"/>
            <a:ext cx="1635660" cy="1523622"/>
            <a:chOff x="4038600" y="1123950"/>
            <a:chExt cx="1076739" cy="990600"/>
          </a:xfrm>
        </p:grpSpPr>
        <p:pic>
          <p:nvPicPr>
            <p:cNvPr id="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Bob</a:t>
              </a:r>
            </a:p>
          </p:txBody>
        </p:sp>
      </p:grpSp>
      <p:cxnSp>
        <p:nvCxnSpPr>
          <p:cNvPr id="11" name="Прямая со стрелкой 10"/>
          <p:cNvCxnSpPr/>
          <p:nvPr/>
        </p:nvCxnSpPr>
        <p:spPr>
          <a:xfrm>
            <a:off x="3327725" y="4280507"/>
            <a:ext cx="556814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39405" y="3695732"/>
                <a:ext cx="14534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405" y="3695732"/>
                <a:ext cx="145341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411" y="5733676"/>
            <a:ext cx="1003992" cy="9877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Выноска-облако 13"/>
              <p:cNvSpPr/>
              <p:nvPr/>
            </p:nvSpPr>
            <p:spPr>
              <a:xfrm>
                <a:off x="6754591" y="4662348"/>
                <a:ext cx="1548143" cy="1002715"/>
              </a:xfrm>
              <a:prstGeom prst="cloudCallout">
                <a:avLst>
                  <a:gd name="adj1" fmla="val -68201"/>
                  <a:gd name="adj2" fmla="val 72432"/>
                </a:avLst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4" name="Выноска-облако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591" y="4662348"/>
                <a:ext cx="1548143" cy="1002715"/>
              </a:xfrm>
              <a:prstGeom prst="cloudCallout">
                <a:avLst>
                  <a:gd name="adj1" fmla="val -68201"/>
                  <a:gd name="adj2" fmla="val 72432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 стрелкой 14"/>
          <p:cNvCxnSpPr/>
          <p:nvPr/>
        </p:nvCxnSpPr>
        <p:spPr>
          <a:xfrm>
            <a:off x="5866646" y="4300396"/>
            <a:ext cx="0" cy="12222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952477" y="5102152"/>
                <a:ext cx="4757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477" y="5102152"/>
                <a:ext cx="47570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717347" y="5019929"/>
                <a:ext cx="4757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347" y="5019929"/>
                <a:ext cx="47570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036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2969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Одноразовый блокнот – абсолютно стойкий шифр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- одноразовый блокнот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dirty="0"/>
                  <a:t> для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абсолютно стойкий шифр.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Формальное определение – посмотреть самостоятельно. Суть коротко – вероятность для фиксированного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с</m:t>
                    </m:r>
                  </m:oMath>
                </a14:m>
                <a:r>
                  <a:rPr lang="ru-RU" dirty="0"/>
                  <a:t> соответствовать одному из открытых текстов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одинакова при незнании ключа.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Следствия абсолютной стойкости – невозможны атаки, лучше чем простое угадывание открытого текста</a:t>
                </a:r>
                <a:r>
                  <a:rPr lang="en-US" dirty="0"/>
                  <a:t>/</a:t>
                </a:r>
                <a:r>
                  <a:rPr lang="ru-RU" dirty="0"/>
                  <a:t>ключа.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Сложность атаки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58" b="-36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17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9488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Плохие новости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7</a:t>
                </a:r>
                <a:r>
                  <a:rPr lang="ru-RU" b="1" dirty="0"/>
                  <a:t> (Шеннона).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шифр Шеннона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абсолютно стойкий, то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Простое объяснение – невозможно получить равномерно распределённую случайную величину длины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, используя детерминированный алгоритм над равномерно распределённой случайной величиной длины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b="0" dirty="0"/>
                  <a:t>Иными словами, для шифрования 1 </a:t>
                </a:r>
                <a:r>
                  <a:rPr lang="en-US" b="0" dirty="0"/>
                  <a:t>Gb </a:t>
                </a:r>
                <a:r>
                  <a:rPr lang="ru-RU" b="0" dirty="0"/>
                  <a:t>данных </a:t>
                </a:r>
                <a:r>
                  <a:rPr lang="ru-RU" b="1" dirty="0"/>
                  <a:t>любым</a:t>
                </a:r>
                <a:r>
                  <a:rPr lang="ru-RU" b="0" dirty="0"/>
                  <a:t> абсолютно стойким шифром потребуется ключ размера как минимум 1 </a:t>
                </a:r>
                <a:r>
                  <a:rPr lang="en-US" b="0" dirty="0"/>
                  <a:t>Gb</a:t>
                </a:r>
                <a:r>
                  <a:rPr lang="ru-RU" dirty="0"/>
                  <a:t>.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62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одноразового блокнота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Одноразовый блокнот – сложение (побитное) случайного равновероятного вектора ключа с вектором открытого текста, для получения </a:t>
            </a:r>
            <a:r>
              <a:rPr lang="ru-RU" dirty="0" err="1"/>
              <a:t>шифртекста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Проблема (Теорема Шеннона) – длина (энтропия) ключа должна быть больше или равна длине сообщения.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Основная идея – заменить случайный длинный вектор ключа на «псевдослучайную» последовательность, называемую гаммой.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62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85248"/>
            <a:ext cx="10515600" cy="1325563"/>
          </a:xfrm>
        </p:spPr>
        <p:txBody>
          <a:bodyPr/>
          <a:lstStyle/>
          <a:p>
            <a:r>
              <a:rPr lang="ru-RU" dirty="0"/>
              <a:t>Идея одноразового блокнота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3336957" y="3970929"/>
                <a:ext cx="3471251" cy="465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957" y="3970929"/>
                <a:ext cx="3471251" cy="4656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3336956" y="4789073"/>
                <a:ext cx="3471251" cy="4656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956" y="4789073"/>
                <a:ext cx="3471251" cy="465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3336955" y="5762150"/>
                <a:ext cx="3471251" cy="46565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955" y="5762150"/>
                <a:ext cx="3471251" cy="465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8089284" y="3970929"/>
                <a:ext cx="3580634" cy="465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284" y="3970929"/>
                <a:ext cx="3580634" cy="4656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8089283" y="3054594"/>
                <a:ext cx="766661" cy="46565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283" y="3054594"/>
                <a:ext cx="766661" cy="4656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8089284" y="4789073"/>
                <a:ext cx="3580634" cy="46565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284" y="4789073"/>
                <a:ext cx="3580634" cy="4656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8089282" y="5762150"/>
                <a:ext cx="3580634" cy="46565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9282" y="5762150"/>
                <a:ext cx="3580634" cy="4656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Прямая соединительная линия 13"/>
          <p:cNvCxnSpPr/>
          <p:nvPr/>
        </p:nvCxnSpPr>
        <p:spPr>
          <a:xfrm>
            <a:off x="8089281" y="3520252"/>
            <a:ext cx="0" cy="45067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8855944" y="3503426"/>
            <a:ext cx="2813972" cy="467503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/>
              <p:cNvSpPr/>
              <p:nvPr/>
            </p:nvSpPr>
            <p:spPr>
              <a:xfrm>
                <a:off x="9160630" y="3572294"/>
                <a:ext cx="29843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630" y="3572294"/>
                <a:ext cx="298431" cy="369332"/>
              </a:xfrm>
              <a:prstGeom prst="rect">
                <a:avLst/>
              </a:prstGeom>
              <a:blipFill>
                <a:blip r:embed="rId9"/>
                <a:stretch>
                  <a:fillRect r="-61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110743" cy="19134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Заменяем использование случайного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псевдослучайной последовательностью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dirty="0"/>
                  <a:t>. Если последовательность «неотличима» от случайной  равновероятной, то </a:t>
                </a:r>
                <a:r>
                  <a:rPr lang="ru-RU" dirty="0" err="1"/>
                  <a:t>шифртекст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неотличим от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в одноразовом блокноте.</a:t>
                </a:r>
              </a:p>
            </p:txBody>
          </p:sp>
        </mc:Choice>
        <mc:Fallback xmlns="">
          <p:sp>
            <p:nvSpPr>
              <p:cNvPr id="19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110743" cy="1913456"/>
              </a:xfrm>
              <a:blipFill>
                <a:blip r:embed="rId10"/>
                <a:stretch>
                  <a:fillRect l="-1544" t="-4777" r="-3173" b="-63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245002" y="4019092"/>
                <a:ext cx="524887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002" y="4019092"/>
                <a:ext cx="524887" cy="390748"/>
              </a:xfrm>
              <a:prstGeom prst="rect">
                <a:avLst/>
              </a:prstGeom>
              <a:blipFill>
                <a:blip r:embed="rId11"/>
                <a:stretch>
                  <a:fillRect b="-46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245002" y="5810313"/>
                <a:ext cx="522835" cy="3940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002" y="5810313"/>
                <a:ext cx="522835" cy="394019"/>
              </a:xfrm>
              <a:prstGeom prst="rect">
                <a:avLst/>
              </a:prstGeom>
              <a:blipFill>
                <a:blip r:embed="rId12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rot="5400000">
                <a:off x="7234319" y="4914702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234319" y="4914702"/>
                <a:ext cx="43152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437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Поточный шифр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Эффективно вычислимая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 </a:t>
                </a:r>
                <a:r>
                  <a:rPr lang="ru-RU" b="1" dirty="0"/>
                  <a:t>псевдослучайным генератором</a:t>
                </a:r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</a:t>
                </a:r>
                <a:r>
                  <a:rPr lang="en-US" b="1" dirty="0"/>
                  <a:t>PRG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с параметрам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dirty="0"/>
                  <a:t>, называется </a:t>
                </a:r>
                <a:r>
                  <a:rPr lang="ru-RU" b="1" dirty="0"/>
                  <a:t>поточным шифром</a:t>
                </a:r>
                <a:r>
                  <a:rPr lang="ru-RU" dirty="0"/>
                  <a:t>, если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</a:p>
              <a:p>
                <a:pPr marL="0" indent="0">
                  <a:buNone/>
                </a:pPr>
                <a:r>
                  <a:rPr lang="ru-RU" dirty="0"/>
                  <a:t>где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псевдослучайный генератор.</a:t>
                </a:r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Аналогично можно ввести Поточный шифр по произвольному модулю.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Стойкость поточного шифра сводится к «качеству» псевдослучайной последовательности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 b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011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Блочный шифр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2339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Блочный шифр </a:t>
                </a:r>
                <a:r>
                  <a:rPr lang="ru-RU" dirty="0"/>
                  <a:t>– детерминированный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о</a:t>
                </a:r>
                <a:r>
                  <a:rPr lang="ru-RU" dirty="0" err="1"/>
                  <a:t>пределённый</a:t>
                </a:r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блок данных,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множество блоков,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 – множество ключей блочного шифра.</a:t>
                </a:r>
              </a:p>
              <a:p>
                <a:pPr marL="0" indent="0">
                  <a:buNone/>
                </a:pPr>
                <a:r>
                  <a:rPr lang="ru-RU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 определим функцию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,∗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Из свойства корректности имеем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ru-RU" dirty="0"/>
                  <a:t> - подстановки на множестве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ru-RU" dirty="0"/>
                  <a:t> – тождественная подстановка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.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233981"/>
              </a:xfrm>
              <a:blipFill>
                <a:blip r:embed="rId2"/>
                <a:stretch>
                  <a:fillRect l="-1043" t="-21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160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Блочный шифр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Блочные шифры является основным криптографическим примитивом для построения симметричных криптосистем.</a:t>
            </a:r>
          </a:p>
          <a:p>
            <a:r>
              <a:rPr lang="ru-RU" dirty="0"/>
              <a:t>Могут быть использованы для как схем шифрования (в схемах шифрования), так и для обеспечения аутентичности (в кодах аутентичности сообщений.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231643" y="4586050"/>
            <a:ext cx="1371600" cy="7429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800" b="1" dirty="0">
                <a:solidFill>
                  <a:srgbClr val="0000FF"/>
                </a:solidFill>
                <a:latin typeface="Tahoma" pitchFamily="34" charset="0"/>
              </a:rPr>
              <a:t>E, D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4317243" y="49861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6603243" y="49861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517643" y="4814650"/>
            <a:ext cx="2209800" cy="342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CT Block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8230417" y="4468733"/>
            <a:ext cx="7489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latin typeface="Tahoma" pitchFamily="34" charset="0"/>
              </a:rPr>
              <a:t>n</a:t>
            </a:r>
            <a:r>
              <a:rPr lang="en-US" sz="1800" dirty="0">
                <a:latin typeface="Tahoma" pitchFamily="34" charset="0"/>
              </a:rPr>
              <a:t> </a:t>
            </a:r>
            <a:r>
              <a:rPr lang="ru-RU" sz="1800" dirty="0">
                <a:latin typeface="Tahoma" pitchFamily="34" charset="0"/>
              </a:rPr>
              <a:t>бит</a:t>
            </a:r>
            <a:endParaRPr lang="en-US" sz="1800" dirty="0">
              <a:latin typeface="Tahoma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132843" y="4814650"/>
            <a:ext cx="2209800" cy="342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2000">
                <a:latin typeface="Tahoma" pitchFamily="34" charset="0"/>
              </a:rPr>
              <a:t>PT Block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744704" y="4444365"/>
            <a:ext cx="81304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>
                <a:latin typeface="Tahoma" pitchFamily="34" charset="0"/>
              </a:rPr>
              <a:t>n </a:t>
            </a:r>
            <a:r>
              <a:rPr lang="ru-RU" sz="2000" dirty="0">
                <a:latin typeface="Tahoma" pitchFamily="34" charset="0"/>
              </a:rPr>
              <a:t>бит</a:t>
            </a:r>
            <a:endParaRPr lang="en-US" sz="2000" dirty="0">
              <a:latin typeface="Tahoma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460243" y="5786200"/>
            <a:ext cx="990600" cy="342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Key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6520152" y="5807631"/>
            <a:ext cx="73609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 dirty="0">
                <a:latin typeface="Tahoma" pitchFamily="34" charset="0"/>
              </a:rPr>
              <a:t>k </a:t>
            </a:r>
            <a:r>
              <a:rPr lang="ru-RU" sz="1800" dirty="0">
                <a:latin typeface="Tahoma" pitchFamily="34" charset="0"/>
              </a:rPr>
              <a:t>бит</a:t>
            </a:r>
            <a:endParaRPr lang="en-US" sz="1800" dirty="0">
              <a:latin typeface="Tahoma" pitchFamily="34" charset="0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V="1">
            <a:off x="5993643" y="5329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79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8200" y="1473958"/>
                <a:ext cx="11008056" cy="488239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Пусть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r>
                      <a:rPr lang="en-US" b="0" i="0" smtClean="0">
                        <a:latin typeface="Cambria Math" panose="02040503050406030204" pitchFamily="18" charset="0"/>
                        <a:sym typeface="Symbol" pitchFamily="18" charset="2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</m:oMath>
                </a14:m>
                <a:r>
                  <a:rPr lang="en-US" dirty="0">
                    <a:sym typeface="Symbol" pitchFamily="18" charset="2"/>
                  </a:rPr>
                  <a:t> </a:t>
                </a:r>
                <a:r>
                  <a:rPr lang="ru-RU" dirty="0">
                    <a:sym typeface="Symbol" pitchFamily="18" charset="2"/>
                  </a:rPr>
                  <a:t>определена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. </a:t>
                </a:r>
                <a:endParaRPr lang="en-US" dirty="0">
                  <a:sym typeface="Symbol" pitchFamily="18" charset="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 – </a:t>
                </a:r>
                <a:r>
                  <a:rPr lang="ru-RU" b="1" dirty="0">
                    <a:sym typeface="Symbol" pitchFamily="18" charset="2"/>
                  </a:rPr>
                  <a:t>псевдослучайная подстановка (</a:t>
                </a:r>
                <a:r>
                  <a:rPr lang="en-US" b="1" dirty="0">
                    <a:sym typeface="Symbol" pitchFamily="18" charset="2"/>
                  </a:rPr>
                  <a:t>PRP)</a:t>
                </a:r>
                <a:r>
                  <a:rPr lang="ru-RU" dirty="0">
                    <a:sym typeface="Symbol" pitchFamily="18" charset="2"/>
                  </a:rPr>
                  <a:t>, если</a:t>
                </a: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sym typeface="Symbol" pitchFamily="18" charset="2"/>
                  </a:rPr>
                  <a:t>Существует эффективный алгоритм вычисляющий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𝑋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ru-RU" dirty="0">
                    <a:sym typeface="Symbol" pitchFamily="18" charset="2"/>
                  </a:rPr>
                  <a:t>Функция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8" charset="2"/>
                      </a:rPr>
                      <m:t>,∗)</m:t>
                    </m:r>
                  </m:oMath>
                </a14:m>
                <a:r>
                  <a:rPr lang="ru-RU" dirty="0">
                    <a:sym typeface="Symbol" pitchFamily="18" charset="2"/>
                  </a:rPr>
                  <a:t> – подстановка.</a:t>
                </a:r>
                <a:endParaRPr lang="en-US" dirty="0">
                  <a:sym typeface="Symbol" pitchFamily="18" charset="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ym typeface="Symbol" pitchFamily="18" charset="2"/>
                  </a:rPr>
                  <a:t>PRP </a:t>
                </a:r>
                <a:r>
                  <a:rPr lang="ru-RU" b="1" dirty="0">
                    <a:sym typeface="Symbol" pitchFamily="18" charset="2"/>
                  </a:rPr>
                  <a:t>стойкая</a:t>
                </a:r>
                <a:r>
                  <a:rPr lang="ru-RU" dirty="0">
                    <a:sym typeface="Symbol" pitchFamily="18" charset="2"/>
                  </a:rPr>
                  <a:t>, если</a:t>
                </a:r>
                <a:r>
                  <a:rPr lang="en-US" dirty="0"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∈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𝑅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𝐾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𝐸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  <a:sym typeface="Symbol" pitchFamily="18" charset="2"/>
                          </a:rPr>
                          <m:t>𝑘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  <a:sym typeface="Symbol" pitchFamily="18" charset="2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  <a:sym typeface="Symbol" pitchFamily="18" charset="2"/>
                          </a:rPr>
                          <m:t>𝑚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ru-RU" dirty="0">
                  <a:sym typeface="Symbol" pitchFamily="18" charset="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(где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u-RU" dirty="0">
                    <a:sym typeface="Symbol" pitchFamily="18" charset="2"/>
                  </a:rPr>
                  <a:t> - вычислительная неотличимость,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∈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ru-RU" dirty="0">
                    <a:sym typeface="Symbol" pitchFamily="18" charset="2"/>
                  </a:rPr>
                  <a:t> - выбор случайного элемента множества)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sym typeface="Symbol" pitchFamily="18" charset="2"/>
                  </a:rPr>
                  <a:t>Используется в качестве модели блочного шифра при анализе схем</a:t>
                </a:r>
              </a:p>
            </p:txBody>
          </p:sp>
        </mc:Choice>
        <mc:Fallback>
          <p:sp>
            <p:nvSpPr>
              <p:cNvPr id="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3958"/>
                <a:ext cx="11008056" cy="4882391"/>
              </a:xfrm>
              <a:blipFill>
                <a:blip r:embed="rId2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7229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стойкого блочного шифра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Предполагается, что стойкий блочный шифр задаёт стойкую </a:t>
            </a:r>
            <a:r>
              <a:rPr lang="en-US" dirty="0"/>
              <a:t>PRP</a:t>
            </a:r>
          </a:p>
          <a:p>
            <a:r>
              <a:rPr lang="ru-RU" dirty="0"/>
              <a:t>Иными словами при случайном ключе, мы ожидаем, что выход зашифрования произвольного блока блочным шифром будет вычислительно неотличим от случайного блока, выбранного случайно равновероятно.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540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блочных</a:t>
            </a:r>
            <a:r>
              <a:rPr lang="en-US" dirty="0"/>
              <a:t> </a:t>
            </a:r>
            <a:r>
              <a:rPr lang="en-US" dirty="0" err="1"/>
              <a:t>шифров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en-US" dirty="0" err="1"/>
                  <a:t>блочный</a:t>
                </a:r>
                <a:r>
                  <a:rPr lang="en-US" dirty="0"/>
                  <a:t> </a:t>
                </a:r>
                <a:r>
                  <a:rPr lang="en-US" dirty="0" err="1"/>
                  <a:t>шифр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Можем ли мы использовать блочный шифр для построения шифров для сообщений произвольной длины?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Сможем, будем использовать режимы шифрования блочных шифров, определяющие шифрование сообщений произвольной длины, на основе блочных шифров.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 r="-9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754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ECB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en-US" dirty="0" err="1"/>
                  <a:t>блочный</a:t>
                </a:r>
                <a:r>
                  <a:rPr lang="en-US" dirty="0"/>
                  <a:t> </a:t>
                </a:r>
                <a:r>
                  <a:rPr lang="en-US" dirty="0" err="1"/>
                  <a:t>шифр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Для </a:t>
                </a:r>
                <a:r>
                  <a:rPr lang="ru-RU" dirty="0" err="1"/>
                  <a:t>полиномиально</a:t>
                </a:r>
                <a:r>
                  <a:rPr lang="ru-RU" dirty="0"/>
                  <a:t> ограниченной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шифр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b="0" i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  <a:r>
                  <a:rPr lang="ru-RU" dirty="0"/>
                  <a:t> следующим образом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определим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,с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,с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37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ECB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67" y="1972671"/>
            <a:ext cx="5213088" cy="2985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864" y="1972669"/>
            <a:ext cx="5588607" cy="31569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17486" y="5239654"/>
            <a:ext cx="167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Зашифрование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7906842" y="5239654"/>
            <a:ext cx="177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Расшифрование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184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Стойкость</a:t>
            </a:r>
            <a:r>
              <a:rPr lang="en-US" dirty="0"/>
              <a:t> </a:t>
            </a:r>
            <a:r>
              <a:rPr lang="ru-RU" dirty="0"/>
              <a:t>ECB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Стойкий блочный шифр в режиме </a:t>
            </a:r>
            <a:r>
              <a:rPr lang="en-US" dirty="0"/>
              <a:t>ECB </a:t>
            </a:r>
            <a:r>
              <a:rPr lang="ru-RU" dirty="0"/>
              <a:t>–стойкий для</a:t>
            </a:r>
          </a:p>
          <a:p>
            <a:pPr lvl="1"/>
            <a:r>
              <a:rPr lang="ru-RU" dirty="0"/>
              <a:t>Сообщений, состоящих из уникальных, </a:t>
            </a:r>
            <a:r>
              <a:rPr lang="ru-RU" b="1" dirty="0"/>
              <a:t>попарно различных блоков </a:t>
            </a:r>
            <a:r>
              <a:rPr lang="ru-RU" dirty="0"/>
              <a:t>(например есть открытый текст – случайных ключ), не повторяющихся во время жизни ключа шифрования</a:t>
            </a:r>
          </a:p>
          <a:p>
            <a:pPr lvl="1"/>
            <a:r>
              <a:rPr lang="ru-RU" dirty="0"/>
              <a:t>Любых коротких, уникальных сообщений, длинной в один блок, не повторяющихся во время жизни ключа</a:t>
            </a:r>
          </a:p>
          <a:p>
            <a:r>
              <a:rPr lang="ru-RU" dirty="0"/>
              <a:t>Что для произвольных сообщений произвольной длины?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047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</a:t>
            </a:r>
            <a:r>
              <a:rPr lang="en-US" dirty="0"/>
              <a:t>ECB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838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/>
              <a:t>Зашифрование</a:t>
            </a:r>
            <a:r>
              <a:rPr lang="ru-RU" dirty="0"/>
              <a:t> в режиме </a:t>
            </a:r>
            <a:r>
              <a:rPr lang="en-US" dirty="0"/>
              <a:t>ECB</a:t>
            </a:r>
            <a:r>
              <a:rPr lang="ru-RU" dirty="0"/>
              <a:t> происходит детерминировано и </a:t>
            </a:r>
            <a:r>
              <a:rPr lang="ru-RU" dirty="0" err="1"/>
              <a:t>поблочно</a:t>
            </a:r>
            <a:r>
              <a:rPr lang="ru-RU" dirty="0"/>
              <a:t>, как следствие одинаковые блоки имеют одинаковый шифртекст.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710510" y="4259730"/>
            <a:ext cx="257175" cy="285750"/>
          </a:xfrm>
          <a:prstGeom prst="downArrow">
            <a:avLst>
              <a:gd name="adj1" fmla="val 50000"/>
              <a:gd name="adj2" fmla="val 37037"/>
            </a:avLst>
          </a:prstGeom>
          <a:noFill/>
          <a:ln w="952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592072" y="4259730"/>
            <a:ext cx="257175" cy="285750"/>
          </a:xfrm>
          <a:prstGeom prst="downArrow">
            <a:avLst>
              <a:gd name="adj1" fmla="val 50000"/>
              <a:gd name="adj2" fmla="val 37037"/>
            </a:avLst>
          </a:prstGeom>
          <a:noFill/>
          <a:ln w="952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7291909" y="4059705"/>
            <a:ext cx="533400" cy="0"/>
          </a:xfrm>
          <a:prstGeom prst="line">
            <a:avLst/>
          </a:prstGeom>
          <a:noFill/>
          <a:ln w="28575">
            <a:solidFill>
              <a:srgbClr val="869406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67684" y="3828782"/>
            <a:ext cx="533400" cy="27265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/>
              <a:t>m</a:t>
            </a:r>
            <a:r>
              <a:rPr lang="en-US" baseline="-25000"/>
              <a:t>1</a:t>
            </a: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0344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9008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5010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4342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567884" y="3828782"/>
            <a:ext cx="533400" cy="272653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r>
              <a:rPr lang="en-US"/>
              <a:t>m</a:t>
            </a:r>
            <a:r>
              <a:rPr lang="en-US" baseline="-25000"/>
              <a:t>2</a:t>
            </a:r>
            <a:endParaRPr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1012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7934846" y="3820448"/>
            <a:ext cx="533400" cy="27265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/>
              <a:t>m</a:t>
            </a:r>
            <a:r>
              <a:rPr lang="en-US" baseline="-25000"/>
              <a:t>1</a:t>
            </a:r>
            <a:endParaRPr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634684" y="3828782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8468246" y="3820448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9001646" y="3820448"/>
            <a:ext cx="533400" cy="272653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2221981" y="3739486"/>
            <a:ext cx="5069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PT:</a:t>
            </a: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7299846" y="4869330"/>
            <a:ext cx="533400" cy="0"/>
          </a:xfrm>
          <a:prstGeom prst="line">
            <a:avLst/>
          </a:prstGeom>
          <a:noFill/>
          <a:ln w="28575">
            <a:solidFill>
              <a:srgbClr val="869406"/>
            </a:solidFill>
            <a:prstDash val="dash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3975621" y="4778842"/>
                <a:ext cx="533400" cy="3131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5621" y="4778842"/>
                <a:ext cx="533400" cy="313194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50424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9088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5090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34422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61092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7942784" y="4770508"/>
                <a:ext cx="533400" cy="3131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42784" y="4770508"/>
                <a:ext cx="533400" cy="313194"/>
              </a:xfrm>
              <a:prstGeom prst="rect">
                <a:avLst/>
              </a:prstGeom>
              <a:blipFill>
                <a:blip r:embed="rId3"/>
                <a:stretch>
                  <a:fillRect b="-3704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6642621" y="4778842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Rectangle 29"/>
          <p:cNvSpPr>
            <a:spLocks noChangeArrowheads="1"/>
          </p:cNvSpPr>
          <p:nvPr/>
        </p:nvSpPr>
        <p:spPr bwMode="auto">
          <a:xfrm>
            <a:off x="8476184" y="4770508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9009584" y="4770508"/>
            <a:ext cx="533400" cy="313194"/>
          </a:xfrm>
          <a:prstGeom prst="rect">
            <a:avLst/>
          </a:prstGeom>
          <a:noFill/>
          <a:ln w="28575">
            <a:solidFill>
              <a:srgbClr val="86940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2231369" y="4697880"/>
            <a:ext cx="51829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>
                <a:latin typeface="Tahoma" pitchFamily="34" charset="0"/>
              </a:rPr>
              <a:t>CT: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27"/>
              <p:cNvSpPr>
                <a:spLocks noChangeArrowheads="1"/>
              </p:cNvSpPr>
              <p:nvPr/>
            </p:nvSpPr>
            <p:spPr bwMode="auto">
              <a:xfrm>
                <a:off x="5567884" y="4778842"/>
                <a:ext cx="533400" cy="31319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7884" y="4778842"/>
                <a:ext cx="533400" cy="313194"/>
              </a:xfrm>
              <a:prstGeom prst="rect">
                <a:avLst/>
              </a:prstGeom>
              <a:blipFill>
                <a:blip r:embed="rId4"/>
                <a:stretch>
                  <a:fillRect b="-7692"/>
                </a:stretch>
              </a:blipFill>
              <a:ln>
                <a:headEnd/>
                <a:tailEnd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200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</a:t>
            </a:r>
            <a:r>
              <a:rPr lang="en-US" dirty="0"/>
              <a:t>ECB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521" y="1326230"/>
            <a:ext cx="8213891" cy="54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93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</a:t>
            </a:r>
            <a:r>
              <a:rPr lang="en-US" dirty="0"/>
              <a:t>ECB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096" y="1825625"/>
            <a:ext cx="75819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36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достижения </a:t>
            </a:r>
            <a:r>
              <a:rPr lang="ru-RU" dirty="0" err="1"/>
              <a:t>дзена</a:t>
            </a:r>
            <a:r>
              <a:rPr lang="ru-RU" dirty="0"/>
              <a:t> в режимах шифрования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сколько битов, в каких блоках и каким образов влияет </a:t>
            </a:r>
          </a:p>
          <a:p>
            <a:r>
              <a:rPr lang="ru-RU" dirty="0"/>
              <a:t>Изменение одного бита открытого текста на </a:t>
            </a:r>
            <a:r>
              <a:rPr lang="ru-RU" dirty="0" err="1"/>
              <a:t>шифртекст</a:t>
            </a:r>
            <a:endParaRPr lang="ru-RU" dirty="0"/>
          </a:p>
          <a:p>
            <a:r>
              <a:rPr lang="ru-RU" dirty="0"/>
              <a:t>Изменение одного бита </a:t>
            </a:r>
            <a:r>
              <a:rPr lang="ru-RU" dirty="0" err="1"/>
              <a:t>шифртекста</a:t>
            </a:r>
            <a:r>
              <a:rPr lang="ru-RU" dirty="0"/>
              <a:t> на расшифрованный открытый текст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Можно ли контролируемо изменить определённый бит расшифрованного открытого текста, изменив биты </a:t>
            </a:r>
            <a:r>
              <a:rPr lang="ru-RU" dirty="0" err="1"/>
              <a:t>шифртекста</a:t>
            </a:r>
            <a:r>
              <a:rPr lang="ru-RU" dirty="0"/>
              <a:t>, как?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912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ECB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479" y="0"/>
            <a:ext cx="6905345" cy="278052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479" y="3145646"/>
            <a:ext cx="7087159" cy="285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59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CBC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715" y="0"/>
            <a:ext cx="6612286" cy="2662518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672" y="2854698"/>
            <a:ext cx="6535756" cy="263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78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CFB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203" y="0"/>
            <a:ext cx="7246798" cy="2918012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037" y="3083299"/>
            <a:ext cx="6869708" cy="276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70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OFB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619" y="-2"/>
            <a:ext cx="7380382" cy="2971801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347" y="3336926"/>
            <a:ext cx="7498653" cy="301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369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CTR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566" y="-1"/>
            <a:ext cx="7547355" cy="3039035"/>
          </a:xfr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566" y="3231962"/>
            <a:ext cx="7451131" cy="300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206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Безопасное программирование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08897"/>
            <a:ext cx="10515600" cy="5012577"/>
          </a:xfrm>
        </p:spPr>
        <p:txBody>
          <a:bodyPr/>
          <a:lstStyle/>
          <a:p>
            <a:r>
              <a:rPr lang="ru-RU" dirty="0"/>
              <a:t>Проверка входных значений (длины входов, типы, корректность)</a:t>
            </a:r>
          </a:p>
          <a:p>
            <a:pPr lvl="1"/>
            <a:r>
              <a:rPr lang="ru-RU" dirty="0"/>
              <a:t>Должна производиться по возможности в начале функции</a:t>
            </a:r>
          </a:p>
          <a:p>
            <a:pPr lvl="1"/>
            <a:r>
              <a:rPr lang="ru-RU" dirty="0" err="1"/>
              <a:t>Параноидальные</a:t>
            </a:r>
            <a:r>
              <a:rPr lang="ru-RU" dirty="0"/>
              <a:t> проверки</a:t>
            </a:r>
          </a:p>
          <a:p>
            <a:r>
              <a:rPr lang="ru-RU" dirty="0"/>
              <a:t>Криптографические методы должны быть вынесены в отдельные функции и модули</a:t>
            </a:r>
          </a:p>
          <a:p>
            <a:r>
              <a:rPr lang="ru-RU" dirty="0"/>
              <a:t>Все внешние криптографические интерфейсы работают только с массивом байт</a:t>
            </a:r>
          </a:p>
          <a:p>
            <a:r>
              <a:rPr lang="ru-RU" dirty="0"/>
              <a:t>Не использование «магических чисел» – все константы должны быть определены</a:t>
            </a:r>
          </a:p>
          <a:p>
            <a:r>
              <a:rPr lang="ru-RU" dirty="0"/>
              <a:t>Не использовать «алгоритмы по умолчанию», т.е. явно задавать алгоритмы шифрования через параметры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813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входных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decrypt(key, data, </a:t>
            </a:r>
            <a:r>
              <a:rPr lang="en-US" dirty="0" err="1"/>
              <a:t>cipher_suite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	if </a:t>
            </a:r>
            <a:r>
              <a:rPr lang="en-US" dirty="0" err="1"/>
              <a:t>len</a:t>
            </a:r>
            <a:r>
              <a:rPr lang="en-US" dirty="0"/>
              <a:t>(key) != </a:t>
            </a:r>
            <a:r>
              <a:rPr lang="en-US" dirty="0">
                <a:solidFill>
                  <a:srgbClr val="FF0000"/>
                </a:solidFill>
              </a:rPr>
              <a:t>AES_KEY_SIZE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	raise Exception($‘invalid key size, expecting {</a:t>
            </a:r>
            <a:r>
              <a:rPr lang="en-US" dirty="0">
                <a:solidFill>
                  <a:srgbClr val="FF0000"/>
                </a:solidFill>
              </a:rPr>
              <a:t>AES_KEY_SIZE</a:t>
            </a:r>
            <a:r>
              <a:rPr lang="en-US" dirty="0"/>
              <a:t>}’)</a:t>
            </a:r>
          </a:p>
          <a:p>
            <a:pPr marL="0" indent="0">
              <a:buNone/>
            </a:pPr>
            <a:r>
              <a:rPr lang="en-US" dirty="0"/>
              <a:t>	if </a:t>
            </a:r>
            <a:r>
              <a:rPr lang="en-US" dirty="0" err="1"/>
              <a:t>len</a:t>
            </a:r>
            <a:r>
              <a:rPr lang="en-US" dirty="0"/>
              <a:t>(data) &lt; </a:t>
            </a:r>
            <a:r>
              <a:rPr lang="en-US" dirty="0">
                <a:solidFill>
                  <a:srgbClr val="FF0000"/>
                </a:solidFill>
              </a:rPr>
              <a:t>NONCE_SIZE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	raise Exception(‘invalid </a:t>
            </a:r>
            <a:r>
              <a:rPr lang="en-US" dirty="0" err="1"/>
              <a:t>ciphertext</a:t>
            </a:r>
            <a:r>
              <a:rPr lang="en-US" dirty="0"/>
              <a:t> length’)</a:t>
            </a:r>
          </a:p>
          <a:p>
            <a:pPr marL="0" indent="0">
              <a:buNone/>
            </a:pPr>
            <a:r>
              <a:rPr lang="en-US" dirty="0"/>
              <a:t>	if </a:t>
            </a:r>
            <a:r>
              <a:rPr lang="en-US" dirty="0" err="1"/>
              <a:t>cipher_suite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AES_CBC_WITH_CBC_MAC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	return </a:t>
            </a:r>
            <a:r>
              <a:rPr lang="en-US" dirty="0" err="1"/>
              <a:t>aes.cbc.decrypt</a:t>
            </a:r>
            <a:r>
              <a:rPr lang="en-US" dirty="0"/>
              <a:t>(key, data)</a:t>
            </a:r>
          </a:p>
          <a:p>
            <a:pPr marL="0" indent="0">
              <a:buNone/>
            </a:pPr>
            <a:r>
              <a:rPr lang="en-US" dirty="0"/>
              <a:t>	else if </a:t>
            </a:r>
            <a:r>
              <a:rPr lang="en-US" dirty="0" err="1"/>
              <a:t>cipher_suite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AES_CTR_WITH_CBC_MAC</a:t>
            </a:r>
            <a:r>
              <a:rPr lang="en-US" dirty="0"/>
              <a:t> :</a:t>
            </a:r>
          </a:p>
          <a:p>
            <a:pPr marL="0" indent="0">
              <a:buNone/>
            </a:pPr>
            <a:r>
              <a:rPr lang="en-US" dirty="0"/>
              <a:t>		return </a:t>
            </a:r>
            <a:r>
              <a:rPr lang="en-US" dirty="0" err="1"/>
              <a:t>aes.ctr.decrypt</a:t>
            </a:r>
            <a:r>
              <a:rPr lang="en-US" dirty="0"/>
              <a:t>(key, data)</a:t>
            </a:r>
          </a:p>
          <a:p>
            <a:pPr marL="0" indent="0">
              <a:buNone/>
            </a:pPr>
            <a:r>
              <a:rPr lang="en-US" dirty="0"/>
              <a:t>	else:</a:t>
            </a:r>
          </a:p>
          <a:p>
            <a:pPr marL="0" indent="0">
              <a:buNone/>
            </a:pPr>
            <a:r>
              <a:rPr lang="en-US" dirty="0"/>
              <a:t>		raise Exception($‘</a:t>
            </a:r>
            <a:r>
              <a:rPr lang="en-US" dirty="0" err="1"/>
              <a:t>cipher_suite</a:t>
            </a:r>
            <a:r>
              <a:rPr lang="en-US" dirty="0"/>
              <a:t> {</a:t>
            </a:r>
            <a:r>
              <a:rPr lang="en-US" dirty="0" err="1"/>
              <a:t>cipher_suite</a:t>
            </a:r>
            <a:r>
              <a:rPr lang="en-US" dirty="0"/>
              <a:t>} is not supported’)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4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Отдельные функции, работа только с массивом байт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generate</a:t>
            </a:r>
            <a:r>
              <a:rPr lang="ru-RU" dirty="0"/>
              <a:t>_</a:t>
            </a:r>
            <a:r>
              <a:rPr lang="en-US" dirty="0" err="1"/>
              <a:t>aes_key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Crypto.random.getBytes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AES_KEY_SIZE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--------------------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encrypt_user_input</a:t>
            </a:r>
            <a:r>
              <a:rPr lang="en-US" dirty="0"/>
              <a:t>(</a:t>
            </a:r>
            <a:r>
              <a:rPr lang="en-US" dirty="0" err="1"/>
              <a:t>user_string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user_bytes</a:t>
            </a:r>
            <a:r>
              <a:rPr lang="en-US" dirty="0"/>
              <a:t> = Encode.utf8.getBytes(</a:t>
            </a:r>
            <a:r>
              <a:rPr lang="en-US" dirty="0" err="1"/>
              <a:t>user_string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key = </a:t>
            </a:r>
            <a:r>
              <a:rPr lang="en-US" dirty="0" err="1"/>
              <a:t>generateAesKey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	encrypted = encrypt(key, </a:t>
            </a:r>
            <a:r>
              <a:rPr lang="en-US" dirty="0" err="1"/>
              <a:t>user_bytes</a:t>
            </a:r>
            <a:r>
              <a:rPr lang="en-US" dirty="0"/>
              <a:t> , </a:t>
            </a:r>
            <a:r>
              <a:rPr lang="en-US" dirty="0">
                <a:solidFill>
                  <a:srgbClr val="FF0000"/>
                </a:solidFill>
              </a:rPr>
              <a:t>AES_CBC_WITH_CBC_MAC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encrypted_hex</a:t>
            </a:r>
            <a:r>
              <a:rPr lang="en-US" dirty="0"/>
              <a:t> = </a:t>
            </a:r>
            <a:r>
              <a:rPr lang="en-US" dirty="0" err="1"/>
              <a:t>Converter.toHex</a:t>
            </a:r>
            <a:r>
              <a:rPr lang="en-US" dirty="0"/>
              <a:t>(encrypted)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key_string</a:t>
            </a:r>
            <a:r>
              <a:rPr lang="en-US" dirty="0"/>
              <a:t> = </a:t>
            </a:r>
            <a:r>
              <a:rPr lang="en-US" dirty="0" err="1"/>
              <a:t>Converter.toHex</a:t>
            </a:r>
            <a:r>
              <a:rPr lang="en-US" dirty="0"/>
              <a:t>(key)</a:t>
            </a: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key_string</a:t>
            </a:r>
            <a:r>
              <a:rPr lang="en-US" dirty="0"/>
              <a:t>, </a:t>
            </a:r>
            <a:r>
              <a:rPr lang="en-US" dirty="0" err="1"/>
              <a:t>encrypted_hex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868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7294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1652</TotalTime>
  <Words>1921</Words>
  <Application>Microsoft Office PowerPoint</Application>
  <PresentationFormat>Широкоэкранный</PresentationFormat>
  <Paragraphs>247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Symbol</vt:lpstr>
      <vt:lpstr>Tahoma</vt:lpstr>
      <vt:lpstr>Тема Office</vt:lpstr>
      <vt:lpstr>Поточные и Блочные шифры</vt:lpstr>
      <vt:lpstr>Выполнение лабораторных работ</vt:lpstr>
      <vt:lpstr>Выполнение лабораторных работ</vt:lpstr>
      <vt:lpstr>Историческая задача криптографической защиты информации</vt:lpstr>
      <vt:lpstr>Шифр Шеннона</vt:lpstr>
      <vt:lpstr>Шифр Шеннона</vt:lpstr>
      <vt:lpstr>Пример: Одноразовый блокнот</vt:lpstr>
      <vt:lpstr>Пример: Аддитивный одноразовый блокнот</vt:lpstr>
      <vt:lpstr>Цель шифра Шеннона</vt:lpstr>
      <vt:lpstr>Одноразовый блокнот – абсолютно стойкий шифр</vt:lpstr>
      <vt:lpstr>Плохие новости</vt:lpstr>
      <vt:lpstr>Идея одноразового блокнота</vt:lpstr>
      <vt:lpstr>Идея одноразового блокнота</vt:lpstr>
      <vt:lpstr>Поточный шифр</vt:lpstr>
      <vt:lpstr>Блочный шифр</vt:lpstr>
      <vt:lpstr>Блочный шифр</vt:lpstr>
      <vt:lpstr>PRP</vt:lpstr>
      <vt:lpstr>Модель стойкого блочного шифра</vt:lpstr>
      <vt:lpstr>Использование блочных шифров</vt:lpstr>
      <vt:lpstr>ECB</vt:lpstr>
      <vt:lpstr>ECB</vt:lpstr>
      <vt:lpstr>Стойкость ECB</vt:lpstr>
      <vt:lpstr>Стойкость ECB</vt:lpstr>
      <vt:lpstr>Стойкость ECB</vt:lpstr>
      <vt:lpstr>Стойкость ECB</vt:lpstr>
      <vt:lpstr>Вопросы для достижения дзена в режимах шифрования</vt:lpstr>
      <vt:lpstr>ECB</vt:lpstr>
      <vt:lpstr>CBC</vt:lpstr>
      <vt:lpstr>CFB</vt:lpstr>
      <vt:lpstr>OFB</vt:lpstr>
      <vt:lpstr>CTR</vt:lpstr>
      <vt:lpstr>Безопасное программирование</vt:lpstr>
      <vt:lpstr>Проверка входных данных</vt:lpstr>
      <vt:lpstr>Отдельные функции, работа только с массивом байт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412</cp:revision>
  <dcterms:created xsi:type="dcterms:W3CDTF">2018-08-24T12:25:18Z</dcterms:created>
  <dcterms:modified xsi:type="dcterms:W3CDTF">2026-02-20T13:45:32Z</dcterms:modified>
</cp:coreProperties>
</file>